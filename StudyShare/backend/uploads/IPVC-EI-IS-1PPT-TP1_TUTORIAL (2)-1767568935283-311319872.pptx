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09" r:id="rId2"/>
    <p:sldId id="258" r:id="rId3"/>
    <p:sldId id="316" r:id="rId4"/>
    <p:sldId id="310" r:id="rId5"/>
    <p:sldId id="318" r:id="rId6"/>
    <p:sldId id="315" r:id="rId7"/>
    <p:sldId id="311" r:id="rId8"/>
    <p:sldId id="312" r:id="rId9"/>
    <p:sldId id="313" r:id="rId10"/>
    <p:sldId id="314" r:id="rId11"/>
    <p:sldId id="317" r:id="rId12"/>
    <p:sldId id="278" r:id="rId13"/>
    <p:sldId id="260" r:id="rId14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7"/>
    <p:restoredTop sz="94655"/>
  </p:normalViewPr>
  <p:slideViewPr>
    <p:cSldViewPr>
      <p:cViewPr varScale="1">
        <p:scale>
          <a:sx n="118" d="100"/>
          <a:sy n="118" d="100"/>
        </p:scale>
        <p:origin x="1410" y="9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23/09/2025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23/09/2025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CC92-E235-B8FA-80A9-1B430D3D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F9311C2-BF3A-FDBE-B60F-8247BC8D43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0894AAB-3ADD-CC97-9822-D62A8545BC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7C6BB59-2986-5B6C-3029-25B07FA55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488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354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1C60-7F9C-36D1-8F28-44BF2E2FA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0BE3C51-D95A-F2F0-DA52-1E5389D5EC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CE40671-F044-BF94-49FD-F82ECD71CB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1A37B0B-314B-EFDD-43F0-89258AD49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463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D10E-DD75-A4C3-E814-904D117DB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EA608DC-6BA8-6B51-6C9B-A7116F7333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4E06E4A-9C45-05F7-F82B-F7F3B4C901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A03E0E6-856C-C9ED-15F7-807CD4C46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938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5A27-7DA5-58C2-8D77-1200F0DA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F63F079-A458-277D-69E7-21826FF524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981B0ED-10A5-6191-E12C-9E1B86A7C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CE8C76B-A7B4-0046-83EB-375825A93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71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DE50-2FED-057B-F164-240DFC15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A2EE9DD-1715-A1FC-03EC-DD19FFCB44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43892A3-D3D7-16B0-613B-5E1A7DA986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844E970-90BE-F37B-0141-D733BF4DA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363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FAB71-A133-93F8-4EAF-53CF01A5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9D0A0DA-E249-D294-3964-9D485D91D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37C6DAE-5E86-4DF0-87A9-B5B20C6C52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88EE41F-D0E4-7BC1-6D0E-B201A0814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13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4C0C-5F35-6394-08C1-07DCBB3FA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CE05828-27BF-83EB-F24B-63B723237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A463DC6-C3EB-4DCE-ACFE-AB23C7E3E2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DEA1496-AB7B-F230-1FAD-B25AAD8BF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445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977E1-1013-A99B-BADA-4B51AA8E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95B69DE-5E58-701B-8638-97E8E27D84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491F0A9-F2BD-0E10-E640-064F96C5C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93FBEC8-6E9B-91BF-8658-677EDBB071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289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93111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elearning.ipvc.pt/ipvc2025/mod/resource/view.php?id=486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hromewebstore.google.com/detail/uivision/gcbalfbdmfieckjlnblleoemohcganoc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learning.ipvc.pt/ipvc2025/mod/resource/view.php?id=4860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dges.gov.pt/coloc/2025/col1listacol.asp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learning.ipvc.pt/ipvc2025/mod/resource/view.php?id=4860" TargetMode="External"/><Relationship Id="rId5" Type="http://schemas.openxmlformats.org/officeDocument/2006/relationships/hyperlink" Target="https://ui.vision/rpa/docs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chromewebstore.google.com/detail/uivision/gcbalfbdmfieckjlnblleoemohcganoc" TargetMode="External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3"/>
          <a:stretch>
            <a:fillRect/>
          </a:stretch>
        </p:blipFill>
        <p:spPr>
          <a:xfrm>
            <a:off x="-419100" y="-17206"/>
            <a:ext cx="9982200" cy="693419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4110735"/>
            <a:ext cx="5143500" cy="404742"/>
          </a:xfrm>
        </p:spPr>
        <p:txBody>
          <a:bodyPr>
            <a:normAutofit fontScale="77500" lnSpcReduction="20000"/>
          </a:bodyPr>
          <a:lstStyle/>
          <a:p>
            <a:r>
              <a:rPr lang="pt-PT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Tutorial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43445" y="6367808"/>
            <a:ext cx="8420099" cy="276444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32428 – Diogo Monteiro;</a:t>
            </a:r>
          </a:p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31396 – Gonçalo Teixeira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752024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Orientador(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es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):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Professor Doutor Jorge Ribeiro,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Professor Doutor Jackson Júnior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2095500" y="1250773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1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Introdução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Objetivos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UI.Vision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O que é?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Funcionamento da Extensão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Tutorial: </a:t>
            </a:r>
            <a:r>
              <a:rPr lang="pt-PT" i="1" dirty="0">
                <a:latin typeface="Arial" pitchFamily="34" charset="0"/>
                <a:cs typeface="Arial" pitchFamily="34" charset="0"/>
              </a:rPr>
              <a:t>Instalar a extensão UI.Vision e realizar o exemplo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Instalação da Extensão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Extensão UI.Vision – Importação da macro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Macro a correr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Macro completa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CSV gerado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Conclusão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Bibliografia e Referências Web</a:t>
            </a: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DED9D1C6-9A95-22A3-2430-95C486D87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6D2F-D18F-7537-FF7F-07C54E4B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76E55C9-9D8F-F385-B53F-08FAA705C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305C836-8BD2-E2FD-8ED9-92DE4DC47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B3CFF2D-6563-5868-D418-F835C7917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Introdução e Objetivos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9B1B642-9058-6AB7-F841-834D43B2D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7CA2367-D03D-338C-5035-F50B488F84A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8F4C7E-D3A2-768C-7799-777B6847F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ED27DE-BB48-92C3-36CB-84D94C751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E974061-0C2A-54FB-7E6B-CD5E032C98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4D80807-429C-C481-7DD4-93D0699AC2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7AD78AAA-F948-4EC8-DA9A-2C4CA480A4B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AA73F1C0-F179-199C-40B0-311EBFFFCFB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1126A-A6C5-F21E-BE2D-BBFFC637EA3E}"/>
              </a:ext>
            </a:extLst>
          </p:cNvPr>
          <p:cNvSpPr txBox="1"/>
          <p:nvPr/>
        </p:nvSpPr>
        <p:spPr>
          <a:xfrm>
            <a:off x="511104" y="1170723"/>
            <a:ext cx="81756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Este trabalho prático tem como objetivo demonstrar o uso da extensão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UI.Vision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para realizar a extração automática de dados a partir de uma página web.</a:t>
            </a:r>
          </a:p>
          <a:p>
            <a:pPr algn="just"/>
            <a:b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Através da criação e execução de uma macro, foi possível recolher a lista de alunos colocados na Universidade de Aveiro disponibilizada pela DGES.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Foi feito isto para entender a base do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web scraping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como técnica para recolher dados. A ferramenta escolhida foi a extensão gratuita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UI.Vision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 O resultado final foi a obtenção de um ficheiro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com os dados recolhidos.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  <a:p>
            <a:pPr algn="just"/>
            <a:endParaRPr lang="pt-PT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Compreender o funcionamento de uma extensão de automação no browser.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Aprender a instalar e configurar o UI.Vision RPA.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Executar uma macro para recolha automática de informação.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Gerar um ficheiro estruturado (CSV) com os dados obtidos.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Documentar o processo com evidências em formato PowerPoint.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dirty="0"/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FBEB91C4-FD35-D33A-C71F-8D95D5DC0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</p:spTree>
    <p:extLst>
      <p:ext uri="{BB962C8B-B14F-4D97-AF65-F5344CB8AC3E}">
        <p14:creationId xmlns:p14="http://schemas.microsoft.com/office/powerpoint/2010/main" val="328737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UI.Vision – O que é?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D38E3BFA-27BA-2371-E264-D5F6E3350F6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825DCCD6-A301-5A72-9A01-C7BB27D6664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B8F3E-1537-E9CD-F58B-44B9E364E733}"/>
              </a:ext>
            </a:extLst>
          </p:cNvPr>
          <p:cNvSpPr txBox="1"/>
          <p:nvPr/>
        </p:nvSpPr>
        <p:spPr>
          <a:xfrm>
            <a:off x="238125" y="1304291"/>
            <a:ext cx="386397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O UI.Vision RPA é uma extensão gratuita para navegadores que permite: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Automatizar tarefas repetitivas no browser.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Criar e executar macros através de ficheiros .json.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Realizar web scraping, extraindo dados diretamente de páginas web.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Exportar resultados em formatos úteis, como CSV.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No tutorial, esta ferramenta foi utilizada para recolher automaticamente a lista de alunos colocados na Universidade de Aveiro (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ExtractDataFromDGS-Colocados_Univ_Aveiro.json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2" name="Text Box 21">
            <a:extLst>
              <a:ext uri="{FF2B5EF4-FFF2-40B4-BE49-F238E27FC236}">
                <a16:creationId xmlns:a16="http://schemas.microsoft.com/office/drawing/2014/main" id="{849118AB-6C5F-24A9-0EB4-721953F53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EC0F41-0620-DF30-4329-1E30A78C1A6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986"/>
          <a:stretch>
            <a:fillRect/>
          </a:stretch>
        </p:blipFill>
        <p:spPr>
          <a:xfrm>
            <a:off x="4274825" y="1323198"/>
            <a:ext cx="4600981" cy="342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6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90AF-70D0-0645-500A-2BCCF6A60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ACD38FB-C73A-93E1-7E29-26C4DC2C4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CD29197-3F3C-99E4-EEED-026261D76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A349143-A4CF-1C77-8849-F28D1B8A3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UI.Vision – Funcionamento da extensão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C111F9E-D7A7-B77F-089C-EEBC6D0C43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36136DE-4B24-5A76-53D3-112864D153F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55BDBA-4814-6021-19DF-A14F2E5A3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12C4CB5-8316-CFEF-C0DF-825AEB250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34D902A-3B88-A440-2DF2-ED9D836C1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CF521AE-E387-3D01-EB3E-39BB2CAF4C2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ADCFB2C9-1247-DD92-8744-8A6D37AB8A3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F765BAD8-1E46-66EC-83E7-DD63B777292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5599D-8A4C-51FB-C30B-77487105A749}"/>
              </a:ext>
            </a:extLst>
          </p:cNvPr>
          <p:cNvSpPr txBox="1"/>
          <p:nvPr/>
        </p:nvSpPr>
        <p:spPr>
          <a:xfrm>
            <a:off x="250824" y="1165806"/>
            <a:ext cx="866457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O UI.Vision RPA trabalha com ficheiros em formato </a:t>
            </a:r>
            <a:r>
              <a:rPr lang="pt-PT" sz="1400">
                <a:latin typeface="Arial" panose="020B0604020202020204" pitchFamily="34" charset="0"/>
                <a:cs typeface="Arial" panose="020B0604020202020204" pitchFamily="34" charset="0"/>
              </a:rPr>
              <a:t>.json que contêm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todos os comandos necessários para navegar e extrair dados. Esse ficheiro foi importado para o editor do UI.Vision através da opção </a:t>
            </a:r>
            <a:r>
              <a:rPr lang="pt-PT" sz="1400" i="1" dirty="0">
                <a:latin typeface="Arial" panose="020B0604020202020204" pitchFamily="34" charset="0"/>
                <a:cs typeface="Arial" panose="020B0604020202020204" pitchFamily="34" charset="0"/>
              </a:rPr>
              <a:t>Source View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 Com o código carregado, a macro ficou pronta para ser executada no browser.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b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Para utilizar: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Instalada a extensão a partir da Chrome Web Store.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Criar uma nova macro no editor do UI.Vision.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Colar o código JSON fornecido.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Dar </a:t>
            </a:r>
            <a:r>
              <a:rPr lang="pt-PT" sz="1400" i="1" dirty="0">
                <a:latin typeface="Arial" panose="020B0604020202020204" pitchFamily="34" charset="0"/>
                <a:cs typeface="Arial" panose="020B0604020202020204" pitchFamily="34" charset="0"/>
              </a:rPr>
              <a:t>save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no código da macro.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Executar a macro com a opção </a:t>
            </a:r>
            <a:r>
              <a:rPr lang="pt-PT" sz="1400" i="1" dirty="0">
                <a:latin typeface="Arial" panose="020B0604020202020204" pitchFamily="34" charset="0"/>
                <a:cs typeface="Arial" panose="020B0604020202020204" pitchFamily="34" charset="0"/>
              </a:rPr>
              <a:t>Play Macro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Observar a recolha automática de dados da página indicada.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Verificar o CSV gerado.</a:t>
            </a:r>
          </a:p>
          <a:p>
            <a:endParaRPr lang="pt-PT" dirty="0"/>
          </a:p>
        </p:txBody>
      </p:sp>
      <p:sp>
        <p:nvSpPr>
          <p:cNvPr id="2" name="Text Box 21">
            <a:extLst>
              <a:ext uri="{FF2B5EF4-FFF2-40B4-BE49-F238E27FC236}">
                <a16:creationId xmlns:a16="http://schemas.microsoft.com/office/drawing/2014/main" id="{0CAAE22F-BE1B-317F-D8EA-48EECDFE8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</p:spTree>
    <p:extLst>
      <p:ext uri="{BB962C8B-B14F-4D97-AF65-F5344CB8AC3E}">
        <p14:creationId xmlns:p14="http://schemas.microsoft.com/office/powerpoint/2010/main" val="332365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F763-788A-A9D5-31BD-AD2B11E5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D32FCB1-9BFF-A230-4BCA-FDA90F66C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FDC411C-CE91-25A2-8ABC-FC2C4419A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CB1E8D9-E220-8067-D324-7F80F65D2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Instalação da Extensão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158B9BD-FD63-BE69-C788-0034AEFF8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19583AD-FF12-E720-D6B5-BF6B4B3A834A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7EC1C7A-0866-1EF8-315C-6DD9A366C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AACDDA9-0C9D-51B5-D648-9358331C9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C439B83-07B9-865B-C4D4-533C50265B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5E44605-8B99-C4DA-73CB-20A40019212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CBBF8BB1-F210-2779-CE7B-DB6B44FB018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E08BF73C-DD71-F233-7E00-F702B36C6B7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1A797D-FB41-2D6D-6299-3677B9166D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3" b="8444"/>
          <a:stretch>
            <a:fillRect/>
          </a:stretch>
        </p:blipFill>
        <p:spPr>
          <a:xfrm>
            <a:off x="434974" y="2036978"/>
            <a:ext cx="5068684" cy="29580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1C2958-61C3-0907-F16B-0B054253EBE4}"/>
              </a:ext>
            </a:extLst>
          </p:cNvPr>
          <p:cNvSpPr txBox="1"/>
          <p:nvPr/>
        </p:nvSpPr>
        <p:spPr>
          <a:xfrm>
            <a:off x="5535614" y="1185398"/>
            <a:ext cx="33797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Antes de começar a recolha de dados, foi necessário instalar a extensão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UI.Vision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no navegador. 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 instalação é simples e rápida, e permite aceder ao editor de macros diretamente no browser.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Acedemos à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Chrome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e pesquisámos pelo “UI.Vision”.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Clicámos em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ao Chrome e confirmámos a instalação.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Após concluído, o ícone da extensão ficou disponível na barra do navegador.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Esta instalação foi o primeiro passo para poder criar e correr a macro.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1E51C774-8931-5015-5E72-43A9DC8FE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099575-FB6B-1854-67B2-39B9F8F38600}"/>
              </a:ext>
            </a:extLst>
          </p:cNvPr>
          <p:cNvSpPr txBox="1"/>
          <p:nvPr/>
        </p:nvSpPr>
        <p:spPr>
          <a:xfrm>
            <a:off x="7098055" y="6165891"/>
            <a:ext cx="2380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hlinkClick r:id="rId8"/>
              </a:rPr>
              <a:t>UI.Vision – Chrome Web Store</a:t>
            </a: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182072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C5FA-D437-BE31-5893-47A378128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F09E050-6358-43A3-5EE7-8CDE8C8C9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05A2895-7397-60A2-FDB1-C8C580A29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882A310-E9F8-1CA8-C2A7-186DFE12F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Extensão UI.Vision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0ADA51D-5930-5EF1-EB0C-9B787BB35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BA744B3-DAF0-4659-D838-FBDB44DDA82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897C4A2-F1E3-573A-750F-14F1B678F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4A36928-5739-C38C-4BAA-AB36738A0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CD33CE9-2581-CB44-61B3-9B10124E5A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736D97E-1E99-6E61-E882-A50B886267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63A19A6-399E-BE35-12E9-C5CD1B5D25F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FD481B59-C029-9F28-65BC-E56694AE9AF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677E0B-E047-2599-109A-7689492DCA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260335"/>
            <a:ext cx="5017656" cy="46070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60E63E-666C-AC51-7F53-91EE6A4C497C}"/>
              </a:ext>
            </a:extLst>
          </p:cNvPr>
          <p:cNvSpPr txBox="1"/>
          <p:nvPr/>
        </p:nvSpPr>
        <p:spPr>
          <a:xfrm>
            <a:off x="5535613" y="1260335"/>
            <a:ext cx="337978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Depois da instalação, abriu-se o editor do UI.Vision. 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É neste ambiente que as macros podem ser carregadas, editadas e executadas.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No tutorial, o ficheiro disponibilizado (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ExtractDataFromDGS-Colocados_Univ_Aveiro.json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) foi colado diretamente no editor.</a:t>
            </a:r>
            <a:b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Criámos uma nova macro no painel lateral do UI.Vision.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Selecionámos a opção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Macro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Colámos o código JSON fornecido com o tutorial.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 macro ficou imediatamente disponível para execução.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CCB964E0-C239-5872-473B-572BEFECD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17035-852F-32EE-9A3C-03114EC5F8D3}"/>
              </a:ext>
            </a:extLst>
          </p:cNvPr>
          <p:cNvSpPr txBox="1"/>
          <p:nvPr/>
        </p:nvSpPr>
        <p:spPr>
          <a:xfrm>
            <a:off x="5535613" y="6165891"/>
            <a:ext cx="3943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hlinkClick r:id="rId8"/>
              </a:rPr>
              <a:t>ExtractDataFromDGS-Colocados_Univ_Aveiro.json File</a:t>
            </a: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31767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0FBDE-F84C-F3DD-53CC-EBAF07EE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454EBCA-C388-02DA-E4A6-C13FDD3E8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9315BCE-6F14-ABEC-AEE6-05AD76F26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5EC05B9-B861-654E-51F8-EF03E55FD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a correr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072A6A8-F0D3-1C7D-0F7C-323C2575A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B3251D2-D1CC-2C43-8AE3-4CF054359574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168E27-D8C5-8035-EFC2-53CE34EE4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B30A62D-AF32-F204-3D28-22F45A526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9442F6C-2F4A-BAEA-D7CB-70EA91102D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9721693-3895-73B0-FD44-DF876A03AA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59FD455C-60B4-22EF-E0AB-E1EBDE2B0EB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0B937364-0545-91F7-4174-2C7198382BE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A6ABB5-B23B-12ED-9EC0-4029C545B3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7" y="1282955"/>
            <a:ext cx="4270795" cy="4854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25161F-64CF-6480-E224-1537FF229BB5}"/>
              </a:ext>
            </a:extLst>
          </p:cNvPr>
          <p:cNvSpPr txBox="1"/>
          <p:nvPr/>
        </p:nvSpPr>
        <p:spPr>
          <a:xfrm>
            <a:off x="4800600" y="1219200"/>
            <a:ext cx="4114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Com o ficheiro importado, a macro foi colocada a correr. 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O UI.Vision começou a navegar na página da DGES e a recolher os dados automaticamente.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Clicámos em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Play Macro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no editor.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 macro percorreu a página da lista de colocações da Universidade de Aveiro.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Cada linha com informações dos alunos foi sendo capturada em tempo real.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Foi possível acompanhar a execução no painel do UI.Vision e verificar cada instrução que estava a ser executada.</a:t>
            </a:r>
          </a:p>
          <a:p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8BDD9812-4D8C-18BE-CB32-1F8AD92F2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</p:spTree>
    <p:extLst>
      <p:ext uri="{BB962C8B-B14F-4D97-AF65-F5344CB8AC3E}">
        <p14:creationId xmlns:p14="http://schemas.microsoft.com/office/powerpoint/2010/main" val="197794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73ED-3C24-3A88-9E01-96F3CFE0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CF3A966-E57D-4107-39D9-616FC521E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B337320-8570-7980-B55D-EA5F67B03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01F9464-6839-71E2-2204-81E865A45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completa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CDF2EFB-A1CE-0288-565F-8EC2203058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226BA12-BB53-D4B8-D7C1-3130D977BAC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5C41C81-13CF-ECCB-9E5A-DD6ADCC79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2381C15-37E8-8AAE-FABD-62AAD389D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D18ACFB-4808-B87C-13AF-2C0F91244A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4D20CDC-08EB-D401-4A02-A58F389B1E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701D9902-BF6C-6F83-D1AB-E5209188019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2CA105AF-D62D-3C20-171A-64CDA0DDB72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10EAA01-1304-4C12-729A-612F821820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292719"/>
            <a:ext cx="5260998" cy="2890658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9A43D9-B598-813F-DE07-94698E3FF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59"/>
          <a:stretch>
            <a:fillRect/>
          </a:stretch>
        </p:blipFill>
        <p:spPr>
          <a:xfrm>
            <a:off x="381001" y="4231854"/>
            <a:ext cx="5287113" cy="20196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2B51F2-8381-A2DE-0055-D117C8DD00AB}"/>
              </a:ext>
            </a:extLst>
          </p:cNvPr>
          <p:cNvSpPr txBox="1"/>
          <p:nvPr/>
        </p:nvSpPr>
        <p:spPr>
          <a:xfrm>
            <a:off x="5836214" y="1170514"/>
            <a:ext cx="30791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/>
              <a:t>Quando a macro terminou a execução, todos os comandos definidos no ficheiro foram concluídos com sucesso.</a:t>
            </a:r>
          </a:p>
          <a:p>
            <a:pPr algn="just"/>
            <a:br>
              <a:rPr lang="pt-PT" sz="1400" dirty="0"/>
            </a:br>
            <a:r>
              <a:rPr lang="pt-PT" sz="1400" dirty="0"/>
              <a:t>O processo de extração terminou sem erros, e os dados ficaram prontos para exportação.</a:t>
            </a:r>
          </a:p>
          <a:p>
            <a:pPr algn="just"/>
            <a:endParaRPr lang="pt-P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/>
              <a:t>A execução percorreu toda a lista de colocações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/>
              <a:t>Cada registo foi guardado automaticamente no ficheiro de saída.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/>
              <a:t>No final, o UI.Vision mostrou a mensagem de macro concluída.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/>
              <a:t>O ficheiro resultante pôde ser guardado em formato CSV.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2D6CA1-EC2A-67DD-FD4D-0F558FC6D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</p:spTree>
    <p:extLst>
      <p:ext uri="{BB962C8B-B14F-4D97-AF65-F5344CB8AC3E}">
        <p14:creationId xmlns:p14="http://schemas.microsoft.com/office/powerpoint/2010/main" val="367878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A98E-02FC-005B-38B8-85D39D3A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F40027E-1D27-AA6D-8829-01A4355C8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AD325CE-4F92-30C2-5E29-B8A182182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9589620-9595-90FA-7804-DECDF52C6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CSV gerado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E7FA0E8-D519-424A-1E88-AF7F72299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A94BEF5-E859-2A2A-765D-72D93D507470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8605924-0745-DCD4-E471-6B8E96A67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1FC3179-B096-38F2-C2B1-631FEF498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DD2E199-F55B-3534-FF44-4E4DC43676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DA5CF2E-2E2A-3C66-91E0-71768D8A76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9807A422-5874-E077-1B1F-FF8F05FC6D4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A9316D13-262C-3954-219B-FEDE208C938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A42927-67D6-C287-7B2B-419809AC59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4" y="4997912"/>
            <a:ext cx="2590800" cy="137873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0DC642-B421-0006-1559-07D3600C7E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1170723"/>
            <a:ext cx="4488785" cy="36852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FD7923-7866-56A7-4B7B-F28EAFB7C314}"/>
              </a:ext>
            </a:extLst>
          </p:cNvPr>
          <p:cNvSpPr txBox="1"/>
          <p:nvPr/>
        </p:nvSpPr>
        <p:spPr>
          <a:xfrm>
            <a:off x="5105400" y="1170723"/>
            <a:ext cx="37322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/>
              <a:t>O último passo foi verificar o ficheiro gerado.</a:t>
            </a:r>
          </a:p>
          <a:p>
            <a:pPr algn="just"/>
            <a:endParaRPr lang="pt-PT" sz="1400" dirty="0"/>
          </a:p>
          <a:p>
            <a:pPr algn="just"/>
            <a:r>
              <a:rPr lang="pt-PT" sz="1400" dirty="0"/>
              <a:t>O UI.Vision exportou os resultados em formato </a:t>
            </a:r>
            <a:r>
              <a:rPr lang="pt-PT" sz="1400" b="1" dirty="0"/>
              <a:t>CSV</a:t>
            </a:r>
            <a:r>
              <a:rPr lang="pt-PT" sz="1400" dirty="0"/>
              <a:t>, o que permite abrir e analisar facilmente os dados em Excel ou Google Sheets.</a:t>
            </a:r>
          </a:p>
          <a:p>
            <a:pPr algn="just"/>
            <a:endParaRPr lang="pt-P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/>
              <a:t>Foi criado um ficheiro </a:t>
            </a:r>
            <a:r>
              <a:rPr lang="pt-PT" sz="1400" b="1" dirty="0"/>
              <a:t>CSV</a:t>
            </a:r>
            <a:r>
              <a:rPr lang="pt-PT" sz="1400" dirty="0"/>
              <a:t> com todos os alunos colocados na Universidade de Aveiro.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/>
              <a:t>Cada linha do ficheiro corresponde a um registo extraído da página da DGES.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/>
              <a:t>O formato tabular facilita a análise e reutilização da informação.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/>
              <a:t>Este ficheiro é a prova final de que o processo de scraping funcionou corretamente.</a:t>
            </a: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E9F325E3-00CA-C024-96E8-CEDEB0D69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</p:spTree>
    <p:extLst>
      <p:ext uri="{BB962C8B-B14F-4D97-AF65-F5344CB8AC3E}">
        <p14:creationId xmlns:p14="http://schemas.microsoft.com/office/powerpoint/2010/main" val="1921551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12D2D-7F32-BA37-4B84-F38722A4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7ECE91C-2246-20BA-98D1-D4F5EAC91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26DE480-3D75-AC42-EAF3-41A21D29E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1CFF7F2-E2A3-36A7-A0E6-3D1194A9E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Conclusão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D163131-D319-E74E-61F6-166F9EDB8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F1F983B-3426-3E1A-DE90-335ABB9E80E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1C18147-A118-EC54-8E97-6427D84E1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94D2190-2FE1-DC58-F078-6792547EF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24EC84A-950D-5469-8DD9-81D17B85FB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838DEA5-97D5-D6B9-A03B-AB045EEDC4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7156F87A-C549-24EE-C43C-F22FFC42908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6" name="Rectângulo 19">
            <a:extLst>
              <a:ext uri="{FF2B5EF4-FFF2-40B4-BE49-F238E27FC236}">
                <a16:creationId xmlns:a16="http://schemas.microsoft.com/office/drawing/2014/main" id="{15B100DE-5B14-D6B0-8C22-342F86DEBB7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8EB40E-8404-47B8-8C50-94922909B2FA}"/>
              </a:ext>
            </a:extLst>
          </p:cNvPr>
          <p:cNvSpPr txBox="1"/>
          <p:nvPr/>
        </p:nvSpPr>
        <p:spPr>
          <a:xfrm>
            <a:off x="318421" y="1219200"/>
            <a:ext cx="83834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 execução do tutorial permitiu comprovar a utilidade do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UI.Vision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para tarefas de automação e extração de dados. O processo mostrou-se simples, desde a instalação até à obtenção dos resultados finais.</a:t>
            </a:r>
          </a:p>
          <a:p>
            <a:pPr algn="just"/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 instalação da extensão foi rápida e intuitiva.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 importação do ficheiro JSON facilitou a execução da macro.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O scraping da página da DGES foi realizado com sucesso.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O ficheiro CSV final demonstrou a eficácia da ferramenta.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Este exercício mostrou como o </a:t>
            </a: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web scraping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pode ser aplicado em cenários reais de integração de sistemas.</a:t>
            </a:r>
          </a:p>
          <a:p>
            <a:endParaRPr lang="pt-PT" sz="1400" dirty="0"/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4A3A6577-390D-3B1C-5514-72DDB6375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</p:spTree>
    <p:extLst>
      <p:ext uri="{BB962C8B-B14F-4D97-AF65-F5344CB8AC3E}">
        <p14:creationId xmlns:p14="http://schemas.microsoft.com/office/powerpoint/2010/main" val="203086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en-US" sz="1600" dirty="0">
                <a:cs typeface="Arial" panose="020B0604020202020204" pitchFamily="34" charset="0"/>
              </a:rPr>
              <a:t>Página DGES </a:t>
            </a:r>
            <a:r>
              <a:rPr lang="en-US" sz="1600" dirty="0" err="1">
                <a:cs typeface="Arial" panose="020B0604020202020204" pitchFamily="34" charset="0"/>
              </a:rPr>
              <a:t>usada</a:t>
            </a:r>
            <a:r>
              <a:rPr lang="en-US" sz="1600" dirty="0">
                <a:cs typeface="Arial" panose="020B0604020202020204" pitchFamily="34" charset="0"/>
              </a:rPr>
              <a:t>: </a:t>
            </a:r>
            <a:r>
              <a:rPr lang="pt-PT" sz="1600" dirty="0">
                <a:hlinkClick r:id="rId3"/>
              </a:rPr>
              <a:t>https://dges.gov.pt/coloc/2025/col1listacol.asp</a:t>
            </a:r>
            <a:br>
              <a:rPr lang="en-US" sz="1600" dirty="0"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600" dirty="0"/>
              <a:t>UI.Vision: </a:t>
            </a:r>
            <a:r>
              <a:rPr lang="pt-PT" sz="1600" dirty="0">
                <a:hlinkClick r:id="rId4"/>
              </a:rPr>
              <a:t>https://chromewebstore.google.com/detail/uivision/gcbalfbdmfieckjlnblleoemohcganoc</a:t>
            </a:r>
            <a:br>
              <a:rPr lang="pt-PT" sz="1600" dirty="0">
                <a:hlinkClick r:id="rId4"/>
              </a:rPr>
            </a:br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en-US" sz="1600" dirty="0" err="1"/>
              <a:t>Documentação</a:t>
            </a:r>
            <a:r>
              <a:rPr lang="en-US" sz="1600" dirty="0"/>
              <a:t> </a:t>
            </a:r>
            <a:r>
              <a:rPr lang="en-US" sz="1600" dirty="0" err="1"/>
              <a:t>UI.Vision</a:t>
            </a:r>
            <a:r>
              <a:rPr lang="en-US" sz="1600" dirty="0"/>
              <a:t>: </a:t>
            </a:r>
            <a:r>
              <a:rPr lang="en-US" sz="1600" dirty="0">
                <a:hlinkClick r:id="rId5"/>
              </a:rPr>
              <a:t>https://ui.vision/rpa/docs</a:t>
            </a:r>
            <a:endParaRPr lang="en-US" sz="1600" dirty="0"/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en-US" sz="1600" dirty="0" err="1"/>
              <a:t>Ficheiro</a:t>
            </a:r>
            <a:r>
              <a:rPr lang="en-US" sz="1600" dirty="0"/>
              <a:t> JSON </a:t>
            </a:r>
            <a:r>
              <a:rPr lang="en-US" sz="1600" dirty="0" err="1"/>
              <a:t>usado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macro: </a:t>
            </a:r>
            <a:r>
              <a:rPr lang="pt-PT" sz="1600" dirty="0">
                <a:hlinkClick r:id="rId6"/>
              </a:rPr>
              <a:t>ExtractDataFromDGS-Colocados_Univ_Aveiro.json File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F5C7FABC-4C5A-6520-F193-EBE14AE8EC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@Diogo Monteiro, Gonçalo Teixira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10" name="Rectângulo 19">
            <a:extLst>
              <a:ext uri="{FF2B5EF4-FFF2-40B4-BE49-F238E27FC236}">
                <a16:creationId xmlns:a16="http://schemas.microsoft.com/office/drawing/2014/main" id="{20E7EB0B-5366-C464-FF1F-882D67C6485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Licenciatura em 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72D949C2-BA14-078C-9076-4D2F4EEB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 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-  TUTORIAL: INSTALAR A EXTENSÃO UI.VISION E REALIZAR O EXEMPLO</a:t>
            </a:r>
          </a:p>
        </p:txBody>
      </p:sp>
    </p:spTree>
    <p:extLst>
      <p:ext uri="{BB962C8B-B14F-4D97-AF65-F5344CB8AC3E}">
        <p14:creationId xmlns:p14="http://schemas.microsoft.com/office/powerpoint/2010/main" val="1590949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4455</TotalTime>
  <Words>1687</Words>
  <Application>Microsoft Office PowerPoint</Application>
  <PresentationFormat>Apresentação no Ecrã (4:3)</PresentationFormat>
  <Paragraphs>258</Paragraphs>
  <Slides>13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Gonçalo Teixeira</cp:lastModifiedBy>
  <cp:revision>280</cp:revision>
  <cp:lastPrinted>2020-09-27T18:04:57Z</cp:lastPrinted>
  <dcterms:created xsi:type="dcterms:W3CDTF">2011-05-31T09:21:51Z</dcterms:created>
  <dcterms:modified xsi:type="dcterms:W3CDTF">2025-09-23T21:37:30Z</dcterms:modified>
</cp:coreProperties>
</file>