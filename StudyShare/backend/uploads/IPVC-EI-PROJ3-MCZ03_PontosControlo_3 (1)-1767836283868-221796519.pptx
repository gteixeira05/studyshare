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handoutMasterIdLst>
    <p:handoutMasterId r:id="rId48"/>
  </p:handoutMasterIdLst>
  <p:sldIdLst>
    <p:sldId id="309" r:id="rId2"/>
    <p:sldId id="316" r:id="rId3"/>
    <p:sldId id="258" r:id="rId4"/>
    <p:sldId id="259" r:id="rId5"/>
    <p:sldId id="311" r:id="rId6"/>
    <p:sldId id="313" r:id="rId7"/>
    <p:sldId id="263" r:id="rId8"/>
    <p:sldId id="265" r:id="rId9"/>
    <p:sldId id="310" r:id="rId10"/>
    <p:sldId id="262" r:id="rId11"/>
    <p:sldId id="307" r:id="rId12"/>
    <p:sldId id="278" r:id="rId13"/>
    <p:sldId id="260" r:id="rId14"/>
    <p:sldId id="314" r:id="rId15"/>
    <p:sldId id="317" r:id="rId16"/>
    <p:sldId id="321" r:id="rId17"/>
    <p:sldId id="322" r:id="rId18"/>
    <p:sldId id="323" r:id="rId19"/>
    <p:sldId id="324" r:id="rId20"/>
    <p:sldId id="325" r:id="rId21"/>
    <p:sldId id="326" r:id="rId22"/>
    <p:sldId id="319" r:id="rId23"/>
    <p:sldId id="320" r:id="rId24"/>
    <p:sldId id="318" r:id="rId25"/>
    <p:sldId id="327" r:id="rId26"/>
    <p:sldId id="328" r:id="rId27"/>
    <p:sldId id="329" r:id="rId28"/>
    <p:sldId id="330" r:id="rId29"/>
    <p:sldId id="331" r:id="rId30"/>
    <p:sldId id="332" r:id="rId31"/>
    <p:sldId id="333" r:id="rId32"/>
    <p:sldId id="334" r:id="rId33"/>
    <p:sldId id="335" r:id="rId34"/>
    <p:sldId id="336" r:id="rId35"/>
    <p:sldId id="337" r:id="rId36"/>
    <p:sldId id="338" r:id="rId37"/>
    <p:sldId id="339" r:id="rId38"/>
    <p:sldId id="340" r:id="rId39"/>
    <p:sldId id="341" r:id="rId40"/>
    <p:sldId id="342" r:id="rId41"/>
    <p:sldId id="345" r:id="rId42"/>
    <p:sldId id="346" r:id="rId43"/>
    <p:sldId id="343" r:id="rId44"/>
    <p:sldId id="344" r:id="rId45"/>
    <p:sldId id="315" r:id="rId46"/>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17A9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084" autoAdjust="0"/>
    <p:restoredTop sz="94609"/>
  </p:normalViewPr>
  <p:slideViewPr>
    <p:cSldViewPr>
      <p:cViewPr varScale="1">
        <p:scale>
          <a:sx n="104" d="100"/>
          <a:sy n="104" d="100"/>
        </p:scale>
        <p:origin x="2142"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89C46DD-B1B1-46AF-A397-DAB94D5E1CA1}"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pt-PT"/>
        </a:p>
      </dgm:t>
    </dgm:pt>
    <dgm:pt modelId="{B229E35B-F4AD-4326-BDC3-B915326DE1DE}">
      <dgm:prSet phldrT="[Texto]" custT="1"/>
      <dgm:spPr/>
      <dgm:t>
        <a:bodyPr/>
        <a:lstStyle/>
        <a:p>
          <a:r>
            <a:rPr lang="en-US" sz="1600" b="0" i="0" dirty="0"/>
            <a:t>There are 3 types of users:</a:t>
          </a:r>
          <a:endParaRPr lang="pt-PT" sz="1600" dirty="0"/>
        </a:p>
      </dgm:t>
    </dgm:pt>
    <dgm:pt modelId="{4F0E7D86-0430-4514-ADBE-3006CC9D0EFB}" type="parTrans" cxnId="{F4094316-1849-4288-AFDB-CB621F89431F}">
      <dgm:prSet/>
      <dgm:spPr/>
      <dgm:t>
        <a:bodyPr/>
        <a:lstStyle/>
        <a:p>
          <a:endParaRPr lang="pt-PT"/>
        </a:p>
      </dgm:t>
    </dgm:pt>
    <dgm:pt modelId="{8AC0DC69-AA24-48A1-9A51-E461115D20DF}" type="sibTrans" cxnId="{F4094316-1849-4288-AFDB-CB621F89431F}">
      <dgm:prSet/>
      <dgm:spPr/>
      <dgm:t>
        <a:bodyPr/>
        <a:lstStyle/>
        <a:p>
          <a:endParaRPr lang="pt-PT"/>
        </a:p>
      </dgm:t>
    </dgm:pt>
    <dgm:pt modelId="{0A125E3A-3C86-4F29-98D3-9AB459135565}">
      <dgm:prSet phldrT="[Texto]" custT="1"/>
      <dgm:spPr>
        <a:solidFill>
          <a:schemeClr val="bg1"/>
        </a:solidFill>
        <a:ln>
          <a:solidFill>
            <a:schemeClr val="accent1"/>
          </a:solidFill>
        </a:ln>
      </dgm:spPr>
      <dgm:t>
        <a:bodyPr/>
        <a:lstStyle/>
        <a:p>
          <a:r>
            <a:rPr lang="pt-PT" sz="1600" b="1" u="sng" dirty="0">
              <a:solidFill>
                <a:schemeClr val="accent1"/>
              </a:solidFill>
            </a:rPr>
            <a:t>Regular User</a:t>
          </a:r>
          <a:endParaRPr lang="pt-PT" sz="1600" b="1" u="sng" dirty="0">
            <a:solidFill>
              <a:srgbClr val="617A98"/>
            </a:solidFill>
          </a:endParaRPr>
        </a:p>
      </dgm:t>
    </dgm:pt>
    <dgm:pt modelId="{056D1306-3AE1-4010-A4CA-1F6BA0EC03BA}" type="parTrans" cxnId="{9B634177-6770-40F1-8E0B-4272CF6EAD8D}">
      <dgm:prSet/>
      <dgm:spPr/>
      <dgm:t>
        <a:bodyPr/>
        <a:lstStyle/>
        <a:p>
          <a:endParaRPr lang="pt-PT"/>
        </a:p>
      </dgm:t>
    </dgm:pt>
    <dgm:pt modelId="{148DCC8C-E76D-42D4-B0CA-DA300CFFD074}" type="sibTrans" cxnId="{9B634177-6770-40F1-8E0B-4272CF6EAD8D}">
      <dgm:prSet/>
      <dgm:spPr/>
      <dgm:t>
        <a:bodyPr/>
        <a:lstStyle/>
        <a:p>
          <a:endParaRPr lang="pt-PT"/>
        </a:p>
      </dgm:t>
    </dgm:pt>
    <dgm:pt modelId="{121A42F3-B103-4A92-9A71-57340DC07D4A}">
      <dgm:prSet phldrT="[Texto]" custT="1"/>
      <dgm:spPr>
        <a:solidFill>
          <a:schemeClr val="bg1"/>
        </a:solidFill>
        <a:ln>
          <a:solidFill>
            <a:schemeClr val="accent1"/>
          </a:solidFill>
        </a:ln>
      </dgm:spPr>
      <dgm:t>
        <a:bodyPr/>
        <a:lstStyle/>
        <a:p>
          <a:r>
            <a:rPr lang="pt-PT" sz="1600" b="1" u="sng" dirty="0">
              <a:solidFill>
                <a:schemeClr val="accent1"/>
              </a:solidFill>
            </a:rPr>
            <a:t>Administrator</a:t>
          </a:r>
          <a:endParaRPr lang="pt-PT" sz="1800" b="1" u="sng" dirty="0">
            <a:solidFill>
              <a:srgbClr val="617A98"/>
            </a:solidFill>
          </a:endParaRPr>
        </a:p>
      </dgm:t>
    </dgm:pt>
    <dgm:pt modelId="{F5C4920A-58EC-4DDA-9621-DB270023AC2F}" type="parTrans" cxnId="{F0153214-1711-40A4-B97D-9E7F15D42B8A}">
      <dgm:prSet/>
      <dgm:spPr/>
      <dgm:t>
        <a:bodyPr/>
        <a:lstStyle/>
        <a:p>
          <a:endParaRPr lang="pt-PT"/>
        </a:p>
      </dgm:t>
    </dgm:pt>
    <dgm:pt modelId="{AC81EFD9-8905-4A94-85BF-C324D4971BC6}" type="sibTrans" cxnId="{F0153214-1711-40A4-B97D-9E7F15D42B8A}">
      <dgm:prSet/>
      <dgm:spPr/>
      <dgm:t>
        <a:bodyPr/>
        <a:lstStyle/>
        <a:p>
          <a:endParaRPr lang="pt-PT"/>
        </a:p>
      </dgm:t>
    </dgm:pt>
    <dgm:pt modelId="{0E4879B1-857A-46E2-9328-3C93BF5074DB}">
      <dgm:prSet phldrT="[Texto]" custT="1"/>
      <dgm:spPr>
        <a:solidFill>
          <a:schemeClr val="bg1"/>
        </a:solidFill>
        <a:ln>
          <a:solidFill>
            <a:schemeClr val="accent1"/>
          </a:solidFill>
        </a:ln>
      </dgm:spPr>
      <dgm:t>
        <a:bodyPr/>
        <a:lstStyle/>
        <a:p>
          <a:r>
            <a:rPr lang="pt-PT" sz="1600" b="1" u="sng" dirty="0">
              <a:solidFill>
                <a:schemeClr val="accent1"/>
              </a:solidFill>
            </a:rPr>
            <a:t>System</a:t>
          </a:r>
        </a:p>
      </dgm:t>
    </dgm:pt>
    <dgm:pt modelId="{506B567B-A146-46BC-A22B-97AAD7B904D2}" type="parTrans" cxnId="{A94AFCD6-7E49-44FE-80D2-94DA543A6032}">
      <dgm:prSet/>
      <dgm:spPr/>
      <dgm:t>
        <a:bodyPr/>
        <a:lstStyle/>
        <a:p>
          <a:endParaRPr lang="pt-PT"/>
        </a:p>
      </dgm:t>
    </dgm:pt>
    <dgm:pt modelId="{B10410DC-CA1D-4CFD-AAC7-B01B542CCDB8}" type="sibTrans" cxnId="{A94AFCD6-7E49-44FE-80D2-94DA543A6032}">
      <dgm:prSet/>
      <dgm:spPr/>
      <dgm:t>
        <a:bodyPr/>
        <a:lstStyle/>
        <a:p>
          <a:endParaRPr lang="pt-PT"/>
        </a:p>
      </dgm:t>
    </dgm:pt>
    <dgm:pt modelId="{A599F955-2E72-41CC-BF21-EC0AA1A3364F}" type="pres">
      <dgm:prSet presAssocID="{B89C46DD-B1B1-46AF-A397-DAB94D5E1CA1}" presName="hierChild1" presStyleCnt="0">
        <dgm:presLayoutVars>
          <dgm:orgChart val="1"/>
          <dgm:chPref val="1"/>
          <dgm:dir/>
          <dgm:animOne val="branch"/>
          <dgm:animLvl val="lvl"/>
          <dgm:resizeHandles/>
        </dgm:presLayoutVars>
      </dgm:prSet>
      <dgm:spPr/>
    </dgm:pt>
    <dgm:pt modelId="{2D910115-F48E-4938-81DE-0263BA9B6E15}" type="pres">
      <dgm:prSet presAssocID="{B229E35B-F4AD-4326-BDC3-B915326DE1DE}" presName="hierRoot1" presStyleCnt="0">
        <dgm:presLayoutVars>
          <dgm:hierBranch val="init"/>
        </dgm:presLayoutVars>
      </dgm:prSet>
      <dgm:spPr/>
    </dgm:pt>
    <dgm:pt modelId="{C7B9B14D-20B5-4589-AD30-66CDECE2C300}" type="pres">
      <dgm:prSet presAssocID="{B229E35B-F4AD-4326-BDC3-B915326DE1DE}" presName="rootComposite1" presStyleCnt="0"/>
      <dgm:spPr/>
    </dgm:pt>
    <dgm:pt modelId="{AA0E8A68-1AD1-473C-9F1F-55B34A53D437}" type="pres">
      <dgm:prSet presAssocID="{B229E35B-F4AD-4326-BDC3-B915326DE1DE}" presName="rootText1" presStyleLbl="node0" presStyleIdx="0" presStyleCnt="1" custScaleX="132507">
        <dgm:presLayoutVars>
          <dgm:chPref val="3"/>
        </dgm:presLayoutVars>
      </dgm:prSet>
      <dgm:spPr/>
    </dgm:pt>
    <dgm:pt modelId="{AD574FA6-0316-4587-95F4-A09957CDE367}" type="pres">
      <dgm:prSet presAssocID="{B229E35B-F4AD-4326-BDC3-B915326DE1DE}" presName="rootConnector1" presStyleLbl="node1" presStyleIdx="0" presStyleCnt="0"/>
      <dgm:spPr/>
    </dgm:pt>
    <dgm:pt modelId="{1353CC15-37B8-4CD1-8E67-44CB128E1741}" type="pres">
      <dgm:prSet presAssocID="{B229E35B-F4AD-4326-BDC3-B915326DE1DE}" presName="hierChild2" presStyleCnt="0"/>
      <dgm:spPr/>
    </dgm:pt>
    <dgm:pt modelId="{C63FEC66-9F59-422C-B1DF-2A9027AB4AE0}" type="pres">
      <dgm:prSet presAssocID="{056D1306-3AE1-4010-A4CA-1F6BA0EC03BA}" presName="Name37" presStyleLbl="parChTrans1D2" presStyleIdx="0" presStyleCnt="3"/>
      <dgm:spPr/>
    </dgm:pt>
    <dgm:pt modelId="{C83B4986-2A5E-4DF3-A0B5-FB4C112F053D}" type="pres">
      <dgm:prSet presAssocID="{0A125E3A-3C86-4F29-98D3-9AB459135565}" presName="hierRoot2" presStyleCnt="0">
        <dgm:presLayoutVars>
          <dgm:hierBranch val="init"/>
        </dgm:presLayoutVars>
      </dgm:prSet>
      <dgm:spPr/>
    </dgm:pt>
    <dgm:pt modelId="{83A40450-D7F3-45CF-97F3-D540497AFACE}" type="pres">
      <dgm:prSet presAssocID="{0A125E3A-3C86-4F29-98D3-9AB459135565}" presName="rootComposite" presStyleCnt="0"/>
      <dgm:spPr/>
    </dgm:pt>
    <dgm:pt modelId="{F9EEA9DC-8969-401C-9807-4A35E8EEDB45}" type="pres">
      <dgm:prSet presAssocID="{0A125E3A-3C86-4F29-98D3-9AB459135565}" presName="rootText" presStyleLbl="node2" presStyleIdx="0" presStyleCnt="3" custScaleX="111043">
        <dgm:presLayoutVars>
          <dgm:chPref val="3"/>
        </dgm:presLayoutVars>
      </dgm:prSet>
      <dgm:spPr/>
    </dgm:pt>
    <dgm:pt modelId="{C9F1C4B1-FAC5-4505-9904-2243404AA6A3}" type="pres">
      <dgm:prSet presAssocID="{0A125E3A-3C86-4F29-98D3-9AB459135565}" presName="rootConnector" presStyleLbl="node2" presStyleIdx="0" presStyleCnt="3"/>
      <dgm:spPr/>
    </dgm:pt>
    <dgm:pt modelId="{F59AE421-D72D-4442-8009-F3C54E4098C2}" type="pres">
      <dgm:prSet presAssocID="{0A125E3A-3C86-4F29-98D3-9AB459135565}" presName="hierChild4" presStyleCnt="0"/>
      <dgm:spPr/>
    </dgm:pt>
    <dgm:pt modelId="{A731AA84-D744-4AA8-9284-577226193E4C}" type="pres">
      <dgm:prSet presAssocID="{0A125E3A-3C86-4F29-98D3-9AB459135565}" presName="hierChild5" presStyleCnt="0"/>
      <dgm:spPr/>
    </dgm:pt>
    <dgm:pt modelId="{C69245C4-0AE1-4474-863D-71AF3E976038}" type="pres">
      <dgm:prSet presAssocID="{F5C4920A-58EC-4DDA-9621-DB270023AC2F}" presName="Name37" presStyleLbl="parChTrans1D2" presStyleIdx="1" presStyleCnt="3"/>
      <dgm:spPr/>
    </dgm:pt>
    <dgm:pt modelId="{8187BA0A-A020-420D-8CF3-0441312831FF}" type="pres">
      <dgm:prSet presAssocID="{121A42F3-B103-4A92-9A71-57340DC07D4A}" presName="hierRoot2" presStyleCnt="0">
        <dgm:presLayoutVars>
          <dgm:hierBranch val="init"/>
        </dgm:presLayoutVars>
      </dgm:prSet>
      <dgm:spPr/>
    </dgm:pt>
    <dgm:pt modelId="{30F11B71-8A8E-4057-B28E-3D5BA21CD02F}" type="pres">
      <dgm:prSet presAssocID="{121A42F3-B103-4A92-9A71-57340DC07D4A}" presName="rootComposite" presStyleCnt="0"/>
      <dgm:spPr/>
    </dgm:pt>
    <dgm:pt modelId="{6097BB1D-C3AA-4CB4-B538-5F1D0EB26509}" type="pres">
      <dgm:prSet presAssocID="{121A42F3-B103-4A92-9A71-57340DC07D4A}" presName="rootText" presStyleLbl="node2" presStyleIdx="1" presStyleCnt="3">
        <dgm:presLayoutVars>
          <dgm:chPref val="3"/>
        </dgm:presLayoutVars>
      </dgm:prSet>
      <dgm:spPr/>
    </dgm:pt>
    <dgm:pt modelId="{61BDB79D-E958-44FC-874D-387BB3C8B2B4}" type="pres">
      <dgm:prSet presAssocID="{121A42F3-B103-4A92-9A71-57340DC07D4A}" presName="rootConnector" presStyleLbl="node2" presStyleIdx="1" presStyleCnt="3"/>
      <dgm:spPr/>
    </dgm:pt>
    <dgm:pt modelId="{782C46DF-D47C-4F73-A5FE-AD90A4FB3D36}" type="pres">
      <dgm:prSet presAssocID="{121A42F3-B103-4A92-9A71-57340DC07D4A}" presName="hierChild4" presStyleCnt="0"/>
      <dgm:spPr/>
    </dgm:pt>
    <dgm:pt modelId="{4A36E72C-4140-4822-9B63-E48F80A29F51}" type="pres">
      <dgm:prSet presAssocID="{121A42F3-B103-4A92-9A71-57340DC07D4A}" presName="hierChild5" presStyleCnt="0"/>
      <dgm:spPr/>
    </dgm:pt>
    <dgm:pt modelId="{36374F97-FC11-4989-AF05-E59D8BA571C1}" type="pres">
      <dgm:prSet presAssocID="{506B567B-A146-46BC-A22B-97AAD7B904D2}" presName="Name37" presStyleLbl="parChTrans1D2" presStyleIdx="2" presStyleCnt="3"/>
      <dgm:spPr/>
    </dgm:pt>
    <dgm:pt modelId="{3DFA8788-D46B-4664-8BAF-D399390906D6}" type="pres">
      <dgm:prSet presAssocID="{0E4879B1-857A-46E2-9328-3C93BF5074DB}" presName="hierRoot2" presStyleCnt="0">
        <dgm:presLayoutVars>
          <dgm:hierBranch val="init"/>
        </dgm:presLayoutVars>
      </dgm:prSet>
      <dgm:spPr/>
    </dgm:pt>
    <dgm:pt modelId="{17727952-3E26-49C8-820B-B4F71912D972}" type="pres">
      <dgm:prSet presAssocID="{0E4879B1-857A-46E2-9328-3C93BF5074DB}" presName="rootComposite" presStyleCnt="0"/>
      <dgm:spPr/>
    </dgm:pt>
    <dgm:pt modelId="{AB0007F5-FED9-440E-96AA-1F69E354F8DB}" type="pres">
      <dgm:prSet presAssocID="{0E4879B1-857A-46E2-9328-3C93BF5074DB}" presName="rootText" presStyleLbl="node2" presStyleIdx="2" presStyleCnt="3" custScaleX="111352">
        <dgm:presLayoutVars>
          <dgm:chPref val="3"/>
        </dgm:presLayoutVars>
      </dgm:prSet>
      <dgm:spPr/>
    </dgm:pt>
    <dgm:pt modelId="{D41EC02C-07C8-48EE-A8A2-DBDB99177E97}" type="pres">
      <dgm:prSet presAssocID="{0E4879B1-857A-46E2-9328-3C93BF5074DB}" presName="rootConnector" presStyleLbl="node2" presStyleIdx="2" presStyleCnt="3"/>
      <dgm:spPr/>
    </dgm:pt>
    <dgm:pt modelId="{52A70637-6C48-4C5A-B1AC-FE36477F060B}" type="pres">
      <dgm:prSet presAssocID="{0E4879B1-857A-46E2-9328-3C93BF5074DB}" presName="hierChild4" presStyleCnt="0"/>
      <dgm:spPr/>
    </dgm:pt>
    <dgm:pt modelId="{F21CA501-2B00-4BE2-AE54-0891EC7FF8D8}" type="pres">
      <dgm:prSet presAssocID="{0E4879B1-857A-46E2-9328-3C93BF5074DB}" presName="hierChild5" presStyleCnt="0"/>
      <dgm:spPr/>
    </dgm:pt>
    <dgm:pt modelId="{579A580C-123F-479A-A284-8698FA2327A7}" type="pres">
      <dgm:prSet presAssocID="{B229E35B-F4AD-4326-BDC3-B915326DE1DE}" presName="hierChild3" presStyleCnt="0"/>
      <dgm:spPr/>
    </dgm:pt>
  </dgm:ptLst>
  <dgm:cxnLst>
    <dgm:cxn modelId="{F0153214-1711-40A4-B97D-9E7F15D42B8A}" srcId="{B229E35B-F4AD-4326-BDC3-B915326DE1DE}" destId="{121A42F3-B103-4A92-9A71-57340DC07D4A}" srcOrd="1" destOrd="0" parTransId="{F5C4920A-58EC-4DDA-9621-DB270023AC2F}" sibTransId="{AC81EFD9-8905-4A94-85BF-C324D4971BC6}"/>
    <dgm:cxn modelId="{70C5D515-5D77-4EA9-9DCC-DBB1BF05EF2C}" type="presOf" srcId="{0A125E3A-3C86-4F29-98D3-9AB459135565}" destId="{C9F1C4B1-FAC5-4505-9904-2243404AA6A3}" srcOrd="1" destOrd="0" presId="urn:microsoft.com/office/officeart/2005/8/layout/orgChart1"/>
    <dgm:cxn modelId="{F4094316-1849-4288-AFDB-CB621F89431F}" srcId="{B89C46DD-B1B1-46AF-A397-DAB94D5E1CA1}" destId="{B229E35B-F4AD-4326-BDC3-B915326DE1DE}" srcOrd="0" destOrd="0" parTransId="{4F0E7D86-0430-4514-ADBE-3006CC9D0EFB}" sibTransId="{8AC0DC69-AA24-48A1-9A51-E461115D20DF}"/>
    <dgm:cxn modelId="{F7C4331D-83BC-416C-ABD4-5A1A0963FEBE}" type="presOf" srcId="{056D1306-3AE1-4010-A4CA-1F6BA0EC03BA}" destId="{C63FEC66-9F59-422C-B1DF-2A9027AB4AE0}" srcOrd="0" destOrd="0" presId="urn:microsoft.com/office/officeart/2005/8/layout/orgChart1"/>
    <dgm:cxn modelId="{7B56632B-7583-4C93-8D2E-28974770BA19}" type="presOf" srcId="{0E4879B1-857A-46E2-9328-3C93BF5074DB}" destId="{D41EC02C-07C8-48EE-A8A2-DBDB99177E97}" srcOrd="1" destOrd="0" presId="urn:microsoft.com/office/officeart/2005/8/layout/orgChart1"/>
    <dgm:cxn modelId="{D0127731-5280-4A8C-B914-6DD1055450ED}" type="presOf" srcId="{121A42F3-B103-4A92-9A71-57340DC07D4A}" destId="{6097BB1D-C3AA-4CB4-B538-5F1D0EB26509}" srcOrd="0" destOrd="0" presId="urn:microsoft.com/office/officeart/2005/8/layout/orgChart1"/>
    <dgm:cxn modelId="{9585FB5E-DE07-49DC-BCAE-A524A46527F6}" type="presOf" srcId="{506B567B-A146-46BC-A22B-97AAD7B904D2}" destId="{36374F97-FC11-4989-AF05-E59D8BA571C1}" srcOrd="0" destOrd="0" presId="urn:microsoft.com/office/officeart/2005/8/layout/orgChart1"/>
    <dgm:cxn modelId="{9B634177-6770-40F1-8E0B-4272CF6EAD8D}" srcId="{B229E35B-F4AD-4326-BDC3-B915326DE1DE}" destId="{0A125E3A-3C86-4F29-98D3-9AB459135565}" srcOrd="0" destOrd="0" parTransId="{056D1306-3AE1-4010-A4CA-1F6BA0EC03BA}" sibTransId="{148DCC8C-E76D-42D4-B0CA-DA300CFFD074}"/>
    <dgm:cxn modelId="{A5522895-4FC7-44D9-B4A3-1338077C4867}" type="presOf" srcId="{0A125E3A-3C86-4F29-98D3-9AB459135565}" destId="{F9EEA9DC-8969-401C-9807-4A35E8EEDB45}" srcOrd="0" destOrd="0" presId="urn:microsoft.com/office/officeart/2005/8/layout/orgChart1"/>
    <dgm:cxn modelId="{E7E54AA5-26FF-41D4-BF38-9BB50B605B06}" type="presOf" srcId="{B229E35B-F4AD-4326-BDC3-B915326DE1DE}" destId="{AD574FA6-0316-4587-95F4-A09957CDE367}" srcOrd="1" destOrd="0" presId="urn:microsoft.com/office/officeart/2005/8/layout/orgChart1"/>
    <dgm:cxn modelId="{142405CA-32BA-4D3E-98F2-211BB0499B20}" type="presOf" srcId="{B89C46DD-B1B1-46AF-A397-DAB94D5E1CA1}" destId="{A599F955-2E72-41CC-BF21-EC0AA1A3364F}" srcOrd="0" destOrd="0" presId="urn:microsoft.com/office/officeart/2005/8/layout/orgChart1"/>
    <dgm:cxn modelId="{9383BECF-A2D6-4A98-9B45-2F608C0A0793}" type="presOf" srcId="{B229E35B-F4AD-4326-BDC3-B915326DE1DE}" destId="{AA0E8A68-1AD1-473C-9F1F-55B34A53D437}" srcOrd="0" destOrd="0" presId="urn:microsoft.com/office/officeart/2005/8/layout/orgChart1"/>
    <dgm:cxn modelId="{4243CCD4-C3A0-4170-95D5-84F5B4F64851}" type="presOf" srcId="{121A42F3-B103-4A92-9A71-57340DC07D4A}" destId="{61BDB79D-E958-44FC-874D-387BB3C8B2B4}" srcOrd="1" destOrd="0" presId="urn:microsoft.com/office/officeart/2005/8/layout/orgChart1"/>
    <dgm:cxn modelId="{A94AFCD6-7E49-44FE-80D2-94DA543A6032}" srcId="{B229E35B-F4AD-4326-BDC3-B915326DE1DE}" destId="{0E4879B1-857A-46E2-9328-3C93BF5074DB}" srcOrd="2" destOrd="0" parTransId="{506B567B-A146-46BC-A22B-97AAD7B904D2}" sibTransId="{B10410DC-CA1D-4CFD-AAC7-B01B542CCDB8}"/>
    <dgm:cxn modelId="{BB8584DB-71E3-4918-9B38-CC2B4A4AEE26}" type="presOf" srcId="{F5C4920A-58EC-4DDA-9621-DB270023AC2F}" destId="{C69245C4-0AE1-4474-863D-71AF3E976038}" srcOrd="0" destOrd="0" presId="urn:microsoft.com/office/officeart/2005/8/layout/orgChart1"/>
    <dgm:cxn modelId="{6460BAFC-47B3-40DB-B117-4B6B43E6805E}" type="presOf" srcId="{0E4879B1-857A-46E2-9328-3C93BF5074DB}" destId="{AB0007F5-FED9-440E-96AA-1F69E354F8DB}" srcOrd="0" destOrd="0" presId="urn:microsoft.com/office/officeart/2005/8/layout/orgChart1"/>
    <dgm:cxn modelId="{A9471E25-968C-4736-B0BD-E9E06DE43F0B}" type="presParOf" srcId="{A599F955-2E72-41CC-BF21-EC0AA1A3364F}" destId="{2D910115-F48E-4938-81DE-0263BA9B6E15}" srcOrd="0" destOrd="0" presId="urn:microsoft.com/office/officeart/2005/8/layout/orgChart1"/>
    <dgm:cxn modelId="{A2F2FDD1-1E0C-4527-8269-0B4F29AC9541}" type="presParOf" srcId="{2D910115-F48E-4938-81DE-0263BA9B6E15}" destId="{C7B9B14D-20B5-4589-AD30-66CDECE2C300}" srcOrd="0" destOrd="0" presId="urn:microsoft.com/office/officeart/2005/8/layout/orgChart1"/>
    <dgm:cxn modelId="{FF492271-5A1F-4E06-AC0C-A62D9672FC20}" type="presParOf" srcId="{C7B9B14D-20B5-4589-AD30-66CDECE2C300}" destId="{AA0E8A68-1AD1-473C-9F1F-55B34A53D437}" srcOrd="0" destOrd="0" presId="urn:microsoft.com/office/officeart/2005/8/layout/orgChart1"/>
    <dgm:cxn modelId="{E2FC443B-4796-45FA-B58C-BFF61E0EE102}" type="presParOf" srcId="{C7B9B14D-20B5-4589-AD30-66CDECE2C300}" destId="{AD574FA6-0316-4587-95F4-A09957CDE367}" srcOrd="1" destOrd="0" presId="urn:microsoft.com/office/officeart/2005/8/layout/orgChart1"/>
    <dgm:cxn modelId="{6E0D8995-CDBD-4D4D-83B4-5DA5605E61B7}" type="presParOf" srcId="{2D910115-F48E-4938-81DE-0263BA9B6E15}" destId="{1353CC15-37B8-4CD1-8E67-44CB128E1741}" srcOrd="1" destOrd="0" presId="urn:microsoft.com/office/officeart/2005/8/layout/orgChart1"/>
    <dgm:cxn modelId="{5F28A5C8-691F-454B-A76F-51E53D2D0F12}" type="presParOf" srcId="{1353CC15-37B8-4CD1-8E67-44CB128E1741}" destId="{C63FEC66-9F59-422C-B1DF-2A9027AB4AE0}" srcOrd="0" destOrd="0" presId="urn:microsoft.com/office/officeart/2005/8/layout/orgChart1"/>
    <dgm:cxn modelId="{08946D69-552C-4C5E-95BB-D42DB63D698E}" type="presParOf" srcId="{1353CC15-37B8-4CD1-8E67-44CB128E1741}" destId="{C83B4986-2A5E-4DF3-A0B5-FB4C112F053D}" srcOrd="1" destOrd="0" presId="urn:microsoft.com/office/officeart/2005/8/layout/orgChart1"/>
    <dgm:cxn modelId="{33262CBC-C027-4649-A80D-4016D471E509}" type="presParOf" srcId="{C83B4986-2A5E-4DF3-A0B5-FB4C112F053D}" destId="{83A40450-D7F3-45CF-97F3-D540497AFACE}" srcOrd="0" destOrd="0" presId="urn:microsoft.com/office/officeart/2005/8/layout/orgChart1"/>
    <dgm:cxn modelId="{24FF34B5-D81B-4FD9-B794-4B18A56B204B}" type="presParOf" srcId="{83A40450-D7F3-45CF-97F3-D540497AFACE}" destId="{F9EEA9DC-8969-401C-9807-4A35E8EEDB45}" srcOrd="0" destOrd="0" presId="urn:microsoft.com/office/officeart/2005/8/layout/orgChart1"/>
    <dgm:cxn modelId="{8B0F5481-FA0B-4BD5-AFF2-75E686AD62F3}" type="presParOf" srcId="{83A40450-D7F3-45CF-97F3-D540497AFACE}" destId="{C9F1C4B1-FAC5-4505-9904-2243404AA6A3}" srcOrd="1" destOrd="0" presId="urn:microsoft.com/office/officeart/2005/8/layout/orgChart1"/>
    <dgm:cxn modelId="{B6B18E29-6E79-4CFB-82B6-0DA0711D1C88}" type="presParOf" srcId="{C83B4986-2A5E-4DF3-A0B5-FB4C112F053D}" destId="{F59AE421-D72D-4442-8009-F3C54E4098C2}" srcOrd="1" destOrd="0" presId="urn:microsoft.com/office/officeart/2005/8/layout/orgChart1"/>
    <dgm:cxn modelId="{97027875-105C-45D2-8A57-7C1C77F64793}" type="presParOf" srcId="{C83B4986-2A5E-4DF3-A0B5-FB4C112F053D}" destId="{A731AA84-D744-4AA8-9284-577226193E4C}" srcOrd="2" destOrd="0" presId="urn:microsoft.com/office/officeart/2005/8/layout/orgChart1"/>
    <dgm:cxn modelId="{5270BCC6-B550-4E0D-AD57-6F89B3FA526D}" type="presParOf" srcId="{1353CC15-37B8-4CD1-8E67-44CB128E1741}" destId="{C69245C4-0AE1-4474-863D-71AF3E976038}" srcOrd="2" destOrd="0" presId="urn:microsoft.com/office/officeart/2005/8/layout/orgChart1"/>
    <dgm:cxn modelId="{F2EA7BDA-3A61-47BD-BFAC-78B4E1352D18}" type="presParOf" srcId="{1353CC15-37B8-4CD1-8E67-44CB128E1741}" destId="{8187BA0A-A020-420D-8CF3-0441312831FF}" srcOrd="3" destOrd="0" presId="urn:microsoft.com/office/officeart/2005/8/layout/orgChart1"/>
    <dgm:cxn modelId="{512028C3-4699-4C34-90E9-96D21F9CEC20}" type="presParOf" srcId="{8187BA0A-A020-420D-8CF3-0441312831FF}" destId="{30F11B71-8A8E-4057-B28E-3D5BA21CD02F}" srcOrd="0" destOrd="0" presId="urn:microsoft.com/office/officeart/2005/8/layout/orgChart1"/>
    <dgm:cxn modelId="{F8A8AFF3-093B-46F8-845B-74C40BD096AE}" type="presParOf" srcId="{30F11B71-8A8E-4057-B28E-3D5BA21CD02F}" destId="{6097BB1D-C3AA-4CB4-B538-5F1D0EB26509}" srcOrd="0" destOrd="0" presId="urn:microsoft.com/office/officeart/2005/8/layout/orgChart1"/>
    <dgm:cxn modelId="{9100E1D0-AB43-4DB2-A892-05AE66C98051}" type="presParOf" srcId="{30F11B71-8A8E-4057-B28E-3D5BA21CD02F}" destId="{61BDB79D-E958-44FC-874D-387BB3C8B2B4}" srcOrd="1" destOrd="0" presId="urn:microsoft.com/office/officeart/2005/8/layout/orgChart1"/>
    <dgm:cxn modelId="{E8AACD27-ADD9-42B2-B951-D216866053E2}" type="presParOf" srcId="{8187BA0A-A020-420D-8CF3-0441312831FF}" destId="{782C46DF-D47C-4F73-A5FE-AD90A4FB3D36}" srcOrd="1" destOrd="0" presId="urn:microsoft.com/office/officeart/2005/8/layout/orgChart1"/>
    <dgm:cxn modelId="{E4E5856D-640D-460E-B2EA-BA150FFA6E1C}" type="presParOf" srcId="{8187BA0A-A020-420D-8CF3-0441312831FF}" destId="{4A36E72C-4140-4822-9B63-E48F80A29F51}" srcOrd="2" destOrd="0" presId="urn:microsoft.com/office/officeart/2005/8/layout/orgChart1"/>
    <dgm:cxn modelId="{A353302C-92BE-48F0-8341-3256A459BA17}" type="presParOf" srcId="{1353CC15-37B8-4CD1-8E67-44CB128E1741}" destId="{36374F97-FC11-4989-AF05-E59D8BA571C1}" srcOrd="4" destOrd="0" presId="urn:microsoft.com/office/officeart/2005/8/layout/orgChart1"/>
    <dgm:cxn modelId="{AB12624F-D7F0-48BD-B531-E566B7B9DD9D}" type="presParOf" srcId="{1353CC15-37B8-4CD1-8E67-44CB128E1741}" destId="{3DFA8788-D46B-4664-8BAF-D399390906D6}" srcOrd="5" destOrd="0" presId="urn:microsoft.com/office/officeart/2005/8/layout/orgChart1"/>
    <dgm:cxn modelId="{F7126724-2D80-4B9C-95D3-D6F0006285B3}" type="presParOf" srcId="{3DFA8788-D46B-4664-8BAF-D399390906D6}" destId="{17727952-3E26-49C8-820B-B4F71912D972}" srcOrd="0" destOrd="0" presId="urn:microsoft.com/office/officeart/2005/8/layout/orgChart1"/>
    <dgm:cxn modelId="{57043D4E-75E3-45F0-862F-8F74723ECAFC}" type="presParOf" srcId="{17727952-3E26-49C8-820B-B4F71912D972}" destId="{AB0007F5-FED9-440E-96AA-1F69E354F8DB}" srcOrd="0" destOrd="0" presId="urn:microsoft.com/office/officeart/2005/8/layout/orgChart1"/>
    <dgm:cxn modelId="{CC0378AE-C213-4808-B65E-B554830CA50B}" type="presParOf" srcId="{17727952-3E26-49C8-820B-B4F71912D972}" destId="{D41EC02C-07C8-48EE-A8A2-DBDB99177E97}" srcOrd="1" destOrd="0" presId="urn:microsoft.com/office/officeart/2005/8/layout/orgChart1"/>
    <dgm:cxn modelId="{CE78D4B8-CCD3-4462-9434-715DA042F878}" type="presParOf" srcId="{3DFA8788-D46B-4664-8BAF-D399390906D6}" destId="{52A70637-6C48-4C5A-B1AC-FE36477F060B}" srcOrd="1" destOrd="0" presId="urn:microsoft.com/office/officeart/2005/8/layout/orgChart1"/>
    <dgm:cxn modelId="{81F1F6C9-C75B-428D-8799-0D05F09E9313}" type="presParOf" srcId="{3DFA8788-D46B-4664-8BAF-D399390906D6}" destId="{F21CA501-2B00-4BE2-AE54-0891EC7FF8D8}" srcOrd="2" destOrd="0" presId="urn:microsoft.com/office/officeart/2005/8/layout/orgChart1"/>
    <dgm:cxn modelId="{0DF7202E-3DA9-499F-B59D-7BBDAD625989}" type="presParOf" srcId="{2D910115-F48E-4938-81DE-0263BA9B6E15}" destId="{579A580C-123F-479A-A284-8698FA2327A7}"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374F97-FC11-4989-AF05-E59D8BA571C1}">
      <dsp:nvSpPr>
        <dsp:cNvPr id="0" name=""/>
        <dsp:cNvSpPr/>
      </dsp:nvSpPr>
      <dsp:spPr>
        <a:xfrm>
          <a:off x="4052399" y="690724"/>
          <a:ext cx="1746187" cy="289831"/>
        </a:xfrm>
        <a:custGeom>
          <a:avLst/>
          <a:gdLst/>
          <a:ahLst/>
          <a:cxnLst/>
          <a:rect l="0" t="0" r="0" b="0"/>
          <a:pathLst>
            <a:path>
              <a:moveTo>
                <a:pt x="0" y="0"/>
              </a:moveTo>
              <a:lnTo>
                <a:pt x="0" y="144915"/>
              </a:lnTo>
              <a:lnTo>
                <a:pt x="1746187" y="144915"/>
              </a:lnTo>
              <a:lnTo>
                <a:pt x="1746187" y="289831"/>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69245C4-0AE1-4474-863D-71AF3E976038}">
      <dsp:nvSpPr>
        <dsp:cNvPr id="0" name=""/>
        <dsp:cNvSpPr/>
      </dsp:nvSpPr>
      <dsp:spPr>
        <a:xfrm>
          <a:off x="4004546" y="690724"/>
          <a:ext cx="91440" cy="289831"/>
        </a:xfrm>
        <a:custGeom>
          <a:avLst/>
          <a:gdLst/>
          <a:ahLst/>
          <a:cxnLst/>
          <a:rect l="0" t="0" r="0" b="0"/>
          <a:pathLst>
            <a:path>
              <a:moveTo>
                <a:pt x="47852" y="0"/>
              </a:moveTo>
              <a:lnTo>
                <a:pt x="47852" y="144915"/>
              </a:lnTo>
              <a:lnTo>
                <a:pt x="45720" y="144915"/>
              </a:lnTo>
              <a:lnTo>
                <a:pt x="45720" y="289831"/>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63FEC66-9F59-422C-B1DF-2A9027AB4AE0}">
      <dsp:nvSpPr>
        <dsp:cNvPr id="0" name=""/>
        <dsp:cNvSpPr/>
      </dsp:nvSpPr>
      <dsp:spPr>
        <a:xfrm>
          <a:off x="2304079" y="690724"/>
          <a:ext cx="1748319" cy="289831"/>
        </a:xfrm>
        <a:custGeom>
          <a:avLst/>
          <a:gdLst/>
          <a:ahLst/>
          <a:cxnLst/>
          <a:rect l="0" t="0" r="0" b="0"/>
          <a:pathLst>
            <a:path>
              <a:moveTo>
                <a:pt x="1748319" y="0"/>
              </a:moveTo>
              <a:lnTo>
                <a:pt x="1748319" y="144915"/>
              </a:lnTo>
              <a:lnTo>
                <a:pt x="0" y="144915"/>
              </a:lnTo>
              <a:lnTo>
                <a:pt x="0" y="289831"/>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A0E8A68-1AD1-473C-9F1F-55B34A53D437}">
      <dsp:nvSpPr>
        <dsp:cNvPr id="0" name=""/>
        <dsp:cNvSpPr/>
      </dsp:nvSpPr>
      <dsp:spPr>
        <a:xfrm>
          <a:off x="3138000" y="648"/>
          <a:ext cx="1828796" cy="69007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b="0" i="0" kern="1200" dirty="0"/>
            <a:t>There are 3 types of users:</a:t>
          </a:r>
          <a:endParaRPr lang="pt-PT" sz="1600" kern="1200" dirty="0"/>
        </a:p>
      </dsp:txBody>
      <dsp:txXfrm>
        <a:off x="3138000" y="648"/>
        <a:ext cx="1828796" cy="690075"/>
      </dsp:txXfrm>
    </dsp:sp>
    <dsp:sp modelId="{F9EEA9DC-8969-401C-9807-4A35E8EEDB45}">
      <dsp:nvSpPr>
        <dsp:cNvPr id="0" name=""/>
        <dsp:cNvSpPr/>
      </dsp:nvSpPr>
      <dsp:spPr>
        <a:xfrm>
          <a:off x="1537799" y="980555"/>
          <a:ext cx="1532560" cy="690075"/>
        </a:xfrm>
        <a:prstGeom prst="rect">
          <a:avLst/>
        </a:prstGeom>
        <a:solidFill>
          <a:schemeClr val="bg1"/>
        </a:solidFill>
        <a:ln w="25400"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pt-PT" sz="1600" b="1" u="sng" kern="1200" dirty="0">
              <a:solidFill>
                <a:schemeClr val="accent1"/>
              </a:solidFill>
            </a:rPr>
            <a:t>Regular User</a:t>
          </a:r>
          <a:endParaRPr lang="pt-PT" sz="1600" b="1" u="sng" kern="1200" dirty="0">
            <a:solidFill>
              <a:srgbClr val="617A98"/>
            </a:solidFill>
          </a:endParaRPr>
        </a:p>
      </dsp:txBody>
      <dsp:txXfrm>
        <a:off x="1537799" y="980555"/>
        <a:ext cx="1532560" cy="690075"/>
      </dsp:txXfrm>
    </dsp:sp>
    <dsp:sp modelId="{6097BB1D-C3AA-4CB4-B538-5F1D0EB26509}">
      <dsp:nvSpPr>
        <dsp:cNvPr id="0" name=""/>
        <dsp:cNvSpPr/>
      </dsp:nvSpPr>
      <dsp:spPr>
        <a:xfrm>
          <a:off x="3360191" y="980555"/>
          <a:ext cx="1380150" cy="690075"/>
        </a:xfrm>
        <a:prstGeom prst="rect">
          <a:avLst/>
        </a:prstGeom>
        <a:solidFill>
          <a:schemeClr val="bg1"/>
        </a:solidFill>
        <a:ln w="25400"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pt-PT" sz="1600" b="1" u="sng" kern="1200" dirty="0">
              <a:solidFill>
                <a:schemeClr val="accent1"/>
              </a:solidFill>
            </a:rPr>
            <a:t>Administrator</a:t>
          </a:r>
          <a:endParaRPr lang="pt-PT" sz="1800" b="1" u="sng" kern="1200" dirty="0">
            <a:solidFill>
              <a:srgbClr val="617A98"/>
            </a:solidFill>
          </a:endParaRPr>
        </a:p>
      </dsp:txBody>
      <dsp:txXfrm>
        <a:off x="3360191" y="980555"/>
        <a:ext cx="1380150" cy="690075"/>
      </dsp:txXfrm>
    </dsp:sp>
    <dsp:sp modelId="{AB0007F5-FED9-440E-96AA-1F69E354F8DB}">
      <dsp:nvSpPr>
        <dsp:cNvPr id="0" name=""/>
        <dsp:cNvSpPr/>
      </dsp:nvSpPr>
      <dsp:spPr>
        <a:xfrm>
          <a:off x="5030173" y="980555"/>
          <a:ext cx="1536825" cy="690075"/>
        </a:xfrm>
        <a:prstGeom prst="rect">
          <a:avLst/>
        </a:prstGeom>
        <a:solidFill>
          <a:schemeClr val="bg1"/>
        </a:solidFill>
        <a:ln w="25400"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pt-PT" sz="1600" b="1" u="sng" kern="1200" dirty="0">
              <a:solidFill>
                <a:schemeClr val="accent1"/>
              </a:solidFill>
            </a:rPr>
            <a:t>System</a:t>
          </a:r>
        </a:p>
      </dsp:txBody>
      <dsp:txXfrm>
        <a:off x="5030173" y="980555"/>
        <a:ext cx="1536825" cy="690075"/>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1" y="0"/>
            <a:ext cx="3076363" cy="511731"/>
          </a:xfrm>
          <a:prstGeom prst="rect">
            <a:avLst/>
          </a:prstGeom>
        </p:spPr>
        <p:txBody>
          <a:bodyPr vert="horz" lIns="94768" tIns="47384" rIns="94768" bIns="47384" rtlCol="0"/>
          <a:lstStyle>
            <a:lvl1pPr algn="l">
              <a:defRPr sz="1200"/>
            </a:lvl1pPr>
          </a:lstStyle>
          <a:p>
            <a:endParaRPr lang="pt-PT"/>
          </a:p>
        </p:txBody>
      </p:sp>
      <p:sp>
        <p:nvSpPr>
          <p:cNvPr id="3" name="Marcador de Posição da Data 2"/>
          <p:cNvSpPr>
            <a:spLocks noGrp="1"/>
          </p:cNvSpPr>
          <p:nvPr>
            <p:ph type="dt" sz="quarter" idx="1"/>
          </p:nvPr>
        </p:nvSpPr>
        <p:spPr>
          <a:xfrm>
            <a:off x="4021295" y="0"/>
            <a:ext cx="3076363" cy="511731"/>
          </a:xfrm>
          <a:prstGeom prst="rect">
            <a:avLst/>
          </a:prstGeom>
        </p:spPr>
        <p:txBody>
          <a:bodyPr vert="horz" lIns="94768" tIns="47384" rIns="94768" bIns="47384" rtlCol="0"/>
          <a:lstStyle>
            <a:lvl1pPr algn="r">
              <a:defRPr sz="1200"/>
            </a:lvl1pPr>
          </a:lstStyle>
          <a:p>
            <a:fld id="{ADB6FF1F-555E-4388-A8B0-D1E524B355D1}" type="datetimeFigureOut">
              <a:rPr lang="pt-PT" smtClean="0"/>
              <a:pPr/>
              <a:t>19/12/2025</a:t>
            </a:fld>
            <a:endParaRPr lang="pt-PT"/>
          </a:p>
        </p:txBody>
      </p:sp>
      <p:sp>
        <p:nvSpPr>
          <p:cNvPr id="4" name="Marcador de Posição do Rodapé 3"/>
          <p:cNvSpPr>
            <a:spLocks noGrp="1"/>
          </p:cNvSpPr>
          <p:nvPr>
            <p:ph type="ftr" sz="quarter" idx="2"/>
          </p:nvPr>
        </p:nvSpPr>
        <p:spPr>
          <a:xfrm>
            <a:off x="1" y="9721106"/>
            <a:ext cx="3076363" cy="511731"/>
          </a:xfrm>
          <a:prstGeom prst="rect">
            <a:avLst/>
          </a:prstGeom>
        </p:spPr>
        <p:txBody>
          <a:bodyPr vert="horz" lIns="94768" tIns="47384" rIns="94768" bIns="47384" rtlCol="0" anchor="b"/>
          <a:lstStyle>
            <a:lvl1pPr algn="l">
              <a:defRPr sz="1200"/>
            </a:lvl1pPr>
          </a:lstStyle>
          <a:p>
            <a:endParaRPr lang="pt-PT"/>
          </a:p>
        </p:txBody>
      </p:sp>
      <p:sp>
        <p:nvSpPr>
          <p:cNvPr id="5" name="Marcador de Posição do Número do Diapositivo 4"/>
          <p:cNvSpPr>
            <a:spLocks noGrp="1"/>
          </p:cNvSpPr>
          <p:nvPr>
            <p:ph type="sldNum" sz="quarter" idx="3"/>
          </p:nvPr>
        </p:nvSpPr>
        <p:spPr>
          <a:xfrm>
            <a:off x="4021295" y="9721106"/>
            <a:ext cx="3076363" cy="511731"/>
          </a:xfrm>
          <a:prstGeom prst="rect">
            <a:avLst/>
          </a:prstGeom>
        </p:spPr>
        <p:txBody>
          <a:bodyPr vert="horz" lIns="94768" tIns="47384" rIns="94768" bIns="47384" rtlCol="0" anchor="b"/>
          <a:lstStyle>
            <a:lvl1pPr algn="r">
              <a:defRPr sz="1200"/>
            </a:lvl1pPr>
          </a:lstStyle>
          <a:p>
            <a:fld id="{CD9FB018-1958-45C1-ABFF-E1E983EC4F43}" type="slidenum">
              <a:rPr lang="pt-PT" smtClean="0"/>
              <a:pPr/>
              <a:t>‹#›</a:t>
            </a:fld>
            <a:endParaRPr lang="pt-PT"/>
          </a:p>
        </p:txBody>
      </p:sp>
    </p:spTree>
    <p:extLst>
      <p:ext uri="{BB962C8B-B14F-4D97-AF65-F5344CB8AC3E}">
        <p14:creationId xmlns:p14="http://schemas.microsoft.com/office/powerpoint/2010/main" val="25347818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1" y="0"/>
            <a:ext cx="3076363" cy="511731"/>
          </a:xfrm>
          <a:prstGeom prst="rect">
            <a:avLst/>
          </a:prstGeom>
        </p:spPr>
        <p:txBody>
          <a:bodyPr vert="horz" lIns="94768" tIns="47384" rIns="94768" bIns="47384" rtlCol="0"/>
          <a:lstStyle>
            <a:lvl1pPr algn="l">
              <a:defRPr sz="1200"/>
            </a:lvl1pPr>
          </a:lstStyle>
          <a:p>
            <a:endParaRPr lang="pt-PT"/>
          </a:p>
        </p:txBody>
      </p:sp>
      <p:sp>
        <p:nvSpPr>
          <p:cNvPr id="3" name="Marcador de Posição da Data 2"/>
          <p:cNvSpPr>
            <a:spLocks noGrp="1"/>
          </p:cNvSpPr>
          <p:nvPr>
            <p:ph type="dt" idx="1"/>
          </p:nvPr>
        </p:nvSpPr>
        <p:spPr>
          <a:xfrm>
            <a:off x="4021295" y="0"/>
            <a:ext cx="3076363" cy="511731"/>
          </a:xfrm>
          <a:prstGeom prst="rect">
            <a:avLst/>
          </a:prstGeom>
        </p:spPr>
        <p:txBody>
          <a:bodyPr vert="horz" lIns="94768" tIns="47384" rIns="94768" bIns="47384" rtlCol="0"/>
          <a:lstStyle>
            <a:lvl1pPr algn="r">
              <a:defRPr sz="1200"/>
            </a:lvl1pPr>
          </a:lstStyle>
          <a:p>
            <a:fld id="{E77E319B-B046-487F-8D03-B96E4F1A43D0}" type="datetimeFigureOut">
              <a:rPr lang="pt-PT" smtClean="0"/>
              <a:pPr/>
              <a:t>19/12/2025</a:t>
            </a:fld>
            <a:endParaRPr lang="pt-PT"/>
          </a:p>
        </p:txBody>
      </p:sp>
      <p:sp>
        <p:nvSpPr>
          <p:cNvPr id="4" name="Marcador de Posição da Imagem do Diapositivo 3"/>
          <p:cNvSpPr>
            <a:spLocks noGrp="1" noRot="1" noChangeAspect="1"/>
          </p:cNvSpPr>
          <p:nvPr>
            <p:ph type="sldImg" idx="2"/>
          </p:nvPr>
        </p:nvSpPr>
        <p:spPr>
          <a:xfrm>
            <a:off x="992188" y="768350"/>
            <a:ext cx="5114925" cy="3836988"/>
          </a:xfrm>
          <a:prstGeom prst="rect">
            <a:avLst/>
          </a:prstGeom>
          <a:noFill/>
          <a:ln w="12700">
            <a:solidFill>
              <a:prstClr val="black"/>
            </a:solidFill>
          </a:ln>
        </p:spPr>
        <p:txBody>
          <a:bodyPr vert="horz" lIns="94768" tIns="47384" rIns="94768" bIns="47384" rtlCol="0" anchor="ctr"/>
          <a:lstStyle/>
          <a:p>
            <a:endParaRPr lang="pt-PT"/>
          </a:p>
        </p:txBody>
      </p:sp>
      <p:sp>
        <p:nvSpPr>
          <p:cNvPr id="5" name="Marcador de Posição de Notas 4"/>
          <p:cNvSpPr>
            <a:spLocks noGrp="1"/>
          </p:cNvSpPr>
          <p:nvPr>
            <p:ph type="body" sz="quarter" idx="3"/>
          </p:nvPr>
        </p:nvSpPr>
        <p:spPr>
          <a:xfrm>
            <a:off x="709931" y="4861442"/>
            <a:ext cx="5679440" cy="4605576"/>
          </a:xfrm>
          <a:prstGeom prst="rect">
            <a:avLst/>
          </a:prstGeom>
        </p:spPr>
        <p:txBody>
          <a:bodyPr vert="horz" lIns="94768" tIns="47384" rIns="94768" bIns="47384" rtlCol="0">
            <a:normAutofit/>
          </a:bodyPr>
          <a:lstStyle/>
          <a:p>
            <a:pPr lvl="0"/>
            <a:r>
              <a:rPr lang="pt-PT"/>
              <a:t>Clique para editar os estilos</a:t>
            </a:r>
          </a:p>
          <a:p>
            <a:pPr lvl="1"/>
            <a:r>
              <a:rPr lang="pt-PT"/>
              <a:t>Segundo nível</a:t>
            </a:r>
          </a:p>
          <a:p>
            <a:pPr lvl="2"/>
            <a:r>
              <a:rPr lang="pt-PT"/>
              <a:t>Terceiro nível</a:t>
            </a:r>
          </a:p>
          <a:p>
            <a:pPr lvl="3"/>
            <a:r>
              <a:rPr lang="pt-PT"/>
              <a:t>Quarto nível</a:t>
            </a:r>
          </a:p>
          <a:p>
            <a:pPr lvl="4"/>
            <a:r>
              <a:rPr lang="pt-PT"/>
              <a:t>Quinto nível</a:t>
            </a:r>
          </a:p>
        </p:txBody>
      </p:sp>
      <p:sp>
        <p:nvSpPr>
          <p:cNvPr id="6" name="Marcador de Posição do Rodapé 5"/>
          <p:cNvSpPr>
            <a:spLocks noGrp="1"/>
          </p:cNvSpPr>
          <p:nvPr>
            <p:ph type="ftr" sz="quarter" idx="4"/>
          </p:nvPr>
        </p:nvSpPr>
        <p:spPr>
          <a:xfrm>
            <a:off x="1" y="9721106"/>
            <a:ext cx="3076363" cy="511731"/>
          </a:xfrm>
          <a:prstGeom prst="rect">
            <a:avLst/>
          </a:prstGeom>
        </p:spPr>
        <p:txBody>
          <a:bodyPr vert="horz" lIns="94768" tIns="47384" rIns="94768" bIns="47384" rtlCol="0" anchor="b"/>
          <a:lstStyle>
            <a:lvl1pPr algn="l">
              <a:defRPr sz="1200"/>
            </a:lvl1pPr>
          </a:lstStyle>
          <a:p>
            <a:endParaRPr lang="pt-PT"/>
          </a:p>
        </p:txBody>
      </p:sp>
      <p:sp>
        <p:nvSpPr>
          <p:cNvPr id="7" name="Marcador de Posição do Número do Diapositivo 6"/>
          <p:cNvSpPr>
            <a:spLocks noGrp="1"/>
          </p:cNvSpPr>
          <p:nvPr>
            <p:ph type="sldNum" sz="quarter" idx="5"/>
          </p:nvPr>
        </p:nvSpPr>
        <p:spPr>
          <a:xfrm>
            <a:off x="4021295" y="9721106"/>
            <a:ext cx="3076363" cy="511731"/>
          </a:xfrm>
          <a:prstGeom prst="rect">
            <a:avLst/>
          </a:prstGeom>
        </p:spPr>
        <p:txBody>
          <a:bodyPr vert="horz" lIns="94768" tIns="47384" rIns="94768" bIns="47384" rtlCol="0" anchor="b"/>
          <a:lstStyle>
            <a:lvl1pPr algn="r">
              <a:defRPr sz="1200"/>
            </a:lvl1pPr>
          </a:lstStyle>
          <a:p>
            <a:fld id="{F3DD545E-D36A-4832-938A-2ECADA69E4C6}" type="slidenum">
              <a:rPr lang="pt-PT" smtClean="0"/>
              <a:pPr/>
              <a:t>‹#›</a:t>
            </a:fld>
            <a:endParaRPr lang="pt-PT"/>
          </a:p>
        </p:txBody>
      </p:sp>
    </p:spTree>
    <p:extLst>
      <p:ext uri="{BB962C8B-B14F-4D97-AF65-F5344CB8AC3E}">
        <p14:creationId xmlns:p14="http://schemas.microsoft.com/office/powerpoint/2010/main" val="17377616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p>
            <a:fld id="{497D1F5F-AB60-452E-AA79-64E25350F70B}" type="slidenum">
              <a:rPr lang="pt-PT" smtClean="0">
                <a:latin typeface="Arial" pitchFamily="34" charset="0"/>
              </a:rPr>
              <a:pPr/>
              <a:t>3</a:t>
            </a:fld>
            <a:endParaRPr lang="pt-PT">
              <a:latin typeface="Arial" pitchFamily="34" charset="0"/>
            </a:endParaRPr>
          </a:p>
        </p:txBody>
      </p:sp>
      <p:sp>
        <p:nvSpPr>
          <p:cNvPr id="93187" name="Rectangle 2"/>
          <p:cNvSpPr>
            <a:spLocks noGrp="1" noRot="1" noChangeAspect="1" noChangeArrowheads="1" noTextEdit="1"/>
          </p:cNvSpPr>
          <p:nvPr>
            <p:ph type="sldImg"/>
          </p:nvPr>
        </p:nvSpPr>
        <p:spPr>
          <a:ln/>
        </p:spPr>
        <p:txBody>
          <a:bodyPr/>
          <a:lstStyle/>
          <a:p>
            <a:endParaRPr lang="pt-PT"/>
          </a:p>
        </p:txBody>
      </p:sp>
      <p:sp>
        <p:nvSpPr>
          <p:cNvPr id="93188" name="Rectangle 3"/>
          <p:cNvSpPr>
            <a:spLocks noGrp="1" noChangeArrowheads="1"/>
          </p:cNvSpPr>
          <p:nvPr>
            <p:ph type="body" idx="1"/>
          </p:nvPr>
        </p:nvSpPr>
        <p:spPr>
          <a:noFill/>
          <a:ln/>
        </p:spPr>
        <p:txBody>
          <a:bodyPr/>
          <a:lstStyle/>
          <a:p>
            <a:pPr eaLnBrk="1" hangingPunct="1"/>
            <a:endParaRPr lang="pt-PT">
              <a:latin typeface="Arial" pitchFamily="34" charset="0"/>
            </a:endParaRPr>
          </a:p>
        </p:txBody>
      </p:sp>
    </p:spTree>
    <p:extLst>
      <p:ext uri="{BB962C8B-B14F-4D97-AF65-F5344CB8AC3E}">
        <p14:creationId xmlns:p14="http://schemas.microsoft.com/office/powerpoint/2010/main" val="24273190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p>
            <a:fld id="{497D1F5F-AB60-452E-AA79-64E25350F70B}" type="slidenum">
              <a:rPr lang="pt-PT" smtClean="0">
                <a:latin typeface="Arial" pitchFamily="34" charset="0"/>
              </a:rPr>
              <a:pPr/>
              <a:t>4</a:t>
            </a:fld>
            <a:endParaRPr lang="pt-PT">
              <a:latin typeface="Arial" pitchFamily="34" charset="0"/>
            </a:endParaRPr>
          </a:p>
        </p:txBody>
      </p:sp>
      <p:sp>
        <p:nvSpPr>
          <p:cNvPr id="93187" name="Rectangle 2"/>
          <p:cNvSpPr>
            <a:spLocks noGrp="1" noRot="1" noChangeAspect="1" noChangeArrowheads="1" noTextEdit="1"/>
          </p:cNvSpPr>
          <p:nvPr>
            <p:ph type="sldImg"/>
          </p:nvPr>
        </p:nvSpPr>
        <p:spPr>
          <a:ln/>
        </p:spPr>
        <p:txBody>
          <a:bodyPr/>
          <a:lstStyle/>
          <a:p>
            <a:endParaRPr lang="pt-PT"/>
          </a:p>
        </p:txBody>
      </p:sp>
      <p:sp>
        <p:nvSpPr>
          <p:cNvPr id="93188" name="Rectangle 3"/>
          <p:cNvSpPr>
            <a:spLocks noGrp="1" noChangeArrowheads="1"/>
          </p:cNvSpPr>
          <p:nvPr>
            <p:ph type="body" idx="1"/>
          </p:nvPr>
        </p:nvSpPr>
        <p:spPr>
          <a:noFill/>
          <a:ln/>
        </p:spPr>
        <p:txBody>
          <a:bodyPr/>
          <a:lstStyle/>
          <a:p>
            <a:pPr eaLnBrk="1" hangingPunct="1"/>
            <a:endParaRPr lang="pt-PT">
              <a:latin typeface="Arial" pitchFamily="34" charset="0"/>
            </a:endParaRPr>
          </a:p>
        </p:txBody>
      </p:sp>
    </p:spTree>
    <p:extLst>
      <p:ext uri="{BB962C8B-B14F-4D97-AF65-F5344CB8AC3E}">
        <p14:creationId xmlns:p14="http://schemas.microsoft.com/office/powerpoint/2010/main" val="32737829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9CACD-7056-4A63-773E-34CEF729788D}"/>
            </a:ext>
          </a:extLst>
        </p:cNvPr>
        <p:cNvGrpSpPr/>
        <p:nvPr/>
      </p:nvGrpSpPr>
      <p:grpSpPr>
        <a:xfrm>
          <a:off x="0" y="0"/>
          <a:ext cx="0" cy="0"/>
          <a:chOff x="0" y="0"/>
          <a:chExt cx="0" cy="0"/>
        </a:xfrm>
      </p:grpSpPr>
      <p:sp>
        <p:nvSpPr>
          <p:cNvPr id="93186" name="Rectangle 7">
            <a:extLst>
              <a:ext uri="{FF2B5EF4-FFF2-40B4-BE49-F238E27FC236}">
                <a16:creationId xmlns:a16="http://schemas.microsoft.com/office/drawing/2014/main" id="{52C332CB-D4BD-48C2-3E4A-52F3B68414D0}"/>
              </a:ext>
            </a:extLst>
          </p:cNvPr>
          <p:cNvSpPr>
            <a:spLocks noGrp="1" noChangeArrowheads="1"/>
          </p:cNvSpPr>
          <p:nvPr>
            <p:ph type="sldNum" sz="quarter" idx="5"/>
          </p:nvPr>
        </p:nvSpPr>
        <p:spPr>
          <a:noFill/>
        </p:spPr>
        <p:txBody>
          <a:bodyPr/>
          <a:lstStyle/>
          <a:p>
            <a:fld id="{497D1F5F-AB60-452E-AA79-64E25350F70B}" type="slidenum">
              <a:rPr lang="pt-PT" smtClean="0">
                <a:latin typeface="Arial" pitchFamily="34" charset="0"/>
              </a:rPr>
              <a:pPr/>
              <a:t>5</a:t>
            </a:fld>
            <a:endParaRPr lang="pt-PT">
              <a:latin typeface="Arial" pitchFamily="34" charset="0"/>
            </a:endParaRPr>
          </a:p>
        </p:txBody>
      </p:sp>
      <p:sp>
        <p:nvSpPr>
          <p:cNvPr id="93187" name="Rectangle 2">
            <a:extLst>
              <a:ext uri="{FF2B5EF4-FFF2-40B4-BE49-F238E27FC236}">
                <a16:creationId xmlns:a16="http://schemas.microsoft.com/office/drawing/2014/main" id="{F5B885CF-6C60-8D0C-4A98-F626A012ED88}"/>
              </a:ext>
            </a:extLst>
          </p:cNvPr>
          <p:cNvSpPr>
            <a:spLocks noGrp="1" noRot="1" noChangeAspect="1" noChangeArrowheads="1" noTextEdit="1"/>
          </p:cNvSpPr>
          <p:nvPr>
            <p:ph type="sldImg"/>
          </p:nvPr>
        </p:nvSpPr>
        <p:spPr>
          <a:ln/>
        </p:spPr>
        <p:txBody>
          <a:bodyPr/>
          <a:lstStyle/>
          <a:p>
            <a:endParaRPr lang="pt-PT"/>
          </a:p>
        </p:txBody>
      </p:sp>
      <p:sp>
        <p:nvSpPr>
          <p:cNvPr id="93188" name="Rectangle 3">
            <a:extLst>
              <a:ext uri="{FF2B5EF4-FFF2-40B4-BE49-F238E27FC236}">
                <a16:creationId xmlns:a16="http://schemas.microsoft.com/office/drawing/2014/main" id="{81C73E20-482D-3044-4689-509155D08EFF}"/>
              </a:ext>
            </a:extLst>
          </p:cNvPr>
          <p:cNvSpPr>
            <a:spLocks noGrp="1" noChangeArrowheads="1"/>
          </p:cNvSpPr>
          <p:nvPr>
            <p:ph type="body" idx="1"/>
          </p:nvPr>
        </p:nvSpPr>
        <p:spPr>
          <a:noFill/>
          <a:ln/>
        </p:spPr>
        <p:txBody>
          <a:bodyPr/>
          <a:lstStyle/>
          <a:p>
            <a:pPr eaLnBrk="1" hangingPunct="1"/>
            <a:endParaRPr lang="pt-PT">
              <a:latin typeface="Arial" pitchFamily="34" charset="0"/>
            </a:endParaRPr>
          </a:p>
        </p:txBody>
      </p:sp>
    </p:spTree>
    <p:extLst>
      <p:ext uri="{BB962C8B-B14F-4D97-AF65-F5344CB8AC3E}">
        <p14:creationId xmlns:p14="http://schemas.microsoft.com/office/powerpoint/2010/main" val="3159183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CC2A9-5476-974B-4A2A-A59B080419B6}"/>
            </a:ext>
          </a:extLst>
        </p:cNvPr>
        <p:cNvGrpSpPr/>
        <p:nvPr/>
      </p:nvGrpSpPr>
      <p:grpSpPr>
        <a:xfrm>
          <a:off x="0" y="0"/>
          <a:ext cx="0" cy="0"/>
          <a:chOff x="0" y="0"/>
          <a:chExt cx="0" cy="0"/>
        </a:xfrm>
      </p:grpSpPr>
      <p:sp>
        <p:nvSpPr>
          <p:cNvPr id="93186" name="Rectangle 7">
            <a:extLst>
              <a:ext uri="{FF2B5EF4-FFF2-40B4-BE49-F238E27FC236}">
                <a16:creationId xmlns:a16="http://schemas.microsoft.com/office/drawing/2014/main" id="{D8327759-EAE8-2E0C-4619-341D40AFB418}"/>
              </a:ext>
            </a:extLst>
          </p:cNvPr>
          <p:cNvSpPr>
            <a:spLocks noGrp="1" noChangeArrowheads="1"/>
          </p:cNvSpPr>
          <p:nvPr>
            <p:ph type="sldNum" sz="quarter" idx="5"/>
          </p:nvPr>
        </p:nvSpPr>
        <p:spPr>
          <a:noFill/>
        </p:spPr>
        <p:txBody>
          <a:bodyPr/>
          <a:lstStyle/>
          <a:p>
            <a:fld id="{497D1F5F-AB60-452E-AA79-64E25350F70B}" type="slidenum">
              <a:rPr lang="pt-PT" smtClean="0">
                <a:latin typeface="Arial" pitchFamily="34" charset="0"/>
              </a:rPr>
              <a:pPr/>
              <a:t>6</a:t>
            </a:fld>
            <a:endParaRPr lang="pt-PT">
              <a:latin typeface="Arial" pitchFamily="34" charset="0"/>
            </a:endParaRPr>
          </a:p>
        </p:txBody>
      </p:sp>
      <p:sp>
        <p:nvSpPr>
          <p:cNvPr id="93187" name="Rectangle 2">
            <a:extLst>
              <a:ext uri="{FF2B5EF4-FFF2-40B4-BE49-F238E27FC236}">
                <a16:creationId xmlns:a16="http://schemas.microsoft.com/office/drawing/2014/main" id="{201E1A9D-68C6-61DF-9BCC-E253AB93D4E9}"/>
              </a:ext>
            </a:extLst>
          </p:cNvPr>
          <p:cNvSpPr>
            <a:spLocks noGrp="1" noRot="1" noChangeAspect="1" noChangeArrowheads="1" noTextEdit="1"/>
          </p:cNvSpPr>
          <p:nvPr>
            <p:ph type="sldImg"/>
          </p:nvPr>
        </p:nvSpPr>
        <p:spPr>
          <a:ln/>
        </p:spPr>
        <p:txBody>
          <a:bodyPr/>
          <a:lstStyle/>
          <a:p>
            <a:endParaRPr lang="pt-PT"/>
          </a:p>
        </p:txBody>
      </p:sp>
      <p:sp>
        <p:nvSpPr>
          <p:cNvPr id="93188" name="Rectangle 3">
            <a:extLst>
              <a:ext uri="{FF2B5EF4-FFF2-40B4-BE49-F238E27FC236}">
                <a16:creationId xmlns:a16="http://schemas.microsoft.com/office/drawing/2014/main" id="{674CBC3C-1F4E-C66F-080C-997D6C8ECE6D}"/>
              </a:ext>
            </a:extLst>
          </p:cNvPr>
          <p:cNvSpPr>
            <a:spLocks noGrp="1" noChangeArrowheads="1"/>
          </p:cNvSpPr>
          <p:nvPr>
            <p:ph type="body" idx="1"/>
          </p:nvPr>
        </p:nvSpPr>
        <p:spPr>
          <a:noFill/>
          <a:ln/>
        </p:spPr>
        <p:txBody>
          <a:bodyPr/>
          <a:lstStyle/>
          <a:p>
            <a:pPr eaLnBrk="1" hangingPunct="1"/>
            <a:endParaRPr lang="pt-PT">
              <a:latin typeface="Arial" pitchFamily="34" charset="0"/>
            </a:endParaRPr>
          </a:p>
        </p:txBody>
      </p:sp>
    </p:spTree>
    <p:extLst>
      <p:ext uri="{BB962C8B-B14F-4D97-AF65-F5344CB8AC3E}">
        <p14:creationId xmlns:p14="http://schemas.microsoft.com/office/powerpoint/2010/main" val="36892100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p>
            <a:fld id="{497D1F5F-AB60-452E-AA79-64E25350F70B}" type="slidenum">
              <a:rPr lang="pt-PT" smtClean="0">
                <a:latin typeface="Arial" pitchFamily="34" charset="0"/>
              </a:rPr>
              <a:pPr/>
              <a:t>7</a:t>
            </a:fld>
            <a:endParaRPr lang="pt-PT">
              <a:latin typeface="Arial" pitchFamily="34" charset="0"/>
            </a:endParaRPr>
          </a:p>
        </p:txBody>
      </p:sp>
      <p:sp>
        <p:nvSpPr>
          <p:cNvPr id="93187" name="Rectangle 2"/>
          <p:cNvSpPr>
            <a:spLocks noGrp="1" noRot="1" noChangeAspect="1" noChangeArrowheads="1" noTextEdit="1"/>
          </p:cNvSpPr>
          <p:nvPr>
            <p:ph type="sldImg"/>
          </p:nvPr>
        </p:nvSpPr>
        <p:spPr>
          <a:ln/>
        </p:spPr>
        <p:txBody>
          <a:bodyPr/>
          <a:lstStyle/>
          <a:p>
            <a:endParaRPr lang="pt-PT"/>
          </a:p>
        </p:txBody>
      </p:sp>
      <p:sp>
        <p:nvSpPr>
          <p:cNvPr id="93188" name="Rectangle 3"/>
          <p:cNvSpPr>
            <a:spLocks noGrp="1" noChangeArrowheads="1"/>
          </p:cNvSpPr>
          <p:nvPr>
            <p:ph type="body" idx="1"/>
          </p:nvPr>
        </p:nvSpPr>
        <p:spPr>
          <a:noFill/>
          <a:ln/>
        </p:spPr>
        <p:txBody>
          <a:bodyPr/>
          <a:lstStyle/>
          <a:p>
            <a:pPr eaLnBrk="1" hangingPunct="1"/>
            <a:endParaRPr lang="pt-PT">
              <a:latin typeface="Arial" pitchFamily="34" charset="0"/>
            </a:endParaRPr>
          </a:p>
        </p:txBody>
      </p:sp>
    </p:spTree>
    <p:extLst>
      <p:ext uri="{BB962C8B-B14F-4D97-AF65-F5344CB8AC3E}">
        <p14:creationId xmlns:p14="http://schemas.microsoft.com/office/powerpoint/2010/main" val="41677033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p>
            <a:fld id="{497D1F5F-AB60-452E-AA79-64E25350F70B}" type="slidenum">
              <a:rPr lang="pt-PT" smtClean="0">
                <a:latin typeface="Arial" pitchFamily="34" charset="0"/>
              </a:rPr>
              <a:pPr/>
              <a:t>8</a:t>
            </a:fld>
            <a:endParaRPr lang="pt-PT">
              <a:latin typeface="Arial" pitchFamily="34" charset="0"/>
            </a:endParaRPr>
          </a:p>
        </p:txBody>
      </p:sp>
      <p:sp>
        <p:nvSpPr>
          <p:cNvPr id="93187" name="Rectangle 2"/>
          <p:cNvSpPr>
            <a:spLocks noGrp="1" noRot="1" noChangeAspect="1" noChangeArrowheads="1" noTextEdit="1"/>
          </p:cNvSpPr>
          <p:nvPr>
            <p:ph type="sldImg"/>
          </p:nvPr>
        </p:nvSpPr>
        <p:spPr>
          <a:ln/>
        </p:spPr>
        <p:txBody>
          <a:bodyPr/>
          <a:lstStyle/>
          <a:p>
            <a:endParaRPr lang="pt-PT"/>
          </a:p>
        </p:txBody>
      </p:sp>
      <p:sp>
        <p:nvSpPr>
          <p:cNvPr id="93188" name="Rectangle 3"/>
          <p:cNvSpPr>
            <a:spLocks noGrp="1" noChangeArrowheads="1"/>
          </p:cNvSpPr>
          <p:nvPr>
            <p:ph type="body" idx="1"/>
          </p:nvPr>
        </p:nvSpPr>
        <p:spPr>
          <a:noFill/>
          <a:ln/>
        </p:spPr>
        <p:txBody>
          <a:bodyPr/>
          <a:lstStyle/>
          <a:p>
            <a:pPr eaLnBrk="1" hangingPunct="1"/>
            <a:endParaRPr lang="pt-PT">
              <a:latin typeface="Arial" pitchFamily="34" charset="0"/>
            </a:endParaRPr>
          </a:p>
        </p:txBody>
      </p:sp>
    </p:spTree>
    <p:extLst>
      <p:ext uri="{BB962C8B-B14F-4D97-AF65-F5344CB8AC3E}">
        <p14:creationId xmlns:p14="http://schemas.microsoft.com/office/powerpoint/2010/main" val="28420331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8DEE6-BC29-A5B0-3D7E-0FFA123BD47C}"/>
            </a:ext>
          </a:extLst>
        </p:cNvPr>
        <p:cNvGrpSpPr/>
        <p:nvPr/>
      </p:nvGrpSpPr>
      <p:grpSpPr>
        <a:xfrm>
          <a:off x="0" y="0"/>
          <a:ext cx="0" cy="0"/>
          <a:chOff x="0" y="0"/>
          <a:chExt cx="0" cy="0"/>
        </a:xfrm>
      </p:grpSpPr>
      <p:sp>
        <p:nvSpPr>
          <p:cNvPr id="93186" name="Rectangle 7">
            <a:extLst>
              <a:ext uri="{FF2B5EF4-FFF2-40B4-BE49-F238E27FC236}">
                <a16:creationId xmlns:a16="http://schemas.microsoft.com/office/drawing/2014/main" id="{DD6F7280-4257-1AA8-15C0-9E3BED95901E}"/>
              </a:ext>
            </a:extLst>
          </p:cNvPr>
          <p:cNvSpPr>
            <a:spLocks noGrp="1" noChangeArrowheads="1"/>
          </p:cNvSpPr>
          <p:nvPr>
            <p:ph type="sldNum" sz="quarter" idx="5"/>
          </p:nvPr>
        </p:nvSpPr>
        <p:spPr>
          <a:noFill/>
        </p:spPr>
        <p:txBody>
          <a:bodyPr/>
          <a:lstStyle/>
          <a:p>
            <a:fld id="{497D1F5F-AB60-452E-AA79-64E25350F70B}" type="slidenum">
              <a:rPr lang="pt-PT" smtClean="0">
                <a:latin typeface="Arial" pitchFamily="34" charset="0"/>
              </a:rPr>
              <a:pPr/>
              <a:t>9</a:t>
            </a:fld>
            <a:endParaRPr lang="pt-PT">
              <a:latin typeface="Arial" pitchFamily="34" charset="0"/>
            </a:endParaRPr>
          </a:p>
        </p:txBody>
      </p:sp>
      <p:sp>
        <p:nvSpPr>
          <p:cNvPr id="93187" name="Rectangle 2">
            <a:extLst>
              <a:ext uri="{FF2B5EF4-FFF2-40B4-BE49-F238E27FC236}">
                <a16:creationId xmlns:a16="http://schemas.microsoft.com/office/drawing/2014/main" id="{A05A3803-1DEE-F4CB-1DCF-5D5370547B2C}"/>
              </a:ext>
            </a:extLst>
          </p:cNvPr>
          <p:cNvSpPr>
            <a:spLocks noGrp="1" noRot="1" noChangeAspect="1" noChangeArrowheads="1" noTextEdit="1"/>
          </p:cNvSpPr>
          <p:nvPr>
            <p:ph type="sldImg"/>
          </p:nvPr>
        </p:nvSpPr>
        <p:spPr>
          <a:ln/>
        </p:spPr>
        <p:txBody>
          <a:bodyPr/>
          <a:lstStyle/>
          <a:p>
            <a:endParaRPr lang="pt-PT"/>
          </a:p>
        </p:txBody>
      </p:sp>
      <p:sp>
        <p:nvSpPr>
          <p:cNvPr id="93188" name="Rectangle 3">
            <a:extLst>
              <a:ext uri="{FF2B5EF4-FFF2-40B4-BE49-F238E27FC236}">
                <a16:creationId xmlns:a16="http://schemas.microsoft.com/office/drawing/2014/main" id="{2ED8D193-7EA9-ECBD-2CF5-C2A08FEE6AB2}"/>
              </a:ext>
            </a:extLst>
          </p:cNvPr>
          <p:cNvSpPr>
            <a:spLocks noGrp="1" noChangeArrowheads="1"/>
          </p:cNvSpPr>
          <p:nvPr>
            <p:ph type="body" idx="1"/>
          </p:nvPr>
        </p:nvSpPr>
        <p:spPr>
          <a:noFill/>
          <a:ln/>
        </p:spPr>
        <p:txBody>
          <a:bodyPr/>
          <a:lstStyle/>
          <a:p>
            <a:pPr eaLnBrk="1" hangingPunct="1"/>
            <a:endParaRPr lang="pt-PT">
              <a:latin typeface="Arial" pitchFamily="34" charset="0"/>
            </a:endParaRPr>
          </a:p>
        </p:txBody>
      </p:sp>
    </p:spTree>
    <p:extLst>
      <p:ext uri="{BB962C8B-B14F-4D97-AF65-F5344CB8AC3E}">
        <p14:creationId xmlns:p14="http://schemas.microsoft.com/office/powerpoint/2010/main" val="14170122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p>
            <a:fld id="{497D1F5F-AB60-452E-AA79-64E25350F70B}" type="slidenum">
              <a:rPr lang="pt-PT" smtClean="0">
                <a:latin typeface="Arial" pitchFamily="34" charset="0"/>
              </a:rPr>
              <a:pPr/>
              <a:t>10</a:t>
            </a:fld>
            <a:endParaRPr lang="pt-PT">
              <a:latin typeface="Arial" pitchFamily="34" charset="0"/>
            </a:endParaRPr>
          </a:p>
        </p:txBody>
      </p:sp>
      <p:sp>
        <p:nvSpPr>
          <p:cNvPr id="93187" name="Rectangle 2"/>
          <p:cNvSpPr>
            <a:spLocks noGrp="1" noRot="1" noChangeAspect="1" noChangeArrowheads="1" noTextEdit="1"/>
          </p:cNvSpPr>
          <p:nvPr>
            <p:ph type="sldImg"/>
          </p:nvPr>
        </p:nvSpPr>
        <p:spPr>
          <a:ln/>
        </p:spPr>
        <p:txBody>
          <a:bodyPr/>
          <a:lstStyle/>
          <a:p>
            <a:endParaRPr lang="pt-PT"/>
          </a:p>
        </p:txBody>
      </p:sp>
      <p:sp>
        <p:nvSpPr>
          <p:cNvPr id="93188" name="Rectangle 3"/>
          <p:cNvSpPr>
            <a:spLocks noGrp="1" noChangeArrowheads="1"/>
          </p:cNvSpPr>
          <p:nvPr>
            <p:ph type="body" idx="1"/>
          </p:nvPr>
        </p:nvSpPr>
        <p:spPr>
          <a:noFill/>
          <a:ln/>
        </p:spPr>
        <p:txBody>
          <a:bodyPr/>
          <a:lstStyle/>
          <a:p>
            <a:pPr eaLnBrk="1" hangingPunct="1"/>
            <a:endParaRPr lang="pt-PT">
              <a:latin typeface="Arial" pitchFamily="34" charset="0"/>
            </a:endParaRPr>
          </a:p>
        </p:txBody>
      </p:sp>
    </p:spTree>
    <p:extLst>
      <p:ext uri="{BB962C8B-B14F-4D97-AF65-F5344CB8AC3E}">
        <p14:creationId xmlns:p14="http://schemas.microsoft.com/office/powerpoint/2010/main" val="20647744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p>
            <a:fld id="{497D1F5F-AB60-452E-AA79-64E25350F70B}" type="slidenum">
              <a:rPr lang="pt-PT" smtClean="0">
                <a:latin typeface="Arial" pitchFamily="34" charset="0"/>
              </a:rPr>
              <a:pPr/>
              <a:t>11</a:t>
            </a:fld>
            <a:endParaRPr lang="pt-PT">
              <a:latin typeface="Arial" pitchFamily="34" charset="0"/>
            </a:endParaRPr>
          </a:p>
        </p:txBody>
      </p:sp>
      <p:sp>
        <p:nvSpPr>
          <p:cNvPr id="93187" name="Rectangle 2"/>
          <p:cNvSpPr>
            <a:spLocks noGrp="1" noRot="1" noChangeAspect="1" noChangeArrowheads="1" noTextEdit="1"/>
          </p:cNvSpPr>
          <p:nvPr>
            <p:ph type="sldImg"/>
          </p:nvPr>
        </p:nvSpPr>
        <p:spPr>
          <a:ln/>
        </p:spPr>
        <p:txBody>
          <a:bodyPr/>
          <a:lstStyle/>
          <a:p>
            <a:endParaRPr lang="pt-PT"/>
          </a:p>
        </p:txBody>
      </p:sp>
      <p:sp>
        <p:nvSpPr>
          <p:cNvPr id="93188" name="Rectangle 3"/>
          <p:cNvSpPr>
            <a:spLocks noGrp="1" noChangeArrowheads="1"/>
          </p:cNvSpPr>
          <p:nvPr>
            <p:ph type="body" idx="1"/>
          </p:nvPr>
        </p:nvSpPr>
        <p:spPr>
          <a:noFill/>
          <a:ln/>
        </p:spPr>
        <p:txBody>
          <a:bodyPr/>
          <a:lstStyle/>
          <a:p>
            <a:pPr eaLnBrk="1" hangingPunct="1"/>
            <a:endParaRPr lang="pt-PT">
              <a:latin typeface="Arial" pitchFamily="34" charset="0"/>
            </a:endParaRPr>
          </a:p>
        </p:txBody>
      </p:sp>
    </p:spTree>
    <p:extLst>
      <p:ext uri="{BB962C8B-B14F-4D97-AF65-F5344CB8AC3E}">
        <p14:creationId xmlns:p14="http://schemas.microsoft.com/office/powerpoint/2010/main" val="638622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p>
            <a:fld id="{497D1F5F-AB60-452E-AA79-64E25350F70B}" type="slidenum">
              <a:rPr lang="pt-PT" smtClean="0">
                <a:latin typeface="Arial" pitchFamily="34" charset="0"/>
              </a:rPr>
              <a:pPr/>
              <a:t>12</a:t>
            </a:fld>
            <a:endParaRPr lang="pt-PT">
              <a:latin typeface="Arial" pitchFamily="34" charset="0"/>
            </a:endParaRPr>
          </a:p>
        </p:txBody>
      </p:sp>
      <p:sp>
        <p:nvSpPr>
          <p:cNvPr id="93187" name="Rectangle 2"/>
          <p:cNvSpPr>
            <a:spLocks noGrp="1" noRot="1" noChangeAspect="1" noChangeArrowheads="1" noTextEdit="1"/>
          </p:cNvSpPr>
          <p:nvPr>
            <p:ph type="sldImg"/>
          </p:nvPr>
        </p:nvSpPr>
        <p:spPr>
          <a:ln/>
        </p:spPr>
        <p:txBody>
          <a:bodyPr/>
          <a:lstStyle/>
          <a:p>
            <a:endParaRPr lang="pt-PT"/>
          </a:p>
        </p:txBody>
      </p:sp>
      <p:sp>
        <p:nvSpPr>
          <p:cNvPr id="93188" name="Rectangle 3"/>
          <p:cNvSpPr>
            <a:spLocks noGrp="1" noChangeArrowheads="1"/>
          </p:cNvSpPr>
          <p:nvPr>
            <p:ph type="body" idx="1"/>
          </p:nvPr>
        </p:nvSpPr>
        <p:spPr>
          <a:noFill/>
          <a:ln/>
        </p:spPr>
        <p:txBody>
          <a:bodyPr/>
          <a:lstStyle/>
          <a:p>
            <a:pPr eaLnBrk="1" hangingPunct="1"/>
            <a:r>
              <a:rPr lang="pt-PT" dirty="0">
                <a:latin typeface="Arial" pitchFamily="34" charset="0"/>
              </a:rPr>
              <a:t>Tiago (acabar referencias)</a:t>
            </a:r>
          </a:p>
        </p:txBody>
      </p:sp>
    </p:spTree>
    <p:extLst>
      <p:ext uri="{BB962C8B-B14F-4D97-AF65-F5344CB8AC3E}">
        <p14:creationId xmlns:p14="http://schemas.microsoft.com/office/powerpoint/2010/main" val="9311107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BB92F-FBA6-6B39-5934-F4C3E914D418}"/>
            </a:ext>
          </a:extLst>
        </p:cNvPr>
        <p:cNvGrpSpPr/>
        <p:nvPr/>
      </p:nvGrpSpPr>
      <p:grpSpPr>
        <a:xfrm>
          <a:off x="0" y="0"/>
          <a:ext cx="0" cy="0"/>
          <a:chOff x="0" y="0"/>
          <a:chExt cx="0" cy="0"/>
        </a:xfrm>
      </p:grpSpPr>
      <p:sp>
        <p:nvSpPr>
          <p:cNvPr id="93186" name="Rectangle 7">
            <a:extLst>
              <a:ext uri="{FF2B5EF4-FFF2-40B4-BE49-F238E27FC236}">
                <a16:creationId xmlns:a16="http://schemas.microsoft.com/office/drawing/2014/main" id="{B7607659-FAF4-BC7E-3825-4762A3ADD405}"/>
              </a:ext>
            </a:extLst>
          </p:cNvPr>
          <p:cNvSpPr>
            <a:spLocks noGrp="1" noChangeArrowheads="1"/>
          </p:cNvSpPr>
          <p:nvPr>
            <p:ph type="sldNum" sz="quarter" idx="5"/>
          </p:nvPr>
        </p:nvSpPr>
        <p:spPr>
          <a:noFill/>
        </p:spPr>
        <p:txBody>
          <a:bodyPr/>
          <a:lstStyle/>
          <a:p>
            <a:fld id="{497D1F5F-AB60-452E-AA79-64E25350F70B}" type="slidenum">
              <a:rPr lang="pt-PT" smtClean="0">
                <a:latin typeface="Arial" pitchFamily="34" charset="0"/>
              </a:rPr>
              <a:pPr/>
              <a:t>14</a:t>
            </a:fld>
            <a:endParaRPr lang="pt-PT">
              <a:latin typeface="Arial" pitchFamily="34" charset="0"/>
            </a:endParaRPr>
          </a:p>
        </p:txBody>
      </p:sp>
      <p:sp>
        <p:nvSpPr>
          <p:cNvPr id="93187" name="Rectangle 2">
            <a:extLst>
              <a:ext uri="{FF2B5EF4-FFF2-40B4-BE49-F238E27FC236}">
                <a16:creationId xmlns:a16="http://schemas.microsoft.com/office/drawing/2014/main" id="{E9D0B9B1-8B49-C49D-0D36-2D40E2212272}"/>
              </a:ext>
            </a:extLst>
          </p:cNvPr>
          <p:cNvSpPr>
            <a:spLocks noGrp="1" noRot="1" noChangeAspect="1" noChangeArrowheads="1" noTextEdit="1"/>
          </p:cNvSpPr>
          <p:nvPr>
            <p:ph type="sldImg"/>
          </p:nvPr>
        </p:nvSpPr>
        <p:spPr>
          <a:ln/>
        </p:spPr>
        <p:txBody>
          <a:bodyPr/>
          <a:lstStyle/>
          <a:p>
            <a:endParaRPr lang="pt-PT"/>
          </a:p>
        </p:txBody>
      </p:sp>
      <p:sp>
        <p:nvSpPr>
          <p:cNvPr id="93188" name="Rectangle 3">
            <a:extLst>
              <a:ext uri="{FF2B5EF4-FFF2-40B4-BE49-F238E27FC236}">
                <a16:creationId xmlns:a16="http://schemas.microsoft.com/office/drawing/2014/main" id="{411CFBAD-E691-71C3-0142-0D9BE96582DA}"/>
              </a:ext>
            </a:extLst>
          </p:cNvPr>
          <p:cNvSpPr>
            <a:spLocks noGrp="1" noChangeArrowheads="1"/>
          </p:cNvSpPr>
          <p:nvPr>
            <p:ph type="body" idx="1"/>
          </p:nvPr>
        </p:nvSpPr>
        <p:spPr>
          <a:noFill/>
          <a:ln/>
        </p:spPr>
        <p:txBody>
          <a:bodyPr/>
          <a:lstStyle/>
          <a:p>
            <a:pPr eaLnBrk="1" hangingPunct="1"/>
            <a:endParaRPr lang="pt-PT">
              <a:latin typeface="Arial" pitchFamily="34" charset="0"/>
            </a:endParaRPr>
          </a:p>
        </p:txBody>
      </p:sp>
    </p:spTree>
    <p:extLst>
      <p:ext uri="{BB962C8B-B14F-4D97-AF65-F5344CB8AC3E}">
        <p14:creationId xmlns:p14="http://schemas.microsoft.com/office/powerpoint/2010/main" val="18645100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D4DAE-7F53-478A-5DE4-CB339CEF472E}"/>
            </a:ext>
          </a:extLst>
        </p:cNvPr>
        <p:cNvGrpSpPr/>
        <p:nvPr/>
      </p:nvGrpSpPr>
      <p:grpSpPr>
        <a:xfrm>
          <a:off x="0" y="0"/>
          <a:ext cx="0" cy="0"/>
          <a:chOff x="0" y="0"/>
          <a:chExt cx="0" cy="0"/>
        </a:xfrm>
      </p:grpSpPr>
      <p:sp>
        <p:nvSpPr>
          <p:cNvPr id="93186" name="Rectangle 7">
            <a:extLst>
              <a:ext uri="{FF2B5EF4-FFF2-40B4-BE49-F238E27FC236}">
                <a16:creationId xmlns:a16="http://schemas.microsoft.com/office/drawing/2014/main" id="{A566F46B-8201-1CCA-8707-A49A894740CD}"/>
              </a:ext>
            </a:extLst>
          </p:cNvPr>
          <p:cNvSpPr>
            <a:spLocks noGrp="1" noChangeArrowheads="1"/>
          </p:cNvSpPr>
          <p:nvPr>
            <p:ph type="sldNum" sz="quarter" idx="5"/>
          </p:nvPr>
        </p:nvSpPr>
        <p:spPr>
          <a:noFill/>
        </p:spPr>
        <p:txBody>
          <a:bodyPr/>
          <a:lstStyle/>
          <a:p>
            <a:fld id="{497D1F5F-AB60-452E-AA79-64E25350F70B}" type="slidenum">
              <a:rPr lang="pt-PT" smtClean="0">
                <a:latin typeface="Arial" pitchFamily="34" charset="0"/>
              </a:rPr>
              <a:pPr/>
              <a:t>15</a:t>
            </a:fld>
            <a:endParaRPr lang="pt-PT">
              <a:latin typeface="Arial" pitchFamily="34" charset="0"/>
            </a:endParaRPr>
          </a:p>
        </p:txBody>
      </p:sp>
      <p:sp>
        <p:nvSpPr>
          <p:cNvPr id="93187" name="Rectangle 2">
            <a:extLst>
              <a:ext uri="{FF2B5EF4-FFF2-40B4-BE49-F238E27FC236}">
                <a16:creationId xmlns:a16="http://schemas.microsoft.com/office/drawing/2014/main" id="{3EC60913-7D94-A87E-F742-778E8B04C38F}"/>
              </a:ext>
            </a:extLst>
          </p:cNvPr>
          <p:cNvSpPr>
            <a:spLocks noGrp="1" noRot="1" noChangeAspect="1" noChangeArrowheads="1" noTextEdit="1"/>
          </p:cNvSpPr>
          <p:nvPr>
            <p:ph type="sldImg"/>
          </p:nvPr>
        </p:nvSpPr>
        <p:spPr>
          <a:ln/>
        </p:spPr>
        <p:txBody>
          <a:bodyPr/>
          <a:lstStyle/>
          <a:p>
            <a:endParaRPr lang="pt-PT"/>
          </a:p>
        </p:txBody>
      </p:sp>
      <p:sp>
        <p:nvSpPr>
          <p:cNvPr id="93188" name="Rectangle 3">
            <a:extLst>
              <a:ext uri="{FF2B5EF4-FFF2-40B4-BE49-F238E27FC236}">
                <a16:creationId xmlns:a16="http://schemas.microsoft.com/office/drawing/2014/main" id="{5F776525-5242-7F25-1FA2-024DCC17849D}"/>
              </a:ext>
            </a:extLst>
          </p:cNvPr>
          <p:cNvSpPr>
            <a:spLocks noGrp="1" noChangeArrowheads="1"/>
          </p:cNvSpPr>
          <p:nvPr>
            <p:ph type="body" idx="1"/>
          </p:nvPr>
        </p:nvSpPr>
        <p:spPr>
          <a:noFill/>
          <a:ln/>
        </p:spPr>
        <p:txBody>
          <a:bodyPr/>
          <a:lstStyle/>
          <a:p>
            <a:pPr eaLnBrk="1" hangingPunct="1"/>
            <a:endParaRPr lang="pt-PT">
              <a:latin typeface="Arial" pitchFamily="34" charset="0"/>
            </a:endParaRPr>
          </a:p>
        </p:txBody>
      </p:sp>
    </p:spTree>
    <p:extLst>
      <p:ext uri="{BB962C8B-B14F-4D97-AF65-F5344CB8AC3E}">
        <p14:creationId xmlns:p14="http://schemas.microsoft.com/office/powerpoint/2010/main" val="25091903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4D7F8-5FA8-54D2-E7D5-405FBBE91D63}"/>
            </a:ext>
          </a:extLst>
        </p:cNvPr>
        <p:cNvGrpSpPr/>
        <p:nvPr/>
      </p:nvGrpSpPr>
      <p:grpSpPr>
        <a:xfrm>
          <a:off x="0" y="0"/>
          <a:ext cx="0" cy="0"/>
          <a:chOff x="0" y="0"/>
          <a:chExt cx="0" cy="0"/>
        </a:xfrm>
      </p:grpSpPr>
      <p:sp>
        <p:nvSpPr>
          <p:cNvPr id="93186" name="Rectangle 7">
            <a:extLst>
              <a:ext uri="{FF2B5EF4-FFF2-40B4-BE49-F238E27FC236}">
                <a16:creationId xmlns:a16="http://schemas.microsoft.com/office/drawing/2014/main" id="{2DB95799-BAAC-1CED-BED9-726B61E13420}"/>
              </a:ext>
            </a:extLst>
          </p:cNvPr>
          <p:cNvSpPr>
            <a:spLocks noGrp="1" noChangeArrowheads="1"/>
          </p:cNvSpPr>
          <p:nvPr>
            <p:ph type="sldNum" sz="quarter" idx="5"/>
          </p:nvPr>
        </p:nvSpPr>
        <p:spPr>
          <a:noFill/>
        </p:spPr>
        <p:txBody>
          <a:bodyPr/>
          <a:lstStyle/>
          <a:p>
            <a:fld id="{497D1F5F-AB60-452E-AA79-64E25350F70B}" type="slidenum">
              <a:rPr lang="pt-PT" smtClean="0">
                <a:latin typeface="Arial" pitchFamily="34" charset="0"/>
              </a:rPr>
              <a:pPr/>
              <a:t>16</a:t>
            </a:fld>
            <a:endParaRPr lang="pt-PT">
              <a:latin typeface="Arial" pitchFamily="34" charset="0"/>
            </a:endParaRPr>
          </a:p>
        </p:txBody>
      </p:sp>
      <p:sp>
        <p:nvSpPr>
          <p:cNvPr id="93187" name="Rectangle 2">
            <a:extLst>
              <a:ext uri="{FF2B5EF4-FFF2-40B4-BE49-F238E27FC236}">
                <a16:creationId xmlns:a16="http://schemas.microsoft.com/office/drawing/2014/main" id="{7E16DED6-9624-FF6F-BD96-F6B32AF0C7D0}"/>
              </a:ext>
            </a:extLst>
          </p:cNvPr>
          <p:cNvSpPr>
            <a:spLocks noGrp="1" noRot="1" noChangeAspect="1" noChangeArrowheads="1" noTextEdit="1"/>
          </p:cNvSpPr>
          <p:nvPr>
            <p:ph type="sldImg"/>
          </p:nvPr>
        </p:nvSpPr>
        <p:spPr>
          <a:ln/>
        </p:spPr>
        <p:txBody>
          <a:bodyPr/>
          <a:lstStyle/>
          <a:p>
            <a:endParaRPr lang="pt-PT"/>
          </a:p>
        </p:txBody>
      </p:sp>
      <p:sp>
        <p:nvSpPr>
          <p:cNvPr id="93188" name="Rectangle 3">
            <a:extLst>
              <a:ext uri="{FF2B5EF4-FFF2-40B4-BE49-F238E27FC236}">
                <a16:creationId xmlns:a16="http://schemas.microsoft.com/office/drawing/2014/main" id="{B32A672F-3E5E-900A-A97B-0F04A4A24D97}"/>
              </a:ext>
            </a:extLst>
          </p:cNvPr>
          <p:cNvSpPr>
            <a:spLocks noGrp="1" noChangeArrowheads="1"/>
          </p:cNvSpPr>
          <p:nvPr>
            <p:ph type="body" idx="1"/>
          </p:nvPr>
        </p:nvSpPr>
        <p:spPr>
          <a:noFill/>
          <a:ln/>
        </p:spPr>
        <p:txBody>
          <a:bodyPr/>
          <a:lstStyle/>
          <a:p>
            <a:pPr eaLnBrk="1" hangingPunct="1"/>
            <a:endParaRPr lang="pt-PT">
              <a:latin typeface="Arial" pitchFamily="34" charset="0"/>
            </a:endParaRPr>
          </a:p>
        </p:txBody>
      </p:sp>
    </p:spTree>
    <p:extLst>
      <p:ext uri="{BB962C8B-B14F-4D97-AF65-F5344CB8AC3E}">
        <p14:creationId xmlns:p14="http://schemas.microsoft.com/office/powerpoint/2010/main" val="1132254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D43C6-8AC7-94CF-8A46-850A9DEC0951}"/>
            </a:ext>
          </a:extLst>
        </p:cNvPr>
        <p:cNvGrpSpPr/>
        <p:nvPr/>
      </p:nvGrpSpPr>
      <p:grpSpPr>
        <a:xfrm>
          <a:off x="0" y="0"/>
          <a:ext cx="0" cy="0"/>
          <a:chOff x="0" y="0"/>
          <a:chExt cx="0" cy="0"/>
        </a:xfrm>
      </p:grpSpPr>
      <p:sp>
        <p:nvSpPr>
          <p:cNvPr id="93186" name="Rectangle 7">
            <a:extLst>
              <a:ext uri="{FF2B5EF4-FFF2-40B4-BE49-F238E27FC236}">
                <a16:creationId xmlns:a16="http://schemas.microsoft.com/office/drawing/2014/main" id="{B3F53B0C-202B-ACD0-8305-758AA1E30E9B}"/>
              </a:ext>
            </a:extLst>
          </p:cNvPr>
          <p:cNvSpPr>
            <a:spLocks noGrp="1" noChangeArrowheads="1"/>
          </p:cNvSpPr>
          <p:nvPr>
            <p:ph type="sldNum" sz="quarter" idx="5"/>
          </p:nvPr>
        </p:nvSpPr>
        <p:spPr>
          <a:noFill/>
        </p:spPr>
        <p:txBody>
          <a:bodyPr/>
          <a:lstStyle/>
          <a:p>
            <a:fld id="{497D1F5F-AB60-452E-AA79-64E25350F70B}" type="slidenum">
              <a:rPr lang="pt-PT" smtClean="0">
                <a:latin typeface="Arial" pitchFamily="34" charset="0"/>
              </a:rPr>
              <a:pPr/>
              <a:t>17</a:t>
            </a:fld>
            <a:endParaRPr lang="pt-PT">
              <a:latin typeface="Arial" pitchFamily="34" charset="0"/>
            </a:endParaRPr>
          </a:p>
        </p:txBody>
      </p:sp>
      <p:sp>
        <p:nvSpPr>
          <p:cNvPr id="93187" name="Rectangle 2">
            <a:extLst>
              <a:ext uri="{FF2B5EF4-FFF2-40B4-BE49-F238E27FC236}">
                <a16:creationId xmlns:a16="http://schemas.microsoft.com/office/drawing/2014/main" id="{46CC0DF4-5D0E-4624-498D-28C6096EE100}"/>
              </a:ext>
            </a:extLst>
          </p:cNvPr>
          <p:cNvSpPr>
            <a:spLocks noGrp="1" noRot="1" noChangeAspect="1" noChangeArrowheads="1" noTextEdit="1"/>
          </p:cNvSpPr>
          <p:nvPr>
            <p:ph type="sldImg"/>
          </p:nvPr>
        </p:nvSpPr>
        <p:spPr>
          <a:ln/>
        </p:spPr>
        <p:txBody>
          <a:bodyPr/>
          <a:lstStyle/>
          <a:p>
            <a:endParaRPr lang="pt-PT"/>
          </a:p>
        </p:txBody>
      </p:sp>
      <p:sp>
        <p:nvSpPr>
          <p:cNvPr id="93188" name="Rectangle 3">
            <a:extLst>
              <a:ext uri="{FF2B5EF4-FFF2-40B4-BE49-F238E27FC236}">
                <a16:creationId xmlns:a16="http://schemas.microsoft.com/office/drawing/2014/main" id="{25BE95CE-D464-579C-21AA-F9116AC46BF9}"/>
              </a:ext>
            </a:extLst>
          </p:cNvPr>
          <p:cNvSpPr>
            <a:spLocks noGrp="1" noChangeArrowheads="1"/>
          </p:cNvSpPr>
          <p:nvPr>
            <p:ph type="body" idx="1"/>
          </p:nvPr>
        </p:nvSpPr>
        <p:spPr>
          <a:noFill/>
          <a:ln/>
        </p:spPr>
        <p:txBody>
          <a:bodyPr/>
          <a:lstStyle/>
          <a:p>
            <a:pPr eaLnBrk="1" hangingPunct="1"/>
            <a:endParaRPr lang="pt-PT">
              <a:latin typeface="Arial" pitchFamily="34" charset="0"/>
            </a:endParaRPr>
          </a:p>
        </p:txBody>
      </p:sp>
    </p:spTree>
    <p:extLst>
      <p:ext uri="{BB962C8B-B14F-4D97-AF65-F5344CB8AC3E}">
        <p14:creationId xmlns:p14="http://schemas.microsoft.com/office/powerpoint/2010/main" val="13741654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ACAE5-42B8-30B8-B6E0-7B3DFF858094}"/>
            </a:ext>
          </a:extLst>
        </p:cNvPr>
        <p:cNvGrpSpPr/>
        <p:nvPr/>
      </p:nvGrpSpPr>
      <p:grpSpPr>
        <a:xfrm>
          <a:off x="0" y="0"/>
          <a:ext cx="0" cy="0"/>
          <a:chOff x="0" y="0"/>
          <a:chExt cx="0" cy="0"/>
        </a:xfrm>
      </p:grpSpPr>
      <p:sp>
        <p:nvSpPr>
          <p:cNvPr id="93186" name="Rectangle 7">
            <a:extLst>
              <a:ext uri="{FF2B5EF4-FFF2-40B4-BE49-F238E27FC236}">
                <a16:creationId xmlns:a16="http://schemas.microsoft.com/office/drawing/2014/main" id="{1318F2FB-971B-51F3-5AAD-B04A787215A5}"/>
              </a:ext>
            </a:extLst>
          </p:cNvPr>
          <p:cNvSpPr>
            <a:spLocks noGrp="1" noChangeArrowheads="1"/>
          </p:cNvSpPr>
          <p:nvPr>
            <p:ph type="sldNum" sz="quarter" idx="5"/>
          </p:nvPr>
        </p:nvSpPr>
        <p:spPr>
          <a:noFill/>
        </p:spPr>
        <p:txBody>
          <a:bodyPr/>
          <a:lstStyle/>
          <a:p>
            <a:fld id="{497D1F5F-AB60-452E-AA79-64E25350F70B}" type="slidenum">
              <a:rPr lang="pt-PT" smtClean="0">
                <a:latin typeface="Arial" pitchFamily="34" charset="0"/>
              </a:rPr>
              <a:pPr/>
              <a:t>18</a:t>
            </a:fld>
            <a:endParaRPr lang="pt-PT">
              <a:latin typeface="Arial" pitchFamily="34" charset="0"/>
            </a:endParaRPr>
          </a:p>
        </p:txBody>
      </p:sp>
      <p:sp>
        <p:nvSpPr>
          <p:cNvPr id="93187" name="Rectangle 2">
            <a:extLst>
              <a:ext uri="{FF2B5EF4-FFF2-40B4-BE49-F238E27FC236}">
                <a16:creationId xmlns:a16="http://schemas.microsoft.com/office/drawing/2014/main" id="{F7DFD390-87DA-D2DF-0222-667459C457A9}"/>
              </a:ext>
            </a:extLst>
          </p:cNvPr>
          <p:cNvSpPr>
            <a:spLocks noGrp="1" noRot="1" noChangeAspect="1" noChangeArrowheads="1" noTextEdit="1"/>
          </p:cNvSpPr>
          <p:nvPr>
            <p:ph type="sldImg"/>
          </p:nvPr>
        </p:nvSpPr>
        <p:spPr>
          <a:ln/>
        </p:spPr>
        <p:txBody>
          <a:bodyPr/>
          <a:lstStyle/>
          <a:p>
            <a:endParaRPr lang="pt-PT"/>
          </a:p>
        </p:txBody>
      </p:sp>
      <p:sp>
        <p:nvSpPr>
          <p:cNvPr id="93188" name="Rectangle 3">
            <a:extLst>
              <a:ext uri="{FF2B5EF4-FFF2-40B4-BE49-F238E27FC236}">
                <a16:creationId xmlns:a16="http://schemas.microsoft.com/office/drawing/2014/main" id="{A37244C5-D50A-E03E-122B-8D8D111FA2C5}"/>
              </a:ext>
            </a:extLst>
          </p:cNvPr>
          <p:cNvSpPr>
            <a:spLocks noGrp="1" noChangeArrowheads="1"/>
          </p:cNvSpPr>
          <p:nvPr>
            <p:ph type="body" idx="1"/>
          </p:nvPr>
        </p:nvSpPr>
        <p:spPr>
          <a:noFill/>
          <a:ln/>
        </p:spPr>
        <p:txBody>
          <a:bodyPr/>
          <a:lstStyle/>
          <a:p>
            <a:pPr eaLnBrk="1" hangingPunct="1"/>
            <a:endParaRPr lang="pt-PT">
              <a:latin typeface="Arial" pitchFamily="34" charset="0"/>
            </a:endParaRPr>
          </a:p>
        </p:txBody>
      </p:sp>
    </p:spTree>
    <p:extLst>
      <p:ext uri="{BB962C8B-B14F-4D97-AF65-F5344CB8AC3E}">
        <p14:creationId xmlns:p14="http://schemas.microsoft.com/office/powerpoint/2010/main" val="13148372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9A494-DB8C-4ACB-2CBA-CE62F99D5E79}"/>
            </a:ext>
          </a:extLst>
        </p:cNvPr>
        <p:cNvGrpSpPr/>
        <p:nvPr/>
      </p:nvGrpSpPr>
      <p:grpSpPr>
        <a:xfrm>
          <a:off x="0" y="0"/>
          <a:ext cx="0" cy="0"/>
          <a:chOff x="0" y="0"/>
          <a:chExt cx="0" cy="0"/>
        </a:xfrm>
      </p:grpSpPr>
      <p:sp>
        <p:nvSpPr>
          <p:cNvPr id="93186" name="Rectangle 7">
            <a:extLst>
              <a:ext uri="{FF2B5EF4-FFF2-40B4-BE49-F238E27FC236}">
                <a16:creationId xmlns:a16="http://schemas.microsoft.com/office/drawing/2014/main" id="{73329D13-3F7B-7AA1-9641-5B5DE5CA8332}"/>
              </a:ext>
            </a:extLst>
          </p:cNvPr>
          <p:cNvSpPr>
            <a:spLocks noGrp="1" noChangeArrowheads="1"/>
          </p:cNvSpPr>
          <p:nvPr>
            <p:ph type="sldNum" sz="quarter" idx="5"/>
          </p:nvPr>
        </p:nvSpPr>
        <p:spPr>
          <a:noFill/>
        </p:spPr>
        <p:txBody>
          <a:bodyPr/>
          <a:lstStyle/>
          <a:p>
            <a:fld id="{497D1F5F-AB60-452E-AA79-64E25350F70B}" type="slidenum">
              <a:rPr lang="pt-PT" smtClean="0">
                <a:latin typeface="Arial" pitchFamily="34" charset="0"/>
              </a:rPr>
              <a:pPr/>
              <a:t>19</a:t>
            </a:fld>
            <a:endParaRPr lang="pt-PT">
              <a:latin typeface="Arial" pitchFamily="34" charset="0"/>
            </a:endParaRPr>
          </a:p>
        </p:txBody>
      </p:sp>
      <p:sp>
        <p:nvSpPr>
          <p:cNvPr id="93187" name="Rectangle 2">
            <a:extLst>
              <a:ext uri="{FF2B5EF4-FFF2-40B4-BE49-F238E27FC236}">
                <a16:creationId xmlns:a16="http://schemas.microsoft.com/office/drawing/2014/main" id="{15A2A601-B85F-BC9E-33D9-04941FD80C7A}"/>
              </a:ext>
            </a:extLst>
          </p:cNvPr>
          <p:cNvSpPr>
            <a:spLocks noGrp="1" noRot="1" noChangeAspect="1" noChangeArrowheads="1" noTextEdit="1"/>
          </p:cNvSpPr>
          <p:nvPr>
            <p:ph type="sldImg"/>
          </p:nvPr>
        </p:nvSpPr>
        <p:spPr>
          <a:ln/>
        </p:spPr>
        <p:txBody>
          <a:bodyPr/>
          <a:lstStyle/>
          <a:p>
            <a:endParaRPr lang="pt-PT"/>
          </a:p>
        </p:txBody>
      </p:sp>
      <p:sp>
        <p:nvSpPr>
          <p:cNvPr id="93188" name="Rectangle 3">
            <a:extLst>
              <a:ext uri="{FF2B5EF4-FFF2-40B4-BE49-F238E27FC236}">
                <a16:creationId xmlns:a16="http://schemas.microsoft.com/office/drawing/2014/main" id="{C3A22A94-9BF2-7F7B-FD4B-CB5AA4C564AD}"/>
              </a:ext>
            </a:extLst>
          </p:cNvPr>
          <p:cNvSpPr>
            <a:spLocks noGrp="1" noChangeArrowheads="1"/>
          </p:cNvSpPr>
          <p:nvPr>
            <p:ph type="body" idx="1"/>
          </p:nvPr>
        </p:nvSpPr>
        <p:spPr>
          <a:noFill/>
          <a:ln/>
        </p:spPr>
        <p:txBody>
          <a:bodyPr/>
          <a:lstStyle/>
          <a:p>
            <a:pPr eaLnBrk="1" hangingPunct="1"/>
            <a:endParaRPr lang="pt-PT">
              <a:latin typeface="Arial" pitchFamily="34" charset="0"/>
            </a:endParaRPr>
          </a:p>
        </p:txBody>
      </p:sp>
    </p:spTree>
    <p:extLst>
      <p:ext uri="{BB962C8B-B14F-4D97-AF65-F5344CB8AC3E}">
        <p14:creationId xmlns:p14="http://schemas.microsoft.com/office/powerpoint/2010/main" val="37508213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5B446-21DB-0075-7032-BFE7E37E188B}"/>
            </a:ext>
          </a:extLst>
        </p:cNvPr>
        <p:cNvGrpSpPr/>
        <p:nvPr/>
      </p:nvGrpSpPr>
      <p:grpSpPr>
        <a:xfrm>
          <a:off x="0" y="0"/>
          <a:ext cx="0" cy="0"/>
          <a:chOff x="0" y="0"/>
          <a:chExt cx="0" cy="0"/>
        </a:xfrm>
      </p:grpSpPr>
      <p:sp>
        <p:nvSpPr>
          <p:cNvPr id="93186" name="Rectangle 7">
            <a:extLst>
              <a:ext uri="{FF2B5EF4-FFF2-40B4-BE49-F238E27FC236}">
                <a16:creationId xmlns:a16="http://schemas.microsoft.com/office/drawing/2014/main" id="{AFD0E557-4261-EF24-45B8-AE7C67933C2A}"/>
              </a:ext>
            </a:extLst>
          </p:cNvPr>
          <p:cNvSpPr>
            <a:spLocks noGrp="1" noChangeArrowheads="1"/>
          </p:cNvSpPr>
          <p:nvPr>
            <p:ph type="sldNum" sz="quarter" idx="5"/>
          </p:nvPr>
        </p:nvSpPr>
        <p:spPr>
          <a:noFill/>
        </p:spPr>
        <p:txBody>
          <a:bodyPr/>
          <a:lstStyle/>
          <a:p>
            <a:fld id="{497D1F5F-AB60-452E-AA79-64E25350F70B}" type="slidenum">
              <a:rPr lang="pt-PT" smtClean="0">
                <a:latin typeface="Arial" pitchFamily="34" charset="0"/>
              </a:rPr>
              <a:pPr/>
              <a:t>20</a:t>
            </a:fld>
            <a:endParaRPr lang="pt-PT">
              <a:latin typeface="Arial" pitchFamily="34" charset="0"/>
            </a:endParaRPr>
          </a:p>
        </p:txBody>
      </p:sp>
      <p:sp>
        <p:nvSpPr>
          <p:cNvPr id="93187" name="Rectangle 2">
            <a:extLst>
              <a:ext uri="{FF2B5EF4-FFF2-40B4-BE49-F238E27FC236}">
                <a16:creationId xmlns:a16="http://schemas.microsoft.com/office/drawing/2014/main" id="{67DD8E3D-5534-7140-500F-B4F4DC665BD0}"/>
              </a:ext>
            </a:extLst>
          </p:cNvPr>
          <p:cNvSpPr>
            <a:spLocks noGrp="1" noRot="1" noChangeAspect="1" noChangeArrowheads="1" noTextEdit="1"/>
          </p:cNvSpPr>
          <p:nvPr>
            <p:ph type="sldImg"/>
          </p:nvPr>
        </p:nvSpPr>
        <p:spPr>
          <a:ln/>
        </p:spPr>
        <p:txBody>
          <a:bodyPr/>
          <a:lstStyle/>
          <a:p>
            <a:endParaRPr lang="pt-PT"/>
          </a:p>
        </p:txBody>
      </p:sp>
      <p:sp>
        <p:nvSpPr>
          <p:cNvPr id="93188" name="Rectangle 3">
            <a:extLst>
              <a:ext uri="{FF2B5EF4-FFF2-40B4-BE49-F238E27FC236}">
                <a16:creationId xmlns:a16="http://schemas.microsoft.com/office/drawing/2014/main" id="{93D36562-7D41-4F38-E690-A5E97CA1C6E6}"/>
              </a:ext>
            </a:extLst>
          </p:cNvPr>
          <p:cNvSpPr>
            <a:spLocks noGrp="1" noChangeArrowheads="1"/>
          </p:cNvSpPr>
          <p:nvPr>
            <p:ph type="body" idx="1"/>
          </p:nvPr>
        </p:nvSpPr>
        <p:spPr>
          <a:noFill/>
          <a:ln/>
        </p:spPr>
        <p:txBody>
          <a:bodyPr/>
          <a:lstStyle/>
          <a:p>
            <a:pPr eaLnBrk="1" hangingPunct="1"/>
            <a:endParaRPr lang="pt-PT">
              <a:latin typeface="Arial" pitchFamily="34" charset="0"/>
            </a:endParaRPr>
          </a:p>
        </p:txBody>
      </p:sp>
    </p:spTree>
    <p:extLst>
      <p:ext uri="{BB962C8B-B14F-4D97-AF65-F5344CB8AC3E}">
        <p14:creationId xmlns:p14="http://schemas.microsoft.com/office/powerpoint/2010/main" val="33837983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E860A-26B6-A444-DEEC-83DC9F59631F}"/>
            </a:ext>
          </a:extLst>
        </p:cNvPr>
        <p:cNvGrpSpPr/>
        <p:nvPr/>
      </p:nvGrpSpPr>
      <p:grpSpPr>
        <a:xfrm>
          <a:off x="0" y="0"/>
          <a:ext cx="0" cy="0"/>
          <a:chOff x="0" y="0"/>
          <a:chExt cx="0" cy="0"/>
        </a:xfrm>
      </p:grpSpPr>
      <p:sp>
        <p:nvSpPr>
          <p:cNvPr id="93186" name="Rectangle 7">
            <a:extLst>
              <a:ext uri="{FF2B5EF4-FFF2-40B4-BE49-F238E27FC236}">
                <a16:creationId xmlns:a16="http://schemas.microsoft.com/office/drawing/2014/main" id="{C9E8CCF6-2703-8744-B521-976A8F334BDA}"/>
              </a:ext>
            </a:extLst>
          </p:cNvPr>
          <p:cNvSpPr>
            <a:spLocks noGrp="1" noChangeArrowheads="1"/>
          </p:cNvSpPr>
          <p:nvPr>
            <p:ph type="sldNum" sz="quarter" idx="5"/>
          </p:nvPr>
        </p:nvSpPr>
        <p:spPr>
          <a:noFill/>
        </p:spPr>
        <p:txBody>
          <a:bodyPr/>
          <a:lstStyle/>
          <a:p>
            <a:fld id="{497D1F5F-AB60-452E-AA79-64E25350F70B}" type="slidenum">
              <a:rPr lang="pt-PT" smtClean="0">
                <a:latin typeface="Arial" pitchFamily="34" charset="0"/>
              </a:rPr>
              <a:pPr/>
              <a:t>21</a:t>
            </a:fld>
            <a:endParaRPr lang="pt-PT">
              <a:latin typeface="Arial" pitchFamily="34" charset="0"/>
            </a:endParaRPr>
          </a:p>
        </p:txBody>
      </p:sp>
      <p:sp>
        <p:nvSpPr>
          <p:cNvPr id="93187" name="Rectangle 2">
            <a:extLst>
              <a:ext uri="{FF2B5EF4-FFF2-40B4-BE49-F238E27FC236}">
                <a16:creationId xmlns:a16="http://schemas.microsoft.com/office/drawing/2014/main" id="{6CB66750-DF28-FF3B-4B0D-A0C8A580B5AA}"/>
              </a:ext>
            </a:extLst>
          </p:cNvPr>
          <p:cNvSpPr>
            <a:spLocks noGrp="1" noRot="1" noChangeAspect="1" noChangeArrowheads="1" noTextEdit="1"/>
          </p:cNvSpPr>
          <p:nvPr>
            <p:ph type="sldImg"/>
          </p:nvPr>
        </p:nvSpPr>
        <p:spPr>
          <a:ln/>
        </p:spPr>
        <p:txBody>
          <a:bodyPr/>
          <a:lstStyle/>
          <a:p>
            <a:endParaRPr lang="pt-PT"/>
          </a:p>
        </p:txBody>
      </p:sp>
      <p:sp>
        <p:nvSpPr>
          <p:cNvPr id="93188" name="Rectangle 3">
            <a:extLst>
              <a:ext uri="{FF2B5EF4-FFF2-40B4-BE49-F238E27FC236}">
                <a16:creationId xmlns:a16="http://schemas.microsoft.com/office/drawing/2014/main" id="{E614FFD3-70CC-771C-0E64-B25B6CE182B9}"/>
              </a:ext>
            </a:extLst>
          </p:cNvPr>
          <p:cNvSpPr>
            <a:spLocks noGrp="1" noChangeArrowheads="1"/>
          </p:cNvSpPr>
          <p:nvPr>
            <p:ph type="body" idx="1"/>
          </p:nvPr>
        </p:nvSpPr>
        <p:spPr>
          <a:noFill/>
          <a:ln/>
        </p:spPr>
        <p:txBody>
          <a:bodyPr/>
          <a:lstStyle/>
          <a:p>
            <a:pPr eaLnBrk="1" hangingPunct="1"/>
            <a:endParaRPr lang="pt-PT">
              <a:latin typeface="Arial" pitchFamily="34" charset="0"/>
            </a:endParaRPr>
          </a:p>
        </p:txBody>
      </p:sp>
    </p:spTree>
    <p:extLst>
      <p:ext uri="{BB962C8B-B14F-4D97-AF65-F5344CB8AC3E}">
        <p14:creationId xmlns:p14="http://schemas.microsoft.com/office/powerpoint/2010/main" val="1538401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6DE76-6B38-E82B-EBF2-C1BB6FD4747B}"/>
            </a:ext>
          </a:extLst>
        </p:cNvPr>
        <p:cNvGrpSpPr/>
        <p:nvPr/>
      </p:nvGrpSpPr>
      <p:grpSpPr>
        <a:xfrm>
          <a:off x="0" y="0"/>
          <a:ext cx="0" cy="0"/>
          <a:chOff x="0" y="0"/>
          <a:chExt cx="0" cy="0"/>
        </a:xfrm>
      </p:grpSpPr>
      <p:sp>
        <p:nvSpPr>
          <p:cNvPr id="93186" name="Rectangle 7">
            <a:extLst>
              <a:ext uri="{FF2B5EF4-FFF2-40B4-BE49-F238E27FC236}">
                <a16:creationId xmlns:a16="http://schemas.microsoft.com/office/drawing/2014/main" id="{E33B1AED-F07E-93E5-6AA7-CFCB1AA89297}"/>
              </a:ext>
            </a:extLst>
          </p:cNvPr>
          <p:cNvSpPr>
            <a:spLocks noGrp="1" noChangeArrowheads="1"/>
          </p:cNvSpPr>
          <p:nvPr>
            <p:ph type="sldNum" sz="quarter" idx="5"/>
          </p:nvPr>
        </p:nvSpPr>
        <p:spPr>
          <a:noFill/>
        </p:spPr>
        <p:txBody>
          <a:bodyPr/>
          <a:lstStyle/>
          <a:p>
            <a:fld id="{497D1F5F-AB60-452E-AA79-64E25350F70B}" type="slidenum">
              <a:rPr lang="pt-PT" smtClean="0">
                <a:latin typeface="Arial" pitchFamily="34" charset="0"/>
              </a:rPr>
              <a:pPr/>
              <a:t>22</a:t>
            </a:fld>
            <a:endParaRPr lang="pt-PT">
              <a:latin typeface="Arial" pitchFamily="34" charset="0"/>
            </a:endParaRPr>
          </a:p>
        </p:txBody>
      </p:sp>
      <p:sp>
        <p:nvSpPr>
          <p:cNvPr id="93187" name="Rectangle 2">
            <a:extLst>
              <a:ext uri="{FF2B5EF4-FFF2-40B4-BE49-F238E27FC236}">
                <a16:creationId xmlns:a16="http://schemas.microsoft.com/office/drawing/2014/main" id="{3C2DABEF-D33B-38C5-6369-70037C69E7FA}"/>
              </a:ext>
            </a:extLst>
          </p:cNvPr>
          <p:cNvSpPr>
            <a:spLocks noGrp="1" noRot="1" noChangeAspect="1" noChangeArrowheads="1" noTextEdit="1"/>
          </p:cNvSpPr>
          <p:nvPr>
            <p:ph type="sldImg"/>
          </p:nvPr>
        </p:nvSpPr>
        <p:spPr>
          <a:ln/>
        </p:spPr>
        <p:txBody>
          <a:bodyPr/>
          <a:lstStyle/>
          <a:p>
            <a:endParaRPr lang="pt-PT"/>
          </a:p>
        </p:txBody>
      </p:sp>
      <p:sp>
        <p:nvSpPr>
          <p:cNvPr id="93188" name="Rectangle 3">
            <a:extLst>
              <a:ext uri="{FF2B5EF4-FFF2-40B4-BE49-F238E27FC236}">
                <a16:creationId xmlns:a16="http://schemas.microsoft.com/office/drawing/2014/main" id="{7A97C599-DF53-4AA9-137D-A50AFE806C3C}"/>
              </a:ext>
            </a:extLst>
          </p:cNvPr>
          <p:cNvSpPr>
            <a:spLocks noGrp="1" noChangeArrowheads="1"/>
          </p:cNvSpPr>
          <p:nvPr>
            <p:ph type="body" idx="1"/>
          </p:nvPr>
        </p:nvSpPr>
        <p:spPr>
          <a:noFill/>
          <a:ln/>
        </p:spPr>
        <p:txBody>
          <a:bodyPr/>
          <a:lstStyle/>
          <a:p>
            <a:pPr eaLnBrk="1" hangingPunct="1"/>
            <a:endParaRPr lang="pt-PT">
              <a:latin typeface="Arial" pitchFamily="34" charset="0"/>
            </a:endParaRPr>
          </a:p>
        </p:txBody>
      </p:sp>
    </p:spTree>
    <p:extLst>
      <p:ext uri="{BB962C8B-B14F-4D97-AF65-F5344CB8AC3E}">
        <p14:creationId xmlns:p14="http://schemas.microsoft.com/office/powerpoint/2010/main" val="8719440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A94EF-6DA4-A52B-C723-CEC0EF843EF6}"/>
            </a:ext>
          </a:extLst>
        </p:cNvPr>
        <p:cNvGrpSpPr/>
        <p:nvPr/>
      </p:nvGrpSpPr>
      <p:grpSpPr>
        <a:xfrm>
          <a:off x="0" y="0"/>
          <a:ext cx="0" cy="0"/>
          <a:chOff x="0" y="0"/>
          <a:chExt cx="0" cy="0"/>
        </a:xfrm>
      </p:grpSpPr>
      <p:sp>
        <p:nvSpPr>
          <p:cNvPr id="93186" name="Rectangle 7">
            <a:extLst>
              <a:ext uri="{FF2B5EF4-FFF2-40B4-BE49-F238E27FC236}">
                <a16:creationId xmlns:a16="http://schemas.microsoft.com/office/drawing/2014/main" id="{1111FC6B-E1FB-5892-91EF-E6D5CECE1467}"/>
              </a:ext>
            </a:extLst>
          </p:cNvPr>
          <p:cNvSpPr>
            <a:spLocks noGrp="1" noChangeArrowheads="1"/>
          </p:cNvSpPr>
          <p:nvPr>
            <p:ph type="sldNum" sz="quarter" idx="5"/>
          </p:nvPr>
        </p:nvSpPr>
        <p:spPr>
          <a:noFill/>
        </p:spPr>
        <p:txBody>
          <a:bodyPr/>
          <a:lstStyle/>
          <a:p>
            <a:fld id="{497D1F5F-AB60-452E-AA79-64E25350F70B}" type="slidenum">
              <a:rPr lang="pt-PT" smtClean="0">
                <a:latin typeface="Arial" pitchFamily="34" charset="0"/>
              </a:rPr>
              <a:pPr/>
              <a:t>23</a:t>
            </a:fld>
            <a:endParaRPr lang="pt-PT">
              <a:latin typeface="Arial" pitchFamily="34" charset="0"/>
            </a:endParaRPr>
          </a:p>
        </p:txBody>
      </p:sp>
      <p:sp>
        <p:nvSpPr>
          <p:cNvPr id="93187" name="Rectangle 2">
            <a:extLst>
              <a:ext uri="{FF2B5EF4-FFF2-40B4-BE49-F238E27FC236}">
                <a16:creationId xmlns:a16="http://schemas.microsoft.com/office/drawing/2014/main" id="{BDB46ECC-DAA7-95AE-F733-EE0DF3D6FD67}"/>
              </a:ext>
            </a:extLst>
          </p:cNvPr>
          <p:cNvSpPr>
            <a:spLocks noGrp="1" noRot="1" noChangeAspect="1" noChangeArrowheads="1" noTextEdit="1"/>
          </p:cNvSpPr>
          <p:nvPr>
            <p:ph type="sldImg"/>
          </p:nvPr>
        </p:nvSpPr>
        <p:spPr>
          <a:ln/>
        </p:spPr>
        <p:txBody>
          <a:bodyPr/>
          <a:lstStyle/>
          <a:p>
            <a:endParaRPr lang="pt-PT"/>
          </a:p>
        </p:txBody>
      </p:sp>
      <p:sp>
        <p:nvSpPr>
          <p:cNvPr id="93188" name="Rectangle 3">
            <a:extLst>
              <a:ext uri="{FF2B5EF4-FFF2-40B4-BE49-F238E27FC236}">
                <a16:creationId xmlns:a16="http://schemas.microsoft.com/office/drawing/2014/main" id="{73732F8A-6DF9-0B56-6797-B09DC080AD76}"/>
              </a:ext>
            </a:extLst>
          </p:cNvPr>
          <p:cNvSpPr>
            <a:spLocks noGrp="1" noChangeArrowheads="1"/>
          </p:cNvSpPr>
          <p:nvPr>
            <p:ph type="body" idx="1"/>
          </p:nvPr>
        </p:nvSpPr>
        <p:spPr>
          <a:noFill/>
          <a:ln/>
        </p:spPr>
        <p:txBody>
          <a:bodyPr/>
          <a:lstStyle/>
          <a:p>
            <a:pPr eaLnBrk="1" hangingPunct="1"/>
            <a:endParaRPr lang="pt-PT">
              <a:latin typeface="Arial" pitchFamily="34" charset="0"/>
            </a:endParaRPr>
          </a:p>
        </p:txBody>
      </p:sp>
    </p:spTree>
    <p:extLst>
      <p:ext uri="{BB962C8B-B14F-4D97-AF65-F5344CB8AC3E}">
        <p14:creationId xmlns:p14="http://schemas.microsoft.com/office/powerpoint/2010/main" val="42521062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953DF-E654-8D3C-40D9-8731BFBE4492}"/>
            </a:ext>
          </a:extLst>
        </p:cNvPr>
        <p:cNvGrpSpPr/>
        <p:nvPr/>
      </p:nvGrpSpPr>
      <p:grpSpPr>
        <a:xfrm>
          <a:off x="0" y="0"/>
          <a:ext cx="0" cy="0"/>
          <a:chOff x="0" y="0"/>
          <a:chExt cx="0" cy="0"/>
        </a:xfrm>
      </p:grpSpPr>
      <p:sp>
        <p:nvSpPr>
          <p:cNvPr id="93186" name="Rectangle 7">
            <a:extLst>
              <a:ext uri="{FF2B5EF4-FFF2-40B4-BE49-F238E27FC236}">
                <a16:creationId xmlns:a16="http://schemas.microsoft.com/office/drawing/2014/main" id="{1FAA167A-52A8-E20C-4838-B4307E0BA382}"/>
              </a:ext>
            </a:extLst>
          </p:cNvPr>
          <p:cNvSpPr>
            <a:spLocks noGrp="1" noChangeArrowheads="1"/>
          </p:cNvSpPr>
          <p:nvPr>
            <p:ph type="sldNum" sz="quarter" idx="5"/>
          </p:nvPr>
        </p:nvSpPr>
        <p:spPr>
          <a:noFill/>
        </p:spPr>
        <p:txBody>
          <a:bodyPr/>
          <a:lstStyle/>
          <a:p>
            <a:fld id="{497D1F5F-AB60-452E-AA79-64E25350F70B}" type="slidenum">
              <a:rPr lang="pt-PT" smtClean="0">
                <a:latin typeface="Arial" pitchFamily="34" charset="0"/>
              </a:rPr>
              <a:pPr/>
              <a:t>24</a:t>
            </a:fld>
            <a:endParaRPr lang="pt-PT">
              <a:latin typeface="Arial" pitchFamily="34" charset="0"/>
            </a:endParaRPr>
          </a:p>
        </p:txBody>
      </p:sp>
      <p:sp>
        <p:nvSpPr>
          <p:cNvPr id="93187" name="Rectangle 2">
            <a:extLst>
              <a:ext uri="{FF2B5EF4-FFF2-40B4-BE49-F238E27FC236}">
                <a16:creationId xmlns:a16="http://schemas.microsoft.com/office/drawing/2014/main" id="{4AD7631B-F6B6-5177-A395-589D14AA12F7}"/>
              </a:ext>
            </a:extLst>
          </p:cNvPr>
          <p:cNvSpPr>
            <a:spLocks noGrp="1" noRot="1" noChangeAspect="1" noChangeArrowheads="1" noTextEdit="1"/>
          </p:cNvSpPr>
          <p:nvPr>
            <p:ph type="sldImg"/>
          </p:nvPr>
        </p:nvSpPr>
        <p:spPr>
          <a:ln/>
        </p:spPr>
        <p:txBody>
          <a:bodyPr/>
          <a:lstStyle/>
          <a:p>
            <a:endParaRPr lang="pt-PT"/>
          </a:p>
        </p:txBody>
      </p:sp>
      <p:sp>
        <p:nvSpPr>
          <p:cNvPr id="93188" name="Rectangle 3">
            <a:extLst>
              <a:ext uri="{FF2B5EF4-FFF2-40B4-BE49-F238E27FC236}">
                <a16:creationId xmlns:a16="http://schemas.microsoft.com/office/drawing/2014/main" id="{C38874CB-C97D-722C-6888-2B2B399AFB61}"/>
              </a:ext>
            </a:extLst>
          </p:cNvPr>
          <p:cNvSpPr>
            <a:spLocks noGrp="1" noChangeArrowheads="1"/>
          </p:cNvSpPr>
          <p:nvPr>
            <p:ph type="body" idx="1"/>
          </p:nvPr>
        </p:nvSpPr>
        <p:spPr>
          <a:noFill/>
          <a:ln/>
        </p:spPr>
        <p:txBody>
          <a:bodyPr/>
          <a:lstStyle/>
          <a:p>
            <a:pPr eaLnBrk="1" hangingPunct="1"/>
            <a:r>
              <a:rPr lang="pt-PT" dirty="0">
                <a:latin typeface="Arial" pitchFamily="34" charset="0"/>
              </a:rPr>
              <a:t>Tiago (acabar referencias)</a:t>
            </a:r>
          </a:p>
        </p:txBody>
      </p:sp>
    </p:spTree>
    <p:extLst>
      <p:ext uri="{BB962C8B-B14F-4D97-AF65-F5344CB8AC3E}">
        <p14:creationId xmlns:p14="http://schemas.microsoft.com/office/powerpoint/2010/main" val="32468458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92BB9-5F92-F0AE-ED47-8028E398344A}"/>
            </a:ext>
          </a:extLst>
        </p:cNvPr>
        <p:cNvGrpSpPr/>
        <p:nvPr/>
      </p:nvGrpSpPr>
      <p:grpSpPr>
        <a:xfrm>
          <a:off x="0" y="0"/>
          <a:ext cx="0" cy="0"/>
          <a:chOff x="0" y="0"/>
          <a:chExt cx="0" cy="0"/>
        </a:xfrm>
      </p:grpSpPr>
      <p:sp>
        <p:nvSpPr>
          <p:cNvPr id="93186" name="Rectangle 7">
            <a:extLst>
              <a:ext uri="{FF2B5EF4-FFF2-40B4-BE49-F238E27FC236}">
                <a16:creationId xmlns:a16="http://schemas.microsoft.com/office/drawing/2014/main" id="{18A62ECF-BC54-254A-C18A-4A98CFA22768}"/>
              </a:ext>
            </a:extLst>
          </p:cNvPr>
          <p:cNvSpPr>
            <a:spLocks noGrp="1" noChangeArrowheads="1"/>
          </p:cNvSpPr>
          <p:nvPr>
            <p:ph type="sldNum" sz="quarter" idx="5"/>
          </p:nvPr>
        </p:nvSpPr>
        <p:spPr>
          <a:noFill/>
        </p:spPr>
        <p:txBody>
          <a:bodyPr/>
          <a:lstStyle/>
          <a:p>
            <a:fld id="{497D1F5F-AB60-452E-AA79-64E25350F70B}" type="slidenum">
              <a:rPr lang="pt-PT" smtClean="0">
                <a:latin typeface="Arial" pitchFamily="34" charset="0"/>
              </a:rPr>
              <a:pPr/>
              <a:t>26</a:t>
            </a:fld>
            <a:endParaRPr lang="pt-PT">
              <a:latin typeface="Arial" pitchFamily="34" charset="0"/>
            </a:endParaRPr>
          </a:p>
        </p:txBody>
      </p:sp>
      <p:sp>
        <p:nvSpPr>
          <p:cNvPr id="93187" name="Rectangle 2">
            <a:extLst>
              <a:ext uri="{FF2B5EF4-FFF2-40B4-BE49-F238E27FC236}">
                <a16:creationId xmlns:a16="http://schemas.microsoft.com/office/drawing/2014/main" id="{DB6B5080-7FB1-4049-E179-DF2FED73DE2B}"/>
              </a:ext>
            </a:extLst>
          </p:cNvPr>
          <p:cNvSpPr>
            <a:spLocks noGrp="1" noRot="1" noChangeAspect="1" noChangeArrowheads="1" noTextEdit="1"/>
          </p:cNvSpPr>
          <p:nvPr>
            <p:ph type="sldImg"/>
          </p:nvPr>
        </p:nvSpPr>
        <p:spPr>
          <a:ln/>
        </p:spPr>
        <p:txBody>
          <a:bodyPr/>
          <a:lstStyle/>
          <a:p>
            <a:endParaRPr lang="pt-PT"/>
          </a:p>
        </p:txBody>
      </p:sp>
      <p:sp>
        <p:nvSpPr>
          <p:cNvPr id="93188" name="Rectangle 3">
            <a:extLst>
              <a:ext uri="{FF2B5EF4-FFF2-40B4-BE49-F238E27FC236}">
                <a16:creationId xmlns:a16="http://schemas.microsoft.com/office/drawing/2014/main" id="{A79C2FFD-D254-172D-BA89-497B0CED5FB3}"/>
              </a:ext>
            </a:extLst>
          </p:cNvPr>
          <p:cNvSpPr>
            <a:spLocks noGrp="1" noChangeArrowheads="1"/>
          </p:cNvSpPr>
          <p:nvPr>
            <p:ph type="body" idx="1"/>
          </p:nvPr>
        </p:nvSpPr>
        <p:spPr>
          <a:noFill/>
          <a:ln/>
        </p:spPr>
        <p:txBody>
          <a:bodyPr/>
          <a:lstStyle/>
          <a:p>
            <a:pPr eaLnBrk="1" hangingPunct="1"/>
            <a:endParaRPr lang="pt-PT">
              <a:latin typeface="Arial" pitchFamily="34" charset="0"/>
            </a:endParaRPr>
          </a:p>
        </p:txBody>
      </p:sp>
    </p:spTree>
    <p:extLst>
      <p:ext uri="{BB962C8B-B14F-4D97-AF65-F5344CB8AC3E}">
        <p14:creationId xmlns:p14="http://schemas.microsoft.com/office/powerpoint/2010/main" val="17804051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F2186-929A-CED3-3F47-E17F8528BFB0}"/>
            </a:ext>
          </a:extLst>
        </p:cNvPr>
        <p:cNvGrpSpPr/>
        <p:nvPr/>
      </p:nvGrpSpPr>
      <p:grpSpPr>
        <a:xfrm>
          <a:off x="0" y="0"/>
          <a:ext cx="0" cy="0"/>
          <a:chOff x="0" y="0"/>
          <a:chExt cx="0" cy="0"/>
        </a:xfrm>
      </p:grpSpPr>
      <p:sp>
        <p:nvSpPr>
          <p:cNvPr id="93186" name="Rectangle 7">
            <a:extLst>
              <a:ext uri="{FF2B5EF4-FFF2-40B4-BE49-F238E27FC236}">
                <a16:creationId xmlns:a16="http://schemas.microsoft.com/office/drawing/2014/main" id="{4EAD90D1-06A1-7CD6-A37B-B2B9901B40D1}"/>
              </a:ext>
            </a:extLst>
          </p:cNvPr>
          <p:cNvSpPr>
            <a:spLocks noGrp="1" noChangeArrowheads="1"/>
          </p:cNvSpPr>
          <p:nvPr>
            <p:ph type="sldNum" sz="quarter" idx="5"/>
          </p:nvPr>
        </p:nvSpPr>
        <p:spPr>
          <a:noFill/>
        </p:spPr>
        <p:txBody>
          <a:bodyPr/>
          <a:lstStyle/>
          <a:p>
            <a:fld id="{497D1F5F-AB60-452E-AA79-64E25350F70B}" type="slidenum">
              <a:rPr lang="pt-PT" smtClean="0">
                <a:latin typeface="Arial" pitchFamily="34" charset="0"/>
              </a:rPr>
              <a:pPr/>
              <a:t>27</a:t>
            </a:fld>
            <a:endParaRPr lang="pt-PT">
              <a:latin typeface="Arial" pitchFamily="34" charset="0"/>
            </a:endParaRPr>
          </a:p>
        </p:txBody>
      </p:sp>
      <p:sp>
        <p:nvSpPr>
          <p:cNvPr id="93187" name="Rectangle 2">
            <a:extLst>
              <a:ext uri="{FF2B5EF4-FFF2-40B4-BE49-F238E27FC236}">
                <a16:creationId xmlns:a16="http://schemas.microsoft.com/office/drawing/2014/main" id="{FC3281FC-F9B4-7AD2-1F7C-11A6A753CB7D}"/>
              </a:ext>
            </a:extLst>
          </p:cNvPr>
          <p:cNvSpPr>
            <a:spLocks noGrp="1" noRot="1" noChangeAspect="1" noChangeArrowheads="1" noTextEdit="1"/>
          </p:cNvSpPr>
          <p:nvPr>
            <p:ph type="sldImg"/>
          </p:nvPr>
        </p:nvSpPr>
        <p:spPr>
          <a:ln/>
        </p:spPr>
        <p:txBody>
          <a:bodyPr/>
          <a:lstStyle/>
          <a:p>
            <a:endParaRPr lang="pt-PT"/>
          </a:p>
        </p:txBody>
      </p:sp>
      <p:sp>
        <p:nvSpPr>
          <p:cNvPr id="93188" name="Rectangle 3">
            <a:extLst>
              <a:ext uri="{FF2B5EF4-FFF2-40B4-BE49-F238E27FC236}">
                <a16:creationId xmlns:a16="http://schemas.microsoft.com/office/drawing/2014/main" id="{46B967A8-33EE-2016-455D-A3913E7F0377}"/>
              </a:ext>
            </a:extLst>
          </p:cNvPr>
          <p:cNvSpPr>
            <a:spLocks noGrp="1" noChangeArrowheads="1"/>
          </p:cNvSpPr>
          <p:nvPr>
            <p:ph type="body" idx="1"/>
          </p:nvPr>
        </p:nvSpPr>
        <p:spPr>
          <a:noFill/>
          <a:ln/>
        </p:spPr>
        <p:txBody>
          <a:bodyPr/>
          <a:lstStyle/>
          <a:p>
            <a:pPr eaLnBrk="1" hangingPunct="1"/>
            <a:endParaRPr lang="pt-PT">
              <a:latin typeface="Arial" pitchFamily="34" charset="0"/>
            </a:endParaRPr>
          </a:p>
        </p:txBody>
      </p:sp>
    </p:spTree>
    <p:extLst>
      <p:ext uri="{BB962C8B-B14F-4D97-AF65-F5344CB8AC3E}">
        <p14:creationId xmlns:p14="http://schemas.microsoft.com/office/powerpoint/2010/main" val="2660929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29BB5-0046-D6B1-4B25-9A7992003C19}"/>
            </a:ext>
          </a:extLst>
        </p:cNvPr>
        <p:cNvGrpSpPr/>
        <p:nvPr/>
      </p:nvGrpSpPr>
      <p:grpSpPr>
        <a:xfrm>
          <a:off x="0" y="0"/>
          <a:ext cx="0" cy="0"/>
          <a:chOff x="0" y="0"/>
          <a:chExt cx="0" cy="0"/>
        </a:xfrm>
      </p:grpSpPr>
      <p:sp>
        <p:nvSpPr>
          <p:cNvPr id="93186" name="Rectangle 7">
            <a:extLst>
              <a:ext uri="{FF2B5EF4-FFF2-40B4-BE49-F238E27FC236}">
                <a16:creationId xmlns:a16="http://schemas.microsoft.com/office/drawing/2014/main" id="{51B3DD9E-F3BF-1990-CDFB-35DA0F29AC05}"/>
              </a:ext>
            </a:extLst>
          </p:cNvPr>
          <p:cNvSpPr>
            <a:spLocks noGrp="1" noChangeArrowheads="1"/>
          </p:cNvSpPr>
          <p:nvPr>
            <p:ph type="sldNum" sz="quarter" idx="5"/>
          </p:nvPr>
        </p:nvSpPr>
        <p:spPr>
          <a:noFill/>
        </p:spPr>
        <p:txBody>
          <a:bodyPr/>
          <a:lstStyle/>
          <a:p>
            <a:fld id="{497D1F5F-AB60-452E-AA79-64E25350F70B}" type="slidenum">
              <a:rPr lang="pt-PT" smtClean="0">
                <a:latin typeface="Arial" pitchFamily="34" charset="0"/>
              </a:rPr>
              <a:pPr/>
              <a:t>28</a:t>
            </a:fld>
            <a:endParaRPr lang="pt-PT">
              <a:latin typeface="Arial" pitchFamily="34" charset="0"/>
            </a:endParaRPr>
          </a:p>
        </p:txBody>
      </p:sp>
      <p:sp>
        <p:nvSpPr>
          <p:cNvPr id="93187" name="Rectangle 2">
            <a:extLst>
              <a:ext uri="{FF2B5EF4-FFF2-40B4-BE49-F238E27FC236}">
                <a16:creationId xmlns:a16="http://schemas.microsoft.com/office/drawing/2014/main" id="{21DA72CE-BAAF-2358-C0F0-9EBD30D463BA}"/>
              </a:ext>
            </a:extLst>
          </p:cNvPr>
          <p:cNvSpPr>
            <a:spLocks noGrp="1" noRot="1" noChangeAspect="1" noChangeArrowheads="1" noTextEdit="1"/>
          </p:cNvSpPr>
          <p:nvPr>
            <p:ph type="sldImg"/>
          </p:nvPr>
        </p:nvSpPr>
        <p:spPr>
          <a:ln/>
        </p:spPr>
        <p:txBody>
          <a:bodyPr/>
          <a:lstStyle/>
          <a:p>
            <a:endParaRPr lang="pt-PT"/>
          </a:p>
        </p:txBody>
      </p:sp>
      <p:sp>
        <p:nvSpPr>
          <p:cNvPr id="93188" name="Rectangle 3">
            <a:extLst>
              <a:ext uri="{FF2B5EF4-FFF2-40B4-BE49-F238E27FC236}">
                <a16:creationId xmlns:a16="http://schemas.microsoft.com/office/drawing/2014/main" id="{BD6680DB-F392-F984-85B1-653162B01BE9}"/>
              </a:ext>
            </a:extLst>
          </p:cNvPr>
          <p:cNvSpPr>
            <a:spLocks noGrp="1" noChangeArrowheads="1"/>
          </p:cNvSpPr>
          <p:nvPr>
            <p:ph type="body" idx="1"/>
          </p:nvPr>
        </p:nvSpPr>
        <p:spPr>
          <a:noFill/>
          <a:ln/>
        </p:spPr>
        <p:txBody>
          <a:bodyPr/>
          <a:lstStyle/>
          <a:p>
            <a:pPr eaLnBrk="1" hangingPunct="1"/>
            <a:endParaRPr lang="pt-PT">
              <a:latin typeface="Arial" pitchFamily="34" charset="0"/>
            </a:endParaRPr>
          </a:p>
        </p:txBody>
      </p:sp>
    </p:spTree>
    <p:extLst>
      <p:ext uri="{BB962C8B-B14F-4D97-AF65-F5344CB8AC3E}">
        <p14:creationId xmlns:p14="http://schemas.microsoft.com/office/powerpoint/2010/main" val="23484422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EE37F-B174-3E14-A46A-0AE9B637DFC0}"/>
            </a:ext>
          </a:extLst>
        </p:cNvPr>
        <p:cNvGrpSpPr/>
        <p:nvPr/>
      </p:nvGrpSpPr>
      <p:grpSpPr>
        <a:xfrm>
          <a:off x="0" y="0"/>
          <a:ext cx="0" cy="0"/>
          <a:chOff x="0" y="0"/>
          <a:chExt cx="0" cy="0"/>
        </a:xfrm>
      </p:grpSpPr>
      <p:sp>
        <p:nvSpPr>
          <p:cNvPr id="93186" name="Rectangle 7">
            <a:extLst>
              <a:ext uri="{FF2B5EF4-FFF2-40B4-BE49-F238E27FC236}">
                <a16:creationId xmlns:a16="http://schemas.microsoft.com/office/drawing/2014/main" id="{DF8F1DD5-E76D-A3FB-43B9-B27FAA757C34}"/>
              </a:ext>
            </a:extLst>
          </p:cNvPr>
          <p:cNvSpPr>
            <a:spLocks noGrp="1" noChangeArrowheads="1"/>
          </p:cNvSpPr>
          <p:nvPr>
            <p:ph type="sldNum" sz="quarter" idx="5"/>
          </p:nvPr>
        </p:nvSpPr>
        <p:spPr>
          <a:noFill/>
        </p:spPr>
        <p:txBody>
          <a:bodyPr/>
          <a:lstStyle/>
          <a:p>
            <a:fld id="{497D1F5F-AB60-452E-AA79-64E25350F70B}" type="slidenum">
              <a:rPr lang="pt-PT" smtClean="0">
                <a:latin typeface="Arial" pitchFamily="34" charset="0"/>
              </a:rPr>
              <a:pPr/>
              <a:t>29</a:t>
            </a:fld>
            <a:endParaRPr lang="pt-PT">
              <a:latin typeface="Arial" pitchFamily="34" charset="0"/>
            </a:endParaRPr>
          </a:p>
        </p:txBody>
      </p:sp>
      <p:sp>
        <p:nvSpPr>
          <p:cNvPr id="93187" name="Rectangle 2">
            <a:extLst>
              <a:ext uri="{FF2B5EF4-FFF2-40B4-BE49-F238E27FC236}">
                <a16:creationId xmlns:a16="http://schemas.microsoft.com/office/drawing/2014/main" id="{777C9028-2667-ED51-34CC-020EC32B7858}"/>
              </a:ext>
            </a:extLst>
          </p:cNvPr>
          <p:cNvSpPr>
            <a:spLocks noGrp="1" noRot="1" noChangeAspect="1" noChangeArrowheads="1" noTextEdit="1"/>
          </p:cNvSpPr>
          <p:nvPr>
            <p:ph type="sldImg"/>
          </p:nvPr>
        </p:nvSpPr>
        <p:spPr>
          <a:ln/>
        </p:spPr>
        <p:txBody>
          <a:bodyPr/>
          <a:lstStyle/>
          <a:p>
            <a:endParaRPr lang="pt-PT"/>
          </a:p>
        </p:txBody>
      </p:sp>
      <p:sp>
        <p:nvSpPr>
          <p:cNvPr id="93188" name="Rectangle 3">
            <a:extLst>
              <a:ext uri="{FF2B5EF4-FFF2-40B4-BE49-F238E27FC236}">
                <a16:creationId xmlns:a16="http://schemas.microsoft.com/office/drawing/2014/main" id="{4E309B7D-ED50-1F3E-B5EB-3B196707FDC2}"/>
              </a:ext>
            </a:extLst>
          </p:cNvPr>
          <p:cNvSpPr>
            <a:spLocks noGrp="1" noChangeArrowheads="1"/>
          </p:cNvSpPr>
          <p:nvPr>
            <p:ph type="body" idx="1"/>
          </p:nvPr>
        </p:nvSpPr>
        <p:spPr>
          <a:noFill/>
          <a:ln/>
        </p:spPr>
        <p:txBody>
          <a:bodyPr/>
          <a:lstStyle/>
          <a:p>
            <a:pPr eaLnBrk="1" hangingPunct="1"/>
            <a:endParaRPr lang="pt-PT">
              <a:latin typeface="Arial" pitchFamily="34" charset="0"/>
            </a:endParaRPr>
          </a:p>
        </p:txBody>
      </p:sp>
    </p:spTree>
    <p:extLst>
      <p:ext uri="{BB962C8B-B14F-4D97-AF65-F5344CB8AC3E}">
        <p14:creationId xmlns:p14="http://schemas.microsoft.com/office/powerpoint/2010/main" val="31242156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A21DF-9785-B4D9-C9EC-67F81F1979B8}"/>
            </a:ext>
          </a:extLst>
        </p:cNvPr>
        <p:cNvGrpSpPr/>
        <p:nvPr/>
      </p:nvGrpSpPr>
      <p:grpSpPr>
        <a:xfrm>
          <a:off x="0" y="0"/>
          <a:ext cx="0" cy="0"/>
          <a:chOff x="0" y="0"/>
          <a:chExt cx="0" cy="0"/>
        </a:xfrm>
      </p:grpSpPr>
      <p:sp>
        <p:nvSpPr>
          <p:cNvPr id="93186" name="Rectangle 7">
            <a:extLst>
              <a:ext uri="{FF2B5EF4-FFF2-40B4-BE49-F238E27FC236}">
                <a16:creationId xmlns:a16="http://schemas.microsoft.com/office/drawing/2014/main" id="{8DAA57CE-697B-AC9B-DC35-B19B6AE1CEFB}"/>
              </a:ext>
            </a:extLst>
          </p:cNvPr>
          <p:cNvSpPr>
            <a:spLocks noGrp="1" noChangeArrowheads="1"/>
          </p:cNvSpPr>
          <p:nvPr>
            <p:ph type="sldNum" sz="quarter" idx="5"/>
          </p:nvPr>
        </p:nvSpPr>
        <p:spPr>
          <a:noFill/>
        </p:spPr>
        <p:txBody>
          <a:bodyPr/>
          <a:lstStyle/>
          <a:p>
            <a:fld id="{497D1F5F-AB60-452E-AA79-64E25350F70B}" type="slidenum">
              <a:rPr lang="pt-PT" smtClean="0">
                <a:latin typeface="Arial" pitchFamily="34" charset="0"/>
              </a:rPr>
              <a:pPr/>
              <a:t>30</a:t>
            </a:fld>
            <a:endParaRPr lang="pt-PT">
              <a:latin typeface="Arial" pitchFamily="34" charset="0"/>
            </a:endParaRPr>
          </a:p>
        </p:txBody>
      </p:sp>
      <p:sp>
        <p:nvSpPr>
          <p:cNvPr id="93187" name="Rectangle 2">
            <a:extLst>
              <a:ext uri="{FF2B5EF4-FFF2-40B4-BE49-F238E27FC236}">
                <a16:creationId xmlns:a16="http://schemas.microsoft.com/office/drawing/2014/main" id="{A651C63C-7D09-A9E2-E746-5232F44085BB}"/>
              </a:ext>
            </a:extLst>
          </p:cNvPr>
          <p:cNvSpPr>
            <a:spLocks noGrp="1" noRot="1" noChangeAspect="1" noChangeArrowheads="1" noTextEdit="1"/>
          </p:cNvSpPr>
          <p:nvPr>
            <p:ph type="sldImg"/>
          </p:nvPr>
        </p:nvSpPr>
        <p:spPr>
          <a:ln/>
        </p:spPr>
        <p:txBody>
          <a:bodyPr/>
          <a:lstStyle/>
          <a:p>
            <a:endParaRPr lang="pt-PT"/>
          </a:p>
        </p:txBody>
      </p:sp>
      <p:sp>
        <p:nvSpPr>
          <p:cNvPr id="93188" name="Rectangle 3">
            <a:extLst>
              <a:ext uri="{FF2B5EF4-FFF2-40B4-BE49-F238E27FC236}">
                <a16:creationId xmlns:a16="http://schemas.microsoft.com/office/drawing/2014/main" id="{C2DC5A22-A7D4-6AF7-F9C0-A93B57358322}"/>
              </a:ext>
            </a:extLst>
          </p:cNvPr>
          <p:cNvSpPr>
            <a:spLocks noGrp="1" noChangeArrowheads="1"/>
          </p:cNvSpPr>
          <p:nvPr>
            <p:ph type="body" idx="1"/>
          </p:nvPr>
        </p:nvSpPr>
        <p:spPr>
          <a:noFill/>
          <a:ln/>
        </p:spPr>
        <p:txBody>
          <a:bodyPr/>
          <a:lstStyle/>
          <a:p>
            <a:pPr eaLnBrk="1" hangingPunct="1"/>
            <a:endParaRPr lang="pt-PT">
              <a:latin typeface="Arial" pitchFamily="34" charset="0"/>
            </a:endParaRPr>
          </a:p>
        </p:txBody>
      </p:sp>
    </p:spTree>
    <p:extLst>
      <p:ext uri="{BB962C8B-B14F-4D97-AF65-F5344CB8AC3E}">
        <p14:creationId xmlns:p14="http://schemas.microsoft.com/office/powerpoint/2010/main" val="42825383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6CD5E-9F29-2321-E9AD-9DC63DA6A5D3}"/>
            </a:ext>
          </a:extLst>
        </p:cNvPr>
        <p:cNvGrpSpPr/>
        <p:nvPr/>
      </p:nvGrpSpPr>
      <p:grpSpPr>
        <a:xfrm>
          <a:off x="0" y="0"/>
          <a:ext cx="0" cy="0"/>
          <a:chOff x="0" y="0"/>
          <a:chExt cx="0" cy="0"/>
        </a:xfrm>
      </p:grpSpPr>
      <p:sp>
        <p:nvSpPr>
          <p:cNvPr id="93186" name="Rectangle 7">
            <a:extLst>
              <a:ext uri="{FF2B5EF4-FFF2-40B4-BE49-F238E27FC236}">
                <a16:creationId xmlns:a16="http://schemas.microsoft.com/office/drawing/2014/main" id="{F9E437DC-B3A6-E62A-B987-62269E0742A5}"/>
              </a:ext>
            </a:extLst>
          </p:cNvPr>
          <p:cNvSpPr>
            <a:spLocks noGrp="1" noChangeArrowheads="1"/>
          </p:cNvSpPr>
          <p:nvPr>
            <p:ph type="sldNum" sz="quarter" idx="5"/>
          </p:nvPr>
        </p:nvSpPr>
        <p:spPr>
          <a:noFill/>
        </p:spPr>
        <p:txBody>
          <a:bodyPr/>
          <a:lstStyle/>
          <a:p>
            <a:fld id="{497D1F5F-AB60-452E-AA79-64E25350F70B}" type="slidenum">
              <a:rPr lang="pt-PT" smtClean="0">
                <a:latin typeface="Arial" pitchFamily="34" charset="0"/>
              </a:rPr>
              <a:pPr/>
              <a:t>31</a:t>
            </a:fld>
            <a:endParaRPr lang="pt-PT">
              <a:latin typeface="Arial" pitchFamily="34" charset="0"/>
            </a:endParaRPr>
          </a:p>
        </p:txBody>
      </p:sp>
      <p:sp>
        <p:nvSpPr>
          <p:cNvPr id="93187" name="Rectangle 2">
            <a:extLst>
              <a:ext uri="{FF2B5EF4-FFF2-40B4-BE49-F238E27FC236}">
                <a16:creationId xmlns:a16="http://schemas.microsoft.com/office/drawing/2014/main" id="{B9C68676-670B-12F6-745E-D9090D24DBC3}"/>
              </a:ext>
            </a:extLst>
          </p:cNvPr>
          <p:cNvSpPr>
            <a:spLocks noGrp="1" noRot="1" noChangeAspect="1" noChangeArrowheads="1" noTextEdit="1"/>
          </p:cNvSpPr>
          <p:nvPr>
            <p:ph type="sldImg"/>
          </p:nvPr>
        </p:nvSpPr>
        <p:spPr>
          <a:ln/>
        </p:spPr>
        <p:txBody>
          <a:bodyPr/>
          <a:lstStyle/>
          <a:p>
            <a:endParaRPr lang="pt-PT"/>
          </a:p>
        </p:txBody>
      </p:sp>
      <p:sp>
        <p:nvSpPr>
          <p:cNvPr id="93188" name="Rectangle 3">
            <a:extLst>
              <a:ext uri="{FF2B5EF4-FFF2-40B4-BE49-F238E27FC236}">
                <a16:creationId xmlns:a16="http://schemas.microsoft.com/office/drawing/2014/main" id="{24831A61-A71B-38DA-9B68-DAFDCE8DFE4D}"/>
              </a:ext>
            </a:extLst>
          </p:cNvPr>
          <p:cNvSpPr>
            <a:spLocks noGrp="1" noChangeArrowheads="1"/>
          </p:cNvSpPr>
          <p:nvPr>
            <p:ph type="body" idx="1"/>
          </p:nvPr>
        </p:nvSpPr>
        <p:spPr>
          <a:noFill/>
          <a:ln/>
        </p:spPr>
        <p:txBody>
          <a:bodyPr/>
          <a:lstStyle/>
          <a:p>
            <a:pPr eaLnBrk="1" hangingPunct="1"/>
            <a:endParaRPr lang="pt-PT">
              <a:latin typeface="Arial" pitchFamily="34" charset="0"/>
            </a:endParaRPr>
          </a:p>
        </p:txBody>
      </p:sp>
    </p:spTree>
    <p:extLst>
      <p:ext uri="{BB962C8B-B14F-4D97-AF65-F5344CB8AC3E}">
        <p14:creationId xmlns:p14="http://schemas.microsoft.com/office/powerpoint/2010/main" val="5971932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A61D7-6FA7-2CFA-77B2-913E8506D17D}"/>
            </a:ext>
          </a:extLst>
        </p:cNvPr>
        <p:cNvGrpSpPr/>
        <p:nvPr/>
      </p:nvGrpSpPr>
      <p:grpSpPr>
        <a:xfrm>
          <a:off x="0" y="0"/>
          <a:ext cx="0" cy="0"/>
          <a:chOff x="0" y="0"/>
          <a:chExt cx="0" cy="0"/>
        </a:xfrm>
      </p:grpSpPr>
      <p:sp>
        <p:nvSpPr>
          <p:cNvPr id="93186" name="Rectangle 7">
            <a:extLst>
              <a:ext uri="{FF2B5EF4-FFF2-40B4-BE49-F238E27FC236}">
                <a16:creationId xmlns:a16="http://schemas.microsoft.com/office/drawing/2014/main" id="{982A2EBE-85C4-ADA2-8960-4B7EB5AB34D8}"/>
              </a:ext>
            </a:extLst>
          </p:cNvPr>
          <p:cNvSpPr>
            <a:spLocks noGrp="1" noChangeArrowheads="1"/>
          </p:cNvSpPr>
          <p:nvPr>
            <p:ph type="sldNum" sz="quarter" idx="5"/>
          </p:nvPr>
        </p:nvSpPr>
        <p:spPr>
          <a:noFill/>
        </p:spPr>
        <p:txBody>
          <a:bodyPr/>
          <a:lstStyle/>
          <a:p>
            <a:fld id="{497D1F5F-AB60-452E-AA79-64E25350F70B}" type="slidenum">
              <a:rPr lang="pt-PT" smtClean="0">
                <a:latin typeface="Arial" pitchFamily="34" charset="0"/>
              </a:rPr>
              <a:pPr/>
              <a:t>32</a:t>
            </a:fld>
            <a:endParaRPr lang="pt-PT">
              <a:latin typeface="Arial" pitchFamily="34" charset="0"/>
            </a:endParaRPr>
          </a:p>
        </p:txBody>
      </p:sp>
      <p:sp>
        <p:nvSpPr>
          <p:cNvPr id="93187" name="Rectangle 2">
            <a:extLst>
              <a:ext uri="{FF2B5EF4-FFF2-40B4-BE49-F238E27FC236}">
                <a16:creationId xmlns:a16="http://schemas.microsoft.com/office/drawing/2014/main" id="{6A39558C-D9B8-BD63-1492-00DA14FD21DD}"/>
              </a:ext>
            </a:extLst>
          </p:cNvPr>
          <p:cNvSpPr>
            <a:spLocks noGrp="1" noRot="1" noChangeAspect="1" noChangeArrowheads="1" noTextEdit="1"/>
          </p:cNvSpPr>
          <p:nvPr>
            <p:ph type="sldImg"/>
          </p:nvPr>
        </p:nvSpPr>
        <p:spPr>
          <a:ln/>
        </p:spPr>
        <p:txBody>
          <a:bodyPr/>
          <a:lstStyle/>
          <a:p>
            <a:endParaRPr lang="pt-PT"/>
          </a:p>
        </p:txBody>
      </p:sp>
      <p:sp>
        <p:nvSpPr>
          <p:cNvPr id="93188" name="Rectangle 3">
            <a:extLst>
              <a:ext uri="{FF2B5EF4-FFF2-40B4-BE49-F238E27FC236}">
                <a16:creationId xmlns:a16="http://schemas.microsoft.com/office/drawing/2014/main" id="{BCDB18AE-D217-3572-C65F-A8C07E9E5E4A}"/>
              </a:ext>
            </a:extLst>
          </p:cNvPr>
          <p:cNvSpPr>
            <a:spLocks noGrp="1" noChangeArrowheads="1"/>
          </p:cNvSpPr>
          <p:nvPr>
            <p:ph type="body" idx="1"/>
          </p:nvPr>
        </p:nvSpPr>
        <p:spPr>
          <a:noFill/>
          <a:ln/>
        </p:spPr>
        <p:txBody>
          <a:bodyPr/>
          <a:lstStyle/>
          <a:p>
            <a:pPr eaLnBrk="1" hangingPunct="1"/>
            <a:endParaRPr lang="pt-PT">
              <a:latin typeface="Arial" pitchFamily="34" charset="0"/>
            </a:endParaRPr>
          </a:p>
        </p:txBody>
      </p:sp>
    </p:spTree>
    <p:extLst>
      <p:ext uri="{BB962C8B-B14F-4D97-AF65-F5344CB8AC3E}">
        <p14:creationId xmlns:p14="http://schemas.microsoft.com/office/powerpoint/2010/main" val="378461282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B2B5E-DBEC-AAF1-61C7-DDBC17281A3D}"/>
            </a:ext>
          </a:extLst>
        </p:cNvPr>
        <p:cNvGrpSpPr/>
        <p:nvPr/>
      </p:nvGrpSpPr>
      <p:grpSpPr>
        <a:xfrm>
          <a:off x="0" y="0"/>
          <a:ext cx="0" cy="0"/>
          <a:chOff x="0" y="0"/>
          <a:chExt cx="0" cy="0"/>
        </a:xfrm>
      </p:grpSpPr>
      <p:sp>
        <p:nvSpPr>
          <p:cNvPr id="93186" name="Rectangle 7">
            <a:extLst>
              <a:ext uri="{FF2B5EF4-FFF2-40B4-BE49-F238E27FC236}">
                <a16:creationId xmlns:a16="http://schemas.microsoft.com/office/drawing/2014/main" id="{DCD6DC44-D1A6-0EF8-348F-3A9A2C5C3BDE}"/>
              </a:ext>
            </a:extLst>
          </p:cNvPr>
          <p:cNvSpPr>
            <a:spLocks noGrp="1" noChangeArrowheads="1"/>
          </p:cNvSpPr>
          <p:nvPr>
            <p:ph type="sldNum" sz="quarter" idx="5"/>
          </p:nvPr>
        </p:nvSpPr>
        <p:spPr>
          <a:noFill/>
        </p:spPr>
        <p:txBody>
          <a:bodyPr/>
          <a:lstStyle/>
          <a:p>
            <a:fld id="{497D1F5F-AB60-452E-AA79-64E25350F70B}" type="slidenum">
              <a:rPr lang="pt-PT" smtClean="0">
                <a:latin typeface="Arial" pitchFamily="34" charset="0"/>
              </a:rPr>
              <a:pPr/>
              <a:t>33</a:t>
            </a:fld>
            <a:endParaRPr lang="pt-PT">
              <a:latin typeface="Arial" pitchFamily="34" charset="0"/>
            </a:endParaRPr>
          </a:p>
        </p:txBody>
      </p:sp>
      <p:sp>
        <p:nvSpPr>
          <p:cNvPr id="93187" name="Rectangle 2">
            <a:extLst>
              <a:ext uri="{FF2B5EF4-FFF2-40B4-BE49-F238E27FC236}">
                <a16:creationId xmlns:a16="http://schemas.microsoft.com/office/drawing/2014/main" id="{44BD892F-5A15-EAAD-B348-3087D34529EF}"/>
              </a:ext>
            </a:extLst>
          </p:cNvPr>
          <p:cNvSpPr>
            <a:spLocks noGrp="1" noRot="1" noChangeAspect="1" noChangeArrowheads="1" noTextEdit="1"/>
          </p:cNvSpPr>
          <p:nvPr>
            <p:ph type="sldImg"/>
          </p:nvPr>
        </p:nvSpPr>
        <p:spPr>
          <a:ln/>
        </p:spPr>
        <p:txBody>
          <a:bodyPr/>
          <a:lstStyle/>
          <a:p>
            <a:endParaRPr lang="pt-PT"/>
          </a:p>
        </p:txBody>
      </p:sp>
      <p:sp>
        <p:nvSpPr>
          <p:cNvPr id="93188" name="Rectangle 3">
            <a:extLst>
              <a:ext uri="{FF2B5EF4-FFF2-40B4-BE49-F238E27FC236}">
                <a16:creationId xmlns:a16="http://schemas.microsoft.com/office/drawing/2014/main" id="{92D5D1BF-B347-929A-46A4-9871B645D013}"/>
              </a:ext>
            </a:extLst>
          </p:cNvPr>
          <p:cNvSpPr>
            <a:spLocks noGrp="1" noChangeArrowheads="1"/>
          </p:cNvSpPr>
          <p:nvPr>
            <p:ph type="body" idx="1"/>
          </p:nvPr>
        </p:nvSpPr>
        <p:spPr>
          <a:noFill/>
          <a:ln/>
        </p:spPr>
        <p:txBody>
          <a:bodyPr/>
          <a:lstStyle/>
          <a:p>
            <a:pPr eaLnBrk="1" hangingPunct="1"/>
            <a:endParaRPr lang="pt-PT">
              <a:latin typeface="Arial" pitchFamily="34" charset="0"/>
            </a:endParaRPr>
          </a:p>
        </p:txBody>
      </p:sp>
    </p:spTree>
    <p:extLst>
      <p:ext uri="{BB962C8B-B14F-4D97-AF65-F5344CB8AC3E}">
        <p14:creationId xmlns:p14="http://schemas.microsoft.com/office/powerpoint/2010/main" val="68057236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DAE8F-803A-907F-EDEB-3DFB1E8E97F3}"/>
            </a:ext>
          </a:extLst>
        </p:cNvPr>
        <p:cNvGrpSpPr/>
        <p:nvPr/>
      </p:nvGrpSpPr>
      <p:grpSpPr>
        <a:xfrm>
          <a:off x="0" y="0"/>
          <a:ext cx="0" cy="0"/>
          <a:chOff x="0" y="0"/>
          <a:chExt cx="0" cy="0"/>
        </a:xfrm>
      </p:grpSpPr>
      <p:sp>
        <p:nvSpPr>
          <p:cNvPr id="93186" name="Rectangle 7">
            <a:extLst>
              <a:ext uri="{FF2B5EF4-FFF2-40B4-BE49-F238E27FC236}">
                <a16:creationId xmlns:a16="http://schemas.microsoft.com/office/drawing/2014/main" id="{F27FE637-D6B6-6A82-5527-C0E77FB928F1}"/>
              </a:ext>
            </a:extLst>
          </p:cNvPr>
          <p:cNvSpPr>
            <a:spLocks noGrp="1" noChangeArrowheads="1"/>
          </p:cNvSpPr>
          <p:nvPr>
            <p:ph type="sldNum" sz="quarter" idx="5"/>
          </p:nvPr>
        </p:nvSpPr>
        <p:spPr>
          <a:noFill/>
        </p:spPr>
        <p:txBody>
          <a:bodyPr/>
          <a:lstStyle/>
          <a:p>
            <a:fld id="{497D1F5F-AB60-452E-AA79-64E25350F70B}" type="slidenum">
              <a:rPr lang="pt-PT" smtClean="0">
                <a:latin typeface="Arial" pitchFamily="34" charset="0"/>
              </a:rPr>
              <a:pPr/>
              <a:t>34</a:t>
            </a:fld>
            <a:endParaRPr lang="pt-PT">
              <a:latin typeface="Arial" pitchFamily="34" charset="0"/>
            </a:endParaRPr>
          </a:p>
        </p:txBody>
      </p:sp>
      <p:sp>
        <p:nvSpPr>
          <p:cNvPr id="93187" name="Rectangle 2">
            <a:extLst>
              <a:ext uri="{FF2B5EF4-FFF2-40B4-BE49-F238E27FC236}">
                <a16:creationId xmlns:a16="http://schemas.microsoft.com/office/drawing/2014/main" id="{C7619AE6-9D84-376F-176C-B2D2117428D1}"/>
              </a:ext>
            </a:extLst>
          </p:cNvPr>
          <p:cNvSpPr>
            <a:spLocks noGrp="1" noRot="1" noChangeAspect="1" noChangeArrowheads="1" noTextEdit="1"/>
          </p:cNvSpPr>
          <p:nvPr>
            <p:ph type="sldImg"/>
          </p:nvPr>
        </p:nvSpPr>
        <p:spPr>
          <a:ln/>
        </p:spPr>
        <p:txBody>
          <a:bodyPr/>
          <a:lstStyle/>
          <a:p>
            <a:endParaRPr lang="pt-PT"/>
          </a:p>
        </p:txBody>
      </p:sp>
      <p:sp>
        <p:nvSpPr>
          <p:cNvPr id="93188" name="Rectangle 3">
            <a:extLst>
              <a:ext uri="{FF2B5EF4-FFF2-40B4-BE49-F238E27FC236}">
                <a16:creationId xmlns:a16="http://schemas.microsoft.com/office/drawing/2014/main" id="{ED8D11D0-FB1E-4D30-80E9-15678E222B42}"/>
              </a:ext>
            </a:extLst>
          </p:cNvPr>
          <p:cNvSpPr>
            <a:spLocks noGrp="1" noChangeArrowheads="1"/>
          </p:cNvSpPr>
          <p:nvPr>
            <p:ph type="body" idx="1"/>
          </p:nvPr>
        </p:nvSpPr>
        <p:spPr>
          <a:noFill/>
          <a:ln/>
        </p:spPr>
        <p:txBody>
          <a:bodyPr/>
          <a:lstStyle/>
          <a:p>
            <a:pPr eaLnBrk="1" hangingPunct="1"/>
            <a:endParaRPr lang="pt-PT">
              <a:latin typeface="Arial" pitchFamily="34" charset="0"/>
            </a:endParaRPr>
          </a:p>
        </p:txBody>
      </p:sp>
    </p:spTree>
    <p:extLst>
      <p:ext uri="{BB962C8B-B14F-4D97-AF65-F5344CB8AC3E}">
        <p14:creationId xmlns:p14="http://schemas.microsoft.com/office/powerpoint/2010/main" val="3643988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0B01B-5820-3ED7-4F82-2FFB00C02A6A}"/>
            </a:ext>
          </a:extLst>
        </p:cNvPr>
        <p:cNvGrpSpPr/>
        <p:nvPr/>
      </p:nvGrpSpPr>
      <p:grpSpPr>
        <a:xfrm>
          <a:off x="0" y="0"/>
          <a:ext cx="0" cy="0"/>
          <a:chOff x="0" y="0"/>
          <a:chExt cx="0" cy="0"/>
        </a:xfrm>
      </p:grpSpPr>
      <p:sp>
        <p:nvSpPr>
          <p:cNvPr id="93186" name="Rectangle 7">
            <a:extLst>
              <a:ext uri="{FF2B5EF4-FFF2-40B4-BE49-F238E27FC236}">
                <a16:creationId xmlns:a16="http://schemas.microsoft.com/office/drawing/2014/main" id="{424E55AE-0C10-63FE-EB3F-5AABE9BA5DFF}"/>
              </a:ext>
            </a:extLst>
          </p:cNvPr>
          <p:cNvSpPr>
            <a:spLocks noGrp="1" noChangeArrowheads="1"/>
          </p:cNvSpPr>
          <p:nvPr>
            <p:ph type="sldNum" sz="quarter" idx="5"/>
          </p:nvPr>
        </p:nvSpPr>
        <p:spPr>
          <a:noFill/>
        </p:spPr>
        <p:txBody>
          <a:bodyPr/>
          <a:lstStyle/>
          <a:p>
            <a:fld id="{497D1F5F-AB60-452E-AA79-64E25350F70B}" type="slidenum">
              <a:rPr lang="pt-PT" smtClean="0">
                <a:latin typeface="Arial" pitchFamily="34" charset="0"/>
              </a:rPr>
              <a:pPr/>
              <a:t>35</a:t>
            </a:fld>
            <a:endParaRPr lang="pt-PT">
              <a:latin typeface="Arial" pitchFamily="34" charset="0"/>
            </a:endParaRPr>
          </a:p>
        </p:txBody>
      </p:sp>
      <p:sp>
        <p:nvSpPr>
          <p:cNvPr id="93187" name="Rectangle 2">
            <a:extLst>
              <a:ext uri="{FF2B5EF4-FFF2-40B4-BE49-F238E27FC236}">
                <a16:creationId xmlns:a16="http://schemas.microsoft.com/office/drawing/2014/main" id="{251DF3C1-F771-6BC9-F4E2-46EBEEEC8807}"/>
              </a:ext>
            </a:extLst>
          </p:cNvPr>
          <p:cNvSpPr>
            <a:spLocks noGrp="1" noRot="1" noChangeAspect="1" noChangeArrowheads="1" noTextEdit="1"/>
          </p:cNvSpPr>
          <p:nvPr>
            <p:ph type="sldImg"/>
          </p:nvPr>
        </p:nvSpPr>
        <p:spPr>
          <a:ln/>
        </p:spPr>
        <p:txBody>
          <a:bodyPr/>
          <a:lstStyle/>
          <a:p>
            <a:endParaRPr lang="pt-PT"/>
          </a:p>
        </p:txBody>
      </p:sp>
      <p:sp>
        <p:nvSpPr>
          <p:cNvPr id="93188" name="Rectangle 3">
            <a:extLst>
              <a:ext uri="{FF2B5EF4-FFF2-40B4-BE49-F238E27FC236}">
                <a16:creationId xmlns:a16="http://schemas.microsoft.com/office/drawing/2014/main" id="{91B76F6D-DDB2-8585-FE1B-2C3F4D2AE0E8}"/>
              </a:ext>
            </a:extLst>
          </p:cNvPr>
          <p:cNvSpPr>
            <a:spLocks noGrp="1" noChangeArrowheads="1"/>
          </p:cNvSpPr>
          <p:nvPr>
            <p:ph type="body" idx="1"/>
          </p:nvPr>
        </p:nvSpPr>
        <p:spPr>
          <a:noFill/>
          <a:ln/>
        </p:spPr>
        <p:txBody>
          <a:bodyPr/>
          <a:lstStyle/>
          <a:p>
            <a:pPr eaLnBrk="1" hangingPunct="1"/>
            <a:endParaRPr lang="pt-PT">
              <a:latin typeface="Arial" pitchFamily="34" charset="0"/>
            </a:endParaRPr>
          </a:p>
        </p:txBody>
      </p:sp>
    </p:spTree>
    <p:extLst>
      <p:ext uri="{BB962C8B-B14F-4D97-AF65-F5344CB8AC3E}">
        <p14:creationId xmlns:p14="http://schemas.microsoft.com/office/powerpoint/2010/main" val="158102883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A69C1-65D6-AA65-83EE-A56B575DD619}"/>
            </a:ext>
          </a:extLst>
        </p:cNvPr>
        <p:cNvGrpSpPr/>
        <p:nvPr/>
      </p:nvGrpSpPr>
      <p:grpSpPr>
        <a:xfrm>
          <a:off x="0" y="0"/>
          <a:ext cx="0" cy="0"/>
          <a:chOff x="0" y="0"/>
          <a:chExt cx="0" cy="0"/>
        </a:xfrm>
      </p:grpSpPr>
      <p:sp>
        <p:nvSpPr>
          <p:cNvPr id="93186" name="Rectangle 7">
            <a:extLst>
              <a:ext uri="{FF2B5EF4-FFF2-40B4-BE49-F238E27FC236}">
                <a16:creationId xmlns:a16="http://schemas.microsoft.com/office/drawing/2014/main" id="{30CE44E2-4001-0ECA-0B0A-225152B5DD87}"/>
              </a:ext>
            </a:extLst>
          </p:cNvPr>
          <p:cNvSpPr>
            <a:spLocks noGrp="1" noChangeArrowheads="1"/>
          </p:cNvSpPr>
          <p:nvPr>
            <p:ph type="sldNum" sz="quarter" idx="5"/>
          </p:nvPr>
        </p:nvSpPr>
        <p:spPr>
          <a:noFill/>
        </p:spPr>
        <p:txBody>
          <a:bodyPr/>
          <a:lstStyle/>
          <a:p>
            <a:fld id="{497D1F5F-AB60-452E-AA79-64E25350F70B}" type="slidenum">
              <a:rPr lang="pt-PT" smtClean="0">
                <a:latin typeface="Arial" pitchFamily="34" charset="0"/>
              </a:rPr>
              <a:pPr/>
              <a:t>36</a:t>
            </a:fld>
            <a:endParaRPr lang="pt-PT">
              <a:latin typeface="Arial" pitchFamily="34" charset="0"/>
            </a:endParaRPr>
          </a:p>
        </p:txBody>
      </p:sp>
      <p:sp>
        <p:nvSpPr>
          <p:cNvPr id="93187" name="Rectangle 2">
            <a:extLst>
              <a:ext uri="{FF2B5EF4-FFF2-40B4-BE49-F238E27FC236}">
                <a16:creationId xmlns:a16="http://schemas.microsoft.com/office/drawing/2014/main" id="{7B9E5F18-052D-96E4-FEC7-9A59B6A85880}"/>
              </a:ext>
            </a:extLst>
          </p:cNvPr>
          <p:cNvSpPr>
            <a:spLocks noGrp="1" noRot="1" noChangeAspect="1" noChangeArrowheads="1" noTextEdit="1"/>
          </p:cNvSpPr>
          <p:nvPr>
            <p:ph type="sldImg"/>
          </p:nvPr>
        </p:nvSpPr>
        <p:spPr>
          <a:ln/>
        </p:spPr>
        <p:txBody>
          <a:bodyPr/>
          <a:lstStyle/>
          <a:p>
            <a:endParaRPr lang="pt-PT"/>
          </a:p>
        </p:txBody>
      </p:sp>
      <p:sp>
        <p:nvSpPr>
          <p:cNvPr id="93188" name="Rectangle 3">
            <a:extLst>
              <a:ext uri="{FF2B5EF4-FFF2-40B4-BE49-F238E27FC236}">
                <a16:creationId xmlns:a16="http://schemas.microsoft.com/office/drawing/2014/main" id="{36FB1717-6F86-5C3D-2070-DF3F5655321A}"/>
              </a:ext>
            </a:extLst>
          </p:cNvPr>
          <p:cNvSpPr>
            <a:spLocks noGrp="1" noChangeArrowheads="1"/>
          </p:cNvSpPr>
          <p:nvPr>
            <p:ph type="body" idx="1"/>
          </p:nvPr>
        </p:nvSpPr>
        <p:spPr>
          <a:noFill/>
          <a:ln/>
        </p:spPr>
        <p:txBody>
          <a:bodyPr/>
          <a:lstStyle/>
          <a:p>
            <a:pPr eaLnBrk="1" hangingPunct="1"/>
            <a:r>
              <a:rPr lang="pt-PT" dirty="0">
                <a:latin typeface="Arial" pitchFamily="34" charset="0"/>
              </a:rPr>
              <a:t>Tiago (acabar referencias)</a:t>
            </a:r>
          </a:p>
        </p:txBody>
      </p:sp>
    </p:spTree>
    <p:extLst>
      <p:ext uri="{BB962C8B-B14F-4D97-AF65-F5344CB8AC3E}">
        <p14:creationId xmlns:p14="http://schemas.microsoft.com/office/powerpoint/2010/main" val="141554502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0B29A-603B-3842-EFC3-0BBB0C060C39}"/>
            </a:ext>
          </a:extLst>
        </p:cNvPr>
        <p:cNvGrpSpPr/>
        <p:nvPr/>
      </p:nvGrpSpPr>
      <p:grpSpPr>
        <a:xfrm>
          <a:off x="0" y="0"/>
          <a:ext cx="0" cy="0"/>
          <a:chOff x="0" y="0"/>
          <a:chExt cx="0" cy="0"/>
        </a:xfrm>
      </p:grpSpPr>
      <p:sp>
        <p:nvSpPr>
          <p:cNvPr id="93186" name="Rectangle 7">
            <a:extLst>
              <a:ext uri="{FF2B5EF4-FFF2-40B4-BE49-F238E27FC236}">
                <a16:creationId xmlns:a16="http://schemas.microsoft.com/office/drawing/2014/main" id="{AC1FC4A1-80F3-63C8-70D6-1F40EDBFA64F}"/>
              </a:ext>
            </a:extLst>
          </p:cNvPr>
          <p:cNvSpPr>
            <a:spLocks noGrp="1" noChangeArrowheads="1"/>
          </p:cNvSpPr>
          <p:nvPr>
            <p:ph type="sldNum" sz="quarter" idx="5"/>
          </p:nvPr>
        </p:nvSpPr>
        <p:spPr>
          <a:noFill/>
        </p:spPr>
        <p:txBody>
          <a:bodyPr/>
          <a:lstStyle/>
          <a:p>
            <a:fld id="{497D1F5F-AB60-452E-AA79-64E25350F70B}" type="slidenum">
              <a:rPr lang="pt-PT" smtClean="0">
                <a:latin typeface="Arial" pitchFamily="34" charset="0"/>
              </a:rPr>
              <a:pPr/>
              <a:t>38</a:t>
            </a:fld>
            <a:endParaRPr lang="pt-PT">
              <a:latin typeface="Arial" pitchFamily="34" charset="0"/>
            </a:endParaRPr>
          </a:p>
        </p:txBody>
      </p:sp>
      <p:sp>
        <p:nvSpPr>
          <p:cNvPr id="93187" name="Rectangle 2">
            <a:extLst>
              <a:ext uri="{FF2B5EF4-FFF2-40B4-BE49-F238E27FC236}">
                <a16:creationId xmlns:a16="http://schemas.microsoft.com/office/drawing/2014/main" id="{7BBFD72D-C0C7-C1B8-C810-AE96C61BD7DF}"/>
              </a:ext>
            </a:extLst>
          </p:cNvPr>
          <p:cNvSpPr>
            <a:spLocks noGrp="1" noRot="1" noChangeAspect="1" noChangeArrowheads="1" noTextEdit="1"/>
          </p:cNvSpPr>
          <p:nvPr>
            <p:ph type="sldImg"/>
          </p:nvPr>
        </p:nvSpPr>
        <p:spPr>
          <a:ln/>
        </p:spPr>
        <p:txBody>
          <a:bodyPr/>
          <a:lstStyle/>
          <a:p>
            <a:endParaRPr lang="pt-PT"/>
          </a:p>
        </p:txBody>
      </p:sp>
      <p:sp>
        <p:nvSpPr>
          <p:cNvPr id="93188" name="Rectangle 3">
            <a:extLst>
              <a:ext uri="{FF2B5EF4-FFF2-40B4-BE49-F238E27FC236}">
                <a16:creationId xmlns:a16="http://schemas.microsoft.com/office/drawing/2014/main" id="{C1358D60-F5A6-4953-2A13-A67F159C9366}"/>
              </a:ext>
            </a:extLst>
          </p:cNvPr>
          <p:cNvSpPr>
            <a:spLocks noGrp="1" noChangeArrowheads="1"/>
          </p:cNvSpPr>
          <p:nvPr>
            <p:ph type="body" idx="1"/>
          </p:nvPr>
        </p:nvSpPr>
        <p:spPr>
          <a:noFill/>
          <a:ln/>
        </p:spPr>
        <p:txBody>
          <a:bodyPr/>
          <a:lstStyle/>
          <a:p>
            <a:pPr eaLnBrk="1" hangingPunct="1"/>
            <a:endParaRPr lang="pt-PT">
              <a:latin typeface="Arial" pitchFamily="34" charset="0"/>
            </a:endParaRPr>
          </a:p>
        </p:txBody>
      </p:sp>
    </p:spTree>
    <p:extLst>
      <p:ext uri="{BB962C8B-B14F-4D97-AF65-F5344CB8AC3E}">
        <p14:creationId xmlns:p14="http://schemas.microsoft.com/office/powerpoint/2010/main" val="421442075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42822-F83F-1345-7A2E-0CA3F25414DB}"/>
            </a:ext>
          </a:extLst>
        </p:cNvPr>
        <p:cNvGrpSpPr/>
        <p:nvPr/>
      </p:nvGrpSpPr>
      <p:grpSpPr>
        <a:xfrm>
          <a:off x="0" y="0"/>
          <a:ext cx="0" cy="0"/>
          <a:chOff x="0" y="0"/>
          <a:chExt cx="0" cy="0"/>
        </a:xfrm>
      </p:grpSpPr>
      <p:sp>
        <p:nvSpPr>
          <p:cNvPr id="93186" name="Rectangle 7">
            <a:extLst>
              <a:ext uri="{FF2B5EF4-FFF2-40B4-BE49-F238E27FC236}">
                <a16:creationId xmlns:a16="http://schemas.microsoft.com/office/drawing/2014/main" id="{3C04E306-8114-D5AB-FD18-DEECF50CF449}"/>
              </a:ext>
            </a:extLst>
          </p:cNvPr>
          <p:cNvSpPr>
            <a:spLocks noGrp="1" noChangeArrowheads="1"/>
          </p:cNvSpPr>
          <p:nvPr>
            <p:ph type="sldNum" sz="quarter" idx="5"/>
          </p:nvPr>
        </p:nvSpPr>
        <p:spPr>
          <a:noFill/>
        </p:spPr>
        <p:txBody>
          <a:bodyPr/>
          <a:lstStyle/>
          <a:p>
            <a:fld id="{497D1F5F-AB60-452E-AA79-64E25350F70B}" type="slidenum">
              <a:rPr lang="pt-PT" smtClean="0">
                <a:latin typeface="Arial" pitchFamily="34" charset="0"/>
              </a:rPr>
              <a:pPr/>
              <a:t>39</a:t>
            </a:fld>
            <a:endParaRPr lang="pt-PT">
              <a:latin typeface="Arial" pitchFamily="34" charset="0"/>
            </a:endParaRPr>
          </a:p>
        </p:txBody>
      </p:sp>
      <p:sp>
        <p:nvSpPr>
          <p:cNvPr id="93187" name="Rectangle 2">
            <a:extLst>
              <a:ext uri="{FF2B5EF4-FFF2-40B4-BE49-F238E27FC236}">
                <a16:creationId xmlns:a16="http://schemas.microsoft.com/office/drawing/2014/main" id="{1B2449D7-9B00-32A3-B4BB-828DC0DEE444}"/>
              </a:ext>
            </a:extLst>
          </p:cNvPr>
          <p:cNvSpPr>
            <a:spLocks noGrp="1" noRot="1" noChangeAspect="1" noChangeArrowheads="1" noTextEdit="1"/>
          </p:cNvSpPr>
          <p:nvPr>
            <p:ph type="sldImg"/>
          </p:nvPr>
        </p:nvSpPr>
        <p:spPr>
          <a:ln/>
        </p:spPr>
        <p:txBody>
          <a:bodyPr/>
          <a:lstStyle/>
          <a:p>
            <a:endParaRPr lang="pt-PT"/>
          </a:p>
        </p:txBody>
      </p:sp>
      <p:sp>
        <p:nvSpPr>
          <p:cNvPr id="93188" name="Rectangle 3">
            <a:extLst>
              <a:ext uri="{FF2B5EF4-FFF2-40B4-BE49-F238E27FC236}">
                <a16:creationId xmlns:a16="http://schemas.microsoft.com/office/drawing/2014/main" id="{3FE9FB13-3AD9-2669-5C48-C060A3DD95F9}"/>
              </a:ext>
            </a:extLst>
          </p:cNvPr>
          <p:cNvSpPr>
            <a:spLocks noGrp="1" noChangeArrowheads="1"/>
          </p:cNvSpPr>
          <p:nvPr>
            <p:ph type="body" idx="1"/>
          </p:nvPr>
        </p:nvSpPr>
        <p:spPr>
          <a:noFill/>
          <a:ln/>
        </p:spPr>
        <p:txBody>
          <a:bodyPr/>
          <a:lstStyle/>
          <a:p>
            <a:pPr eaLnBrk="1" hangingPunct="1"/>
            <a:endParaRPr lang="pt-PT">
              <a:latin typeface="Arial" pitchFamily="34" charset="0"/>
            </a:endParaRPr>
          </a:p>
        </p:txBody>
      </p:sp>
    </p:spTree>
    <p:extLst>
      <p:ext uri="{BB962C8B-B14F-4D97-AF65-F5344CB8AC3E}">
        <p14:creationId xmlns:p14="http://schemas.microsoft.com/office/powerpoint/2010/main" val="90304740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AC564-E988-E50E-3878-B23620A5EEBF}"/>
            </a:ext>
          </a:extLst>
        </p:cNvPr>
        <p:cNvGrpSpPr/>
        <p:nvPr/>
      </p:nvGrpSpPr>
      <p:grpSpPr>
        <a:xfrm>
          <a:off x="0" y="0"/>
          <a:ext cx="0" cy="0"/>
          <a:chOff x="0" y="0"/>
          <a:chExt cx="0" cy="0"/>
        </a:xfrm>
      </p:grpSpPr>
      <p:sp>
        <p:nvSpPr>
          <p:cNvPr id="93186" name="Rectangle 7">
            <a:extLst>
              <a:ext uri="{FF2B5EF4-FFF2-40B4-BE49-F238E27FC236}">
                <a16:creationId xmlns:a16="http://schemas.microsoft.com/office/drawing/2014/main" id="{1F6513FB-16B5-2958-8575-8134199C646F}"/>
              </a:ext>
            </a:extLst>
          </p:cNvPr>
          <p:cNvSpPr>
            <a:spLocks noGrp="1" noChangeArrowheads="1"/>
          </p:cNvSpPr>
          <p:nvPr>
            <p:ph type="sldNum" sz="quarter" idx="5"/>
          </p:nvPr>
        </p:nvSpPr>
        <p:spPr>
          <a:noFill/>
        </p:spPr>
        <p:txBody>
          <a:bodyPr/>
          <a:lstStyle/>
          <a:p>
            <a:fld id="{497D1F5F-AB60-452E-AA79-64E25350F70B}" type="slidenum">
              <a:rPr lang="pt-PT" smtClean="0">
                <a:latin typeface="Arial" pitchFamily="34" charset="0"/>
              </a:rPr>
              <a:pPr/>
              <a:t>40</a:t>
            </a:fld>
            <a:endParaRPr lang="pt-PT">
              <a:latin typeface="Arial" pitchFamily="34" charset="0"/>
            </a:endParaRPr>
          </a:p>
        </p:txBody>
      </p:sp>
      <p:sp>
        <p:nvSpPr>
          <p:cNvPr id="93187" name="Rectangle 2">
            <a:extLst>
              <a:ext uri="{FF2B5EF4-FFF2-40B4-BE49-F238E27FC236}">
                <a16:creationId xmlns:a16="http://schemas.microsoft.com/office/drawing/2014/main" id="{892D9AF8-65A9-4307-649D-E7BB6803866E}"/>
              </a:ext>
            </a:extLst>
          </p:cNvPr>
          <p:cNvSpPr>
            <a:spLocks noGrp="1" noRot="1" noChangeAspect="1" noChangeArrowheads="1" noTextEdit="1"/>
          </p:cNvSpPr>
          <p:nvPr>
            <p:ph type="sldImg"/>
          </p:nvPr>
        </p:nvSpPr>
        <p:spPr>
          <a:ln/>
        </p:spPr>
        <p:txBody>
          <a:bodyPr/>
          <a:lstStyle/>
          <a:p>
            <a:endParaRPr lang="pt-PT"/>
          </a:p>
        </p:txBody>
      </p:sp>
      <p:sp>
        <p:nvSpPr>
          <p:cNvPr id="93188" name="Rectangle 3">
            <a:extLst>
              <a:ext uri="{FF2B5EF4-FFF2-40B4-BE49-F238E27FC236}">
                <a16:creationId xmlns:a16="http://schemas.microsoft.com/office/drawing/2014/main" id="{8D0CCA46-D4A6-B832-0180-507DBF711E7B}"/>
              </a:ext>
            </a:extLst>
          </p:cNvPr>
          <p:cNvSpPr>
            <a:spLocks noGrp="1" noChangeArrowheads="1"/>
          </p:cNvSpPr>
          <p:nvPr>
            <p:ph type="body" idx="1"/>
          </p:nvPr>
        </p:nvSpPr>
        <p:spPr>
          <a:noFill/>
          <a:ln/>
        </p:spPr>
        <p:txBody>
          <a:bodyPr/>
          <a:lstStyle/>
          <a:p>
            <a:pPr eaLnBrk="1" hangingPunct="1"/>
            <a:endParaRPr lang="pt-PT">
              <a:latin typeface="Arial" pitchFamily="34" charset="0"/>
            </a:endParaRPr>
          </a:p>
        </p:txBody>
      </p:sp>
    </p:spTree>
    <p:extLst>
      <p:ext uri="{BB962C8B-B14F-4D97-AF65-F5344CB8AC3E}">
        <p14:creationId xmlns:p14="http://schemas.microsoft.com/office/powerpoint/2010/main" val="158886408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89601-2EEE-EF13-A7EC-F201A6C45287}"/>
            </a:ext>
          </a:extLst>
        </p:cNvPr>
        <p:cNvGrpSpPr/>
        <p:nvPr/>
      </p:nvGrpSpPr>
      <p:grpSpPr>
        <a:xfrm>
          <a:off x="0" y="0"/>
          <a:ext cx="0" cy="0"/>
          <a:chOff x="0" y="0"/>
          <a:chExt cx="0" cy="0"/>
        </a:xfrm>
      </p:grpSpPr>
      <p:sp>
        <p:nvSpPr>
          <p:cNvPr id="93186" name="Rectangle 7">
            <a:extLst>
              <a:ext uri="{FF2B5EF4-FFF2-40B4-BE49-F238E27FC236}">
                <a16:creationId xmlns:a16="http://schemas.microsoft.com/office/drawing/2014/main" id="{566B0225-B5EA-EEA6-5D05-DB1969586D9E}"/>
              </a:ext>
            </a:extLst>
          </p:cNvPr>
          <p:cNvSpPr>
            <a:spLocks noGrp="1" noChangeArrowheads="1"/>
          </p:cNvSpPr>
          <p:nvPr>
            <p:ph type="sldNum" sz="quarter" idx="5"/>
          </p:nvPr>
        </p:nvSpPr>
        <p:spPr>
          <a:noFill/>
        </p:spPr>
        <p:txBody>
          <a:bodyPr/>
          <a:lstStyle/>
          <a:p>
            <a:fld id="{497D1F5F-AB60-452E-AA79-64E25350F70B}" type="slidenum">
              <a:rPr lang="pt-PT" smtClean="0">
                <a:latin typeface="Arial" pitchFamily="34" charset="0"/>
              </a:rPr>
              <a:pPr/>
              <a:t>41</a:t>
            </a:fld>
            <a:endParaRPr lang="pt-PT">
              <a:latin typeface="Arial" pitchFamily="34" charset="0"/>
            </a:endParaRPr>
          </a:p>
        </p:txBody>
      </p:sp>
      <p:sp>
        <p:nvSpPr>
          <p:cNvPr id="93187" name="Rectangle 2">
            <a:extLst>
              <a:ext uri="{FF2B5EF4-FFF2-40B4-BE49-F238E27FC236}">
                <a16:creationId xmlns:a16="http://schemas.microsoft.com/office/drawing/2014/main" id="{3F2B759D-FC39-172C-73EF-A6B045B6E7E9}"/>
              </a:ext>
            </a:extLst>
          </p:cNvPr>
          <p:cNvSpPr>
            <a:spLocks noGrp="1" noRot="1" noChangeAspect="1" noChangeArrowheads="1" noTextEdit="1"/>
          </p:cNvSpPr>
          <p:nvPr>
            <p:ph type="sldImg"/>
          </p:nvPr>
        </p:nvSpPr>
        <p:spPr>
          <a:ln/>
        </p:spPr>
        <p:txBody>
          <a:bodyPr/>
          <a:lstStyle/>
          <a:p>
            <a:endParaRPr lang="pt-PT"/>
          </a:p>
        </p:txBody>
      </p:sp>
      <p:sp>
        <p:nvSpPr>
          <p:cNvPr id="93188" name="Rectangle 3">
            <a:extLst>
              <a:ext uri="{FF2B5EF4-FFF2-40B4-BE49-F238E27FC236}">
                <a16:creationId xmlns:a16="http://schemas.microsoft.com/office/drawing/2014/main" id="{3BCC3BF3-5E7A-7300-ED32-F2F8A88A903F}"/>
              </a:ext>
            </a:extLst>
          </p:cNvPr>
          <p:cNvSpPr>
            <a:spLocks noGrp="1" noChangeArrowheads="1"/>
          </p:cNvSpPr>
          <p:nvPr>
            <p:ph type="body" idx="1"/>
          </p:nvPr>
        </p:nvSpPr>
        <p:spPr>
          <a:noFill/>
          <a:ln/>
        </p:spPr>
        <p:txBody>
          <a:bodyPr/>
          <a:lstStyle/>
          <a:p>
            <a:pPr eaLnBrk="1" hangingPunct="1"/>
            <a:endParaRPr lang="pt-PT">
              <a:latin typeface="Arial" pitchFamily="34" charset="0"/>
            </a:endParaRPr>
          </a:p>
        </p:txBody>
      </p:sp>
    </p:spTree>
    <p:extLst>
      <p:ext uri="{BB962C8B-B14F-4D97-AF65-F5344CB8AC3E}">
        <p14:creationId xmlns:p14="http://schemas.microsoft.com/office/powerpoint/2010/main" val="222785995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9AFD3-6C8E-104B-AAEA-AB2A9553A8FB}"/>
            </a:ext>
          </a:extLst>
        </p:cNvPr>
        <p:cNvGrpSpPr/>
        <p:nvPr/>
      </p:nvGrpSpPr>
      <p:grpSpPr>
        <a:xfrm>
          <a:off x="0" y="0"/>
          <a:ext cx="0" cy="0"/>
          <a:chOff x="0" y="0"/>
          <a:chExt cx="0" cy="0"/>
        </a:xfrm>
      </p:grpSpPr>
      <p:sp>
        <p:nvSpPr>
          <p:cNvPr id="93186" name="Rectangle 7">
            <a:extLst>
              <a:ext uri="{FF2B5EF4-FFF2-40B4-BE49-F238E27FC236}">
                <a16:creationId xmlns:a16="http://schemas.microsoft.com/office/drawing/2014/main" id="{3EEC810C-A380-AED6-6D9F-AC62DDCCB4CC}"/>
              </a:ext>
            </a:extLst>
          </p:cNvPr>
          <p:cNvSpPr>
            <a:spLocks noGrp="1" noChangeArrowheads="1"/>
          </p:cNvSpPr>
          <p:nvPr>
            <p:ph type="sldNum" sz="quarter" idx="5"/>
          </p:nvPr>
        </p:nvSpPr>
        <p:spPr>
          <a:noFill/>
        </p:spPr>
        <p:txBody>
          <a:bodyPr/>
          <a:lstStyle/>
          <a:p>
            <a:fld id="{497D1F5F-AB60-452E-AA79-64E25350F70B}" type="slidenum">
              <a:rPr lang="pt-PT" smtClean="0">
                <a:latin typeface="Arial" pitchFamily="34" charset="0"/>
              </a:rPr>
              <a:pPr/>
              <a:t>42</a:t>
            </a:fld>
            <a:endParaRPr lang="pt-PT">
              <a:latin typeface="Arial" pitchFamily="34" charset="0"/>
            </a:endParaRPr>
          </a:p>
        </p:txBody>
      </p:sp>
      <p:sp>
        <p:nvSpPr>
          <p:cNvPr id="93187" name="Rectangle 2">
            <a:extLst>
              <a:ext uri="{FF2B5EF4-FFF2-40B4-BE49-F238E27FC236}">
                <a16:creationId xmlns:a16="http://schemas.microsoft.com/office/drawing/2014/main" id="{DC2D4195-1F05-3073-4D48-B52889BB5559}"/>
              </a:ext>
            </a:extLst>
          </p:cNvPr>
          <p:cNvSpPr>
            <a:spLocks noGrp="1" noRot="1" noChangeAspect="1" noChangeArrowheads="1" noTextEdit="1"/>
          </p:cNvSpPr>
          <p:nvPr>
            <p:ph type="sldImg"/>
          </p:nvPr>
        </p:nvSpPr>
        <p:spPr>
          <a:ln/>
        </p:spPr>
        <p:txBody>
          <a:bodyPr/>
          <a:lstStyle/>
          <a:p>
            <a:endParaRPr lang="pt-PT"/>
          </a:p>
        </p:txBody>
      </p:sp>
      <p:sp>
        <p:nvSpPr>
          <p:cNvPr id="93188" name="Rectangle 3">
            <a:extLst>
              <a:ext uri="{FF2B5EF4-FFF2-40B4-BE49-F238E27FC236}">
                <a16:creationId xmlns:a16="http://schemas.microsoft.com/office/drawing/2014/main" id="{9E8948AE-BF51-C710-1D08-F308BB31E3C3}"/>
              </a:ext>
            </a:extLst>
          </p:cNvPr>
          <p:cNvSpPr>
            <a:spLocks noGrp="1" noChangeArrowheads="1"/>
          </p:cNvSpPr>
          <p:nvPr>
            <p:ph type="body" idx="1"/>
          </p:nvPr>
        </p:nvSpPr>
        <p:spPr>
          <a:noFill/>
          <a:ln/>
        </p:spPr>
        <p:txBody>
          <a:bodyPr/>
          <a:lstStyle/>
          <a:p>
            <a:pPr eaLnBrk="1" hangingPunct="1"/>
            <a:endParaRPr lang="pt-PT">
              <a:latin typeface="Arial" pitchFamily="34" charset="0"/>
            </a:endParaRPr>
          </a:p>
        </p:txBody>
      </p:sp>
    </p:spTree>
    <p:extLst>
      <p:ext uri="{BB962C8B-B14F-4D97-AF65-F5344CB8AC3E}">
        <p14:creationId xmlns:p14="http://schemas.microsoft.com/office/powerpoint/2010/main" val="317875649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AC507-FDBB-ECB3-944F-36CBE2B5864B}"/>
            </a:ext>
          </a:extLst>
        </p:cNvPr>
        <p:cNvGrpSpPr/>
        <p:nvPr/>
      </p:nvGrpSpPr>
      <p:grpSpPr>
        <a:xfrm>
          <a:off x="0" y="0"/>
          <a:ext cx="0" cy="0"/>
          <a:chOff x="0" y="0"/>
          <a:chExt cx="0" cy="0"/>
        </a:xfrm>
      </p:grpSpPr>
      <p:sp>
        <p:nvSpPr>
          <p:cNvPr id="93186" name="Rectangle 7">
            <a:extLst>
              <a:ext uri="{FF2B5EF4-FFF2-40B4-BE49-F238E27FC236}">
                <a16:creationId xmlns:a16="http://schemas.microsoft.com/office/drawing/2014/main" id="{9F71C380-B17B-B4DA-9F1C-D50C02A8823C}"/>
              </a:ext>
            </a:extLst>
          </p:cNvPr>
          <p:cNvSpPr>
            <a:spLocks noGrp="1" noChangeArrowheads="1"/>
          </p:cNvSpPr>
          <p:nvPr>
            <p:ph type="sldNum" sz="quarter" idx="5"/>
          </p:nvPr>
        </p:nvSpPr>
        <p:spPr>
          <a:noFill/>
        </p:spPr>
        <p:txBody>
          <a:bodyPr/>
          <a:lstStyle/>
          <a:p>
            <a:fld id="{497D1F5F-AB60-452E-AA79-64E25350F70B}" type="slidenum">
              <a:rPr lang="pt-PT" smtClean="0">
                <a:latin typeface="Arial" pitchFamily="34" charset="0"/>
              </a:rPr>
              <a:pPr/>
              <a:t>43</a:t>
            </a:fld>
            <a:endParaRPr lang="pt-PT">
              <a:latin typeface="Arial" pitchFamily="34" charset="0"/>
            </a:endParaRPr>
          </a:p>
        </p:txBody>
      </p:sp>
      <p:sp>
        <p:nvSpPr>
          <p:cNvPr id="93187" name="Rectangle 2">
            <a:extLst>
              <a:ext uri="{FF2B5EF4-FFF2-40B4-BE49-F238E27FC236}">
                <a16:creationId xmlns:a16="http://schemas.microsoft.com/office/drawing/2014/main" id="{91335C02-5917-71F8-BDB2-798221AA2DF6}"/>
              </a:ext>
            </a:extLst>
          </p:cNvPr>
          <p:cNvSpPr>
            <a:spLocks noGrp="1" noRot="1" noChangeAspect="1" noChangeArrowheads="1" noTextEdit="1"/>
          </p:cNvSpPr>
          <p:nvPr>
            <p:ph type="sldImg"/>
          </p:nvPr>
        </p:nvSpPr>
        <p:spPr>
          <a:ln/>
        </p:spPr>
        <p:txBody>
          <a:bodyPr/>
          <a:lstStyle/>
          <a:p>
            <a:endParaRPr lang="pt-PT"/>
          </a:p>
        </p:txBody>
      </p:sp>
      <p:sp>
        <p:nvSpPr>
          <p:cNvPr id="93188" name="Rectangle 3">
            <a:extLst>
              <a:ext uri="{FF2B5EF4-FFF2-40B4-BE49-F238E27FC236}">
                <a16:creationId xmlns:a16="http://schemas.microsoft.com/office/drawing/2014/main" id="{59139003-8B90-13F1-A13B-BED896592BEB}"/>
              </a:ext>
            </a:extLst>
          </p:cNvPr>
          <p:cNvSpPr>
            <a:spLocks noGrp="1" noChangeArrowheads="1"/>
          </p:cNvSpPr>
          <p:nvPr>
            <p:ph type="body" idx="1"/>
          </p:nvPr>
        </p:nvSpPr>
        <p:spPr>
          <a:noFill/>
          <a:ln/>
        </p:spPr>
        <p:txBody>
          <a:bodyPr/>
          <a:lstStyle/>
          <a:p>
            <a:pPr eaLnBrk="1" hangingPunct="1"/>
            <a:endParaRPr lang="pt-PT">
              <a:latin typeface="Arial" pitchFamily="34" charset="0"/>
            </a:endParaRPr>
          </a:p>
        </p:txBody>
      </p:sp>
    </p:spTree>
    <p:extLst>
      <p:ext uri="{BB962C8B-B14F-4D97-AF65-F5344CB8AC3E}">
        <p14:creationId xmlns:p14="http://schemas.microsoft.com/office/powerpoint/2010/main" val="410441532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64C0B-279C-1844-5453-00842CDBEFE2}"/>
            </a:ext>
          </a:extLst>
        </p:cNvPr>
        <p:cNvGrpSpPr/>
        <p:nvPr/>
      </p:nvGrpSpPr>
      <p:grpSpPr>
        <a:xfrm>
          <a:off x="0" y="0"/>
          <a:ext cx="0" cy="0"/>
          <a:chOff x="0" y="0"/>
          <a:chExt cx="0" cy="0"/>
        </a:xfrm>
      </p:grpSpPr>
      <p:sp>
        <p:nvSpPr>
          <p:cNvPr id="93186" name="Rectangle 7">
            <a:extLst>
              <a:ext uri="{FF2B5EF4-FFF2-40B4-BE49-F238E27FC236}">
                <a16:creationId xmlns:a16="http://schemas.microsoft.com/office/drawing/2014/main" id="{D22C23C4-9401-4AEE-6F83-76C13B3007D2}"/>
              </a:ext>
            </a:extLst>
          </p:cNvPr>
          <p:cNvSpPr>
            <a:spLocks noGrp="1" noChangeArrowheads="1"/>
          </p:cNvSpPr>
          <p:nvPr>
            <p:ph type="sldNum" sz="quarter" idx="5"/>
          </p:nvPr>
        </p:nvSpPr>
        <p:spPr>
          <a:noFill/>
        </p:spPr>
        <p:txBody>
          <a:bodyPr/>
          <a:lstStyle/>
          <a:p>
            <a:fld id="{497D1F5F-AB60-452E-AA79-64E25350F70B}" type="slidenum">
              <a:rPr lang="pt-PT" smtClean="0">
                <a:latin typeface="Arial" pitchFamily="34" charset="0"/>
              </a:rPr>
              <a:pPr/>
              <a:t>44</a:t>
            </a:fld>
            <a:endParaRPr lang="pt-PT">
              <a:latin typeface="Arial" pitchFamily="34" charset="0"/>
            </a:endParaRPr>
          </a:p>
        </p:txBody>
      </p:sp>
      <p:sp>
        <p:nvSpPr>
          <p:cNvPr id="93187" name="Rectangle 2">
            <a:extLst>
              <a:ext uri="{FF2B5EF4-FFF2-40B4-BE49-F238E27FC236}">
                <a16:creationId xmlns:a16="http://schemas.microsoft.com/office/drawing/2014/main" id="{8D1AEF6D-9ACD-35A2-B650-53314493BC0D}"/>
              </a:ext>
            </a:extLst>
          </p:cNvPr>
          <p:cNvSpPr>
            <a:spLocks noGrp="1" noRot="1" noChangeAspect="1" noChangeArrowheads="1" noTextEdit="1"/>
          </p:cNvSpPr>
          <p:nvPr>
            <p:ph type="sldImg"/>
          </p:nvPr>
        </p:nvSpPr>
        <p:spPr>
          <a:ln/>
        </p:spPr>
        <p:txBody>
          <a:bodyPr/>
          <a:lstStyle/>
          <a:p>
            <a:endParaRPr lang="pt-PT"/>
          </a:p>
        </p:txBody>
      </p:sp>
      <p:sp>
        <p:nvSpPr>
          <p:cNvPr id="93188" name="Rectangle 3">
            <a:extLst>
              <a:ext uri="{FF2B5EF4-FFF2-40B4-BE49-F238E27FC236}">
                <a16:creationId xmlns:a16="http://schemas.microsoft.com/office/drawing/2014/main" id="{EE9C2E17-D586-41D2-45C8-736A88F76C15}"/>
              </a:ext>
            </a:extLst>
          </p:cNvPr>
          <p:cNvSpPr>
            <a:spLocks noGrp="1" noChangeArrowheads="1"/>
          </p:cNvSpPr>
          <p:nvPr>
            <p:ph type="body" idx="1"/>
          </p:nvPr>
        </p:nvSpPr>
        <p:spPr>
          <a:noFill/>
          <a:ln/>
        </p:spPr>
        <p:txBody>
          <a:bodyPr/>
          <a:lstStyle/>
          <a:p>
            <a:pPr eaLnBrk="1" hangingPunct="1"/>
            <a:r>
              <a:rPr lang="pt-PT" dirty="0">
                <a:latin typeface="Arial" pitchFamily="34" charset="0"/>
              </a:rPr>
              <a:t>Tiago (acabar referencias)</a:t>
            </a:r>
          </a:p>
        </p:txBody>
      </p:sp>
    </p:spTree>
    <p:extLst>
      <p:ext uri="{BB962C8B-B14F-4D97-AF65-F5344CB8AC3E}">
        <p14:creationId xmlns:p14="http://schemas.microsoft.com/office/powerpoint/2010/main" val="10417076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o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7772400" cy="1470025"/>
          </a:xfrm>
        </p:spPr>
        <p:txBody>
          <a:bodyPr/>
          <a:lstStyle/>
          <a:p>
            <a:r>
              <a:rPr lang="pt-PT"/>
              <a:t>Clique para editar o estilo do título do Modelo Global</a:t>
            </a:r>
            <a:endParaRPr lang="en-US"/>
          </a:p>
        </p:txBody>
      </p:sp>
      <p:sp>
        <p:nvSpPr>
          <p:cNvPr id="3" name="Subtítu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PT"/>
              <a:t>Faça clique para editar o estilo do subtítulo do modelo global</a:t>
            </a:r>
            <a:endParaRPr lang="en-US"/>
          </a:p>
        </p:txBody>
      </p:sp>
      <p:sp>
        <p:nvSpPr>
          <p:cNvPr id="4" name="Marcador de Posição da Data 3"/>
          <p:cNvSpPr>
            <a:spLocks noGrp="1"/>
          </p:cNvSpPr>
          <p:nvPr>
            <p:ph type="dt" sz="half" idx="10"/>
          </p:nvPr>
        </p:nvSpPr>
        <p:spPr/>
        <p:txBody>
          <a:bodyPr/>
          <a:lstStyle/>
          <a:p>
            <a:fld id="{A4A3E61B-3AB3-490F-90D4-269C8A444AE7}" type="datetimeFigureOut">
              <a:rPr lang="en-US" smtClean="0"/>
              <a:pPr/>
              <a:t>12/19/2025</a:t>
            </a:fld>
            <a:endParaRPr lang="en-US"/>
          </a:p>
        </p:txBody>
      </p:sp>
      <p:sp>
        <p:nvSpPr>
          <p:cNvPr id="5" name="Marcador de Posição do Rodapé 4"/>
          <p:cNvSpPr>
            <a:spLocks noGrp="1"/>
          </p:cNvSpPr>
          <p:nvPr>
            <p:ph type="ftr" sz="quarter" idx="11"/>
          </p:nvPr>
        </p:nvSpPr>
        <p:spPr/>
        <p:txBody>
          <a:bodyPr/>
          <a:lstStyle/>
          <a:p>
            <a:endParaRPr lang="en-US"/>
          </a:p>
        </p:txBody>
      </p:sp>
      <p:sp>
        <p:nvSpPr>
          <p:cNvPr id="6" name="Marcador de Posição do Número do Diapositivo 5"/>
          <p:cNvSpPr>
            <a:spLocks noGrp="1"/>
          </p:cNvSpPr>
          <p:nvPr>
            <p:ph type="sldNum" sz="quarter" idx="12"/>
          </p:nvPr>
        </p:nvSpPr>
        <p:spPr/>
        <p:txBody>
          <a:bodyPr/>
          <a:lstStyle/>
          <a:p>
            <a:fld id="{8745C66F-FC7B-4C52-931F-EAABACA1CBDF}"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object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PT"/>
              <a:t>Clique para editar o estilo do título do Modelo Global</a:t>
            </a:r>
            <a:endParaRPr lang="en-US"/>
          </a:p>
        </p:txBody>
      </p:sp>
      <p:sp>
        <p:nvSpPr>
          <p:cNvPr id="3" name="Marcador de Posição de Conteúdo 2"/>
          <p:cNvSpPr>
            <a:spLocks noGrp="1"/>
          </p:cNvSpPr>
          <p:nvPr>
            <p:ph idx="1"/>
          </p:nvPr>
        </p:nvSpPr>
        <p:spPr/>
        <p:txBody>
          <a:bodyPr/>
          <a:lstStyle/>
          <a:p>
            <a:pPr lvl="0"/>
            <a:r>
              <a:rPr lang="pt-PT"/>
              <a:t>Clique para editar os estilos de texto do modelo global</a:t>
            </a:r>
          </a:p>
          <a:p>
            <a:pPr lvl="1"/>
            <a:r>
              <a:rPr lang="pt-PT"/>
              <a:t>Segundo nível</a:t>
            </a:r>
          </a:p>
          <a:p>
            <a:pPr lvl="2"/>
            <a:r>
              <a:rPr lang="pt-PT"/>
              <a:t>Terceiro nível</a:t>
            </a:r>
          </a:p>
          <a:p>
            <a:pPr lvl="3"/>
            <a:r>
              <a:rPr lang="pt-PT"/>
              <a:t>Quarto nível</a:t>
            </a:r>
          </a:p>
          <a:p>
            <a:pPr lvl="4"/>
            <a:r>
              <a:rPr lang="pt-PT"/>
              <a:t>Quinto nível</a:t>
            </a:r>
            <a:endParaRPr lang="en-US"/>
          </a:p>
        </p:txBody>
      </p:sp>
      <p:sp>
        <p:nvSpPr>
          <p:cNvPr id="4" name="Marcador de Posição da Data 3"/>
          <p:cNvSpPr>
            <a:spLocks noGrp="1"/>
          </p:cNvSpPr>
          <p:nvPr>
            <p:ph type="dt" sz="half" idx="10"/>
          </p:nvPr>
        </p:nvSpPr>
        <p:spPr/>
        <p:txBody>
          <a:bodyPr/>
          <a:lstStyle/>
          <a:p>
            <a:fld id="{A4A3E61B-3AB3-490F-90D4-269C8A444AE7}" type="datetimeFigureOut">
              <a:rPr lang="en-US" smtClean="0"/>
              <a:pPr/>
              <a:t>12/19/2025</a:t>
            </a:fld>
            <a:endParaRPr lang="en-US"/>
          </a:p>
        </p:txBody>
      </p:sp>
      <p:sp>
        <p:nvSpPr>
          <p:cNvPr id="5" name="Marcador de Posição do Rodapé 4"/>
          <p:cNvSpPr>
            <a:spLocks noGrp="1"/>
          </p:cNvSpPr>
          <p:nvPr>
            <p:ph type="ftr" sz="quarter" idx="11"/>
          </p:nvPr>
        </p:nvSpPr>
        <p:spPr/>
        <p:txBody>
          <a:bodyPr/>
          <a:lstStyle/>
          <a:p>
            <a:endParaRPr lang="en-US"/>
          </a:p>
        </p:txBody>
      </p:sp>
      <p:sp>
        <p:nvSpPr>
          <p:cNvPr id="6" name="Marcador de Posição do Número do Diapositivo 5"/>
          <p:cNvSpPr>
            <a:spLocks noGrp="1"/>
          </p:cNvSpPr>
          <p:nvPr>
            <p:ph type="sldNum" sz="quarter" idx="12"/>
          </p:nvPr>
        </p:nvSpPr>
        <p:spPr/>
        <p:txBody>
          <a:bodyPr/>
          <a:lstStyle/>
          <a:p>
            <a:fld id="{8745C66F-FC7B-4C52-931F-EAABACA1CBD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cção">
    <p:spTree>
      <p:nvGrpSpPr>
        <p:cNvPr id="1" name=""/>
        <p:cNvGrpSpPr/>
        <p:nvPr/>
      </p:nvGrpSpPr>
      <p:grpSpPr>
        <a:xfrm>
          <a:off x="0" y="0"/>
          <a:ext cx="0" cy="0"/>
          <a:chOff x="0" y="0"/>
          <a:chExt cx="0" cy="0"/>
        </a:xfrm>
      </p:grpSpPr>
      <p:sp>
        <p:nvSpPr>
          <p:cNvPr id="2" name="Título 1"/>
          <p:cNvSpPr>
            <a:spLocks noGrp="1"/>
          </p:cNvSpPr>
          <p:nvPr>
            <p:ph type="title"/>
          </p:nvPr>
        </p:nvSpPr>
        <p:spPr>
          <a:xfrm>
            <a:off x="722313" y="4406900"/>
            <a:ext cx="7772400" cy="1362075"/>
          </a:xfrm>
        </p:spPr>
        <p:txBody>
          <a:bodyPr anchor="t"/>
          <a:lstStyle>
            <a:lvl1pPr algn="l">
              <a:defRPr sz="4000" b="1" cap="all"/>
            </a:lvl1pPr>
          </a:lstStyle>
          <a:p>
            <a:r>
              <a:rPr lang="pt-PT"/>
              <a:t>Clique para editar o estilo do título do Modelo Global</a:t>
            </a:r>
            <a:endParaRPr lang="en-US"/>
          </a:p>
        </p:txBody>
      </p:sp>
      <p:sp>
        <p:nvSpPr>
          <p:cNvPr id="3" name="Marcador de Posição do Tex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PT"/>
              <a:t>Clique para editar os estilos de texto do modelo global</a:t>
            </a:r>
          </a:p>
        </p:txBody>
      </p:sp>
      <p:sp>
        <p:nvSpPr>
          <p:cNvPr id="4" name="Marcador de Posição da Data 3"/>
          <p:cNvSpPr>
            <a:spLocks noGrp="1"/>
          </p:cNvSpPr>
          <p:nvPr>
            <p:ph type="dt" sz="half" idx="10"/>
          </p:nvPr>
        </p:nvSpPr>
        <p:spPr/>
        <p:txBody>
          <a:bodyPr/>
          <a:lstStyle/>
          <a:p>
            <a:fld id="{A4A3E61B-3AB3-490F-90D4-269C8A444AE7}" type="datetimeFigureOut">
              <a:rPr lang="en-US" smtClean="0"/>
              <a:pPr/>
              <a:t>12/19/2025</a:t>
            </a:fld>
            <a:endParaRPr lang="en-US"/>
          </a:p>
        </p:txBody>
      </p:sp>
      <p:sp>
        <p:nvSpPr>
          <p:cNvPr id="5" name="Marcador de Posição do Rodapé 4"/>
          <p:cNvSpPr>
            <a:spLocks noGrp="1"/>
          </p:cNvSpPr>
          <p:nvPr>
            <p:ph type="ftr" sz="quarter" idx="11"/>
          </p:nvPr>
        </p:nvSpPr>
        <p:spPr/>
        <p:txBody>
          <a:bodyPr/>
          <a:lstStyle/>
          <a:p>
            <a:endParaRPr lang="en-US"/>
          </a:p>
        </p:txBody>
      </p:sp>
      <p:sp>
        <p:nvSpPr>
          <p:cNvPr id="6" name="Marcador de Posição do Número do Diapositivo 5"/>
          <p:cNvSpPr>
            <a:spLocks noGrp="1"/>
          </p:cNvSpPr>
          <p:nvPr>
            <p:ph type="sldNum" sz="quarter" idx="12"/>
          </p:nvPr>
        </p:nvSpPr>
        <p:spPr/>
        <p:txBody>
          <a:bodyPr/>
          <a:lstStyle/>
          <a:p>
            <a:fld id="{8745C66F-FC7B-4C52-931F-EAABACA1CBDF}"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Conteúdo Dup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PT"/>
              <a:t>Clique para editar o estilo do título do Modelo Global</a:t>
            </a:r>
            <a:endParaRPr lang="en-US"/>
          </a:p>
        </p:txBody>
      </p:sp>
      <p:sp>
        <p:nvSpPr>
          <p:cNvPr id="3" name="Marcador de Posição de Conteúd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PT"/>
              <a:t>Clique para editar os estilos de texto do modelo global</a:t>
            </a:r>
          </a:p>
          <a:p>
            <a:pPr lvl="1"/>
            <a:r>
              <a:rPr lang="pt-PT"/>
              <a:t>Segundo nível</a:t>
            </a:r>
          </a:p>
          <a:p>
            <a:pPr lvl="2"/>
            <a:r>
              <a:rPr lang="pt-PT"/>
              <a:t>Terceiro nível</a:t>
            </a:r>
          </a:p>
          <a:p>
            <a:pPr lvl="3"/>
            <a:r>
              <a:rPr lang="pt-PT"/>
              <a:t>Quarto nível</a:t>
            </a:r>
          </a:p>
          <a:p>
            <a:pPr lvl="4"/>
            <a:r>
              <a:rPr lang="pt-PT"/>
              <a:t>Quinto nível</a:t>
            </a:r>
            <a:endParaRPr lang="en-US"/>
          </a:p>
        </p:txBody>
      </p:sp>
      <p:sp>
        <p:nvSpPr>
          <p:cNvPr id="4" name="Marcador de Posição de Conteúd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PT"/>
              <a:t>Clique para editar os estilos de texto do modelo global</a:t>
            </a:r>
          </a:p>
          <a:p>
            <a:pPr lvl="1"/>
            <a:r>
              <a:rPr lang="pt-PT"/>
              <a:t>Segundo nível</a:t>
            </a:r>
          </a:p>
          <a:p>
            <a:pPr lvl="2"/>
            <a:r>
              <a:rPr lang="pt-PT"/>
              <a:t>Terceiro nível</a:t>
            </a:r>
          </a:p>
          <a:p>
            <a:pPr lvl="3"/>
            <a:r>
              <a:rPr lang="pt-PT"/>
              <a:t>Quarto nível</a:t>
            </a:r>
          </a:p>
          <a:p>
            <a:pPr lvl="4"/>
            <a:r>
              <a:rPr lang="pt-PT"/>
              <a:t>Quinto nível</a:t>
            </a:r>
            <a:endParaRPr lang="en-US"/>
          </a:p>
        </p:txBody>
      </p:sp>
      <p:sp>
        <p:nvSpPr>
          <p:cNvPr id="5" name="Marcador de Posição da Data 4"/>
          <p:cNvSpPr>
            <a:spLocks noGrp="1"/>
          </p:cNvSpPr>
          <p:nvPr>
            <p:ph type="dt" sz="half" idx="10"/>
          </p:nvPr>
        </p:nvSpPr>
        <p:spPr/>
        <p:txBody>
          <a:bodyPr/>
          <a:lstStyle/>
          <a:p>
            <a:fld id="{A4A3E61B-3AB3-490F-90D4-269C8A444AE7}" type="datetimeFigureOut">
              <a:rPr lang="en-US" smtClean="0"/>
              <a:pPr/>
              <a:t>12/19/2025</a:t>
            </a:fld>
            <a:endParaRPr lang="en-US"/>
          </a:p>
        </p:txBody>
      </p:sp>
      <p:sp>
        <p:nvSpPr>
          <p:cNvPr id="6" name="Marcador de Posição do Rodapé 5"/>
          <p:cNvSpPr>
            <a:spLocks noGrp="1"/>
          </p:cNvSpPr>
          <p:nvPr>
            <p:ph type="ftr" sz="quarter" idx="11"/>
          </p:nvPr>
        </p:nvSpPr>
        <p:spPr/>
        <p:txBody>
          <a:bodyPr/>
          <a:lstStyle/>
          <a:p>
            <a:endParaRPr lang="en-US"/>
          </a:p>
        </p:txBody>
      </p:sp>
      <p:sp>
        <p:nvSpPr>
          <p:cNvPr id="7" name="Marcador de Posição do Número do Diapositivo 6"/>
          <p:cNvSpPr>
            <a:spLocks noGrp="1"/>
          </p:cNvSpPr>
          <p:nvPr>
            <p:ph type="sldNum" sz="quarter" idx="12"/>
          </p:nvPr>
        </p:nvSpPr>
        <p:spPr/>
        <p:txBody>
          <a:bodyPr/>
          <a:lstStyle/>
          <a:p>
            <a:fld id="{8745C66F-FC7B-4C52-931F-EAABACA1CBD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PT"/>
              <a:t>Clique para editar o estilo do título do Modelo Global</a:t>
            </a:r>
            <a:endParaRPr lang="en-US"/>
          </a:p>
        </p:txBody>
      </p:sp>
      <p:sp>
        <p:nvSpPr>
          <p:cNvPr id="3" name="Marcador de Posição do Tex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PT"/>
              <a:t>Clique para editar os estilos de texto do modelo global</a:t>
            </a:r>
          </a:p>
        </p:txBody>
      </p:sp>
      <p:sp>
        <p:nvSpPr>
          <p:cNvPr id="4" name="Marcador de Posição de Conteúd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PT"/>
              <a:t>Clique para editar os estilos de texto do modelo global</a:t>
            </a:r>
          </a:p>
          <a:p>
            <a:pPr lvl="1"/>
            <a:r>
              <a:rPr lang="pt-PT"/>
              <a:t>Segundo nível</a:t>
            </a:r>
          </a:p>
          <a:p>
            <a:pPr lvl="2"/>
            <a:r>
              <a:rPr lang="pt-PT"/>
              <a:t>Terceiro nível</a:t>
            </a:r>
          </a:p>
          <a:p>
            <a:pPr lvl="3"/>
            <a:r>
              <a:rPr lang="pt-PT"/>
              <a:t>Quarto nível</a:t>
            </a:r>
          </a:p>
          <a:p>
            <a:pPr lvl="4"/>
            <a:r>
              <a:rPr lang="pt-PT"/>
              <a:t>Quinto nível</a:t>
            </a:r>
            <a:endParaRPr lang="en-US"/>
          </a:p>
        </p:txBody>
      </p:sp>
      <p:sp>
        <p:nvSpPr>
          <p:cNvPr id="5" name="Marcador de Posição do Tex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PT"/>
              <a:t>Clique para editar os estilos de texto do modelo global</a:t>
            </a:r>
          </a:p>
        </p:txBody>
      </p:sp>
      <p:sp>
        <p:nvSpPr>
          <p:cNvPr id="6" name="Marcador de Posição de Conteúd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PT"/>
              <a:t>Clique para editar os estilos de texto do modelo global</a:t>
            </a:r>
          </a:p>
          <a:p>
            <a:pPr lvl="1"/>
            <a:r>
              <a:rPr lang="pt-PT"/>
              <a:t>Segundo nível</a:t>
            </a:r>
          </a:p>
          <a:p>
            <a:pPr lvl="2"/>
            <a:r>
              <a:rPr lang="pt-PT"/>
              <a:t>Terceiro nível</a:t>
            </a:r>
          </a:p>
          <a:p>
            <a:pPr lvl="3"/>
            <a:r>
              <a:rPr lang="pt-PT"/>
              <a:t>Quarto nível</a:t>
            </a:r>
          </a:p>
          <a:p>
            <a:pPr lvl="4"/>
            <a:r>
              <a:rPr lang="pt-PT"/>
              <a:t>Quinto nível</a:t>
            </a:r>
            <a:endParaRPr lang="en-US"/>
          </a:p>
        </p:txBody>
      </p:sp>
      <p:sp>
        <p:nvSpPr>
          <p:cNvPr id="7" name="Marcador de Posição da Data 6"/>
          <p:cNvSpPr>
            <a:spLocks noGrp="1"/>
          </p:cNvSpPr>
          <p:nvPr>
            <p:ph type="dt" sz="half" idx="10"/>
          </p:nvPr>
        </p:nvSpPr>
        <p:spPr/>
        <p:txBody>
          <a:bodyPr/>
          <a:lstStyle/>
          <a:p>
            <a:fld id="{A4A3E61B-3AB3-490F-90D4-269C8A444AE7}" type="datetimeFigureOut">
              <a:rPr lang="en-US" smtClean="0"/>
              <a:pPr/>
              <a:t>12/19/2025</a:t>
            </a:fld>
            <a:endParaRPr lang="en-US"/>
          </a:p>
        </p:txBody>
      </p:sp>
      <p:sp>
        <p:nvSpPr>
          <p:cNvPr id="8" name="Marcador de Posição do Rodapé 7"/>
          <p:cNvSpPr>
            <a:spLocks noGrp="1"/>
          </p:cNvSpPr>
          <p:nvPr>
            <p:ph type="ftr" sz="quarter" idx="11"/>
          </p:nvPr>
        </p:nvSpPr>
        <p:spPr/>
        <p:txBody>
          <a:bodyPr/>
          <a:lstStyle/>
          <a:p>
            <a:endParaRPr lang="en-US"/>
          </a:p>
        </p:txBody>
      </p:sp>
      <p:sp>
        <p:nvSpPr>
          <p:cNvPr id="9" name="Marcador de Posição do Número do Diapositivo 8"/>
          <p:cNvSpPr>
            <a:spLocks noGrp="1"/>
          </p:cNvSpPr>
          <p:nvPr>
            <p:ph type="sldNum" sz="quarter" idx="12"/>
          </p:nvPr>
        </p:nvSpPr>
        <p:spPr/>
        <p:txBody>
          <a:bodyPr/>
          <a:lstStyle/>
          <a:p>
            <a:fld id="{8745C66F-FC7B-4C52-931F-EAABACA1CBD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PT"/>
              <a:t>Clique para editar o estilo do título do Modelo Global</a:t>
            </a:r>
            <a:endParaRPr lang="en-US"/>
          </a:p>
        </p:txBody>
      </p:sp>
      <p:sp>
        <p:nvSpPr>
          <p:cNvPr id="3" name="Marcador de Posição da Data 2"/>
          <p:cNvSpPr>
            <a:spLocks noGrp="1"/>
          </p:cNvSpPr>
          <p:nvPr>
            <p:ph type="dt" sz="half" idx="10"/>
          </p:nvPr>
        </p:nvSpPr>
        <p:spPr/>
        <p:txBody>
          <a:bodyPr/>
          <a:lstStyle/>
          <a:p>
            <a:fld id="{A4A3E61B-3AB3-490F-90D4-269C8A444AE7}" type="datetimeFigureOut">
              <a:rPr lang="en-US" smtClean="0"/>
              <a:pPr/>
              <a:t>12/19/2025</a:t>
            </a:fld>
            <a:endParaRPr lang="en-US"/>
          </a:p>
        </p:txBody>
      </p:sp>
      <p:sp>
        <p:nvSpPr>
          <p:cNvPr id="4" name="Marcador de Posição do Rodapé 3"/>
          <p:cNvSpPr>
            <a:spLocks noGrp="1"/>
          </p:cNvSpPr>
          <p:nvPr>
            <p:ph type="ftr" sz="quarter" idx="11"/>
          </p:nvPr>
        </p:nvSpPr>
        <p:spPr/>
        <p:txBody>
          <a:bodyPr/>
          <a:lstStyle/>
          <a:p>
            <a:endParaRPr lang="en-US"/>
          </a:p>
        </p:txBody>
      </p:sp>
      <p:sp>
        <p:nvSpPr>
          <p:cNvPr id="5" name="Marcador de Posição do Número do Diapositivo 4"/>
          <p:cNvSpPr>
            <a:spLocks noGrp="1"/>
          </p:cNvSpPr>
          <p:nvPr>
            <p:ph type="sldNum" sz="quarter" idx="12"/>
          </p:nvPr>
        </p:nvSpPr>
        <p:spPr/>
        <p:txBody>
          <a:bodyPr/>
          <a:lstStyle/>
          <a:p>
            <a:fld id="{8745C66F-FC7B-4C52-931F-EAABACA1CBD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Marcador de Posição da Data 1"/>
          <p:cNvSpPr>
            <a:spLocks noGrp="1"/>
          </p:cNvSpPr>
          <p:nvPr>
            <p:ph type="dt" sz="half" idx="10"/>
          </p:nvPr>
        </p:nvSpPr>
        <p:spPr/>
        <p:txBody>
          <a:bodyPr/>
          <a:lstStyle/>
          <a:p>
            <a:fld id="{A4A3E61B-3AB3-490F-90D4-269C8A444AE7}" type="datetimeFigureOut">
              <a:rPr lang="en-US" smtClean="0"/>
              <a:pPr/>
              <a:t>12/19/2025</a:t>
            </a:fld>
            <a:endParaRPr lang="en-US"/>
          </a:p>
        </p:txBody>
      </p:sp>
      <p:sp>
        <p:nvSpPr>
          <p:cNvPr id="3" name="Marcador de Posição do Rodapé 2"/>
          <p:cNvSpPr>
            <a:spLocks noGrp="1"/>
          </p:cNvSpPr>
          <p:nvPr>
            <p:ph type="ftr" sz="quarter" idx="11"/>
          </p:nvPr>
        </p:nvSpPr>
        <p:spPr/>
        <p:txBody>
          <a:bodyPr/>
          <a:lstStyle/>
          <a:p>
            <a:endParaRPr lang="en-US"/>
          </a:p>
        </p:txBody>
      </p:sp>
      <p:sp>
        <p:nvSpPr>
          <p:cNvPr id="4" name="Marcador de Posição do Número do Diapositivo 3"/>
          <p:cNvSpPr>
            <a:spLocks noGrp="1"/>
          </p:cNvSpPr>
          <p:nvPr>
            <p:ph type="sldNum" sz="quarter" idx="12"/>
          </p:nvPr>
        </p:nvSpPr>
        <p:spPr/>
        <p:txBody>
          <a:bodyPr/>
          <a:lstStyle/>
          <a:p>
            <a:fld id="{8745C66F-FC7B-4C52-931F-EAABACA1CBD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p:spPr>
        <p:txBody>
          <a:bodyPr anchor="b"/>
          <a:lstStyle>
            <a:lvl1pPr algn="l">
              <a:defRPr sz="2000" b="1"/>
            </a:lvl1pPr>
          </a:lstStyle>
          <a:p>
            <a:r>
              <a:rPr lang="pt-PT"/>
              <a:t>Clique para editar o estilo do título do Modelo Global</a:t>
            </a:r>
            <a:endParaRPr lang="en-US"/>
          </a:p>
        </p:txBody>
      </p:sp>
      <p:sp>
        <p:nvSpPr>
          <p:cNvPr id="3" name="Marcador de Posição de Conteúd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PT"/>
              <a:t>Clique para editar os estilos de texto do modelo global</a:t>
            </a:r>
          </a:p>
          <a:p>
            <a:pPr lvl="1"/>
            <a:r>
              <a:rPr lang="pt-PT"/>
              <a:t>Segundo nível</a:t>
            </a:r>
          </a:p>
          <a:p>
            <a:pPr lvl="2"/>
            <a:r>
              <a:rPr lang="pt-PT"/>
              <a:t>Terceiro nível</a:t>
            </a:r>
          </a:p>
          <a:p>
            <a:pPr lvl="3"/>
            <a:r>
              <a:rPr lang="pt-PT"/>
              <a:t>Quarto nível</a:t>
            </a:r>
          </a:p>
          <a:p>
            <a:pPr lvl="4"/>
            <a:r>
              <a:rPr lang="pt-PT"/>
              <a:t>Quinto nível</a:t>
            </a:r>
            <a:endParaRPr lang="en-US"/>
          </a:p>
        </p:txBody>
      </p:sp>
      <p:sp>
        <p:nvSpPr>
          <p:cNvPr id="4" name="Marcador de Posição do Tex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PT"/>
              <a:t>Clique para editar os estilos de texto do modelo global</a:t>
            </a:r>
          </a:p>
        </p:txBody>
      </p:sp>
      <p:sp>
        <p:nvSpPr>
          <p:cNvPr id="5" name="Marcador de Posição da Data 4"/>
          <p:cNvSpPr>
            <a:spLocks noGrp="1"/>
          </p:cNvSpPr>
          <p:nvPr>
            <p:ph type="dt" sz="half" idx="10"/>
          </p:nvPr>
        </p:nvSpPr>
        <p:spPr/>
        <p:txBody>
          <a:bodyPr/>
          <a:lstStyle/>
          <a:p>
            <a:fld id="{A4A3E61B-3AB3-490F-90D4-269C8A444AE7}" type="datetimeFigureOut">
              <a:rPr lang="en-US" smtClean="0"/>
              <a:pPr/>
              <a:t>12/19/2025</a:t>
            </a:fld>
            <a:endParaRPr lang="en-US"/>
          </a:p>
        </p:txBody>
      </p:sp>
      <p:sp>
        <p:nvSpPr>
          <p:cNvPr id="6" name="Marcador de Posição do Rodapé 5"/>
          <p:cNvSpPr>
            <a:spLocks noGrp="1"/>
          </p:cNvSpPr>
          <p:nvPr>
            <p:ph type="ftr" sz="quarter" idx="11"/>
          </p:nvPr>
        </p:nvSpPr>
        <p:spPr/>
        <p:txBody>
          <a:bodyPr/>
          <a:lstStyle/>
          <a:p>
            <a:endParaRPr lang="en-US"/>
          </a:p>
        </p:txBody>
      </p:sp>
      <p:sp>
        <p:nvSpPr>
          <p:cNvPr id="7" name="Marcador de Posição do Número do Diapositivo 6"/>
          <p:cNvSpPr>
            <a:spLocks noGrp="1"/>
          </p:cNvSpPr>
          <p:nvPr>
            <p:ph type="sldNum" sz="quarter" idx="12"/>
          </p:nvPr>
        </p:nvSpPr>
        <p:spPr/>
        <p:txBody>
          <a:bodyPr/>
          <a:lstStyle/>
          <a:p>
            <a:fld id="{8745C66F-FC7B-4C52-931F-EAABACA1CBDF}"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566738"/>
          </a:xfrm>
        </p:spPr>
        <p:txBody>
          <a:bodyPr anchor="b"/>
          <a:lstStyle>
            <a:lvl1pPr algn="l">
              <a:defRPr sz="2000" b="1"/>
            </a:lvl1pPr>
          </a:lstStyle>
          <a:p>
            <a:r>
              <a:rPr lang="pt-PT"/>
              <a:t>Clique para editar o estilo do título do Modelo Global</a:t>
            </a:r>
            <a:endParaRPr lang="en-US"/>
          </a:p>
        </p:txBody>
      </p:sp>
      <p:sp>
        <p:nvSpPr>
          <p:cNvPr id="3" name="Marcador de Posição da Imagem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Marcador de Posição do Tex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PT"/>
              <a:t>Clique para editar os estilos de texto do modelo global</a:t>
            </a:r>
          </a:p>
        </p:txBody>
      </p:sp>
      <p:sp>
        <p:nvSpPr>
          <p:cNvPr id="5" name="Marcador de Posição da Data 4"/>
          <p:cNvSpPr>
            <a:spLocks noGrp="1"/>
          </p:cNvSpPr>
          <p:nvPr>
            <p:ph type="dt" sz="half" idx="10"/>
          </p:nvPr>
        </p:nvSpPr>
        <p:spPr/>
        <p:txBody>
          <a:bodyPr/>
          <a:lstStyle/>
          <a:p>
            <a:fld id="{A4A3E61B-3AB3-490F-90D4-269C8A444AE7}" type="datetimeFigureOut">
              <a:rPr lang="en-US" smtClean="0"/>
              <a:pPr/>
              <a:t>12/19/2025</a:t>
            </a:fld>
            <a:endParaRPr lang="en-US"/>
          </a:p>
        </p:txBody>
      </p:sp>
      <p:sp>
        <p:nvSpPr>
          <p:cNvPr id="6" name="Marcador de Posição do Rodapé 5"/>
          <p:cNvSpPr>
            <a:spLocks noGrp="1"/>
          </p:cNvSpPr>
          <p:nvPr>
            <p:ph type="ftr" sz="quarter" idx="11"/>
          </p:nvPr>
        </p:nvSpPr>
        <p:spPr/>
        <p:txBody>
          <a:bodyPr/>
          <a:lstStyle/>
          <a:p>
            <a:endParaRPr lang="en-US"/>
          </a:p>
        </p:txBody>
      </p:sp>
      <p:sp>
        <p:nvSpPr>
          <p:cNvPr id="7" name="Marcador de Posição do Número do Diapositivo 6"/>
          <p:cNvSpPr>
            <a:spLocks noGrp="1"/>
          </p:cNvSpPr>
          <p:nvPr>
            <p:ph type="sldNum" sz="quarter" idx="12"/>
          </p:nvPr>
        </p:nvSpPr>
        <p:spPr/>
        <p:txBody>
          <a:bodyPr/>
          <a:lstStyle/>
          <a:p>
            <a:fld id="{8745C66F-FC7B-4C52-931F-EAABACA1CBDF}"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PT"/>
              <a:t>Clique para editar o estilo do título do Modelo Global</a:t>
            </a:r>
            <a:endParaRPr lang="en-US"/>
          </a:p>
        </p:txBody>
      </p:sp>
      <p:sp>
        <p:nvSpPr>
          <p:cNvPr id="3" name="Marcador de Posição de Texto Vertical 2"/>
          <p:cNvSpPr>
            <a:spLocks noGrp="1"/>
          </p:cNvSpPr>
          <p:nvPr>
            <p:ph type="body" orient="vert" idx="1"/>
          </p:nvPr>
        </p:nvSpPr>
        <p:spPr/>
        <p:txBody>
          <a:bodyPr vert="eaVert"/>
          <a:lstStyle/>
          <a:p>
            <a:pPr lvl="0"/>
            <a:r>
              <a:rPr lang="pt-PT"/>
              <a:t>Clique para editar os estilos de texto do modelo global</a:t>
            </a:r>
          </a:p>
          <a:p>
            <a:pPr lvl="1"/>
            <a:r>
              <a:rPr lang="pt-PT"/>
              <a:t>Segundo nível</a:t>
            </a:r>
          </a:p>
          <a:p>
            <a:pPr lvl="2"/>
            <a:r>
              <a:rPr lang="pt-PT"/>
              <a:t>Terceiro nível</a:t>
            </a:r>
          </a:p>
          <a:p>
            <a:pPr lvl="3"/>
            <a:r>
              <a:rPr lang="pt-PT"/>
              <a:t>Quarto nível</a:t>
            </a:r>
          </a:p>
          <a:p>
            <a:pPr lvl="4"/>
            <a:r>
              <a:rPr lang="pt-PT"/>
              <a:t>Quinto nível</a:t>
            </a:r>
            <a:endParaRPr lang="en-US"/>
          </a:p>
        </p:txBody>
      </p:sp>
      <p:sp>
        <p:nvSpPr>
          <p:cNvPr id="4" name="Marcador de Posição da Data 3"/>
          <p:cNvSpPr>
            <a:spLocks noGrp="1"/>
          </p:cNvSpPr>
          <p:nvPr>
            <p:ph type="dt" sz="half" idx="10"/>
          </p:nvPr>
        </p:nvSpPr>
        <p:spPr/>
        <p:txBody>
          <a:bodyPr/>
          <a:lstStyle/>
          <a:p>
            <a:fld id="{A4A3E61B-3AB3-490F-90D4-269C8A444AE7}" type="datetimeFigureOut">
              <a:rPr lang="en-US" smtClean="0"/>
              <a:pPr/>
              <a:t>12/19/2025</a:t>
            </a:fld>
            <a:endParaRPr lang="en-US"/>
          </a:p>
        </p:txBody>
      </p:sp>
      <p:sp>
        <p:nvSpPr>
          <p:cNvPr id="5" name="Marcador de Posição do Rodapé 4"/>
          <p:cNvSpPr>
            <a:spLocks noGrp="1"/>
          </p:cNvSpPr>
          <p:nvPr>
            <p:ph type="ftr" sz="quarter" idx="11"/>
          </p:nvPr>
        </p:nvSpPr>
        <p:spPr/>
        <p:txBody>
          <a:bodyPr/>
          <a:lstStyle/>
          <a:p>
            <a:endParaRPr lang="en-US"/>
          </a:p>
        </p:txBody>
      </p:sp>
      <p:sp>
        <p:nvSpPr>
          <p:cNvPr id="6" name="Marcador de Posição do Número do Diapositivo 5"/>
          <p:cNvSpPr>
            <a:spLocks noGrp="1"/>
          </p:cNvSpPr>
          <p:nvPr>
            <p:ph type="sldNum" sz="quarter" idx="12"/>
          </p:nvPr>
        </p:nvSpPr>
        <p:spPr/>
        <p:txBody>
          <a:bodyPr/>
          <a:lstStyle/>
          <a:p>
            <a:fld id="{8745C66F-FC7B-4C52-931F-EAABACA1CBD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e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629400" y="274638"/>
            <a:ext cx="2057400" cy="5851525"/>
          </a:xfrm>
        </p:spPr>
        <p:txBody>
          <a:bodyPr vert="eaVert"/>
          <a:lstStyle/>
          <a:p>
            <a:r>
              <a:rPr lang="pt-PT"/>
              <a:t>Clique para editar o estilo do título do Modelo Global</a:t>
            </a:r>
            <a:endParaRPr lang="en-US"/>
          </a:p>
        </p:txBody>
      </p:sp>
      <p:sp>
        <p:nvSpPr>
          <p:cNvPr id="3" name="Marcador de Posição de Texto Vertical 2"/>
          <p:cNvSpPr>
            <a:spLocks noGrp="1"/>
          </p:cNvSpPr>
          <p:nvPr>
            <p:ph type="body" orient="vert" idx="1"/>
          </p:nvPr>
        </p:nvSpPr>
        <p:spPr>
          <a:xfrm>
            <a:off x="457200" y="274638"/>
            <a:ext cx="6019800" cy="5851525"/>
          </a:xfrm>
        </p:spPr>
        <p:txBody>
          <a:bodyPr vert="eaVert"/>
          <a:lstStyle/>
          <a:p>
            <a:pPr lvl="0"/>
            <a:r>
              <a:rPr lang="pt-PT"/>
              <a:t>Clique para editar os estilos de texto do modelo global</a:t>
            </a:r>
          </a:p>
          <a:p>
            <a:pPr lvl="1"/>
            <a:r>
              <a:rPr lang="pt-PT"/>
              <a:t>Segundo nível</a:t>
            </a:r>
          </a:p>
          <a:p>
            <a:pPr lvl="2"/>
            <a:r>
              <a:rPr lang="pt-PT"/>
              <a:t>Terceiro nível</a:t>
            </a:r>
          </a:p>
          <a:p>
            <a:pPr lvl="3"/>
            <a:r>
              <a:rPr lang="pt-PT"/>
              <a:t>Quarto nível</a:t>
            </a:r>
          </a:p>
          <a:p>
            <a:pPr lvl="4"/>
            <a:r>
              <a:rPr lang="pt-PT"/>
              <a:t>Quinto nível</a:t>
            </a:r>
            <a:endParaRPr lang="en-US"/>
          </a:p>
        </p:txBody>
      </p:sp>
      <p:sp>
        <p:nvSpPr>
          <p:cNvPr id="4" name="Marcador de Posição da Data 3"/>
          <p:cNvSpPr>
            <a:spLocks noGrp="1"/>
          </p:cNvSpPr>
          <p:nvPr>
            <p:ph type="dt" sz="half" idx="10"/>
          </p:nvPr>
        </p:nvSpPr>
        <p:spPr/>
        <p:txBody>
          <a:bodyPr/>
          <a:lstStyle/>
          <a:p>
            <a:fld id="{A4A3E61B-3AB3-490F-90D4-269C8A444AE7}" type="datetimeFigureOut">
              <a:rPr lang="en-US" smtClean="0"/>
              <a:pPr/>
              <a:t>12/19/2025</a:t>
            </a:fld>
            <a:endParaRPr lang="en-US"/>
          </a:p>
        </p:txBody>
      </p:sp>
      <p:sp>
        <p:nvSpPr>
          <p:cNvPr id="5" name="Marcador de Posição do Rodapé 4"/>
          <p:cNvSpPr>
            <a:spLocks noGrp="1"/>
          </p:cNvSpPr>
          <p:nvPr>
            <p:ph type="ftr" sz="quarter" idx="11"/>
          </p:nvPr>
        </p:nvSpPr>
        <p:spPr/>
        <p:txBody>
          <a:bodyPr/>
          <a:lstStyle/>
          <a:p>
            <a:endParaRPr lang="en-US"/>
          </a:p>
        </p:txBody>
      </p:sp>
      <p:sp>
        <p:nvSpPr>
          <p:cNvPr id="6" name="Marcador de Posição do Número do Diapositivo 5"/>
          <p:cNvSpPr>
            <a:spLocks noGrp="1"/>
          </p:cNvSpPr>
          <p:nvPr>
            <p:ph type="sldNum" sz="quarter" idx="12"/>
          </p:nvPr>
        </p:nvSpPr>
        <p:spPr/>
        <p:txBody>
          <a:bodyPr/>
          <a:lstStyle/>
          <a:p>
            <a:fld id="{8745C66F-FC7B-4C52-931F-EAABACA1CBD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Títu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pt-PT"/>
              <a:t>Clique para editar o estilo do título do Modelo Global</a:t>
            </a:r>
            <a:endParaRPr lang="en-US"/>
          </a:p>
        </p:txBody>
      </p:sp>
      <p:sp>
        <p:nvSpPr>
          <p:cNvPr id="3" name="Marcador de Posição do Tex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pt-PT"/>
              <a:t>Clique para editar os estilos de texto do modelo global</a:t>
            </a:r>
          </a:p>
          <a:p>
            <a:pPr lvl="1"/>
            <a:r>
              <a:rPr lang="pt-PT"/>
              <a:t>Segundo nível</a:t>
            </a:r>
          </a:p>
          <a:p>
            <a:pPr lvl="2"/>
            <a:r>
              <a:rPr lang="pt-PT"/>
              <a:t>Terceiro nível</a:t>
            </a:r>
          </a:p>
          <a:p>
            <a:pPr lvl="3"/>
            <a:r>
              <a:rPr lang="pt-PT"/>
              <a:t>Quarto nível</a:t>
            </a:r>
          </a:p>
          <a:p>
            <a:pPr lvl="4"/>
            <a:r>
              <a:rPr lang="pt-PT"/>
              <a:t>Quinto nível</a:t>
            </a:r>
            <a:endParaRPr lang="en-US"/>
          </a:p>
        </p:txBody>
      </p:sp>
      <p:sp>
        <p:nvSpPr>
          <p:cNvPr id="4" name="Marcador de Posição da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4A3E61B-3AB3-490F-90D4-269C8A444AE7}" type="datetimeFigureOut">
              <a:rPr lang="en-US" smtClean="0"/>
              <a:pPr/>
              <a:t>12/19/2025</a:t>
            </a:fld>
            <a:endParaRPr lang="en-US"/>
          </a:p>
        </p:txBody>
      </p:sp>
      <p:sp>
        <p:nvSpPr>
          <p:cNvPr id="5" name="Marcador de Posição do Rodapé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Marcador de Posição do Número do Diapositivo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45C66F-FC7B-4C52-931F-EAABACA1CBD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diagramColors" Target="../diagrams/colors1.xml"/><Relationship Id="rId11" Type="http://schemas.openxmlformats.org/officeDocument/2006/relationships/image" Target="../media/image7.png"/><Relationship Id="rId5" Type="http://schemas.openxmlformats.org/officeDocument/2006/relationships/diagramQuickStyle" Target="../diagrams/quickStyle1.xml"/><Relationship Id="rId10" Type="http://schemas.openxmlformats.org/officeDocument/2006/relationships/image" Target="../media/image6.png"/><Relationship Id="rId4" Type="http://schemas.openxmlformats.org/officeDocument/2006/relationships/diagramLayout" Target="../diagrams/layout1.xml"/><Relationship Id="rId9"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4.png"/><Relationship Id="rId7"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s://www.kaggle.com/datasets/abdelghaniaaba/wildfire-prediction-dataset" TargetMode="External"/><Relationship Id="rId7"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hyperlink" Target="https://www.lucidchart.com/pages" TargetMode="Externa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4.png"/><Relationship Id="rId7"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4.png"/><Relationship Id="rId7"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hyperlink" Target="https://www.kaggle.com/datasets/abdelghaniaaba/wildfire-prediction-dataset" TargetMode="External"/><Relationship Id="rId7"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hyperlink" Target="https://keras.io/" TargetMode="External"/><Relationship Id="rId4" Type="http://schemas.openxmlformats.org/officeDocument/2006/relationships/hyperlink" Target="https://www.tensorflow.org/" TargetMode="External"/><Relationship Id="rId9" Type="http://schemas.openxmlformats.org/officeDocument/2006/relationships/image" Target="../media/image7.png"/></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4.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4.png"/><Relationship Id="rId7" Type="http://schemas.openxmlformats.org/officeDocument/2006/relationships/image" Target="../media/image21.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hyperlink" Target="https://www.kaggle.com/datasets/abdelghaniaaba/wildfire-prediction-dataset" TargetMode="External"/><Relationship Id="rId7" Type="http://schemas.openxmlformats.org/officeDocument/2006/relationships/image" Target="../media/image5.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hyperlink" Target="https://keras.io/" TargetMode="External"/><Relationship Id="rId4" Type="http://schemas.openxmlformats.org/officeDocument/2006/relationships/hyperlink" Target="https://www.tensorflow.org/" TargetMode="External"/><Relationship Id="rId9" Type="http://schemas.openxmlformats.org/officeDocument/2006/relationships/image" Target="../media/image7.png"/></Relationships>
</file>

<file path=ppt/slides/_rels/slide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7.png"/></Relationships>
</file>

<file path=ppt/slides/_rels/slide40.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4.png"/><Relationship Id="rId7" Type="http://schemas.openxmlformats.org/officeDocument/2006/relationships/hyperlink" Target="https://data.mendeley.com/datasets/fgvscdjsmt/4" TargetMode="External"/><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4.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2.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4.png"/><Relationship Id="rId7" Type="http://schemas.openxmlformats.org/officeDocument/2006/relationships/image" Target="../media/image25.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hyperlink" Target="https://data.mendeley.com/datasets/fgvscdjsmt/4" TargetMode="External"/><Relationship Id="rId7" Type="http://schemas.openxmlformats.org/officeDocument/2006/relationships/image" Target="../media/image5.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hyperlink" Target="https://github.com/lukemelas/EfficientNet-PyTorch" TargetMode="External"/><Relationship Id="rId4" Type="http://schemas.openxmlformats.org/officeDocument/2006/relationships/hyperlink" Target="https://pytorch.org/" TargetMode="External"/><Relationship Id="rId9" Type="http://schemas.openxmlformats.org/officeDocument/2006/relationships/image" Target="../media/image7.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m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982200" cy="6858000"/>
          </a:xfrm>
          <a:prstGeom prst="rect">
            <a:avLst/>
          </a:prstGeom>
        </p:spPr>
      </p:pic>
      <p:sp>
        <p:nvSpPr>
          <p:cNvPr id="2" name="Título 1"/>
          <p:cNvSpPr>
            <a:spLocks noGrp="1"/>
          </p:cNvSpPr>
          <p:nvPr>
            <p:ph type="ctrTitle"/>
          </p:nvPr>
        </p:nvSpPr>
        <p:spPr>
          <a:xfrm>
            <a:off x="2210295" y="3102608"/>
            <a:ext cx="5486400" cy="552329"/>
          </a:xfrm>
        </p:spPr>
        <p:txBody>
          <a:bodyPr>
            <a:normAutofit/>
          </a:bodyPr>
          <a:lstStyle/>
          <a:p>
            <a:r>
              <a:rPr lang="pt-PT" sz="2500" b="1" dirty="0">
                <a:solidFill>
                  <a:schemeClr val="bg1"/>
                </a:solidFill>
                <a:latin typeface="Arial" charset="0"/>
                <a:ea typeface="Arial" charset="0"/>
                <a:cs typeface="Arial" charset="0"/>
              </a:rPr>
              <a:t>Projeto MCZ03</a:t>
            </a:r>
          </a:p>
        </p:txBody>
      </p:sp>
      <p:sp>
        <p:nvSpPr>
          <p:cNvPr id="3" name="Subtítulo 2"/>
          <p:cNvSpPr>
            <a:spLocks noGrp="1"/>
          </p:cNvSpPr>
          <p:nvPr>
            <p:ph type="subTitle" idx="1"/>
          </p:nvPr>
        </p:nvSpPr>
        <p:spPr>
          <a:xfrm>
            <a:off x="2381745" y="3698667"/>
            <a:ext cx="5143500" cy="404742"/>
          </a:xfrm>
        </p:spPr>
        <p:txBody>
          <a:bodyPr>
            <a:normAutofit/>
          </a:bodyPr>
          <a:lstStyle/>
          <a:p>
            <a:r>
              <a:rPr lang="pt-PT" sz="2000" dirty="0">
                <a:solidFill>
                  <a:schemeClr val="bg1"/>
                </a:solidFill>
                <a:latin typeface="Arial" charset="0"/>
                <a:ea typeface="Arial" charset="0"/>
                <a:cs typeface="Arial" charset="0"/>
              </a:rPr>
              <a:t>Pontos de Controlo </a:t>
            </a:r>
          </a:p>
        </p:txBody>
      </p:sp>
      <p:sp>
        <p:nvSpPr>
          <p:cNvPr id="6" name="Subtítulo 2"/>
          <p:cNvSpPr txBox="1">
            <a:spLocks/>
          </p:cNvSpPr>
          <p:nvPr/>
        </p:nvSpPr>
        <p:spPr>
          <a:xfrm>
            <a:off x="762000" y="6394330"/>
            <a:ext cx="8191499" cy="276444"/>
          </a:xfrm>
          <a:prstGeom prst="rect">
            <a:avLst/>
          </a:prstGeom>
        </p:spPr>
        <p:txBody>
          <a:bodyPr vert="horz" lIns="68580" tIns="34290" rIns="68580" bIns="34290" rtlCol="0">
            <a:normAutofit fontScale="925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pt-PT" sz="1100" b="1" u="sng" dirty="0">
                <a:solidFill>
                  <a:schemeClr val="bg1"/>
                </a:solidFill>
                <a:latin typeface="Arial" charset="0"/>
                <a:ea typeface="Arial" charset="0"/>
                <a:cs typeface="Arial" charset="0"/>
              </a:rPr>
              <a:t>Licenciatura em Engenharia Informática</a:t>
            </a:r>
            <a:r>
              <a:rPr lang="pt-PT" sz="1100" dirty="0">
                <a:solidFill>
                  <a:schemeClr val="bg1"/>
                </a:solidFill>
                <a:latin typeface="Arial" charset="0"/>
                <a:ea typeface="Arial" charset="0"/>
                <a:cs typeface="Arial" charset="0"/>
              </a:rPr>
              <a:t> | Escola Superior de Tecnologia e Gestão| Unidade Curricular: Projeto III | Ano Letivo 2024/2025</a:t>
            </a:r>
          </a:p>
        </p:txBody>
      </p:sp>
      <p:pic>
        <p:nvPicPr>
          <p:cNvPr id="7" name="Imagem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4130" y="392731"/>
            <a:ext cx="3872752" cy="962356"/>
          </a:xfrm>
          <a:prstGeom prst="rect">
            <a:avLst/>
          </a:prstGeom>
        </p:spPr>
      </p:pic>
      <p:sp>
        <p:nvSpPr>
          <p:cNvPr id="8" name="Subtítulo 2">
            <a:extLst>
              <a:ext uri="{FF2B5EF4-FFF2-40B4-BE49-F238E27FC236}">
                <a16:creationId xmlns:a16="http://schemas.microsoft.com/office/drawing/2014/main" id="{6D890E14-880C-4963-9EA0-EE9200F689F8}"/>
              </a:ext>
            </a:extLst>
          </p:cNvPr>
          <p:cNvSpPr txBox="1">
            <a:spLocks/>
          </p:cNvSpPr>
          <p:nvPr/>
        </p:nvSpPr>
        <p:spPr>
          <a:xfrm>
            <a:off x="892549" y="5635668"/>
            <a:ext cx="3486150" cy="571436"/>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pt-PT" sz="1100" dirty="0">
                <a:solidFill>
                  <a:schemeClr val="bg1"/>
                </a:solidFill>
                <a:latin typeface="Arial" charset="0"/>
                <a:ea typeface="Arial" charset="0"/>
                <a:cs typeface="Arial" charset="0"/>
              </a:rPr>
              <a:t>32428 – Diogo Monteiro;</a:t>
            </a:r>
          </a:p>
          <a:p>
            <a:pPr algn="l"/>
            <a:r>
              <a:rPr lang="pt-PT" sz="1100" dirty="0">
                <a:solidFill>
                  <a:schemeClr val="bg1"/>
                </a:solidFill>
                <a:latin typeface="Arial" charset="0"/>
                <a:ea typeface="Arial" charset="0"/>
                <a:cs typeface="Arial" charset="0"/>
              </a:rPr>
              <a:t>31396 – Gonçalo Teixeira.</a:t>
            </a:r>
          </a:p>
          <a:p>
            <a:pPr algn="l"/>
            <a:endParaRPr lang="pt-PT" sz="1100" dirty="0">
              <a:solidFill>
                <a:schemeClr val="bg1"/>
              </a:solidFill>
              <a:latin typeface="Arial" charset="0"/>
              <a:ea typeface="Arial" charset="0"/>
              <a:cs typeface="Arial" charset="0"/>
            </a:endParaRPr>
          </a:p>
          <a:p>
            <a:pPr algn="l"/>
            <a:endParaRPr lang="pt-PT" sz="1100" dirty="0">
              <a:solidFill>
                <a:schemeClr val="bg1"/>
              </a:solidFill>
              <a:latin typeface="Arial" charset="0"/>
              <a:ea typeface="Arial" charset="0"/>
              <a:cs typeface="Arial" charset="0"/>
            </a:endParaRPr>
          </a:p>
        </p:txBody>
      </p:sp>
      <p:sp>
        <p:nvSpPr>
          <p:cNvPr id="10" name="Subtítulo 2">
            <a:extLst>
              <a:ext uri="{FF2B5EF4-FFF2-40B4-BE49-F238E27FC236}">
                <a16:creationId xmlns:a16="http://schemas.microsoft.com/office/drawing/2014/main" id="{CDB7617E-BD9F-40A8-BCFA-781CEC4CEE46}"/>
              </a:ext>
            </a:extLst>
          </p:cNvPr>
          <p:cNvSpPr txBox="1">
            <a:spLocks/>
          </p:cNvSpPr>
          <p:nvPr/>
        </p:nvSpPr>
        <p:spPr>
          <a:xfrm>
            <a:off x="4953495" y="5615784"/>
            <a:ext cx="3486150" cy="571436"/>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pt-PT" sz="1050" dirty="0">
                <a:solidFill>
                  <a:schemeClr val="bg1"/>
                </a:solidFill>
                <a:latin typeface="Arial" charset="0"/>
                <a:ea typeface="Arial" charset="0"/>
                <a:cs typeface="Arial" charset="0"/>
              </a:rPr>
              <a:t>Orientador(</a:t>
            </a:r>
            <a:r>
              <a:rPr lang="pt-PT" sz="1050" dirty="0" err="1">
                <a:solidFill>
                  <a:schemeClr val="bg1"/>
                </a:solidFill>
                <a:latin typeface="Arial" charset="0"/>
                <a:ea typeface="Arial" charset="0"/>
                <a:cs typeface="Arial" charset="0"/>
              </a:rPr>
              <a:t>es</a:t>
            </a:r>
            <a:r>
              <a:rPr lang="pt-PT" sz="1050" dirty="0">
                <a:solidFill>
                  <a:schemeClr val="bg1"/>
                </a:solidFill>
                <a:latin typeface="Arial" charset="0"/>
                <a:ea typeface="Arial" charset="0"/>
                <a:cs typeface="Arial" charset="0"/>
              </a:rPr>
              <a:t>): </a:t>
            </a:r>
          </a:p>
          <a:p>
            <a:pPr marL="171450" indent="-171450" algn="l">
              <a:buFont typeface="Arial" panose="020B0604020202020204" pitchFamily="34" charset="0"/>
              <a:buChar char="•"/>
            </a:pPr>
            <a:r>
              <a:rPr lang="pt-PT" sz="1050" dirty="0">
                <a:solidFill>
                  <a:schemeClr val="bg1"/>
                </a:solidFill>
                <a:latin typeface="Arial" charset="0"/>
                <a:ea typeface="Arial" charset="0"/>
                <a:cs typeface="Arial" charset="0"/>
              </a:rPr>
              <a:t>Professor Doutor Miguel António Cruz</a:t>
            </a:r>
          </a:p>
          <a:p>
            <a:pPr algn="l"/>
            <a:endParaRPr lang="pt-PT" sz="1050" dirty="0">
              <a:solidFill>
                <a:schemeClr val="bg1"/>
              </a:solidFill>
              <a:latin typeface="Arial" charset="0"/>
              <a:ea typeface="Arial" charset="0"/>
              <a:cs typeface="Arial" charset="0"/>
            </a:endParaRPr>
          </a:p>
          <a:p>
            <a:pPr algn="l"/>
            <a:endParaRPr lang="pt-PT" sz="1050" dirty="0">
              <a:solidFill>
                <a:schemeClr val="bg1"/>
              </a:solidFill>
              <a:latin typeface="Arial" charset="0"/>
              <a:ea typeface="Arial" charset="0"/>
              <a:cs typeface="Arial" charset="0"/>
            </a:endParaRPr>
          </a:p>
        </p:txBody>
      </p:sp>
      <p:sp>
        <p:nvSpPr>
          <p:cNvPr id="9" name="CaixaDeTexto 8">
            <a:extLst>
              <a:ext uri="{FF2B5EF4-FFF2-40B4-BE49-F238E27FC236}">
                <a16:creationId xmlns:a16="http://schemas.microsoft.com/office/drawing/2014/main" id="{802F2A86-A50E-0283-3B8A-EB9B059E210D}"/>
              </a:ext>
            </a:extLst>
          </p:cNvPr>
          <p:cNvSpPr txBox="1"/>
          <p:nvPr/>
        </p:nvSpPr>
        <p:spPr>
          <a:xfrm>
            <a:off x="838200" y="1273976"/>
            <a:ext cx="9266714" cy="646331"/>
          </a:xfrm>
          <a:prstGeom prst="rect">
            <a:avLst/>
          </a:prstGeom>
          <a:noFill/>
        </p:spPr>
        <p:txBody>
          <a:bodyPr wrap="square">
            <a:spAutoFit/>
          </a:bodyPr>
          <a:lstStyle/>
          <a:p>
            <a:r>
              <a:rPr lang="pt-PT" sz="1800" b="1" u="sng" dirty="0">
                <a:solidFill>
                  <a:srgbClr val="FFFF00"/>
                </a:solidFill>
                <a:latin typeface="Arial" charset="0"/>
                <a:ea typeface="Arial" charset="0"/>
                <a:cs typeface="Arial" charset="0"/>
              </a:rPr>
              <a:t>Licenciatura em ENGENHARIA INFORMÁTICA / </a:t>
            </a:r>
            <a:r>
              <a:rPr lang="pt-PT" sz="1800" b="1" u="sng" dirty="0" err="1">
                <a:solidFill>
                  <a:srgbClr val="FFFF00"/>
                </a:solidFill>
                <a:latin typeface="Arial" charset="0"/>
                <a:ea typeface="Arial" charset="0"/>
                <a:cs typeface="Arial" charset="0"/>
              </a:rPr>
              <a:t>Graduation</a:t>
            </a:r>
            <a:r>
              <a:rPr lang="pt-PT" sz="1800" b="1" u="sng" dirty="0">
                <a:solidFill>
                  <a:srgbClr val="FFFF00"/>
                </a:solidFill>
                <a:latin typeface="Arial" charset="0"/>
                <a:ea typeface="Arial" charset="0"/>
                <a:cs typeface="Arial" charset="0"/>
              </a:rPr>
              <a:t> in </a:t>
            </a:r>
            <a:r>
              <a:rPr lang="pt-PT" sz="1800" b="1" cap="all" dirty="0" err="1">
                <a:solidFill>
                  <a:srgbClr val="FFFF00"/>
                </a:solidFill>
              </a:rPr>
              <a:t>Informatics</a:t>
            </a:r>
            <a:r>
              <a:rPr lang="pt-PT" sz="1800" b="1" cap="all" dirty="0">
                <a:solidFill>
                  <a:srgbClr val="FFFF00"/>
                </a:solidFill>
              </a:rPr>
              <a:t> </a:t>
            </a:r>
            <a:r>
              <a:rPr lang="pt-PT" sz="1800" b="1" cap="all" dirty="0" err="1">
                <a:solidFill>
                  <a:srgbClr val="FFFF00"/>
                </a:solidFill>
              </a:rPr>
              <a:t>engineering</a:t>
            </a:r>
            <a:endParaRPr lang="pt-PT" dirty="0">
              <a:solidFill>
                <a:srgbClr val="FFFF00"/>
              </a:solidFill>
            </a:endParaRPr>
          </a:p>
        </p:txBody>
      </p:sp>
    </p:spTree>
    <p:extLst>
      <p:ext uri="{BB962C8B-B14F-4D97-AF65-F5344CB8AC3E}">
        <p14:creationId xmlns:p14="http://schemas.microsoft.com/office/powerpoint/2010/main" val="9623015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EC4F2-62F4-FCA2-90DB-88854DD725C4}"/>
            </a:ext>
          </a:extLst>
        </p:cNvPr>
        <p:cNvGrpSpPr/>
        <p:nvPr/>
      </p:nvGrpSpPr>
      <p:grpSpPr>
        <a:xfrm>
          <a:off x="0" y="0"/>
          <a:ext cx="0" cy="0"/>
          <a:chOff x="0" y="0"/>
          <a:chExt cx="0" cy="0"/>
        </a:xfrm>
      </p:grpSpPr>
      <p:pic>
        <p:nvPicPr>
          <p:cNvPr id="2" name="Imagem 1">
            <a:extLst>
              <a:ext uri="{FF2B5EF4-FFF2-40B4-BE49-F238E27FC236}">
                <a16:creationId xmlns:a16="http://schemas.microsoft.com/office/drawing/2014/main" id="{12192F8D-B6D8-AAE4-7D20-7C1654EC99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Subtítulo 2">
            <a:extLst>
              <a:ext uri="{FF2B5EF4-FFF2-40B4-BE49-F238E27FC236}">
                <a16:creationId xmlns:a16="http://schemas.microsoft.com/office/drawing/2014/main" id="{874281E2-D97B-C905-E608-2DE450DF01E6}"/>
              </a:ext>
            </a:extLst>
          </p:cNvPr>
          <p:cNvSpPr>
            <a:spLocks noGrp="1"/>
          </p:cNvSpPr>
          <p:nvPr>
            <p:ph type="subTitle" idx="1"/>
          </p:nvPr>
        </p:nvSpPr>
        <p:spPr>
          <a:xfrm>
            <a:off x="2000250" y="5867400"/>
            <a:ext cx="5143500" cy="489738"/>
          </a:xfrm>
        </p:spPr>
        <p:txBody>
          <a:bodyPr>
            <a:normAutofit/>
          </a:bodyPr>
          <a:lstStyle/>
          <a:p>
            <a:r>
              <a:rPr lang="pt-PT" sz="1500" dirty="0" err="1">
                <a:solidFill>
                  <a:schemeClr val="bg1"/>
                </a:solidFill>
                <a:latin typeface="Arial" charset="0"/>
                <a:ea typeface="Arial" charset="0"/>
                <a:cs typeface="Arial" charset="0"/>
              </a:rPr>
              <a:t>www.ipvc.pt</a:t>
            </a:r>
            <a:endParaRPr lang="pt-PT" sz="1500" dirty="0">
              <a:solidFill>
                <a:schemeClr val="bg1"/>
              </a:solidFill>
              <a:latin typeface="Arial" charset="0"/>
              <a:ea typeface="Arial" charset="0"/>
              <a:cs typeface="Arial" charset="0"/>
            </a:endParaRPr>
          </a:p>
        </p:txBody>
      </p:sp>
      <p:sp>
        <p:nvSpPr>
          <p:cNvPr id="5" name="Título 1">
            <a:extLst>
              <a:ext uri="{FF2B5EF4-FFF2-40B4-BE49-F238E27FC236}">
                <a16:creationId xmlns:a16="http://schemas.microsoft.com/office/drawing/2014/main" id="{9285D5DB-F7A5-B2D6-F0C7-4752768402ED}"/>
              </a:ext>
            </a:extLst>
          </p:cNvPr>
          <p:cNvSpPr>
            <a:spLocks noGrp="1"/>
          </p:cNvSpPr>
          <p:nvPr>
            <p:ph type="ctrTitle"/>
          </p:nvPr>
        </p:nvSpPr>
        <p:spPr>
          <a:xfrm>
            <a:off x="1828800" y="3429000"/>
            <a:ext cx="5486400" cy="552329"/>
          </a:xfrm>
        </p:spPr>
        <p:txBody>
          <a:bodyPr>
            <a:normAutofit/>
          </a:bodyPr>
          <a:lstStyle/>
          <a:p>
            <a:r>
              <a:rPr lang="pt-PT" sz="2500" b="1" dirty="0">
                <a:solidFill>
                  <a:schemeClr val="bg1"/>
                </a:solidFill>
                <a:latin typeface="Arial" charset="0"/>
                <a:ea typeface="Arial" charset="0"/>
                <a:cs typeface="Arial" charset="0"/>
              </a:rPr>
              <a:t>Ponto Controlo 0</a:t>
            </a:r>
          </a:p>
        </p:txBody>
      </p:sp>
    </p:spTree>
    <p:extLst>
      <p:ext uri="{BB962C8B-B14F-4D97-AF65-F5344CB8AC3E}">
        <p14:creationId xmlns:p14="http://schemas.microsoft.com/office/powerpoint/2010/main" val="23001544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Text Box 10"/>
          <p:cNvSpPr txBox="1">
            <a:spLocks noChangeArrowheads="1"/>
          </p:cNvSpPr>
          <p:nvPr/>
        </p:nvSpPr>
        <p:spPr bwMode="auto">
          <a:xfrm>
            <a:off x="8288338" y="6296025"/>
            <a:ext cx="827087" cy="366713"/>
          </a:xfrm>
          <a:prstGeom prst="rect">
            <a:avLst/>
          </a:prstGeom>
          <a:noFill/>
          <a:ln w="9525">
            <a:noFill/>
            <a:miter lim="800000"/>
            <a:headEnd/>
            <a:tailEnd/>
          </a:ln>
        </p:spPr>
        <p:txBody>
          <a:bodyPr>
            <a:spAutoFit/>
          </a:bodyPr>
          <a:lstStyle/>
          <a:p>
            <a:pPr>
              <a:spcBef>
                <a:spcPct val="50000"/>
              </a:spcBef>
            </a:pPr>
            <a:endParaRPr lang="pt-PT"/>
          </a:p>
        </p:txBody>
      </p:sp>
      <p:sp>
        <p:nvSpPr>
          <p:cNvPr id="10244" name="Rectangle 11"/>
          <p:cNvSpPr>
            <a:spLocks noChangeArrowheads="1"/>
          </p:cNvSpPr>
          <p:nvPr/>
        </p:nvSpPr>
        <p:spPr bwMode="auto">
          <a:xfrm>
            <a:off x="8327571" y="6496091"/>
            <a:ext cx="936625" cy="260350"/>
          </a:xfrm>
          <a:prstGeom prst="rect">
            <a:avLst/>
          </a:prstGeom>
          <a:noFill/>
          <a:ln w="9525">
            <a:noFill/>
            <a:miter lim="800000"/>
            <a:headEnd/>
            <a:tailEnd/>
          </a:ln>
        </p:spPr>
        <p:txBody>
          <a:bodyPr anchor="ctr"/>
          <a:lstStyle/>
          <a:p>
            <a:pPr algn="ctr"/>
            <a:r>
              <a:rPr lang="pt-PT" sz="1000" dirty="0"/>
              <a:t>- </a:t>
            </a:r>
            <a:fld id="{1234D2FF-8FB9-47A1-B8C9-42A5F500BA2F}" type="slidenum">
              <a:rPr lang="pt-PT" sz="1000"/>
              <a:pPr algn="ctr"/>
              <a:t>3</a:t>
            </a:fld>
            <a:r>
              <a:rPr lang="pt-PT" sz="1000" dirty="0"/>
              <a:t> -</a:t>
            </a:r>
          </a:p>
        </p:txBody>
      </p:sp>
      <p:sp>
        <p:nvSpPr>
          <p:cNvPr id="9229" name="Text Box 13"/>
          <p:cNvSpPr txBox="1">
            <a:spLocks noChangeArrowheads="1"/>
          </p:cNvSpPr>
          <p:nvPr/>
        </p:nvSpPr>
        <p:spPr bwMode="auto">
          <a:xfrm>
            <a:off x="306388" y="557213"/>
            <a:ext cx="6981825" cy="400050"/>
          </a:xfrm>
          <a:prstGeom prst="rect">
            <a:avLst/>
          </a:prstGeom>
          <a:noFill/>
          <a:ln w="9525">
            <a:noFill/>
            <a:miter lim="800000"/>
            <a:headEnd/>
            <a:tailEnd/>
          </a:ln>
          <a:effectLst/>
        </p:spPr>
        <p:txBody>
          <a:bodyPr>
            <a:spAutoFit/>
          </a:bodyPr>
          <a:lstStyle/>
          <a:p>
            <a:pPr>
              <a:spcBef>
                <a:spcPct val="50000"/>
              </a:spcBef>
              <a:defRPr/>
            </a:pPr>
            <a:r>
              <a:rPr lang="pt-PT" sz="2000" b="1" dirty="0">
                <a:solidFill>
                  <a:srgbClr val="C00000"/>
                </a:solidFill>
                <a:effectLst>
                  <a:outerShdw blurRad="38100" dist="38100" dir="2700000" algn="tl">
                    <a:srgbClr val="C0C0C0"/>
                  </a:outerShdw>
                </a:effectLst>
                <a:latin typeface="Arial"/>
                <a:cs typeface="Arial"/>
              </a:rPr>
              <a:t>■</a:t>
            </a:r>
            <a:r>
              <a:rPr lang="pt-PT" sz="2000" b="1" dirty="0">
                <a:effectLst>
                  <a:outerShdw blurRad="38100" dist="38100" dir="2700000" algn="tl">
                    <a:srgbClr val="C0C0C0"/>
                  </a:outerShdw>
                </a:effectLst>
                <a:latin typeface="Arial"/>
                <a:cs typeface="Arial"/>
              </a:rPr>
              <a:t> Summary</a:t>
            </a:r>
            <a:endParaRPr lang="pt-PT" sz="2000" b="1" dirty="0">
              <a:effectLst>
                <a:outerShdw blurRad="38100" dist="38100" dir="2700000" algn="tl">
                  <a:srgbClr val="C0C0C0"/>
                </a:outerShdw>
              </a:effectLst>
              <a:latin typeface="Arial" charset="0"/>
            </a:endParaRPr>
          </a:p>
        </p:txBody>
      </p:sp>
      <p:sp>
        <p:nvSpPr>
          <p:cNvPr id="10247" name="Line 15"/>
          <p:cNvSpPr>
            <a:spLocks noChangeShapeType="1"/>
          </p:cNvSpPr>
          <p:nvPr/>
        </p:nvSpPr>
        <p:spPr bwMode="auto">
          <a:xfrm>
            <a:off x="250825" y="0"/>
            <a:ext cx="0" cy="765175"/>
          </a:xfrm>
          <a:prstGeom prst="line">
            <a:avLst/>
          </a:prstGeom>
          <a:noFill/>
          <a:ln w="25400">
            <a:solidFill>
              <a:schemeClr val="tx1"/>
            </a:solidFill>
            <a:round/>
            <a:headEnd/>
            <a:tailEnd/>
          </a:ln>
        </p:spPr>
        <p:txBody>
          <a:bodyPr/>
          <a:lstStyle/>
          <a:p>
            <a:endParaRPr lang="pt-PT"/>
          </a:p>
        </p:txBody>
      </p:sp>
      <p:sp>
        <p:nvSpPr>
          <p:cNvPr id="9237" name="Text Box 21"/>
          <p:cNvSpPr txBox="1">
            <a:spLocks noChangeArrowheads="1"/>
          </p:cNvSpPr>
          <p:nvPr/>
        </p:nvSpPr>
        <p:spPr bwMode="auto">
          <a:xfrm>
            <a:off x="260350" y="44450"/>
            <a:ext cx="6981825" cy="304800"/>
          </a:xfrm>
          <a:prstGeom prst="rect">
            <a:avLst/>
          </a:prstGeom>
          <a:noFill/>
          <a:ln w="9525">
            <a:noFill/>
            <a:miter lim="800000"/>
            <a:headEnd/>
            <a:tailEnd/>
          </a:ln>
          <a:effectLst/>
        </p:spPr>
        <p:txBody>
          <a:bodyPr>
            <a:spAutoFit/>
          </a:bodyPr>
          <a:lstStyle/>
          <a:p>
            <a:pPr>
              <a:spcBef>
                <a:spcPct val="50000"/>
              </a:spcBef>
              <a:defRPr/>
            </a:pPr>
            <a:endParaRPr lang="pt-PT" sz="1400" b="1" dirty="0">
              <a:solidFill>
                <a:srgbClr val="FF3300"/>
              </a:solidFill>
              <a:effectLst>
                <a:outerShdw blurRad="38100" dist="38100" dir="2700000" algn="tl">
                  <a:srgbClr val="C0C0C0"/>
                </a:outerShdw>
              </a:effectLst>
              <a:latin typeface="Arial" charset="0"/>
            </a:endParaRPr>
          </a:p>
        </p:txBody>
      </p:sp>
      <p:sp>
        <p:nvSpPr>
          <p:cNvPr id="19" name="Marcador de Posição de Conteúdo 2"/>
          <p:cNvSpPr txBox="1">
            <a:spLocks/>
          </p:cNvSpPr>
          <p:nvPr/>
        </p:nvSpPr>
        <p:spPr>
          <a:xfrm>
            <a:off x="457200" y="1219200"/>
            <a:ext cx="8229600" cy="4937760"/>
          </a:xfrm>
          <a:prstGeom prst="rect">
            <a:avLst/>
          </a:prstGeom>
        </p:spPr>
        <p:txBody>
          <a:bodyPr vert="horz" lIns="91440" tIns="45720" rIns="91440" bIns="45720" rtlCol="0">
            <a:normAutofit/>
          </a:bodyPr>
          <a:lstStyle/>
          <a:p>
            <a:pPr>
              <a:lnSpc>
                <a:spcPct val="150000"/>
              </a:lnSpc>
            </a:pPr>
            <a:r>
              <a:rPr lang="pt-PT" dirty="0">
                <a:latin typeface="Arial" pitchFamily="34" charset="0"/>
                <a:cs typeface="Arial" pitchFamily="34" charset="0"/>
              </a:rPr>
              <a:t>1. </a:t>
            </a:r>
            <a:r>
              <a:rPr lang="pt-PT" dirty="0" err="1">
                <a:latin typeface="Arial" pitchFamily="34" charset="0"/>
                <a:cs typeface="Arial" pitchFamily="34" charset="0"/>
              </a:rPr>
              <a:t>Introduction</a:t>
            </a:r>
            <a:r>
              <a:rPr lang="pt-PT" dirty="0">
                <a:latin typeface="Arial" pitchFamily="34" charset="0"/>
                <a:cs typeface="Arial" pitchFamily="34" charset="0"/>
              </a:rPr>
              <a:t> </a:t>
            </a:r>
            <a:r>
              <a:rPr lang="pt-PT" dirty="0" err="1">
                <a:latin typeface="Arial" pitchFamily="34" charset="0"/>
                <a:cs typeface="Arial" pitchFamily="34" charset="0"/>
              </a:rPr>
              <a:t>and</a:t>
            </a:r>
            <a:r>
              <a:rPr lang="pt-PT" dirty="0">
                <a:latin typeface="Arial" pitchFamily="34" charset="0"/>
                <a:cs typeface="Arial" pitchFamily="34" charset="0"/>
              </a:rPr>
              <a:t> </a:t>
            </a:r>
            <a:r>
              <a:rPr lang="pt-PT" dirty="0" err="1">
                <a:latin typeface="Arial" pitchFamily="34" charset="0"/>
                <a:cs typeface="Arial" pitchFamily="34" charset="0"/>
              </a:rPr>
              <a:t>Objectives</a:t>
            </a:r>
            <a:endParaRPr lang="en-US" dirty="0">
              <a:latin typeface="Arial" pitchFamily="34" charset="0"/>
              <a:cs typeface="Arial" pitchFamily="34" charset="0"/>
            </a:endParaRPr>
          </a:p>
          <a:p>
            <a:pPr>
              <a:lnSpc>
                <a:spcPct val="150000"/>
              </a:lnSpc>
            </a:pPr>
            <a:r>
              <a:rPr lang="en-US" dirty="0">
                <a:latin typeface="Arial" pitchFamily="34" charset="0"/>
                <a:cs typeface="Arial" pitchFamily="34" charset="0"/>
              </a:rPr>
              <a:t>2. Functional and Non-Functional requirements</a:t>
            </a:r>
          </a:p>
          <a:p>
            <a:pPr>
              <a:lnSpc>
                <a:spcPct val="150000"/>
              </a:lnSpc>
            </a:pPr>
            <a:r>
              <a:rPr lang="en-US" dirty="0">
                <a:latin typeface="Arial" pitchFamily="34" charset="0"/>
                <a:cs typeface="Arial" pitchFamily="34" charset="0"/>
              </a:rPr>
              <a:t>3. Use Cases, Users Analysis</a:t>
            </a:r>
          </a:p>
          <a:p>
            <a:pPr lvl="1">
              <a:lnSpc>
                <a:spcPct val="150000"/>
              </a:lnSpc>
            </a:pPr>
            <a:r>
              <a:rPr lang="en-US" dirty="0">
                <a:latin typeface="Arial" pitchFamily="34" charset="0"/>
                <a:cs typeface="Arial" pitchFamily="34" charset="0"/>
              </a:rPr>
              <a:t>3.1 Users Analysis</a:t>
            </a:r>
          </a:p>
          <a:p>
            <a:pPr lvl="1">
              <a:lnSpc>
                <a:spcPct val="150000"/>
              </a:lnSpc>
            </a:pPr>
            <a:r>
              <a:rPr lang="en-US" dirty="0">
                <a:latin typeface="Arial" pitchFamily="34" charset="0"/>
                <a:cs typeface="Arial" pitchFamily="34" charset="0"/>
              </a:rPr>
              <a:t>3.2 Use Cases</a:t>
            </a:r>
          </a:p>
          <a:p>
            <a:pPr>
              <a:lnSpc>
                <a:spcPct val="150000"/>
              </a:lnSpc>
            </a:pPr>
            <a:r>
              <a:rPr lang="en-US" dirty="0">
                <a:latin typeface="Arial" pitchFamily="34" charset="0"/>
                <a:cs typeface="Arial" pitchFamily="34" charset="0"/>
              </a:rPr>
              <a:t>4. Data Sources</a:t>
            </a:r>
          </a:p>
          <a:p>
            <a:pPr>
              <a:lnSpc>
                <a:spcPct val="150000"/>
              </a:lnSpc>
            </a:pPr>
            <a:r>
              <a:rPr lang="en-US" dirty="0">
                <a:latin typeface="Arial" pitchFamily="34" charset="0"/>
                <a:cs typeface="Arial" pitchFamily="34" charset="0"/>
              </a:rPr>
              <a:t>5. Conclusion and Future Work</a:t>
            </a:r>
          </a:p>
          <a:p>
            <a:pPr>
              <a:lnSpc>
                <a:spcPct val="150000"/>
              </a:lnSpc>
            </a:pPr>
            <a:r>
              <a:rPr lang="en-US" dirty="0">
                <a:latin typeface="Arial" pitchFamily="34" charset="0"/>
                <a:cs typeface="Arial" pitchFamily="34" charset="0"/>
              </a:rPr>
              <a:t>6. Bibliography and Web References </a:t>
            </a:r>
          </a:p>
          <a:p>
            <a:pPr>
              <a:lnSpc>
                <a:spcPct val="200000"/>
              </a:lnSpc>
              <a:spcBef>
                <a:spcPct val="20000"/>
              </a:spcBef>
            </a:pPr>
            <a:endParaRPr lang="pt-PT" sz="2000" dirty="0">
              <a:latin typeface="Arial" pitchFamily="34" charset="0"/>
              <a:cs typeface="Arial" pitchFamily="34" charset="0"/>
            </a:endParaRPr>
          </a:p>
          <a:p>
            <a:pPr lvl="0">
              <a:lnSpc>
                <a:spcPct val="200000"/>
              </a:lnSpc>
              <a:spcBef>
                <a:spcPct val="20000"/>
              </a:spcBef>
            </a:pPr>
            <a:endParaRPr kumimoji="0" lang="pt-PT" sz="2000" b="0" i="0" u="none" strike="noStrike" kern="1200" cap="none" spc="0" normalizeH="0" baseline="0" noProof="0" dirty="0">
              <a:ln>
                <a:noFill/>
              </a:ln>
              <a:effectLst/>
              <a:uLnTx/>
              <a:uFillTx/>
              <a:latin typeface="Arial" pitchFamily="34" charset="0"/>
              <a:cs typeface="Arial" pitchFamily="34" charset="0"/>
            </a:endParaRPr>
          </a:p>
          <a:p>
            <a:pPr marL="457200" marR="0" lvl="1" indent="0" defTabSz="914400" rtl="0" eaLnBrk="1" fontAlgn="auto" latinLnBrk="0" hangingPunct="1">
              <a:lnSpc>
                <a:spcPct val="200000"/>
              </a:lnSpc>
              <a:spcBef>
                <a:spcPct val="20000"/>
              </a:spcBef>
              <a:spcAft>
                <a:spcPts val="0"/>
              </a:spcAft>
              <a:buClrTx/>
              <a:buSzTx/>
              <a:buFont typeface="Arial" pitchFamily="34" charset="0"/>
              <a:buNone/>
              <a:tabLst/>
              <a:defRPr/>
            </a:pPr>
            <a:endParaRPr kumimoji="0" lang="pt-PT" sz="2000" b="0" i="0" u="none" strike="noStrike" kern="1200" cap="none" spc="0" normalizeH="0" baseline="0" noProof="0" dirty="0">
              <a:ln>
                <a:noFill/>
              </a:ln>
              <a:effectLst/>
              <a:uLnTx/>
              <a:uFillTx/>
              <a:latin typeface="Arial" pitchFamily="34" charset="0"/>
              <a:cs typeface="Arial" pitchFamily="34" charset="0"/>
            </a:endParaRPr>
          </a:p>
          <a:p>
            <a:pPr marL="457200" marR="0" lvl="1" indent="0" defTabSz="914400" rtl="0" eaLnBrk="1" fontAlgn="auto" latinLnBrk="0" hangingPunct="1">
              <a:lnSpc>
                <a:spcPct val="200000"/>
              </a:lnSpc>
              <a:spcBef>
                <a:spcPct val="20000"/>
              </a:spcBef>
              <a:spcAft>
                <a:spcPts val="0"/>
              </a:spcAft>
              <a:buClrTx/>
              <a:buSzTx/>
              <a:buFont typeface="Arial" pitchFamily="34" charset="0"/>
              <a:buNone/>
              <a:tabLst/>
              <a:defRPr/>
            </a:pPr>
            <a:endParaRPr kumimoji="0" lang="pt-PT" sz="2000" b="0" i="0" u="none" strike="noStrike" kern="1200" cap="none" spc="0" normalizeH="0" baseline="0" noProof="0" dirty="0">
              <a:ln>
                <a:noFill/>
              </a:ln>
              <a:effectLst/>
              <a:uLnTx/>
              <a:uFillTx/>
              <a:latin typeface="Arial" pitchFamily="34" charset="0"/>
              <a:cs typeface="Arial" pitchFamily="34" charset="0"/>
            </a:endParaRPr>
          </a:p>
          <a:p>
            <a:pPr marL="0" marR="0" lvl="0" indent="0" defTabSz="914400" rtl="0" eaLnBrk="1" fontAlgn="auto" latinLnBrk="0" hangingPunct="1">
              <a:lnSpc>
                <a:spcPct val="200000"/>
              </a:lnSpc>
              <a:spcBef>
                <a:spcPct val="20000"/>
              </a:spcBef>
              <a:spcAft>
                <a:spcPts val="0"/>
              </a:spcAft>
              <a:buClrTx/>
              <a:buSzTx/>
              <a:buFont typeface="Arial" pitchFamily="34" charset="0"/>
              <a:buNone/>
              <a:tabLst/>
              <a:defRPr/>
            </a:pPr>
            <a:endParaRPr kumimoji="0" lang="pt-PT" sz="2000" b="0" i="0" u="none" strike="noStrike" kern="1200" cap="none" spc="0" normalizeH="0" baseline="0" noProof="0" dirty="0">
              <a:ln>
                <a:noFill/>
              </a:ln>
              <a:effectLst/>
              <a:uLnTx/>
              <a:uFillTx/>
              <a:latin typeface="Arial" pitchFamily="34" charset="0"/>
              <a:cs typeface="Arial" pitchFamily="34" charset="0"/>
            </a:endParaRPr>
          </a:p>
          <a:p>
            <a:pPr marL="0" marR="0" lvl="0" indent="0" defTabSz="914400" rtl="0" eaLnBrk="1" fontAlgn="auto" latinLnBrk="0" hangingPunct="1">
              <a:lnSpc>
                <a:spcPct val="200000"/>
              </a:lnSpc>
              <a:spcBef>
                <a:spcPct val="20000"/>
              </a:spcBef>
              <a:spcAft>
                <a:spcPts val="0"/>
              </a:spcAft>
              <a:buClrTx/>
              <a:buSzTx/>
              <a:buFont typeface="Arial" pitchFamily="34" charset="0"/>
              <a:buNone/>
              <a:tabLst/>
              <a:defRPr/>
            </a:pPr>
            <a:endParaRPr kumimoji="0" lang="pt-PT" sz="2000" b="0" i="0" u="none" strike="noStrike" kern="1200" cap="none" spc="0" normalizeH="0" baseline="0" noProof="0" dirty="0">
              <a:ln>
                <a:noFill/>
              </a:ln>
              <a:effectLst/>
              <a:uLnTx/>
              <a:uFillTx/>
              <a:latin typeface="Arial" pitchFamily="34" charset="0"/>
              <a:cs typeface="Arial" pitchFamily="34" charset="0"/>
            </a:endParaRPr>
          </a:p>
          <a:p>
            <a:pPr marL="0" marR="0" lvl="0" indent="0" defTabSz="914400" rtl="0" eaLnBrk="1" fontAlgn="auto" latinLnBrk="0" hangingPunct="1">
              <a:lnSpc>
                <a:spcPct val="200000"/>
              </a:lnSpc>
              <a:spcBef>
                <a:spcPct val="20000"/>
              </a:spcBef>
              <a:spcAft>
                <a:spcPts val="0"/>
              </a:spcAft>
              <a:buClrTx/>
              <a:buSzTx/>
              <a:buFont typeface="Arial" pitchFamily="34" charset="0"/>
              <a:buNone/>
              <a:tabLst/>
              <a:defRPr/>
            </a:pPr>
            <a:endParaRPr kumimoji="0" lang="pt-PT" sz="2000" b="0" i="0" u="none" strike="noStrike" kern="1200" cap="none" spc="0" normalizeH="0" baseline="0" noProof="0" dirty="0">
              <a:ln>
                <a:noFill/>
              </a:ln>
              <a:effectLst/>
              <a:uLnTx/>
              <a:uFillTx/>
              <a:latin typeface="Arial" pitchFamily="34" charset="0"/>
              <a:cs typeface="Arial" pitchFamily="34" charset="0"/>
            </a:endParaRPr>
          </a:p>
        </p:txBody>
      </p:sp>
      <p:pic>
        <p:nvPicPr>
          <p:cNvPr id="7" name="Imagem 6">
            <a:extLst>
              <a:ext uri="{FF2B5EF4-FFF2-40B4-BE49-F238E27FC236}">
                <a16:creationId xmlns:a16="http://schemas.microsoft.com/office/drawing/2014/main" id="{54D42837-E70D-4C64-A8A7-E7F751502B92}"/>
              </a:ext>
            </a:extLst>
          </p:cNvPr>
          <p:cNvPicPr>
            <a:picLocks noChangeAspect="1"/>
          </p:cNvPicPr>
          <p:nvPr/>
        </p:nvPicPr>
        <p:blipFill>
          <a:blip r:embed="rId3"/>
          <a:stretch>
            <a:fillRect/>
          </a:stretch>
        </p:blipFill>
        <p:spPr>
          <a:xfrm>
            <a:off x="101225" y="904241"/>
            <a:ext cx="9014192" cy="266482"/>
          </a:xfrm>
          <a:prstGeom prst="rect">
            <a:avLst/>
          </a:prstGeom>
        </p:spPr>
      </p:pic>
      <p:pic>
        <p:nvPicPr>
          <p:cNvPr id="9" name="Imagem 8">
            <a:extLst>
              <a:ext uri="{FF2B5EF4-FFF2-40B4-BE49-F238E27FC236}">
                <a16:creationId xmlns:a16="http://schemas.microsoft.com/office/drawing/2014/main" id="{81982921-1900-46B5-BE82-07BECCD63918}"/>
              </a:ext>
            </a:extLst>
          </p:cNvPr>
          <p:cNvPicPr>
            <a:picLocks noChangeAspect="1"/>
          </p:cNvPicPr>
          <p:nvPr/>
        </p:nvPicPr>
        <p:blipFill>
          <a:blip r:embed="rId4"/>
          <a:stretch>
            <a:fillRect/>
          </a:stretch>
        </p:blipFill>
        <p:spPr>
          <a:xfrm>
            <a:off x="0" y="6320212"/>
            <a:ext cx="9144000" cy="253252"/>
          </a:xfrm>
          <a:prstGeom prst="rect">
            <a:avLst/>
          </a:prstGeom>
        </p:spPr>
      </p:pic>
      <p:sp>
        <p:nvSpPr>
          <p:cNvPr id="22" name="Subtítulo 2">
            <a:extLst>
              <a:ext uri="{FF2B5EF4-FFF2-40B4-BE49-F238E27FC236}">
                <a16:creationId xmlns:a16="http://schemas.microsoft.com/office/drawing/2014/main" id="{4398899E-D25D-42E0-BC1A-908F28573164}"/>
              </a:ext>
            </a:extLst>
          </p:cNvPr>
          <p:cNvSpPr txBox="1">
            <a:spLocks/>
          </p:cNvSpPr>
          <p:nvPr/>
        </p:nvSpPr>
        <p:spPr>
          <a:xfrm>
            <a:off x="836017" y="6524516"/>
            <a:ext cx="7698382" cy="162409"/>
          </a:xfrm>
          <a:prstGeom prst="rect">
            <a:avLst/>
          </a:prstGeom>
        </p:spPr>
        <p:txBody>
          <a:bodyPr vert="horz" lIns="68580" tIns="34290" rIns="68580" bIns="3429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pt-PT" sz="900" dirty="0">
                <a:latin typeface="Arial" charset="0"/>
                <a:ea typeface="Arial" charset="0"/>
                <a:cs typeface="Arial" charset="0"/>
              </a:rPr>
              <a:t>@Diogo Monteiro - 32428, Gonçalo Teixeira - 31396 | </a:t>
            </a:r>
            <a:r>
              <a:rPr lang="pt-PT" sz="900" b="1" dirty="0">
                <a:solidFill>
                  <a:srgbClr val="C00000"/>
                </a:solidFill>
                <a:latin typeface="Arial" charset="0"/>
                <a:ea typeface="Arial" charset="0"/>
                <a:cs typeface="Arial" charset="0"/>
              </a:rPr>
              <a:t>Unidade Curricular: Projeto III </a:t>
            </a:r>
            <a:r>
              <a:rPr lang="pt-PT" sz="900" dirty="0">
                <a:latin typeface="Arial" charset="0"/>
                <a:ea typeface="Arial" charset="0"/>
                <a:cs typeface="Arial" charset="0"/>
              </a:rPr>
              <a:t>– Ano Letivo 2024/2025 – </a:t>
            </a:r>
            <a:r>
              <a:rPr lang="pt-PT" sz="900" b="1" dirty="0">
                <a:latin typeface="Arial" charset="0"/>
                <a:ea typeface="Arial" charset="0"/>
                <a:cs typeface="Arial" charset="0"/>
              </a:rPr>
              <a:t>MCZ03</a:t>
            </a:r>
          </a:p>
        </p:txBody>
      </p:sp>
      <p:pic>
        <p:nvPicPr>
          <p:cNvPr id="13" name="Imagem 12">
            <a:extLst>
              <a:ext uri="{FF2B5EF4-FFF2-40B4-BE49-F238E27FC236}">
                <a16:creationId xmlns:a16="http://schemas.microsoft.com/office/drawing/2014/main" id="{BE263CB9-5E3B-4385-9450-974CDF0F6C7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8125" y="6488336"/>
            <a:ext cx="545959" cy="199802"/>
          </a:xfrm>
          <a:prstGeom prst="rect">
            <a:avLst/>
          </a:prstGeom>
        </p:spPr>
      </p:pic>
      <p:sp>
        <p:nvSpPr>
          <p:cNvPr id="3" name="Rectângulo 19">
            <a:extLst>
              <a:ext uri="{FF2B5EF4-FFF2-40B4-BE49-F238E27FC236}">
                <a16:creationId xmlns:a16="http://schemas.microsoft.com/office/drawing/2014/main" id="{850208AF-C5A5-C009-177D-8C27BB5DCC8B}"/>
              </a:ext>
            </a:extLst>
          </p:cNvPr>
          <p:cNvSpPr/>
          <p:nvPr/>
        </p:nvSpPr>
        <p:spPr>
          <a:xfrm>
            <a:off x="5535613" y="553019"/>
            <a:ext cx="3505200" cy="261610"/>
          </a:xfrm>
          <a:prstGeom prst="rect">
            <a:avLst/>
          </a:prstGeom>
        </p:spPr>
        <p:txBody>
          <a:bodyPr wrap="square">
            <a:spAutoFit/>
          </a:bodyPr>
          <a:lstStyle/>
          <a:p>
            <a:pPr algn="r"/>
            <a:r>
              <a:rPr lang="pt-PT" sz="1100" b="1" cap="all" dirty="0" err="1">
                <a:highlight>
                  <a:srgbClr val="FFFF00"/>
                </a:highlight>
              </a:rPr>
              <a:t>Graduation</a:t>
            </a:r>
            <a:r>
              <a:rPr lang="pt-PT" sz="1100" b="1" cap="all" dirty="0">
                <a:highlight>
                  <a:srgbClr val="FFFF00"/>
                </a:highlight>
              </a:rPr>
              <a:t> in </a:t>
            </a:r>
            <a:r>
              <a:rPr lang="pt-PT" sz="1100" b="1" cap="all" dirty="0" err="1">
                <a:highlight>
                  <a:srgbClr val="FFFF00"/>
                </a:highlight>
              </a:rPr>
              <a:t>Informatics</a:t>
            </a:r>
            <a:r>
              <a:rPr lang="pt-PT" sz="1100" b="1" cap="all" dirty="0">
                <a:highlight>
                  <a:srgbClr val="FFFF00"/>
                </a:highlight>
              </a:rPr>
              <a:t> </a:t>
            </a:r>
            <a:r>
              <a:rPr lang="pt-PT" sz="1100" b="1" cap="all" dirty="0" err="1">
                <a:highlight>
                  <a:srgbClr val="FFFF00"/>
                </a:highlight>
              </a:rPr>
              <a:t>engineering</a:t>
            </a:r>
            <a:endParaRPr lang="pt-PT" sz="1100" dirty="0">
              <a:highlight>
                <a:srgbClr val="FFFF00"/>
              </a:highlight>
            </a:endParaRPr>
          </a:p>
        </p:txBody>
      </p:sp>
      <p:pic>
        <p:nvPicPr>
          <p:cNvPr id="5" name="Imagem 4">
            <a:extLst>
              <a:ext uri="{FF2B5EF4-FFF2-40B4-BE49-F238E27FC236}">
                <a16:creationId xmlns:a16="http://schemas.microsoft.com/office/drawing/2014/main" id="{4B69841B-4743-42E9-837A-73B87FC5C8C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575316" y="9186"/>
            <a:ext cx="2575034" cy="6398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9" name="Text Box 13"/>
          <p:cNvSpPr txBox="1">
            <a:spLocks noChangeArrowheads="1"/>
          </p:cNvSpPr>
          <p:nvPr/>
        </p:nvSpPr>
        <p:spPr bwMode="auto">
          <a:xfrm>
            <a:off x="306388" y="557213"/>
            <a:ext cx="6981825" cy="400050"/>
          </a:xfrm>
          <a:prstGeom prst="rect">
            <a:avLst/>
          </a:prstGeom>
          <a:noFill/>
          <a:ln w="9525">
            <a:noFill/>
            <a:miter lim="800000"/>
            <a:headEnd/>
            <a:tailEnd/>
          </a:ln>
          <a:effectLst/>
        </p:spPr>
        <p:txBody>
          <a:bodyPr>
            <a:spAutoFit/>
          </a:bodyPr>
          <a:lstStyle/>
          <a:p>
            <a:pPr>
              <a:spcBef>
                <a:spcPct val="50000"/>
              </a:spcBef>
              <a:defRPr/>
            </a:pPr>
            <a:r>
              <a:rPr lang="pt-PT" sz="2000" b="1" dirty="0">
                <a:solidFill>
                  <a:srgbClr val="C00000"/>
                </a:solidFill>
                <a:effectLst>
                  <a:outerShdw blurRad="38100" dist="38100" dir="2700000" algn="tl">
                    <a:srgbClr val="C0C0C0"/>
                  </a:outerShdw>
                </a:effectLst>
                <a:latin typeface="Arial"/>
                <a:cs typeface="Arial"/>
              </a:rPr>
              <a:t>■</a:t>
            </a:r>
            <a:r>
              <a:rPr lang="pt-PT" sz="2000" b="1" dirty="0">
                <a:effectLst>
                  <a:outerShdw blurRad="38100" dist="38100" dir="2700000" algn="tl">
                    <a:srgbClr val="C0C0C0"/>
                  </a:outerShdw>
                </a:effectLst>
                <a:latin typeface="Arial"/>
                <a:cs typeface="Arial"/>
              </a:rPr>
              <a:t> 1. </a:t>
            </a:r>
            <a:r>
              <a:rPr lang="pt-PT" sz="2000" b="1" dirty="0" err="1">
                <a:effectLst>
                  <a:outerShdw blurRad="38100" dist="38100" dir="2700000" algn="tl">
                    <a:srgbClr val="C0C0C0"/>
                  </a:outerShdw>
                </a:effectLst>
                <a:latin typeface="Arial" charset="0"/>
              </a:rPr>
              <a:t>Introduction</a:t>
            </a:r>
            <a:r>
              <a:rPr lang="pt-PT" sz="2000" b="1" dirty="0">
                <a:effectLst>
                  <a:outerShdw blurRad="38100" dist="38100" dir="2700000" algn="tl">
                    <a:srgbClr val="C0C0C0"/>
                  </a:outerShdw>
                </a:effectLst>
                <a:latin typeface="Arial" charset="0"/>
              </a:rPr>
              <a:t> </a:t>
            </a:r>
            <a:r>
              <a:rPr lang="pt-PT" sz="2000" b="1" dirty="0" err="1">
                <a:effectLst>
                  <a:outerShdw blurRad="38100" dist="38100" dir="2700000" algn="tl">
                    <a:srgbClr val="C0C0C0"/>
                  </a:outerShdw>
                </a:effectLst>
                <a:latin typeface="Arial" charset="0"/>
              </a:rPr>
              <a:t>and</a:t>
            </a:r>
            <a:r>
              <a:rPr lang="pt-PT" sz="2000" b="1" dirty="0">
                <a:effectLst>
                  <a:outerShdw blurRad="38100" dist="38100" dir="2700000" algn="tl">
                    <a:srgbClr val="C0C0C0"/>
                  </a:outerShdw>
                </a:effectLst>
                <a:latin typeface="Arial" charset="0"/>
              </a:rPr>
              <a:t> </a:t>
            </a:r>
            <a:r>
              <a:rPr lang="pt-PT" sz="2000" b="1" dirty="0" err="1">
                <a:effectLst>
                  <a:outerShdw blurRad="38100" dist="38100" dir="2700000" algn="tl">
                    <a:srgbClr val="C0C0C0"/>
                  </a:outerShdw>
                </a:effectLst>
                <a:latin typeface="Arial" charset="0"/>
              </a:rPr>
              <a:t>Objectives</a:t>
            </a:r>
            <a:endParaRPr lang="pt-PT" sz="2000" b="1" dirty="0">
              <a:effectLst>
                <a:outerShdw blurRad="38100" dist="38100" dir="2700000" algn="tl">
                  <a:srgbClr val="C0C0C0"/>
                </a:outerShdw>
              </a:effectLst>
              <a:latin typeface="Arial" charset="0"/>
            </a:endParaRPr>
          </a:p>
        </p:txBody>
      </p:sp>
      <p:sp>
        <p:nvSpPr>
          <p:cNvPr id="10247" name="Line 15"/>
          <p:cNvSpPr>
            <a:spLocks noChangeShapeType="1"/>
          </p:cNvSpPr>
          <p:nvPr/>
        </p:nvSpPr>
        <p:spPr bwMode="auto">
          <a:xfrm>
            <a:off x="250825" y="0"/>
            <a:ext cx="0" cy="765175"/>
          </a:xfrm>
          <a:prstGeom prst="line">
            <a:avLst/>
          </a:prstGeom>
          <a:noFill/>
          <a:ln w="25400">
            <a:solidFill>
              <a:schemeClr val="tx1"/>
            </a:solidFill>
            <a:round/>
            <a:headEnd/>
            <a:tailEnd/>
          </a:ln>
        </p:spPr>
        <p:txBody>
          <a:bodyPr/>
          <a:lstStyle/>
          <a:p>
            <a:endParaRPr lang="pt-PT"/>
          </a:p>
        </p:txBody>
      </p:sp>
      <p:sp>
        <p:nvSpPr>
          <p:cNvPr id="9237" name="Text Box 21"/>
          <p:cNvSpPr txBox="1">
            <a:spLocks noChangeArrowheads="1"/>
          </p:cNvSpPr>
          <p:nvPr/>
        </p:nvSpPr>
        <p:spPr bwMode="auto">
          <a:xfrm>
            <a:off x="260350" y="44450"/>
            <a:ext cx="6981825" cy="304800"/>
          </a:xfrm>
          <a:prstGeom prst="rect">
            <a:avLst/>
          </a:prstGeom>
          <a:noFill/>
          <a:ln w="9525">
            <a:noFill/>
            <a:miter lim="800000"/>
            <a:headEnd/>
            <a:tailEnd/>
          </a:ln>
          <a:effectLst/>
        </p:spPr>
        <p:txBody>
          <a:bodyPr>
            <a:spAutoFit/>
          </a:bodyPr>
          <a:lstStyle/>
          <a:p>
            <a:pPr>
              <a:spcBef>
                <a:spcPct val="50000"/>
              </a:spcBef>
              <a:defRPr/>
            </a:pPr>
            <a:endParaRPr lang="pt-PT" sz="1400" b="1" dirty="0">
              <a:solidFill>
                <a:srgbClr val="FF3300"/>
              </a:solidFill>
              <a:effectLst>
                <a:outerShdw blurRad="38100" dist="38100" dir="2700000" algn="tl">
                  <a:srgbClr val="C0C0C0"/>
                </a:outerShdw>
              </a:effectLst>
              <a:latin typeface="Arial" charset="0"/>
            </a:endParaRPr>
          </a:p>
        </p:txBody>
      </p:sp>
      <p:sp>
        <p:nvSpPr>
          <p:cNvPr id="12" name="CaixaDeTexto 11">
            <a:extLst>
              <a:ext uri="{FF2B5EF4-FFF2-40B4-BE49-F238E27FC236}">
                <a16:creationId xmlns:a16="http://schemas.microsoft.com/office/drawing/2014/main" id="{E11EED7C-F203-447C-8DD1-A9C2FABC7866}"/>
              </a:ext>
            </a:extLst>
          </p:cNvPr>
          <p:cNvSpPr txBox="1"/>
          <p:nvPr/>
        </p:nvSpPr>
        <p:spPr>
          <a:xfrm>
            <a:off x="419100" y="1122339"/>
            <a:ext cx="8305800" cy="4578433"/>
          </a:xfrm>
          <a:prstGeom prst="rect">
            <a:avLst/>
          </a:prstGeom>
          <a:noFill/>
          <a:ln>
            <a:noFill/>
          </a:ln>
        </p:spPr>
        <p:txBody>
          <a:bodyPr wrap="square" rtlCol="0">
            <a:spAutoFit/>
          </a:bodyPr>
          <a:lstStyle/>
          <a:p>
            <a:pPr algn="just">
              <a:lnSpc>
                <a:spcPct val="200000"/>
              </a:lnSpc>
            </a:pPr>
            <a:r>
              <a:rPr lang="en-US" i="1" dirty="0">
                <a:solidFill>
                  <a:srgbClr val="FFC000"/>
                </a:solidFill>
                <a:latin typeface="Arial"/>
                <a:cs typeface="Arial"/>
              </a:rPr>
              <a:t>■</a:t>
            </a:r>
            <a:r>
              <a:rPr lang="pt-PT" dirty="0"/>
              <a:t> </a:t>
            </a:r>
            <a:r>
              <a:rPr lang="en-US" sz="1600" dirty="0"/>
              <a:t>This checkpoint focuses on the initial analysis and foundation of the project. The main work consists of gathering and documenting the system requirements, analyzing the types of users and actions, designing the use case model, and identifying an appropriate dataset for wildfire detection using satellite images. </a:t>
            </a:r>
          </a:p>
          <a:p>
            <a:pPr>
              <a:lnSpc>
                <a:spcPct val="200000"/>
              </a:lnSpc>
            </a:pPr>
            <a:r>
              <a:rPr lang="en-US" i="1" dirty="0">
                <a:solidFill>
                  <a:srgbClr val="FFC000"/>
                </a:solidFill>
                <a:latin typeface="Arial"/>
                <a:cs typeface="Arial"/>
              </a:rPr>
              <a:t>■ </a:t>
            </a:r>
            <a:r>
              <a:rPr lang="en-US" sz="1600" b="1" dirty="0"/>
              <a:t>Objectives:</a:t>
            </a:r>
          </a:p>
          <a:p>
            <a:pPr marL="285750" indent="-285750">
              <a:lnSpc>
                <a:spcPct val="200000"/>
              </a:lnSpc>
              <a:buFont typeface="Arial" panose="020B0604020202020204" pitchFamily="34" charset="0"/>
              <a:buChar char="•"/>
            </a:pPr>
            <a:r>
              <a:rPr lang="en-US" sz="1600" dirty="0"/>
              <a:t>Define functional and non-functional requirements</a:t>
            </a:r>
          </a:p>
          <a:p>
            <a:pPr marL="285750" indent="-285750">
              <a:lnSpc>
                <a:spcPct val="200000"/>
              </a:lnSpc>
              <a:buFont typeface="Arial" panose="020B0604020202020204" pitchFamily="34" charset="0"/>
              <a:buChar char="•"/>
            </a:pPr>
            <a:r>
              <a:rPr lang="en-US" sz="1600" dirty="0"/>
              <a:t>Identify key user roles and main interactions</a:t>
            </a:r>
          </a:p>
          <a:p>
            <a:pPr marL="285750" indent="-285750">
              <a:lnSpc>
                <a:spcPct val="200000"/>
              </a:lnSpc>
              <a:buFont typeface="Arial" panose="020B0604020202020204" pitchFamily="34" charset="0"/>
              <a:buChar char="•"/>
            </a:pPr>
            <a:r>
              <a:rPr lang="en-US" sz="1600" dirty="0"/>
              <a:t>Create the system’s use case diagram</a:t>
            </a:r>
          </a:p>
          <a:p>
            <a:pPr marL="285750" indent="-285750">
              <a:lnSpc>
                <a:spcPct val="200000"/>
              </a:lnSpc>
              <a:buFont typeface="Arial" panose="020B0604020202020204" pitchFamily="34" charset="0"/>
              <a:buChar char="•"/>
            </a:pPr>
            <a:r>
              <a:rPr lang="en-US" sz="1600" dirty="0"/>
              <a:t>Select and describe a relevant satellite image dataset</a:t>
            </a:r>
            <a:endParaRPr lang="pt-PT" sz="1600" dirty="0"/>
          </a:p>
        </p:txBody>
      </p:sp>
      <p:pic>
        <p:nvPicPr>
          <p:cNvPr id="15" name="Imagem 14">
            <a:extLst>
              <a:ext uri="{FF2B5EF4-FFF2-40B4-BE49-F238E27FC236}">
                <a16:creationId xmlns:a16="http://schemas.microsoft.com/office/drawing/2014/main" id="{FA544920-6707-4659-B18A-D26D8633DBD3}"/>
              </a:ext>
            </a:extLst>
          </p:cNvPr>
          <p:cNvPicPr>
            <a:picLocks noChangeAspect="1"/>
          </p:cNvPicPr>
          <p:nvPr/>
        </p:nvPicPr>
        <p:blipFill>
          <a:blip r:embed="rId3"/>
          <a:stretch>
            <a:fillRect/>
          </a:stretch>
        </p:blipFill>
        <p:spPr>
          <a:xfrm>
            <a:off x="101225" y="904241"/>
            <a:ext cx="9014192" cy="266482"/>
          </a:xfrm>
          <a:prstGeom prst="rect">
            <a:avLst/>
          </a:prstGeom>
        </p:spPr>
      </p:pic>
      <p:sp>
        <p:nvSpPr>
          <p:cNvPr id="16" name="Rectângulo 19">
            <a:extLst>
              <a:ext uri="{FF2B5EF4-FFF2-40B4-BE49-F238E27FC236}">
                <a16:creationId xmlns:a16="http://schemas.microsoft.com/office/drawing/2014/main" id="{852A70B7-6323-4A44-B834-BA855D329613}"/>
              </a:ext>
            </a:extLst>
          </p:cNvPr>
          <p:cNvSpPr/>
          <p:nvPr/>
        </p:nvSpPr>
        <p:spPr>
          <a:xfrm>
            <a:off x="5535613" y="553019"/>
            <a:ext cx="3505200" cy="261610"/>
          </a:xfrm>
          <a:prstGeom prst="rect">
            <a:avLst/>
          </a:prstGeom>
        </p:spPr>
        <p:txBody>
          <a:bodyPr wrap="square">
            <a:spAutoFit/>
          </a:bodyPr>
          <a:lstStyle/>
          <a:p>
            <a:pPr algn="r"/>
            <a:r>
              <a:rPr lang="pt-PT" sz="1100" b="1" cap="all" dirty="0" err="1">
                <a:highlight>
                  <a:srgbClr val="FFFF00"/>
                </a:highlight>
              </a:rPr>
              <a:t>Graduation</a:t>
            </a:r>
            <a:r>
              <a:rPr lang="pt-PT" sz="1100" b="1" cap="all" dirty="0">
                <a:highlight>
                  <a:srgbClr val="FFFF00"/>
                </a:highlight>
              </a:rPr>
              <a:t> in </a:t>
            </a:r>
            <a:r>
              <a:rPr lang="pt-PT" sz="1100" b="1" cap="all" dirty="0" err="1">
                <a:highlight>
                  <a:srgbClr val="FFFF00"/>
                </a:highlight>
              </a:rPr>
              <a:t>Informatics</a:t>
            </a:r>
            <a:r>
              <a:rPr lang="pt-PT" sz="1100" b="1" cap="all" dirty="0">
                <a:highlight>
                  <a:srgbClr val="FFFF00"/>
                </a:highlight>
              </a:rPr>
              <a:t> </a:t>
            </a:r>
            <a:r>
              <a:rPr lang="pt-PT" sz="1100" b="1" cap="all" dirty="0" err="1">
                <a:highlight>
                  <a:srgbClr val="FFFF00"/>
                </a:highlight>
              </a:rPr>
              <a:t>engineering</a:t>
            </a:r>
            <a:endParaRPr lang="pt-PT" sz="1100" dirty="0">
              <a:highlight>
                <a:srgbClr val="FFFF00"/>
              </a:highlight>
            </a:endParaRPr>
          </a:p>
        </p:txBody>
      </p:sp>
      <p:pic>
        <p:nvPicPr>
          <p:cNvPr id="17" name="Imagem 16">
            <a:extLst>
              <a:ext uri="{FF2B5EF4-FFF2-40B4-BE49-F238E27FC236}">
                <a16:creationId xmlns:a16="http://schemas.microsoft.com/office/drawing/2014/main" id="{0F765A22-79AE-4071-8A9D-ABBA4AA7F88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575316" y="9186"/>
            <a:ext cx="2575034" cy="639880"/>
          </a:xfrm>
          <a:prstGeom prst="rect">
            <a:avLst/>
          </a:prstGeom>
        </p:spPr>
      </p:pic>
      <p:sp>
        <p:nvSpPr>
          <p:cNvPr id="18" name="Text Box 10">
            <a:extLst>
              <a:ext uri="{FF2B5EF4-FFF2-40B4-BE49-F238E27FC236}">
                <a16:creationId xmlns:a16="http://schemas.microsoft.com/office/drawing/2014/main" id="{8ECF715B-F9E0-4863-AD75-966FC8E630D1}"/>
              </a:ext>
            </a:extLst>
          </p:cNvPr>
          <p:cNvSpPr txBox="1">
            <a:spLocks noChangeArrowheads="1"/>
          </p:cNvSpPr>
          <p:nvPr/>
        </p:nvSpPr>
        <p:spPr bwMode="auto">
          <a:xfrm>
            <a:off x="8288338" y="6296025"/>
            <a:ext cx="827087" cy="366713"/>
          </a:xfrm>
          <a:prstGeom prst="rect">
            <a:avLst/>
          </a:prstGeom>
          <a:noFill/>
          <a:ln w="9525">
            <a:noFill/>
            <a:miter lim="800000"/>
            <a:headEnd/>
            <a:tailEnd/>
          </a:ln>
        </p:spPr>
        <p:txBody>
          <a:bodyPr>
            <a:spAutoFit/>
          </a:bodyPr>
          <a:lstStyle/>
          <a:p>
            <a:pPr>
              <a:spcBef>
                <a:spcPct val="50000"/>
              </a:spcBef>
            </a:pPr>
            <a:endParaRPr lang="pt-PT"/>
          </a:p>
        </p:txBody>
      </p:sp>
      <p:sp>
        <p:nvSpPr>
          <p:cNvPr id="19" name="Rectangle 11">
            <a:extLst>
              <a:ext uri="{FF2B5EF4-FFF2-40B4-BE49-F238E27FC236}">
                <a16:creationId xmlns:a16="http://schemas.microsoft.com/office/drawing/2014/main" id="{B4BC6908-8354-4FC5-85E7-48B4C5A18C48}"/>
              </a:ext>
            </a:extLst>
          </p:cNvPr>
          <p:cNvSpPr>
            <a:spLocks noChangeArrowheads="1"/>
          </p:cNvSpPr>
          <p:nvPr/>
        </p:nvSpPr>
        <p:spPr bwMode="auto">
          <a:xfrm>
            <a:off x="8327571" y="6496091"/>
            <a:ext cx="936625" cy="260350"/>
          </a:xfrm>
          <a:prstGeom prst="rect">
            <a:avLst/>
          </a:prstGeom>
          <a:noFill/>
          <a:ln w="9525">
            <a:noFill/>
            <a:miter lim="800000"/>
            <a:headEnd/>
            <a:tailEnd/>
          </a:ln>
        </p:spPr>
        <p:txBody>
          <a:bodyPr anchor="ctr"/>
          <a:lstStyle/>
          <a:p>
            <a:pPr algn="ctr"/>
            <a:r>
              <a:rPr lang="pt-PT" sz="1000" dirty="0"/>
              <a:t>- </a:t>
            </a:r>
            <a:fld id="{1234D2FF-8FB9-47A1-B8C9-42A5F500BA2F}" type="slidenum">
              <a:rPr lang="pt-PT" sz="1000"/>
              <a:pPr algn="ctr"/>
              <a:t>4</a:t>
            </a:fld>
            <a:r>
              <a:rPr lang="pt-PT" sz="1000" dirty="0"/>
              <a:t> -</a:t>
            </a:r>
          </a:p>
        </p:txBody>
      </p:sp>
      <p:pic>
        <p:nvPicPr>
          <p:cNvPr id="20" name="Imagem 19">
            <a:extLst>
              <a:ext uri="{FF2B5EF4-FFF2-40B4-BE49-F238E27FC236}">
                <a16:creationId xmlns:a16="http://schemas.microsoft.com/office/drawing/2014/main" id="{A1746237-96D0-449B-A7D4-FA769D2A3FA1}"/>
              </a:ext>
            </a:extLst>
          </p:cNvPr>
          <p:cNvPicPr>
            <a:picLocks noChangeAspect="1"/>
          </p:cNvPicPr>
          <p:nvPr/>
        </p:nvPicPr>
        <p:blipFill>
          <a:blip r:embed="rId5"/>
          <a:stretch>
            <a:fillRect/>
          </a:stretch>
        </p:blipFill>
        <p:spPr>
          <a:xfrm>
            <a:off x="0" y="6320212"/>
            <a:ext cx="9144000" cy="253252"/>
          </a:xfrm>
          <a:prstGeom prst="rect">
            <a:avLst/>
          </a:prstGeom>
        </p:spPr>
      </p:pic>
      <p:pic>
        <p:nvPicPr>
          <p:cNvPr id="22" name="Imagem 21">
            <a:extLst>
              <a:ext uri="{FF2B5EF4-FFF2-40B4-BE49-F238E27FC236}">
                <a16:creationId xmlns:a16="http://schemas.microsoft.com/office/drawing/2014/main" id="{46E91E86-CA20-4A52-9179-FD95DE3478F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38125" y="6488336"/>
            <a:ext cx="545959" cy="199802"/>
          </a:xfrm>
          <a:prstGeom prst="rect">
            <a:avLst/>
          </a:prstGeom>
        </p:spPr>
      </p:pic>
      <p:sp>
        <p:nvSpPr>
          <p:cNvPr id="2" name="Subtítulo 2">
            <a:extLst>
              <a:ext uri="{FF2B5EF4-FFF2-40B4-BE49-F238E27FC236}">
                <a16:creationId xmlns:a16="http://schemas.microsoft.com/office/drawing/2014/main" id="{4E7AD4C6-1A42-9C6B-3F31-CBD47FDAD97C}"/>
              </a:ext>
            </a:extLst>
          </p:cNvPr>
          <p:cNvSpPr txBox="1">
            <a:spLocks/>
          </p:cNvSpPr>
          <p:nvPr/>
        </p:nvSpPr>
        <p:spPr>
          <a:xfrm>
            <a:off x="836017" y="6524516"/>
            <a:ext cx="7698382" cy="162409"/>
          </a:xfrm>
          <a:prstGeom prst="rect">
            <a:avLst/>
          </a:prstGeom>
        </p:spPr>
        <p:txBody>
          <a:bodyPr vert="horz" lIns="68580" tIns="34290" rIns="68580" bIns="3429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pt-PT" sz="900" dirty="0">
                <a:latin typeface="Arial" charset="0"/>
                <a:ea typeface="Arial" charset="0"/>
                <a:cs typeface="Arial" charset="0"/>
              </a:rPr>
              <a:t>@Diogo Monteiro - 32428, Gonçalo Teixeira - 31396 | </a:t>
            </a:r>
            <a:r>
              <a:rPr lang="pt-PT" sz="900" b="1" dirty="0">
                <a:solidFill>
                  <a:srgbClr val="C00000"/>
                </a:solidFill>
                <a:latin typeface="Arial" charset="0"/>
                <a:ea typeface="Arial" charset="0"/>
                <a:cs typeface="Arial" charset="0"/>
              </a:rPr>
              <a:t>Unidade Curricular: Projeto III </a:t>
            </a:r>
            <a:r>
              <a:rPr lang="pt-PT" sz="900" dirty="0">
                <a:latin typeface="Arial" charset="0"/>
                <a:ea typeface="Arial" charset="0"/>
                <a:cs typeface="Arial" charset="0"/>
              </a:rPr>
              <a:t>– Ano Letivo 2024/2025 – </a:t>
            </a:r>
            <a:r>
              <a:rPr lang="pt-PT" sz="900" b="1" dirty="0">
                <a:latin typeface="Arial" charset="0"/>
                <a:ea typeface="Arial" charset="0"/>
                <a:cs typeface="Arial" charset="0"/>
              </a:rPr>
              <a:t>MCZ03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99838-C450-0E64-0549-919BAC3C89FD}"/>
            </a:ext>
          </a:extLst>
        </p:cNvPr>
        <p:cNvGrpSpPr/>
        <p:nvPr/>
      </p:nvGrpSpPr>
      <p:grpSpPr>
        <a:xfrm>
          <a:off x="0" y="0"/>
          <a:ext cx="0" cy="0"/>
          <a:chOff x="0" y="0"/>
          <a:chExt cx="0" cy="0"/>
        </a:xfrm>
      </p:grpSpPr>
      <p:sp>
        <p:nvSpPr>
          <p:cNvPr id="9229" name="Text Box 13">
            <a:extLst>
              <a:ext uri="{FF2B5EF4-FFF2-40B4-BE49-F238E27FC236}">
                <a16:creationId xmlns:a16="http://schemas.microsoft.com/office/drawing/2014/main" id="{99FC901E-123F-D121-177F-C01BB0F90B6A}"/>
              </a:ext>
            </a:extLst>
          </p:cNvPr>
          <p:cNvSpPr txBox="1">
            <a:spLocks noChangeArrowheads="1"/>
          </p:cNvSpPr>
          <p:nvPr/>
        </p:nvSpPr>
        <p:spPr bwMode="auto">
          <a:xfrm>
            <a:off x="306388" y="557213"/>
            <a:ext cx="6981825" cy="400050"/>
          </a:xfrm>
          <a:prstGeom prst="rect">
            <a:avLst/>
          </a:prstGeom>
          <a:noFill/>
          <a:ln w="9525">
            <a:noFill/>
            <a:miter lim="800000"/>
            <a:headEnd/>
            <a:tailEnd/>
          </a:ln>
          <a:effectLst/>
        </p:spPr>
        <p:txBody>
          <a:bodyPr>
            <a:spAutoFit/>
          </a:bodyPr>
          <a:lstStyle/>
          <a:p>
            <a:pPr>
              <a:spcBef>
                <a:spcPct val="50000"/>
              </a:spcBef>
              <a:defRPr/>
            </a:pPr>
            <a:r>
              <a:rPr lang="pt-PT" sz="2000" b="1" dirty="0">
                <a:solidFill>
                  <a:srgbClr val="C00000"/>
                </a:solidFill>
                <a:effectLst>
                  <a:outerShdw blurRad="38100" dist="38100" dir="2700000" algn="tl">
                    <a:srgbClr val="C0C0C0"/>
                  </a:outerShdw>
                </a:effectLst>
                <a:latin typeface="Arial"/>
                <a:cs typeface="Arial"/>
              </a:rPr>
              <a:t>■</a:t>
            </a:r>
            <a:r>
              <a:rPr lang="pt-PT" sz="2000" b="1" dirty="0">
                <a:effectLst>
                  <a:outerShdw blurRad="38100" dist="38100" dir="2700000" algn="tl">
                    <a:srgbClr val="C0C0C0"/>
                  </a:outerShdw>
                </a:effectLst>
                <a:latin typeface="Arial"/>
                <a:cs typeface="Arial"/>
              </a:rPr>
              <a:t> 2.1. </a:t>
            </a:r>
            <a:r>
              <a:rPr lang="pt-PT" sz="2000" b="1" dirty="0">
                <a:effectLst>
                  <a:outerShdw blurRad="38100" dist="38100" dir="2700000" algn="tl">
                    <a:srgbClr val="C0C0C0"/>
                  </a:outerShdw>
                </a:effectLst>
                <a:latin typeface="Arial" charset="0"/>
              </a:rPr>
              <a:t>Functional Requirements</a:t>
            </a:r>
          </a:p>
        </p:txBody>
      </p:sp>
      <p:sp>
        <p:nvSpPr>
          <p:cNvPr id="10247" name="Line 15">
            <a:extLst>
              <a:ext uri="{FF2B5EF4-FFF2-40B4-BE49-F238E27FC236}">
                <a16:creationId xmlns:a16="http://schemas.microsoft.com/office/drawing/2014/main" id="{E198D5D6-7639-9EF8-5F82-521B1DCE7407}"/>
              </a:ext>
            </a:extLst>
          </p:cNvPr>
          <p:cNvSpPr>
            <a:spLocks noChangeShapeType="1"/>
          </p:cNvSpPr>
          <p:nvPr/>
        </p:nvSpPr>
        <p:spPr bwMode="auto">
          <a:xfrm>
            <a:off x="250825" y="0"/>
            <a:ext cx="0" cy="765175"/>
          </a:xfrm>
          <a:prstGeom prst="line">
            <a:avLst/>
          </a:prstGeom>
          <a:noFill/>
          <a:ln w="25400">
            <a:solidFill>
              <a:schemeClr val="tx1"/>
            </a:solidFill>
            <a:round/>
            <a:headEnd/>
            <a:tailEnd/>
          </a:ln>
        </p:spPr>
        <p:txBody>
          <a:bodyPr/>
          <a:lstStyle/>
          <a:p>
            <a:endParaRPr lang="pt-PT"/>
          </a:p>
        </p:txBody>
      </p:sp>
      <p:sp>
        <p:nvSpPr>
          <p:cNvPr id="9237" name="Text Box 21">
            <a:extLst>
              <a:ext uri="{FF2B5EF4-FFF2-40B4-BE49-F238E27FC236}">
                <a16:creationId xmlns:a16="http://schemas.microsoft.com/office/drawing/2014/main" id="{CC309408-C74C-A5B0-71A9-2645C72DEFC0}"/>
              </a:ext>
            </a:extLst>
          </p:cNvPr>
          <p:cNvSpPr txBox="1">
            <a:spLocks noChangeArrowheads="1"/>
          </p:cNvSpPr>
          <p:nvPr/>
        </p:nvSpPr>
        <p:spPr bwMode="auto">
          <a:xfrm>
            <a:off x="260350" y="44450"/>
            <a:ext cx="6981825" cy="304800"/>
          </a:xfrm>
          <a:prstGeom prst="rect">
            <a:avLst/>
          </a:prstGeom>
          <a:noFill/>
          <a:ln w="9525">
            <a:noFill/>
            <a:miter lim="800000"/>
            <a:headEnd/>
            <a:tailEnd/>
          </a:ln>
          <a:effectLst/>
        </p:spPr>
        <p:txBody>
          <a:bodyPr>
            <a:spAutoFit/>
          </a:bodyPr>
          <a:lstStyle/>
          <a:p>
            <a:pPr>
              <a:spcBef>
                <a:spcPct val="50000"/>
              </a:spcBef>
              <a:defRPr/>
            </a:pPr>
            <a:endParaRPr lang="pt-PT" sz="1400" b="1" dirty="0">
              <a:solidFill>
                <a:srgbClr val="FF3300"/>
              </a:solidFill>
              <a:effectLst>
                <a:outerShdw blurRad="38100" dist="38100" dir="2700000" algn="tl">
                  <a:srgbClr val="C0C0C0"/>
                </a:outerShdw>
              </a:effectLst>
              <a:latin typeface="Arial" charset="0"/>
            </a:endParaRPr>
          </a:p>
        </p:txBody>
      </p:sp>
      <p:sp>
        <p:nvSpPr>
          <p:cNvPr id="12" name="CaixaDeTexto 11">
            <a:extLst>
              <a:ext uri="{FF2B5EF4-FFF2-40B4-BE49-F238E27FC236}">
                <a16:creationId xmlns:a16="http://schemas.microsoft.com/office/drawing/2014/main" id="{51F66FB3-9017-C9A6-3A33-59191D6E2CE1}"/>
              </a:ext>
            </a:extLst>
          </p:cNvPr>
          <p:cNvSpPr txBox="1"/>
          <p:nvPr/>
        </p:nvSpPr>
        <p:spPr>
          <a:xfrm>
            <a:off x="419100" y="1142286"/>
            <a:ext cx="8305800" cy="3962880"/>
          </a:xfrm>
          <a:prstGeom prst="rect">
            <a:avLst/>
          </a:prstGeom>
          <a:noFill/>
          <a:ln>
            <a:noFill/>
          </a:ln>
        </p:spPr>
        <p:txBody>
          <a:bodyPr wrap="square" rtlCol="0">
            <a:spAutoFit/>
          </a:bodyPr>
          <a:lstStyle/>
          <a:p>
            <a:pPr>
              <a:lnSpc>
                <a:spcPct val="200000"/>
              </a:lnSpc>
            </a:pPr>
            <a:r>
              <a:rPr lang="en-US" sz="1600" i="1" dirty="0">
                <a:solidFill>
                  <a:srgbClr val="FFC000"/>
                </a:solidFill>
                <a:cs typeface="Arial"/>
              </a:rPr>
              <a:t>■</a:t>
            </a:r>
            <a:r>
              <a:rPr lang="pt-PT" sz="1600" dirty="0"/>
              <a:t> </a:t>
            </a:r>
            <a:r>
              <a:rPr lang="pt-PT" sz="1600" b="1" dirty="0"/>
              <a:t>Main Functional Requirements</a:t>
            </a:r>
          </a:p>
          <a:p>
            <a:pPr marL="285750" indent="-285750">
              <a:lnSpc>
                <a:spcPct val="200000"/>
              </a:lnSpc>
              <a:buFont typeface="Arial" panose="020B0604020202020204" pitchFamily="34" charset="0"/>
              <a:buChar char="•"/>
            </a:pPr>
            <a:r>
              <a:rPr lang="pt-PT" sz="1600" b="1" dirty="0"/>
              <a:t>User</a:t>
            </a:r>
            <a:r>
              <a:rPr lang="pt-PT" sz="1600" dirty="0"/>
              <a:t>: Register, login, upload images, add data, get results</a:t>
            </a:r>
          </a:p>
          <a:p>
            <a:pPr marL="285750" indent="-285750">
              <a:lnSpc>
                <a:spcPct val="200000"/>
              </a:lnSpc>
              <a:buFont typeface="Arial" panose="020B0604020202020204" pitchFamily="34" charset="0"/>
              <a:buChar char="•"/>
            </a:pPr>
            <a:r>
              <a:rPr lang="pt-PT" sz="1600" b="1" dirty="0"/>
              <a:t>Admin</a:t>
            </a:r>
            <a:r>
              <a:rPr lang="pt-PT" sz="1600" dirty="0"/>
              <a:t>: Secure login, manage dataset, retrain model</a:t>
            </a:r>
          </a:p>
          <a:p>
            <a:pPr marL="285750" indent="-285750">
              <a:lnSpc>
                <a:spcPct val="200000"/>
              </a:lnSpc>
              <a:buFont typeface="Arial" panose="020B0604020202020204" pitchFamily="34" charset="0"/>
              <a:buChar char="•"/>
            </a:pPr>
            <a:r>
              <a:rPr lang="pt-PT" sz="1600" b="1" dirty="0"/>
              <a:t>System</a:t>
            </a:r>
            <a:r>
              <a:rPr lang="pt-PT" sz="1600" dirty="0"/>
              <a:t>: Validate, analyze, store, notifyAccount: Register, log in/out, personalized access</a:t>
            </a:r>
          </a:p>
          <a:p>
            <a:pPr>
              <a:lnSpc>
                <a:spcPct val="200000"/>
              </a:lnSpc>
            </a:pPr>
            <a:r>
              <a:rPr lang="en-US" sz="1600" i="1" dirty="0">
                <a:solidFill>
                  <a:srgbClr val="FFC000"/>
                </a:solidFill>
                <a:cs typeface="Arial"/>
              </a:rPr>
              <a:t>■ </a:t>
            </a:r>
            <a:r>
              <a:rPr lang="en-US" sz="1600" b="1" dirty="0"/>
              <a:t>Priorities</a:t>
            </a:r>
          </a:p>
          <a:p>
            <a:pPr marL="285750" indent="-285750">
              <a:lnSpc>
                <a:spcPct val="200000"/>
              </a:lnSpc>
              <a:buFont typeface="Arial" panose="020B0604020202020204" pitchFamily="34" charset="0"/>
              <a:buChar char="•"/>
            </a:pPr>
            <a:r>
              <a:rPr lang="en-US" sz="1600" b="1" dirty="0"/>
              <a:t>High</a:t>
            </a:r>
            <a:r>
              <a:rPr lang="en-US" sz="1600" dirty="0"/>
              <a:t>: User operations &amp; AI detection</a:t>
            </a:r>
          </a:p>
          <a:p>
            <a:pPr marL="285750" indent="-285750">
              <a:lnSpc>
                <a:spcPct val="200000"/>
              </a:lnSpc>
              <a:buFont typeface="Arial" panose="020B0604020202020204" pitchFamily="34" charset="0"/>
              <a:buChar char="•"/>
            </a:pPr>
            <a:r>
              <a:rPr lang="en-US" sz="1600" b="1" dirty="0"/>
              <a:t>Medium</a:t>
            </a:r>
            <a:r>
              <a:rPr lang="en-US" sz="1600" dirty="0"/>
              <a:t>: History, notifications, privacy</a:t>
            </a:r>
          </a:p>
          <a:p>
            <a:pPr marL="285750" indent="-285750">
              <a:lnSpc>
                <a:spcPct val="200000"/>
              </a:lnSpc>
              <a:buFont typeface="Arial" panose="020B0604020202020204" pitchFamily="34" charset="0"/>
              <a:buChar char="•"/>
            </a:pPr>
            <a:r>
              <a:rPr lang="en-US" sz="1600" b="1" dirty="0"/>
              <a:t>Low</a:t>
            </a:r>
            <a:r>
              <a:rPr lang="en-US" sz="1600" dirty="0"/>
              <a:t>: Dataset editing</a:t>
            </a:r>
            <a:endParaRPr lang="pt-PT" sz="1600" dirty="0"/>
          </a:p>
        </p:txBody>
      </p:sp>
      <p:pic>
        <p:nvPicPr>
          <p:cNvPr id="15" name="Imagem 14">
            <a:extLst>
              <a:ext uri="{FF2B5EF4-FFF2-40B4-BE49-F238E27FC236}">
                <a16:creationId xmlns:a16="http://schemas.microsoft.com/office/drawing/2014/main" id="{88D24D1A-0B35-4F8A-B585-33F557C5BC18}"/>
              </a:ext>
            </a:extLst>
          </p:cNvPr>
          <p:cNvPicPr>
            <a:picLocks noChangeAspect="1"/>
          </p:cNvPicPr>
          <p:nvPr/>
        </p:nvPicPr>
        <p:blipFill>
          <a:blip r:embed="rId3"/>
          <a:stretch>
            <a:fillRect/>
          </a:stretch>
        </p:blipFill>
        <p:spPr>
          <a:xfrm>
            <a:off x="101225" y="904241"/>
            <a:ext cx="9014192" cy="266482"/>
          </a:xfrm>
          <a:prstGeom prst="rect">
            <a:avLst/>
          </a:prstGeom>
        </p:spPr>
      </p:pic>
      <p:sp>
        <p:nvSpPr>
          <p:cNvPr id="16" name="Rectângulo 19">
            <a:extLst>
              <a:ext uri="{FF2B5EF4-FFF2-40B4-BE49-F238E27FC236}">
                <a16:creationId xmlns:a16="http://schemas.microsoft.com/office/drawing/2014/main" id="{191DAE04-3E76-A817-6F2D-66C6022044F4}"/>
              </a:ext>
            </a:extLst>
          </p:cNvPr>
          <p:cNvSpPr/>
          <p:nvPr/>
        </p:nvSpPr>
        <p:spPr>
          <a:xfrm>
            <a:off x="5535613" y="553019"/>
            <a:ext cx="3505200" cy="261610"/>
          </a:xfrm>
          <a:prstGeom prst="rect">
            <a:avLst/>
          </a:prstGeom>
        </p:spPr>
        <p:txBody>
          <a:bodyPr wrap="square">
            <a:spAutoFit/>
          </a:bodyPr>
          <a:lstStyle/>
          <a:p>
            <a:pPr algn="r"/>
            <a:r>
              <a:rPr lang="pt-PT" sz="1100" b="1" cap="all" dirty="0" err="1">
                <a:highlight>
                  <a:srgbClr val="FFFF00"/>
                </a:highlight>
              </a:rPr>
              <a:t>Graduation</a:t>
            </a:r>
            <a:r>
              <a:rPr lang="pt-PT" sz="1100" b="1" cap="all" dirty="0">
                <a:highlight>
                  <a:srgbClr val="FFFF00"/>
                </a:highlight>
              </a:rPr>
              <a:t> in </a:t>
            </a:r>
            <a:r>
              <a:rPr lang="pt-PT" sz="1100" b="1" cap="all" dirty="0" err="1">
                <a:highlight>
                  <a:srgbClr val="FFFF00"/>
                </a:highlight>
              </a:rPr>
              <a:t>Informatics</a:t>
            </a:r>
            <a:r>
              <a:rPr lang="pt-PT" sz="1100" b="1" cap="all" dirty="0">
                <a:highlight>
                  <a:srgbClr val="FFFF00"/>
                </a:highlight>
              </a:rPr>
              <a:t> </a:t>
            </a:r>
            <a:r>
              <a:rPr lang="pt-PT" sz="1100" b="1" cap="all" dirty="0" err="1">
                <a:highlight>
                  <a:srgbClr val="FFFF00"/>
                </a:highlight>
              </a:rPr>
              <a:t>engineering</a:t>
            </a:r>
            <a:endParaRPr lang="pt-PT" sz="1100" dirty="0">
              <a:highlight>
                <a:srgbClr val="FFFF00"/>
              </a:highlight>
            </a:endParaRPr>
          </a:p>
        </p:txBody>
      </p:sp>
      <p:pic>
        <p:nvPicPr>
          <p:cNvPr id="17" name="Imagem 16">
            <a:extLst>
              <a:ext uri="{FF2B5EF4-FFF2-40B4-BE49-F238E27FC236}">
                <a16:creationId xmlns:a16="http://schemas.microsoft.com/office/drawing/2014/main" id="{13A03D08-204C-F591-F084-FA44953096D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575316" y="9186"/>
            <a:ext cx="2575034" cy="639880"/>
          </a:xfrm>
          <a:prstGeom prst="rect">
            <a:avLst/>
          </a:prstGeom>
        </p:spPr>
      </p:pic>
      <p:sp>
        <p:nvSpPr>
          <p:cNvPr id="18" name="Text Box 10">
            <a:extLst>
              <a:ext uri="{FF2B5EF4-FFF2-40B4-BE49-F238E27FC236}">
                <a16:creationId xmlns:a16="http://schemas.microsoft.com/office/drawing/2014/main" id="{AC439154-D73C-5230-11E8-EEE144F283DD}"/>
              </a:ext>
            </a:extLst>
          </p:cNvPr>
          <p:cNvSpPr txBox="1">
            <a:spLocks noChangeArrowheads="1"/>
          </p:cNvSpPr>
          <p:nvPr/>
        </p:nvSpPr>
        <p:spPr bwMode="auto">
          <a:xfrm>
            <a:off x="8288338" y="6296025"/>
            <a:ext cx="827087" cy="366713"/>
          </a:xfrm>
          <a:prstGeom prst="rect">
            <a:avLst/>
          </a:prstGeom>
          <a:noFill/>
          <a:ln w="9525">
            <a:noFill/>
            <a:miter lim="800000"/>
            <a:headEnd/>
            <a:tailEnd/>
          </a:ln>
        </p:spPr>
        <p:txBody>
          <a:bodyPr>
            <a:spAutoFit/>
          </a:bodyPr>
          <a:lstStyle/>
          <a:p>
            <a:pPr>
              <a:spcBef>
                <a:spcPct val="50000"/>
              </a:spcBef>
            </a:pPr>
            <a:endParaRPr lang="pt-PT"/>
          </a:p>
        </p:txBody>
      </p:sp>
      <p:sp>
        <p:nvSpPr>
          <p:cNvPr id="19" name="Rectangle 11">
            <a:extLst>
              <a:ext uri="{FF2B5EF4-FFF2-40B4-BE49-F238E27FC236}">
                <a16:creationId xmlns:a16="http://schemas.microsoft.com/office/drawing/2014/main" id="{8CDD6CA0-70A8-D88C-BE43-EDD81EF1EEF3}"/>
              </a:ext>
            </a:extLst>
          </p:cNvPr>
          <p:cNvSpPr>
            <a:spLocks noChangeArrowheads="1"/>
          </p:cNvSpPr>
          <p:nvPr/>
        </p:nvSpPr>
        <p:spPr bwMode="auto">
          <a:xfrm>
            <a:off x="8327571" y="6496091"/>
            <a:ext cx="936625" cy="260350"/>
          </a:xfrm>
          <a:prstGeom prst="rect">
            <a:avLst/>
          </a:prstGeom>
          <a:noFill/>
          <a:ln w="9525">
            <a:noFill/>
            <a:miter lim="800000"/>
            <a:headEnd/>
            <a:tailEnd/>
          </a:ln>
        </p:spPr>
        <p:txBody>
          <a:bodyPr anchor="ctr"/>
          <a:lstStyle/>
          <a:p>
            <a:pPr algn="ctr"/>
            <a:r>
              <a:rPr lang="pt-PT" sz="1000" dirty="0"/>
              <a:t>- </a:t>
            </a:r>
            <a:fld id="{1234D2FF-8FB9-47A1-B8C9-42A5F500BA2F}" type="slidenum">
              <a:rPr lang="pt-PT" sz="1000"/>
              <a:pPr algn="ctr"/>
              <a:t>5</a:t>
            </a:fld>
            <a:r>
              <a:rPr lang="pt-PT" sz="1000" dirty="0"/>
              <a:t> -</a:t>
            </a:r>
          </a:p>
        </p:txBody>
      </p:sp>
      <p:pic>
        <p:nvPicPr>
          <p:cNvPr id="20" name="Imagem 19">
            <a:extLst>
              <a:ext uri="{FF2B5EF4-FFF2-40B4-BE49-F238E27FC236}">
                <a16:creationId xmlns:a16="http://schemas.microsoft.com/office/drawing/2014/main" id="{2690FCBD-8FF8-A066-4001-B3F3CE8963B2}"/>
              </a:ext>
            </a:extLst>
          </p:cNvPr>
          <p:cNvPicPr>
            <a:picLocks noChangeAspect="1"/>
          </p:cNvPicPr>
          <p:nvPr/>
        </p:nvPicPr>
        <p:blipFill>
          <a:blip r:embed="rId5"/>
          <a:stretch>
            <a:fillRect/>
          </a:stretch>
        </p:blipFill>
        <p:spPr>
          <a:xfrm>
            <a:off x="0" y="6320212"/>
            <a:ext cx="9144000" cy="253252"/>
          </a:xfrm>
          <a:prstGeom prst="rect">
            <a:avLst/>
          </a:prstGeom>
        </p:spPr>
      </p:pic>
      <p:pic>
        <p:nvPicPr>
          <p:cNvPr id="22" name="Imagem 21">
            <a:extLst>
              <a:ext uri="{FF2B5EF4-FFF2-40B4-BE49-F238E27FC236}">
                <a16:creationId xmlns:a16="http://schemas.microsoft.com/office/drawing/2014/main" id="{FEE148EF-17DC-8FAF-AF38-059B389782E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38125" y="6488336"/>
            <a:ext cx="545959" cy="199802"/>
          </a:xfrm>
          <a:prstGeom prst="rect">
            <a:avLst/>
          </a:prstGeom>
        </p:spPr>
      </p:pic>
      <p:sp>
        <p:nvSpPr>
          <p:cNvPr id="2" name="Subtítulo 2">
            <a:extLst>
              <a:ext uri="{FF2B5EF4-FFF2-40B4-BE49-F238E27FC236}">
                <a16:creationId xmlns:a16="http://schemas.microsoft.com/office/drawing/2014/main" id="{2D2D774D-F525-BB4B-D7C6-39BEE640E6A6}"/>
              </a:ext>
            </a:extLst>
          </p:cNvPr>
          <p:cNvSpPr txBox="1">
            <a:spLocks/>
          </p:cNvSpPr>
          <p:nvPr/>
        </p:nvSpPr>
        <p:spPr>
          <a:xfrm>
            <a:off x="836017" y="6524516"/>
            <a:ext cx="7698382" cy="162409"/>
          </a:xfrm>
          <a:prstGeom prst="rect">
            <a:avLst/>
          </a:prstGeom>
        </p:spPr>
        <p:txBody>
          <a:bodyPr vert="horz" lIns="68580" tIns="34290" rIns="68580" bIns="3429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pt-PT" sz="900" dirty="0">
                <a:latin typeface="Arial" charset="0"/>
                <a:ea typeface="Arial" charset="0"/>
                <a:cs typeface="Arial" charset="0"/>
              </a:rPr>
              <a:t>@Diogo Monteiro - 32428, Gonçalo Teixeira - 31396 | </a:t>
            </a:r>
            <a:r>
              <a:rPr lang="pt-PT" sz="900" b="1" dirty="0">
                <a:solidFill>
                  <a:srgbClr val="C00000"/>
                </a:solidFill>
                <a:latin typeface="Arial" charset="0"/>
                <a:ea typeface="Arial" charset="0"/>
                <a:cs typeface="Arial" charset="0"/>
              </a:rPr>
              <a:t>Unidade Curricular: Projeto III </a:t>
            </a:r>
            <a:r>
              <a:rPr lang="pt-PT" sz="900" dirty="0">
                <a:latin typeface="Arial" charset="0"/>
                <a:ea typeface="Arial" charset="0"/>
                <a:cs typeface="Arial" charset="0"/>
              </a:rPr>
              <a:t>– Ano Letivo 2024/2025 – </a:t>
            </a:r>
            <a:r>
              <a:rPr lang="pt-PT" sz="900" b="1" dirty="0">
                <a:latin typeface="Arial" charset="0"/>
                <a:ea typeface="Arial" charset="0"/>
                <a:cs typeface="Arial" charset="0"/>
              </a:rPr>
              <a:t>MCZ03</a:t>
            </a:r>
          </a:p>
        </p:txBody>
      </p:sp>
    </p:spTree>
    <p:extLst>
      <p:ext uri="{BB962C8B-B14F-4D97-AF65-F5344CB8AC3E}">
        <p14:creationId xmlns:p14="http://schemas.microsoft.com/office/powerpoint/2010/main" val="18209007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5633B-CADD-2897-D347-14796895323B}"/>
            </a:ext>
          </a:extLst>
        </p:cNvPr>
        <p:cNvGrpSpPr/>
        <p:nvPr/>
      </p:nvGrpSpPr>
      <p:grpSpPr>
        <a:xfrm>
          <a:off x="0" y="0"/>
          <a:ext cx="0" cy="0"/>
          <a:chOff x="0" y="0"/>
          <a:chExt cx="0" cy="0"/>
        </a:xfrm>
      </p:grpSpPr>
      <p:sp>
        <p:nvSpPr>
          <p:cNvPr id="9229" name="Text Box 13">
            <a:extLst>
              <a:ext uri="{FF2B5EF4-FFF2-40B4-BE49-F238E27FC236}">
                <a16:creationId xmlns:a16="http://schemas.microsoft.com/office/drawing/2014/main" id="{77B76F9A-8C29-3D11-B38F-2F3495121154}"/>
              </a:ext>
            </a:extLst>
          </p:cNvPr>
          <p:cNvSpPr txBox="1">
            <a:spLocks noChangeArrowheads="1"/>
          </p:cNvSpPr>
          <p:nvPr/>
        </p:nvSpPr>
        <p:spPr bwMode="auto">
          <a:xfrm>
            <a:off x="306388" y="557213"/>
            <a:ext cx="6981825" cy="400050"/>
          </a:xfrm>
          <a:prstGeom prst="rect">
            <a:avLst/>
          </a:prstGeom>
          <a:noFill/>
          <a:ln w="9525">
            <a:noFill/>
            <a:miter lim="800000"/>
            <a:headEnd/>
            <a:tailEnd/>
          </a:ln>
          <a:effectLst/>
        </p:spPr>
        <p:txBody>
          <a:bodyPr>
            <a:spAutoFit/>
          </a:bodyPr>
          <a:lstStyle/>
          <a:p>
            <a:pPr>
              <a:spcBef>
                <a:spcPct val="50000"/>
              </a:spcBef>
              <a:defRPr/>
            </a:pPr>
            <a:r>
              <a:rPr lang="pt-PT" sz="2000" b="1" dirty="0">
                <a:solidFill>
                  <a:srgbClr val="C00000"/>
                </a:solidFill>
                <a:effectLst>
                  <a:outerShdw blurRad="38100" dist="38100" dir="2700000" algn="tl">
                    <a:srgbClr val="C0C0C0"/>
                  </a:outerShdw>
                </a:effectLst>
                <a:latin typeface="Arial"/>
                <a:cs typeface="Arial"/>
              </a:rPr>
              <a:t>■</a:t>
            </a:r>
            <a:r>
              <a:rPr lang="pt-PT" sz="2000" b="1" dirty="0">
                <a:effectLst>
                  <a:outerShdw blurRad="38100" dist="38100" dir="2700000" algn="tl">
                    <a:srgbClr val="C0C0C0"/>
                  </a:outerShdw>
                </a:effectLst>
                <a:latin typeface="Arial"/>
                <a:cs typeface="Arial"/>
              </a:rPr>
              <a:t> 2.2. Non-</a:t>
            </a:r>
            <a:r>
              <a:rPr lang="pt-PT" sz="2000" b="1" dirty="0">
                <a:effectLst>
                  <a:outerShdw blurRad="38100" dist="38100" dir="2700000" algn="tl">
                    <a:srgbClr val="C0C0C0"/>
                  </a:outerShdw>
                </a:effectLst>
                <a:latin typeface="Arial" charset="0"/>
              </a:rPr>
              <a:t>Functional Requirements</a:t>
            </a:r>
          </a:p>
        </p:txBody>
      </p:sp>
      <p:sp>
        <p:nvSpPr>
          <p:cNvPr id="10247" name="Line 15">
            <a:extLst>
              <a:ext uri="{FF2B5EF4-FFF2-40B4-BE49-F238E27FC236}">
                <a16:creationId xmlns:a16="http://schemas.microsoft.com/office/drawing/2014/main" id="{6EEF00C2-1EFC-8C15-2B86-C41F4BD1BA1E}"/>
              </a:ext>
            </a:extLst>
          </p:cNvPr>
          <p:cNvSpPr>
            <a:spLocks noChangeShapeType="1"/>
          </p:cNvSpPr>
          <p:nvPr/>
        </p:nvSpPr>
        <p:spPr bwMode="auto">
          <a:xfrm>
            <a:off x="250825" y="0"/>
            <a:ext cx="0" cy="765175"/>
          </a:xfrm>
          <a:prstGeom prst="line">
            <a:avLst/>
          </a:prstGeom>
          <a:noFill/>
          <a:ln w="25400">
            <a:solidFill>
              <a:schemeClr val="tx1"/>
            </a:solidFill>
            <a:round/>
            <a:headEnd/>
            <a:tailEnd/>
          </a:ln>
        </p:spPr>
        <p:txBody>
          <a:bodyPr/>
          <a:lstStyle/>
          <a:p>
            <a:endParaRPr lang="pt-PT"/>
          </a:p>
        </p:txBody>
      </p:sp>
      <p:sp>
        <p:nvSpPr>
          <p:cNvPr id="9237" name="Text Box 21">
            <a:extLst>
              <a:ext uri="{FF2B5EF4-FFF2-40B4-BE49-F238E27FC236}">
                <a16:creationId xmlns:a16="http://schemas.microsoft.com/office/drawing/2014/main" id="{166F2CDB-CC36-037F-A6AC-F3341EB111BA}"/>
              </a:ext>
            </a:extLst>
          </p:cNvPr>
          <p:cNvSpPr txBox="1">
            <a:spLocks noChangeArrowheads="1"/>
          </p:cNvSpPr>
          <p:nvPr/>
        </p:nvSpPr>
        <p:spPr bwMode="auto">
          <a:xfrm>
            <a:off x="260350" y="44450"/>
            <a:ext cx="6981825" cy="304800"/>
          </a:xfrm>
          <a:prstGeom prst="rect">
            <a:avLst/>
          </a:prstGeom>
          <a:noFill/>
          <a:ln w="9525">
            <a:noFill/>
            <a:miter lim="800000"/>
            <a:headEnd/>
            <a:tailEnd/>
          </a:ln>
          <a:effectLst/>
        </p:spPr>
        <p:txBody>
          <a:bodyPr>
            <a:spAutoFit/>
          </a:bodyPr>
          <a:lstStyle/>
          <a:p>
            <a:pPr>
              <a:spcBef>
                <a:spcPct val="50000"/>
              </a:spcBef>
              <a:defRPr/>
            </a:pPr>
            <a:endParaRPr lang="pt-PT" sz="1400" b="1" dirty="0">
              <a:solidFill>
                <a:srgbClr val="FF3300"/>
              </a:solidFill>
              <a:effectLst>
                <a:outerShdw blurRad="38100" dist="38100" dir="2700000" algn="tl">
                  <a:srgbClr val="C0C0C0"/>
                </a:outerShdw>
              </a:effectLst>
              <a:latin typeface="Arial" charset="0"/>
            </a:endParaRPr>
          </a:p>
        </p:txBody>
      </p:sp>
      <p:sp>
        <p:nvSpPr>
          <p:cNvPr id="12" name="CaixaDeTexto 11">
            <a:extLst>
              <a:ext uri="{FF2B5EF4-FFF2-40B4-BE49-F238E27FC236}">
                <a16:creationId xmlns:a16="http://schemas.microsoft.com/office/drawing/2014/main" id="{1B4191B2-3962-730D-DC50-005B4E890347}"/>
              </a:ext>
            </a:extLst>
          </p:cNvPr>
          <p:cNvSpPr txBox="1"/>
          <p:nvPr/>
        </p:nvSpPr>
        <p:spPr>
          <a:xfrm>
            <a:off x="419100" y="1142286"/>
            <a:ext cx="8305800" cy="2977995"/>
          </a:xfrm>
          <a:prstGeom prst="rect">
            <a:avLst/>
          </a:prstGeom>
          <a:noFill/>
          <a:ln>
            <a:noFill/>
          </a:ln>
        </p:spPr>
        <p:txBody>
          <a:bodyPr wrap="square" rtlCol="0">
            <a:spAutoFit/>
          </a:bodyPr>
          <a:lstStyle/>
          <a:p>
            <a:pPr>
              <a:lnSpc>
                <a:spcPct val="200000"/>
              </a:lnSpc>
            </a:pPr>
            <a:r>
              <a:rPr lang="en-US" sz="1600" i="1" dirty="0">
                <a:solidFill>
                  <a:srgbClr val="FFC000"/>
                </a:solidFill>
                <a:cs typeface="Arial"/>
              </a:rPr>
              <a:t>■</a:t>
            </a:r>
            <a:r>
              <a:rPr lang="pt-PT" sz="1600" dirty="0"/>
              <a:t> </a:t>
            </a:r>
            <a:r>
              <a:rPr lang="pt-PT" sz="1600" b="1" dirty="0"/>
              <a:t>Performance</a:t>
            </a:r>
            <a:r>
              <a:rPr lang="pt-PT" sz="1600" dirty="0"/>
              <a:t> </a:t>
            </a:r>
            <a:r>
              <a:rPr lang="pt-PT" sz="1600" b="1" dirty="0"/>
              <a:t>&amp;</a:t>
            </a:r>
            <a:r>
              <a:rPr lang="pt-PT" sz="1600" dirty="0"/>
              <a:t> </a:t>
            </a:r>
            <a:r>
              <a:rPr lang="pt-PT" sz="1600" b="1" dirty="0"/>
              <a:t>Scalability</a:t>
            </a:r>
            <a:r>
              <a:rPr lang="pt-PT" sz="1600" dirty="0"/>
              <a:t>: Image analysis under 60s; support up to 100 users; scalable image storage.</a:t>
            </a:r>
          </a:p>
          <a:p>
            <a:pPr>
              <a:lnSpc>
                <a:spcPct val="200000"/>
              </a:lnSpc>
            </a:pPr>
            <a:r>
              <a:rPr lang="en-US" sz="1600" i="1" dirty="0">
                <a:solidFill>
                  <a:srgbClr val="FFC000"/>
                </a:solidFill>
                <a:cs typeface="Arial"/>
              </a:rPr>
              <a:t>■ </a:t>
            </a:r>
            <a:r>
              <a:rPr lang="pt-PT" sz="1600" b="1" dirty="0"/>
              <a:t>Usability</a:t>
            </a:r>
            <a:r>
              <a:rPr lang="pt-PT" sz="1600" dirty="0"/>
              <a:t>: Intuitive, responsive, and accessible interface</a:t>
            </a:r>
          </a:p>
          <a:p>
            <a:pPr>
              <a:lnSpc>
                <a:spcPct val="200000"/>
              </a:lnSpc>
            </a:pPr>
            <a:r>
              <a:rPr lang="en-US" sz="1600" i="1" dirty="0">
                <a:solidFill>
                  <a:srgbClr val="FFC000"/>
                </a:solidFill>
                <a:cs typeface="Arial"/>
              </a:rPr>
              <a:t>■ </a:t>
            </a:r>
            <a:r>
              <a:rPr lang="pt-PT" sz="1600" b="1" dirty="0"/>
              <a:t>Security</a:t>
            </a:r>
            <a:r>
              <a:rPr lang="pt-PT" sz="1600" dirty="0"/>
              <a:t>: Basic protection (HTTPS, authentication, safe data, prevent SQL/XSS)</a:t>
            </a:r>
          </a:p>
          <a:p>
            <a:pPr>
              <a:lnSpc>
                <a:spcPct val="200000"/>
              </a:lnSpc>
            </a:pPr>
            <a:r>
              <a:rPr lang="en-US" sz="1600" i="1" dirty="0">
                <a:solidFill>
                  <a:srgbClr val="FFC000"/>
                </a:solidFill>
                <a:cs typeface="Arial"/>
              </a:rPr>
              <a:t>■ </a:t>
            </a:r>
            <a:r>
              <a:rPr lang="pt-PT" sz="1600" b="1" dirty="0"/>
              <a:t>Maintainability</a:t>
            </a:r>
            <a:r>
              <a:rPr lang="pt-PT" sz="1600" dirty="0"/>
              <a:t>: Modular code structure; API documentation; logging/debug tools</a:t>
            </a:r>
          </a:p>
          <a:p>
            <a:pPr>
              <a:lnSpc>
                <a:spcPct val="200000"/>
              </a:lnSpc>
            </a:pPr>
            <a:r>
              <a:rPr lang="en-US" sz="1600" i="1" dirty="0">
                <a:solidFill>
                  <a:srgbClr val="FFC000"/>
                </a:solidFill>
                <a:cs typeface="Arial"/>
              </a:rPr>
              <a:t>■ </a:t>
            </a:r>
            <a:r>
              <a:rPr lang="pt-PT" sz="1600" b="1" dirty="0"/>
              <a:t>Quality</a:t>
            </a:r>
            <a:r>
              <a:rPr lang="pt-PT" sz="1600" dirty="0"/>
              <a:t>: AI model error rate below 5%; validate model before using</a:t>
            </a:r>
          </a:p>
        </p:txBody>
      </p:sp>
      <p:pic>
        <p:nvPicPr>
          <p:cNvPr id="15" name="Imagem 14">
            <a:extLst>
              <a:ext uri="{FF2B5EF4-FFF2-40B4-BE49-F238E27FC236}">
                <a16:creationId xmlns:a16="http://schemas.microsoft.com/office/drawing/2014/main" id="{DF13D0CC-2086-E439-5438-ABAEA21EDDF8}"/>
              </a:ext>
            </a:extLst>
          </p:cNvPr>
          <p:cNvPicPr>
            <a:picLocks noChangeAspect="1"/>
          </p:cNvPicPr>
          <p:nvPr/>
        </p:nvPicPr>
        <p:blipFill>
          <a:blip r:embed="rId3"/>
          <a:stretch>
            <a:fillRect/>
          </a:stretch>
        </p:blipFill>
        <p:spPr>
          <a:xfrm>
            <a:off x="101225" y="904241"/>
            <a:ext cx="9014192" cy="266482"/>
          </a:xfrm>
          <a:prstGeom prst="rect">
            <a:avLst/>
          </a:prstGeom>
        </p:spPr>
      </p:pic>
      <p:sp>
        <p:nvSpPr>
          <p:cNvPr id="16" name="Rectângulo 19">
            <a:extLst>
              <a:ext uri="{FF2B5EF4-FFF2-40B4-BE49-F238E27FC236}">
                <a16:creationId xmlns:a16="http://schemas.microsoft.com/office/drawing/2014/main" id="{33648A8F-E77D-8474-F1E5-D611C9BE05AB}"/>
              </a:ext>
            </a:extLst>
          </p:cNvPr>
          <p:cNvSpPr/>
          <p:nvPr/>
        </p:nvSpPr>
        <p:spPr>
          <a:xfrm>
            <a:off x="5535613" y="553019"/>
            <a:ext cx="3505200" cy="261610"/>
          </a:xfrm>
          <a:prstGeom prst="rect">
            <a:avLst/>
          </a:prstGeom>
        </p:spPr>
        <p:txBody>
          <a:bodyPr wrap="square">
            <a:spAutoFit/>
          </a:bodyPr>
          <a:lstStyle/>
          <a:p>
            <a:pPr algn="r"/>
            <a:r>
              <a:rPr lang="pt-PT" sz="1100" b="1" cap="all" dirty="0" err="1">
                <a:highlight>
                  <a:srgbClr val="FFFF00"/>
                </a:highlight>
              </a:rPr>
              <a:t>Graduation</a:t>
            </a:r>
            <a:r>
              <a:rPr lang="pt-PT" sz="1100" b="1" cap="all" dirty="0">
                <a:highlight>
                  <a:srgbClr val="FFFF00"/>
                </a:highlight>
              </a:rPr>
              <a:t> in </a:t>
            </a:r>
            <a:r>
              <a:rPr lang="pt-PT" sz="1100" b="1" cap="all" dirty="0" err="1">
                <a:highlight>
                  <a:srgbClr val="FFFF00"/>
                </a:highlight>
              </a:rPr>
              <a:t>Informatics</a:t>
            </a:r>
            <a:r>
              <a:rPr lang="pt-PT" sz="1100" b="1" cap="all" dirty="0">
                <a:highlight>
                  <a:srgbClr val="FFFF00"/>
                </a:highlight>
              </a:rPr>
              <a:t> </a:t>
            </a:r>
            <a:r>
              <a:rPr lang="pt-PT" sz="1100" b="1" cap="all" dirty="0" err="1">
                <a:highlight>
                  <a:srgbClr val="FFFF00"/>
                </a:highlight>
              </a:rPr>
              <a:t>engineering</a:t>
            </a:r>
            <a:endParaRPr lang="pt-PT" sz="1100" dirty="0">
              <a:highlight>
                <a:srgbClr val="FFFF00"/>
              </a:highlight>
            </a:endParaRPr>
          </a:p>
        </p:txBody>
      </p:sp>
      <p:pic>
        <p:nvPicPr>
          <p:cNvPr id="17" name="Imagem 16">
            <a:extLst>
              <a:ext uri="{FF2B5EF4-FFF2-40B4-BE49-F238E27FC236}">
                <a16:creationId xmlns:a16="http://schemas.microsoft.com/office/drawing/2014/main" id="{9DF2087D-B9C4-C3C2-5EC1-DD1B53FB7D9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575316" y="9186"/>
            <a:ext cx="2575034" cy="639880"/>
          </a:xfrm>
          <a:prstGeom prst="rect">
            <a:avLst/>
          </a:prstGeom>
        </p:spPr>
      </p:pic>
      <p:sp>
        <p:nvSpPr>
          <p:cNvPr id="18" name="Text Box 10">
            <a:extLst>
              <a:ext uri="{FF2B5EF4-FFF2-40B4-BE49-F238E27FC236}">
                <a16:creationId xmlns:a16="http://schemas.microsoft.com/office/drawing/2014/main" id="{7A14C09B-5FBA-8ABD-34B9-DFCF2CCE15DB}"/>
              </a:ext>
            </a:extLst>
          </p:cNvPr>
          <p:cNvSpPr txBox="1">
            <a:spLocks noChangeArrowheads="1"/>
          </p:cNvSpPr>
          <p:nvPr/>
        </p:nvSpPr>
        <p:spPr bwMode="auto">
          <a:xfrm>
            <a:off x="8288338" y="6296025"/>
            <a:ext cx="827087" cy="366713"/>
          </a:xfrm>
          <a:prstGeom prst="rect">
            <a:avLst/>
          </a:prstGeom>
          <a:noFill/>
          <a:ln w="9525">
            <a:noFill/>
            <a:miter lim="800000"/>
            <a:headEnd/>
            <a:tailEnd/>
          </a:ln>
        </p:spPr>
        <p:txBody>
          <a:bodyPr>
            <a:spAutoFit/>
          </a:bodyPr>
          <a:lstStyle/>
          <a:p>
            <a:pPr>
              <a:spcBef>
                <a:spcPct val="50000"/>
              </a:spcBef>
            </a:pPr>
            <a:endParaRPr lang="pt-PT"/>
          </a:p>
        </p:txBody>
      </p:sp>
      <p:sp>
        <p:nvSpPr>
          <p:cNvPr id="19" name="Rectangle 11">
            <a:extLst>
              <a:ext uri="{FF2B5EF4-FFF2-40B4-BE49-F238E27FC236}">
                <a16:creationId xmlns:a16="http://schemas.microsoft.com/office/drawing/2014/main" id="{5FEB77F8-6366-859C-8F61-0458CDFD29C6}"/>
              </a:ext>
            </a:extLst>
          </p:cNvPr>
          <p:cNvSpPr>
            <a:spLocks noChangeArrowheads="1"/>
          </p:cNvSpPr>
          <p:nvPr/>
        </p:nvSpPr>
        <p:spPr bwMode="auto">
          <a:xfrm>
            <a:off x="8327571" y="6496091"/>
            <a:ext cx="936625" cy="260350"/>
          </a:xfrm>
          <a:prstGeom prst="rect">
            <a:avLst/>
          </a:prstGeom>
          <a:noFill/>
          <a:ln w="9525">
            <a:noFill/>
            <a:miter lim="800000"/>
            <a:headEnd/>
            <a:tailEnd/>
          </a:ln>
        </p:spPr>
        <p:txBody>
          <a:bodyPr anchor="ctr"/>
          <a:lstStyle/>
          <a:p>
            <a:pPr algn="ctr"/>
            <a:r>
              <a:rPr lang="pt-PT" sz="1000" dirty="0"/>
              <a:t>- </a:t>
            </a:r>
            <a:fld id="{1234D2FF-8FB9-47A1-B8C9-42A5F500BA2F}" type="slidenum">
              <a:rPr lang="pt-PT" sz="1000"/>
              <a:pPr algn="ctr"/>
              <a:t>6</a:t>
            </a:fld>
            <a:r>
              <a:rPr lang="pt-PT" sz="1000" dirty="0"/>
              <a:t> -</a:t>
            </a:r>
          </a:p>
        </p:txBody>
      </p:sp>
      <p:pic>
        <p:nvPicPr>
          <p:cNvPr id="20" name="Imagem 19">
            <a:extLst>
              <a:ext uri="{FF2B5EF4-FFF2-40B4-BE49-F238E27FC236}">
                <a16:creationId xmlns:a16="http://schemas.microsoft.com/office/drawing/2014/main" id="{23F80230-1128-FA44-725B-42F7F05AD266}"/>
              </a:ext>
            </a:extLst>
          </p:cNvPr>
          <p:cNvPicPr>
            <a:picLocks noChangeAspect="1"/>
          </p:cNvPicPr>
          <p:nvPr/>
        </p:nvPicPr>
        <p:blipFill>
          <a:blip r:embed="rId5"/>
          <a:stretch>
            <a:fillRect/>
          </a:stretch>
        </p:blipFill>
        <p:spPr>
          <a:xfrm>
            <a:off x="0" y="6320212"/>
            <a:ext cx="9144000" cy="253252"/>
          </a:xfrm>
          <a:prstGeom prst="rect">
            <a:avLst/>
          </a:prstGeom>
        </p:spPr>
      </p:pic>
      <p:pic>
        <p:nvPicPr>
          <p:cNvPr id="22" name="Imagem 21">
            <a:extLst>
              <a:ext uri="{FF2B5EF4-FFF2-40B4-BE49-F238E27FC236}">
                <a16:creationId xmlns:a16="http://schemas.microsoft.com/office/drawing/2014/main" id="{1AC05CDC-356F-0761-76B6-357E4FC12A5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38125" y="6488336"/>
            <a:ext cx="545959" cy="199802"/>
          </a:xfrm>
          <a:prstGeom prst="rect">
            <a:avLst/>
          </a:prstGeom>
        </p:spPr>
      </p:pic>
      <p:sp>
        <p:nvSpPr>
          <p:cNvPr id="2" name="Subtítulo 2">
            <a:extLst>
              <a:ext uri="{FF2B5EF4-FFF2-40B4-BE49-F238E27FC236}">
                <a16:creationId xmlns:a16="http://schemas.microsoft.com/office/drawing/2014/main" id="{D492D49E-ABAC-CFCD-9489-1A4D5E275599}"/>
              </a:ext>
            </a:extLst>
          </p:cNvPr>
          <p:cNvSpPr txBox="1">
            <a:spLocks/>
          </p:cNvSpPr>
          <p:nvPr/>
        </p:nvSpPr>
        <p:spPr>
          <a:xfrm>
            <a:off x="836017" y="6524516"/>
            <a:ext cx="7698382" cy="162409"/>
          </a:xfrm>
          <a:prstGeom prst="rect">
            <a:avLst/>
          </a:prstGeom>
        </p:spPr>
        <p:txBody>
          <a:bodyPr vert="horz" lIns="68580" tIns="34290" rIns="68580" bIns="3429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pt-PT" sz="900" dirty="0">
                <a:latin typeface="Arial" charset="0"/>
                <a:ea typeface="Arial" charset="0"/>
                <a:cs typeface="Arial" charset="0"/>
              </a:rPr>
              <a:t>@Diogo Monteiro - 32428, Gonçalo Teixeira - 31396 | </a:t>
            </a:r>
            <a:r>
              <a:rPr lang="pt-PT" sz="900" b="1" dirty="0">
                <a:solidFill>
                  <a:srgbClr val="C00000"/>
                </a:solidFill>
                <a:latin typeface="Arial" charset="0"/>
                <a:ea typeface="Arial" charset="0"/>
                <a:cs typeface="Arial" charset="0"/>
              </a:rPr>
              <a:t>Unidade Curricular: Projeto III </a:t>
            </a:r>
            <a:r>
              <a:rPr lang="pt-PT" sz="900" dirty="0">
                <a:latin typeface="Arial" charset="0"/>
                <a:ea typeface="Arial" charset="0"/>
                <a:cs typeface="Arial" charset="0"/>
              </a:rPr>
              <a:t>– Ano Letivo 2024/2025 – </a:t>
            </a:r>
            <a:r>
              <a:rPr lang="pt-PT" sz="900" b="1" dirty="0">
                <a:latin typeface="Arial" charset="0"/>
                <a:ea typeface="Arial" charset="0"/>
                <a:cs typeface="Arial" charset="0"/>
              </a:rPr>
              <a:t>MCZ03</a:t>
            </a:r>
          </a:p>
        </p:txBody>
      </p:sp>
    </p:spTree>
    <p:extLst>
      <p:ext uri="{BB962C8B-B14F-4D97-AF65-F5344CB8AC3E}">
        <p14:creationId xmlns:p14="http://schemas.microsoft.com/office/powerpoint/2010/main" val="31508346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Conexão reta 5">
            <a:extLst>
              <a:ext uri="{FF2B5EF4-FFF2-40B4-BE49-F238E27FC236}">
                <a16:creationId xmlns:a16="http://schemas.microsoft.com/office/drawing/2014/main" id="{E1E06192-80F2-4F92-AA7E-5A6A78DA6E03}"/>
              </a:ext>
            </a:extLst>
          </p:cNvPr>
          <p:cNvCxnSpPr>
            <a:cxnSpLocks/>
          </p:cNvCxnSpPr>
          <p:nvPr/>
        </p:nvCxnSpPr>
        <p:spPr>
          <a:xfrm>
            <a:off x="2895600" y="3114822"/>
            <a:ext cx="0" cy="53340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2" name="Conexão reta 21">
            <a:extLst>
              <a:ext uri="{FF2B5EF4-FFF2-40B4-BE49-F238E27FC236}">
                <a16:creationId xmlns:a16="http://schemas.microsoft.com/office/drawing/2014/main" id="{048EAA98-CB2F-4758-B5DD-7BD6EB7BA166}"/>
              </a:ext>
            </a:extLst>
          </p:cNvPr>
          <p:cNvCxnSpPr>
            <a:cxnSpLocks/>
          </p:cNvCxnSpPr>
          <p:nvPr/>
        </p:nvCxnSpPr>
        <p:spPr>
          <a:xfrm>
            <a:off x="4581378" y="3114822"/>
            <a:ext cx="0" cy="53340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9229" name="Text Box 13"/>
          <p:cNvSpPr txBox="1">
            <a:spLocks noChangeArrowheads="1"/>
          </p:cNvSpPr>
          <p:nvPr/>
        </p:nvSpPr>
        <p:spPr bwMode="auto">
          <a:xfrm>
            <a:off x="306388" y="557213"/>
            <a:ext cx="6981825" cy="400050"/>
          </a:xfrm>
          <a:prstGeom prst="rect">
            <a:avLst/>
          </a:prstGeom>
          <a:noFill/>
          <a:ln w="9525">
            <a:noFill/>
            <a:miter lim="800000"/>
            <a:headEnd/>
            <a:tailEnd/>
          </a:ln>
          <a:effectLst/>
        </p:spPr>
        <p:txBody>
          <a:bodyPr>
            <a:spAutoFit/>
          </a:bodyPr>
          <a:lstStyle/>
          <a:p>
            <a:pPr>
              <a:spcBef>
                <a:spcPct val="50000"/>
              </a:spcBef>
              <a:defRPr/>
            </a:pPr>
            <a:r>
              <a:rPr lang="pt-PT" sz="2000" b="1" dirty="0">
                <a:solidFill>
                  <a:srgbClr val="C00000"/>
                </a:solidFill>
                <a:effectLst>
                  <a:outerShdw blurRad="38100" dist="38100" dir="2700000" algn="tl">
                    <a:srgbClr val="C0C0C0"/>
                  </a:outerShdw>
                </a:effectLst>
                <a:latin typeface="Arial"/>
                <a:cs typeface="Arial"/>
              </a:rPr>
              <a:t>■</a:t>
            </a:r>
            <a:r>
              <a:rPr lang="pt-PT" sz="2000" b="1" dirty="0">
                <a:effectLst>
                  <a:outerShdw blurRad="38100" dist="38100" dir="2700000" algn="tl">
                    <a:srgbClr val="C0C0C0"/>
                  </a:outerShdw>
                </a:effectLst>
                <a:latin typeface="Arial"/>
                <a:cs typeface="Arial"/>
              </a:rPr>
              <a:t> 3. Use Cases, Users Analysis, Class Diagram</a:t>
            </a:r>
            <a:endParaRPr lang="pt-PT" sz="2000" b="1" dirty="0">
              <a:effectLst>
                <a:outerShdw blurRad="38100" dist="38100" dir="2700000" algn="tl">
                  <a:srgbClr val="C0C0C0"/>
                </a:outerShdw>
              </a:effectLst>
              <a:latin typeface="Arial" charset="0"/>
            </a:endParaRPr>
          </a:p>
        </p:txBody>
      </p:sp>
      <p:sp>
        <p:nvSpPr>
          <p:cNvPr id="10247" name="Line 15"/>
          <p:cNvSpPr>
            <a:spLocks noChangeShapeType="1"/>
          </p:cNvSpPr>
          <p:nvPr/>
        </p:nvSpPr>
        <p:spPr bwMode="auto">
          <a:xfrm>
            <a:off x="250825" y="0"/>
            <a:ext cx="0" cy="765175"/>
          </a:xfrm>
          <a:prstGeom prst="line">
            <a:avLst/>
          </a:prstGeom>
          <a:noFill/>
          <a:ln w="25400">
            <a:solidFill>
              <a:schemeClr val="tx1"/>
            </a:solidFill>
            <a:round/>
            <a:headEnd/>
            <a:tailEnd/>
          </a:ln>
        </p:spPr>
        <p:txBody>
          <a:bodyPr/>
          <a:lstStyle/>
          <a:p>
            <a:endParaRPr lang="pt-PT"/>
          </a:p>
        </p:txBody>
      </p:sp>
      <p:sp>
        <p:nvSpPr>
          <p:cNvPr id="9237" name="Text Box 21"/>
          <p:cNvSpPr txBox="1">
            <a:spLocks noChangeArrowheads="1"/>
          </p:cNvSpPr>
          <p:nvPr/>
        </p:nvSpPr>
        <p:spPr bwMode="auto">
          <a:xfrm>
            <a:off x="260350" y="44450"/>
            <a:ext cx="6981825" cy="304800"/>
          </a:xfrm>
          <a:prstGeom prst="rect">
            <a:avLst/>
          </a:prstGeom>
          <a:noFill/>
          <a:ln w="9525">
            <a:noFill/>
            <a:miter lim="800000"/>
            <a:headEnd/>
            <a:tailEnd/>
          </a:ln>
          <a:effectLst/>
        </p:spPr>
        <p:txBody>
          <a:bodyPr>
            <a:spAutoFit/>
          </a:bodyPr>
          <a:lstStyle/>
          <a:p>
            <a:pPr>
              <a:spcBef>
                <a:spcPct val="50000"/>
              </a:spcBef>
              <a:defRPr/>
            </a:pPr>
            <a:endParaRPr lang="pt-PT" sz="1400" b="1" dirty="0">
              <a:solidFill>
                <a:srgbClr val="FF3300"/>
              </a:solidFill>
              <a:effectLst>
                <a:outerShdw blurRad="38100" dist="38100" dir="2700000" algn="tl">
                  <a:srgbClr val="C0C0C0"/>
                </a:outerShdw>
              </a:effectLst>
              <a:latin typeface="Arial" charset="0"/>
            </a:endParaRPr>
          </a:p>
        </p:txBody>
      </p:sp>
      <p:graphicFrame>
        <p:nvGraphicFramePr>
          <p:cNvPr id="2" name="Diagrama 1">
            <a:extLst>
              <a:ext uri="{FF2B5EF4-FFF2-40B4-BE49-F238E27FC236}">
                <a16:creationId xmlns:a16="http://schemas.microsoft.com/office/drawing/2014/main" id="{10A94DA3-9C27-4FB8-AB74-E95265E55833}"/>
              </a:ext>
            </a:extLst>
          </p:cNvPr>
          <p:cNvGraphicFramePr/>
          <p:nvPr>
            <p:extLst>
              <p:ext uri="{D42A27DB-BD31-4B8C-83A1-F6EECF244321}">
                <p14:modId xmlns:p14="http://schemas.microsoft.com/office/powerpoint/2010/main" val="2321359248"/>
              </p:ext>
            </p:extLst>
          </p:nvPr>
        </p:nvGraphicFramePr>
        <p:xfrm>
          <a:off x="519601" y="1483820"/>
          <a:ext cx="8104798" cy="16712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Retângulo 3">
            <a:extLst>
              <a:ext uri="{FF2B5EF4-FFF2-40B4-BE49-F238E27FC236}">
                <a16:creationId xmlns:a16="http://schemas.microsoft.com/office/drawing/2014/main" id="{BD7F39B9-13A7-4C5A-A5E0-6A9F849A3CDD}"/>
              </a:ext>
            </a:extLst>
          </p:cNvPr>
          <p:cNvSpPr/>
          <p:nvPr/>
        </p:nvSpPr>
        <p:spPr>
          <a:xfrm>
            <a:off x="876953" y="3513194"/>
            <a:ext cx="2406865" cy="24405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Ø"/>
            </a:pPr>
            <a:r>
              <a:rPr lang="en-US" dirty="0"/>
              <a:t>Register account</a:t>
            </a:r>
          </a:p>
          <a:p>
            <a:pPr marL="285750" indent="-285750">
              <a:buFont typeface="Wingdings" panose="05000000000000000000" pitchFamily="2" charset="2"/>
              <a:buChar char="Ø"/>
            </a:pPr>
            <a:r>
              <a:rPr lang="en-US" dirty="0"/>
              <a:t>Log in/out</a:t>
            </a:r>
          </a:p>
          <a:p>
            <a:pPr marL="285750" indent="-285750">
              <a:buFont typeface="Wingdings" panose="05000000000000000000" pitchFamily="2" charset="2"/>
              <a:buChar char="Ø"/>
            </a:pPr>
            <a:r>
              <a:rPr lang="en-US" dirty="0"/>
              <a:t>Upload image</a:t>
            </a:r>
          </a:p>
          <a:p>
            <a:pPr marL="285750" indent="-285750">
              <a:buFont typeface="Wingdings" panose="05000000000000000000" pitchFamily="2" charset="2"/>
              <a:buChar char="Ø"/>
            </a:pPr>
            <a:r>
              <a:rPr lang="en-US" dirty="0"/>
              <a:t>Enter environment data</a:t>
            </a:r>
          </a:p>
          <a:p>
            <a:pPr marL="285750" indent="-285750">
              <a:buFont typeface="Wingdings" panose="05000000000000000000" pitchFamily="2" charset="2"/>
              <a:buChar char="Ø"/>
            </a:pPr>
            <a:r>
              <a:rPr lang="en-US" dirty="0"/>
              <a:t>Submit for analysis</a:t>
            </a:r>
          </a:p>
          <a:p>
            <a:pPr marL="285750" indent="-285750">
              <a:buFont typeface="Wingdings" panose="05000000000000000000" pitchFamily="2" charset="2"/>
              <a:buChar char="Ø"/>
            </a:pPr>
            <a:r>
              <a:rPr lang="en-US" dirty="0"/>
              <a:t>Get notifications</a:t>
            </a:r>
          </a:p>
          <a:p>
            <a:pPr marL="285750" indent="-285750">
              <a:buFont typeface="Wingdings" panose="05000000000000000000" pitchFamily="2" charset="2"/>
              <a:buChar char="Ø"/>
            </a:pPr>
            <a:r>
              <a:rPr lang="en-US" dirty="0"/>
              <a:t>View history</a:t>
            </a:r>
          </a:p>
        </p:txBody>
      </p:sp>
      <p:sp>
        <p:nvSpPr>
          <p:cNvPr id="17" name="Retângulo 16">
            <a:extLst>
              <a:ext uri="{FF2B5EF4-FFF2-40B4-BE49-F238E27FC236}">
                <a16:creationId xmlns:a16="http://schemas.microsoft.com/office/drawing/2014/main" id="{8DF5B6D9-4994-46BE-9A74-016104E03F97}"/>
              </a:ext>
            </a:extLst>
          </p:cNvPr>
          <p:cNvSpPr/>
          <p:nvPr/>
        </p:nvSpPr>
        <p:spPr>
          <a:xfrm>
            <a:off x="3457848" y="3513194"/>
            <a:ext cx="2406864" cy="17660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Ø"/>
            </a:pPr>
            <a:r>
              <a:rPr lang="en-US" dirty="0"/>
              <a:t>Log in as admin</a:t>
            </a:r>
          </a:p>
          <a:p>
            <a:pPr marL="285750" indent="-285750">
              <a:buFont typeface="Wingdings" panose="05000000000000000000" pitchFamily="2" charset="2"/>
              <a:buChar char="Ø"/>
            </a:pPr>
            <a:r>
              <a:rPr lang="en-US" dirty="0"/>
              <a:t>Upload training data</a:t>
            </a:r>
          </a:p>
          <a:p>
            <a:pPr marL="285750" indent="-285750">
              <a:buFont typeface="Wingdings" panose="05000000000000000000" pitchFamily="2" charset="2"/>
              <a:buChar char="Ø"/>
            </a:pPr>
            <a:r>
              <a:rPr lang="en-US" dirty="0"/>
              <a:t>Edit or delete dataset entries</a:t>
            </a:r>
          </a:p>
          <a:p>
            <a:pPr marL="285750" indent="-285750">
              <a:buFont typeface="Wingdings" panose="05000000000000000000" pitchFamily="2" charset="2"/>
              <a:buChar char="Ø"/>
            </a:pPr>
            <a:r>
              <a:rPr lang="en-US" dirty="0"/>
              <a:t>Trigger model retraining</a:t>
            </a:r>
            <a:endParaRPr lang="pt-PT" dirty="0"/>
          </a:p>
        </p:txBody>
      </p:sp>
      <p:sp>
        <p:nvSpPr>
          <p:cNvPr id="18" name="Retângulo 17">
            <a:extLst>
              <a:ext uri="{FF2B5EF4-FFF2-40B4-BE49-F238E27FC236}">
                <a16:creationId xmlns:a16="http://schemas.microsoft.com/office/drawing/2014/main" id="{F08F98FE-C1B1-4330-BDB9-F95F62B58D79}"/>
              </a:ext>
            </a:extLst>
          </p:cNvPr>
          <p:cNvSpPr/>
          <p:nvPr/>
        </p:nvSpPr>
        <p:spPr>
          <a:xfrm>
            <a:off x="6038742" y="3513194"/>
            <a:ext cx="2406865" cy="17660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Ø"/>
            </a:pPr>
            <a:r>
              <a:rPr lang="en-US" dirty="0"/>
              <a:t>Validate all inputs</a:t>
            </a:r>
          </a:p>
          <a:p>
            <a:pPr marL="285750" indent="-285750">
              <a:buFont typeface="Wingdings" panose="05000000000000000000" pitchFamily="2" charset="2"/>
              <a:buChar char="Ø"/>
            </a:pPr>
            <a:r>
              <a:rPr lang="en-US" dirty="0"/>
              <a:t>Process images and data</a:t>
            </a:r>
          </a:p>
          <a:p>
            <a:pPr marL="285750" indent="-285750">
              <a:buFont typeface="Wingdings" panose="05000000000000000000" pitchFamily="2" charset="2"/>
              <a:buChar char="Ø"/>
            </a:pPr>
            <a:r>
              <a:rPr lang="en-US" dirty="0"/>
              <a:t>Store images and metadata</a:t>
            </a:r>
          </a:p>
          <a:p>
            <a:pPr marL="285750" indent="-285750">
              <a:buFont typeface="Wingdings" panose="05000000000000000000" pitchFamily="2" charset="2"/>
              <a:buChar char="Ø"/>
            </a:pPr>
            <a:r>
              <a:rPr lang="en-US" dirty="0"/>
              <a:t>Send notifications</a:t>
            </a:r>
          </a:p>
        </p:txBody>
      </p:sp>
      <p:cxnSp>
        <p:nvCxnSpPr>
          <p:cNvPr id="23" name="Conexão reta 22">
            <a:extLst>
              <a:ext uri="{FF2B5EF4-FFF2-40B4-BE49-F238E27FC236}">
                <a16:creationId xmlns:a16="http://schemas.microsoft.com/office/drawing/2014/main" id="{D3A966E7-947C-47F3-8A91-2A47F611D4ED}"/>
              </a:ext>
            </a:extLst>
          </p:cNvPr>
          <p:cNvCxnSpPr>
            <a:cxnSpLocks/>
          </p:cNvCxnSpPr>
          <p:nvPr/>
        </p:nvCxnSpPr>
        <p:spPr>
          <a:xfrm>
            <a:off x="6248400" y="3155100"/>
            <a:ext cx="0" cy="368105"/>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6" name="CaixaDeTexto 25">
            <a:extLst>
              <a:ext uri="{FF2B5EF4-FFF2-40B4-BE49-F238E27FC236}">
                <a16:creationId xmlns:a16="http://schemas.microsoft.com/office/drawing/2014/main" id="{5961CF46-6D0F-4C88-B120-8C2EA4C9D494}"/>
              </a:ext>
            </a:extLst>
          </p:cNvPr>
          <p:cNvSpPr txBox="1"/>
          <p:nvPr/>
        </p:nvSpPr>
        <p:spPr>
          <a:xfrm>
            <a:off x="762000" y="1089604"/>
            <a:ext cx="4582274" cy="369332"/>
          </a:xfrm>
          <a:prstGeom prst="rect">
            <a:avLst/>
          </a:prstGeom>
          <a:noFill/>
        </p:spPr>
        <p:txBody>
          <a:bodyPr wrap="square">
            <a:spAutoFit/>
          </a:bodyPr>
          <a:lstStyle/>
          <a:p>
            <a:r>
              <a:rPr lang="pt-PT" b="1" dirty="0">
                <a:solidFill>
                  <a:srgbClr val="FF0000"/>
                </a:solidFill>
                <a:effectLst>
                  <a:outerShdw blurRad="38100" dist="38100" dir="2700000" algn="tl">
                    <a:srgbClr val="C0C0C0"/>
                  </a:outerShdw>
                </a:effectLst>
                <a:latin typeface="Arial"/>
                <a:cs typeface="Arial"/>
              </a:rPr>
              <a:t>■</a:t>
            </a:r>
            <a:r>
              <a:rPr lang="pt-PT" b="1" dirty="0">
                <a:effectLst>
                  <a:outerShdw blurRad="38100" dist="38100" dir="2700000" algn="tl">
                    <a:srgbClr val="C0C0C0"/>
                  </a:outerShdw>
                </a:effectLst>
                <a:latin typeface="Arial"/>
                <a:cs typeface="Arial"/>
              </a:rPr>
              <a:t> </a:t>
            </a:r>
            <a:r>
              <a:rPr lang="pt-PT" b="1" dirty="0">
                <a:solidFill>
                  <a:srgbClr val="C00000"/>
                </a:solidFill>
                <a:effectLst>
                  <a:outerShdw blurRad="38100" dist="38100" dir="2700000" algn="tl">
                    <a:srgbClr val="C0C0C0"/>
                  </a:outerShdw>
                </a:effectLst>
                <a:latin typeface="Arial"/>
                <a:cs typeface="Arial"/>
              </a:rPr>
              <a:t>3.1 </a:t>
            </a:r>
            <a:r>
              <a:rPr lang="pt-PT" b="1" dirty="0" err="1">
                <a:solidFill>
                  <a:srgbClr val="C00000"/>
                </a:solidFill>
                <a:effectLst>
                  <a:outerShdw blurRad="38100" dist="38100" dir="2700000" algn="tl">
                    <a:srgbClr val="C0C0C0"/>
                  </a:outerShdw>
                </a:effectLst>
                <a:latin typeface="Arial"/>
                <a:cs typeface="Arial"/>
              </a:rPr>
              <a:t>Users</a:t>
            </a:r>
            <a:r>
              <a:rPr lang="pt-PT" b="1" dirty="0">
                <a:solidFill>
                  <a:srgbClr val="C00000"/>
                </a:solidFill>
                <a:effectLst>
                  <a:outerShdw blurRad="38100" dist="38100" dir="2700000" algn="tl">
                    <a:srgbClr val="C0C0C0"/>
                  </a:outerShdw>
                </a:effectLst>
                <a:latin typeface="Arial"/>
                <a:cs typeface="Arial"/>
              </a:rPr>
              <a:t> </a:t>
            </a:r>
            <a:r>
              <a:rPr lang="pt-PT" b="1" dirty="0" err="1">
                <a:solidFill>
                  <a:srgbClr val="C00000"/>
                </a:solidFill>
                <a:effectLst>
                  <a:outerShdw blurRad="38100" dist="38100" dir="2700000" algn="tl">
                    <a:srgbClr val="C0C0C0"/>
                  </a:outerShdw>
                </a:effectLst>
                <a:latin typeface="Arial"/>
                <a:cs typeface="Arial"/>
              </a:rPr>
              <a:t>Analysis</a:t>
            </a:r>
            <a:endParaRPr lang="pt-PT" dirty="0">
              <a:solidFill>
                <a:srgbClr val="C00000"/>
              </a:solidFill>
            </a:endParaRPr>
          </a:p>
        </p:txBody>
      </p:sp>
      <p:pic>
        <p:nvPicPr>
          <p:cNvPr id="24" name="Imagem 23">
            <a:extLst>
              <a:ext uri="{FF2B5EF4-FFF2-40B4-BE49-F238E27FC236}">
                <a16:creationId xmlns:a16="http://schemas.microsoft.com/office/drawing/2014/main" id="{1EA4A986-6782-48A6-9913-AFBCE216AB8B}"/>
              </a:ext>
            </a:extLst>
          </p:cNvPr>
          <p:cNvPicPr>
            <a:picLocks noChangeAspect="1"/>
          </p:cNvPicPr>
          <p:nvPr/>
        </p:nvPicPr>
        <p:blipFill>
          <a:blip r:embed="rId8"/>
          <a:stretch>
            <a:fillRect/>
          </a:stretch>
        </p:blipFill>
        <p:spPr>
          <a:xfrm>
            <a:off x="101225" y="904241"/>
            <a:ext cx="9014192" cy="266482"/>
          </a:xfrm>
          <a:prstGeom prst="rect">
            <a:avLst/>
          </a:prstGeom>
        </p:spPr>
      </p:pic>
      <p:sp>
        <p:nvSpPr>
          <p:cNvPr id="28" name="Text Box 10">
            <a:extLst>
              <a:ext uri="{FF2B5EF4-FFF2-40B4-BE49-F238E27FC236}">
                <a16:creationId xmlns:a16="http://schemas.microsoft.com/office/drawing/2014/main" id="{49095A2F-6547-4333-8F2E-029F54909AAC}"/>
              </a:ext>
            </a:extLst>
          </p:cNvPr>
          <p:cNvSpPr txBox="1">
            <a:spLocks noChangeArrowheads="1"/>
          </p:cNvSpPr>
          <p:nvPr/>
        </p:nvSpPr>
        <p:spPr bwMode="auto">
          <a:xfrm>
            <a:off x="8288338" y="6296025"/>
            <a:ext cx="827087" cy="366713"/>
          </a:xfrm>
          <a:prstGeom prst="rect">
            <a:avLst/>
          </a:prstGeom>
          <a:noFill/>
          <a:ln w="9525">
            <a:noFill/>
            <a:miter lim="800000"/>
            <a:headEnd/>
            <a:tailEnd/>
          </a:ln>
        </p:spPr>
        <p:txBody>
          <a:bodyPr>
            <a:spAutoFit/>
          </a:bodyPr>
          <a:lstStyle/>
          <a:p>
            <a:pPr>
              <a:spcBef>
                <a:spcPct val="50000"/>
              </a:spcBef>
            </a:pPr>
            <a:endParaRPr lang="pt-PT"/>
          </a:p>
        </p:txBody>
      </p:sp>
      <p:sp>
        <p:nvSpPr>
          <p:cNvPr id="29" name="Rectangle 11">
            <a:extLst>
              <a:ext uri="{FF2B5EF4-FFF2-40B4-BE49-F238E27FC236}">
                <a16:creationId xmlns:a16="http://schemas.microsoft.com/office/drawing/2014/main" id="{5B3B9958-2CAE-406F-A166-3AE08E75D621}"/>
              </a:ext>
            </a:extLst>
          </p:cNvPr>
          <p:cNvSpPr>
            <a:spLocks noChangeArrowheads="1"/>
          </p:cNvSpPr>
          <p:nvPr/>
        </p:nvSpPr>
        <p:spPr bwMode="auto">
          <a:xfrm>
            <a:off x="8327571" y="6496091"/>
            <a:ext cx="936625" cy="260350"/>
          </a:xfrm>
          <a:prstGeom prst="rect">
            <a:avLst/>
          </a:prstGeom>
          <a:noFill/>
          <a:ln w="9525">
            <a:noFill/>
            <a:miter lim="800000"/>
            <a:headEnd/>
            <a:tailEnd/>
          </a:ln>
        </p:spPr>
        <p:txBody>
          <a:bodyPr anchor="ctr"/>
          <a:lstStyle/>
          <a:p>
            <a:pPr algn="ctr"/>
            <a:r>
              <a:rPr lang="pt-PT" sz="1000" dirty="0"/>
              <a:t>- </a:t>
            </a:r>
            <a:fld id="{1234D2FF-8FB9-47A1-B8C9-42A5F500BA2F}" type="slidenum">
              <a:rPr lang="pt-PT" sz="1000"/>
              <a:pPr algn="ctr"/>
              <a:t>7</a:t>
            </a:fld>
            <a:r>
              <a:rPr lang="pt-PT" sz="1000" dirty="0"/>
              <a:t> -</a:t>
            </a:r>
          </a:p>
        </p:txBody>
      </p:sp>
      <p:pic>
        <p:nvPicPr>
          <p:cNvPr id="30" name="Imagem 29">
            <a:extLst>
              <a:ext uri="{FF2B5EF4-FFF2-40B4-BE49-F238E27FC236}">
                <a16:creationId xmlns:a16="http://schemas.microsoft.com/office/drawing/2014/main" id="{DC130AFF-B764-4401-9EAF-8B1008F55960}"/>
              </a:ext>
            </a:extLst>
          </p:cNvPr>
          <p:cNvPicPr>
            <a:picLocks noChangeAspect="1"/>
          </p:cNvPicPr>
          <p:nvPr/>
        </p:nvPicPr>
        <p:blipFill>
          <a:blip r:embed="rId9"/>
          <a:stretch>
            <a:fillRect/>
          </a:stretch>
        </p:blipFill>
        <p:spPr>
          <a:xfrm>
            <a:off x="0" y="6320212"/>
            <a:ext cx="9144000" cy="253252"/>
          </a:xfrm>
          <a:prstGeom prst="rect">
            <a:avLst/>
          </a:prstGeom>
        </p:spPr>
      </p:pic>
      <p:pic>
        <p:nvPicPr>
          <p:cNvPr id="32" name="Imagem 31">
            <a:extLst>
              <a:ext uri="{FF2B5EF4-FFF2-40B4-BE49-F238E27FC236}">
                <a16:creationId xmlns:a16="http://schemas.microsoft.com/office/drawing/2014/main" id="{E9CB5990-0606-4BEC-86B0-F6C1798AC820}"/>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238125" y="6488336"/>
            <a:ext cx="545959" cy="199802"/>
          </a:xfrm>
          <a:prstGeom prst="rect">
            <a:avLst/>
          </a:prstGeom>
        </p:spPr>
      </p:pic>
      <p:sp>
        <p:nvSpPr>
          <p:cNvPr id="33" name="Rectângulo 19">
            <a:extLst>
              <a:ext uri="{FF2B5EF4-FFF2-40B4-BE49-F238E27FC236}">
                <a16:creationId xmlns:a16="http://schemas.microsoft.com/office/drawing/2014/main" id="{173A8B29-21CB-4C80-A4F5-3360FBDA4222}"/>
              </a:ext>
            </a:extLst>
          </p:cNvPr>
          <p:cNvSpPr/>
          <p:nvPr/>
        </p:nvSpPr>
        <p:spPr>
          <a:xfrm>
            <a:off x="5535613" y="553019"/>
            <a:ext cx="3505200" cy="261610"/>
          </a:xfrm>
          <a:prstGeom prst="rect">
            <a:avLst/>
          </a:prstGeom>
        </p:spPr>
        <p:txBody>
          <a:bodyPr wrap="square">
            <a:spAutoFit/>
          </a:bodyPr>
          <a:lstStyle/>
          <a:p>
            <a:pPr algn="r"/>
            <a:r>
              <a:rPr lang="pt-PT" sz="1100" b="1" cap="all" dirty="0" err="1">
                <a:highlight>
                  <a:srgbClr val="FFFF00"/>
                </a:highlight>
              </a:rPr>
              <a:t>Graduation</a:t>
            </a:r>
            <a:r>
              <a:rPr lang="pt-PT" sz="1100" b="1" cap="all" dirty="0">
                <a:highlight>
                  <a:srgbClr val="FFFF00"/>
                </a:highlight>
              </a:rPr>
              <a:t> in </a:t>
            </a:r>
            <a:r>
              <a:rPr lang="pt-PT" sz="1100" b="1" cap="all" dirty="0" err="1">
                <a:highlight>
                  <a:srgbClr val="FFFF00"/>
                </a:highlight>
              </a:rPr>
              <a:t>Informatics</a:t>
            </a:r>
            <a:r>
              <a:rPr lang="pt-PT" sz="1100" b="1" cap="all" dirty="0">
                <a:highlight>
                  <a:srgbClr val="FFFF00"/>
                </a:highlight>
              </a:rPr>
              <a:t> </a:t>
            </a:r>
            <a:r>
              <a:rPr lang="pt-PT" sz="1100" b="1" cap="all" dirty="0" err="1">
                <a:highlight>
                  <a:srgbClr val="FFFF00"/>
                </a:highlight>
              </a:rPr>
              <a:t>engineering</a:t>
            </a:r>
            <a:endParaRPr lang="pt-PT" sz="1100" dirty="0">
              <a:highlight>
                <a:srgbClr val="FFFF00"/>
              </a:highlight>
            </a:endParaRPr>
          </a:p>
        </p:txBody>
      </p:sp>
      <p:pic>
        <p:nvPicPr>
          <p:cNvPr id="34" name="Imagem 33">
            <a:extLst>
              <a:ext uri="{FF2B5EF4-FFF2-40B4-BE49-F238E27FC236}">
                <a16:creationId xmlns:a16="http://schemas.microsoft.com/office/drawing/2014/main" id="{10395001-DD18-4611-8D39-49E409D4297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6575316" y="9186"/>
            <a:ext cx="2575034" cy="639880"/>
          </a:xfrm>
          <a:prstGeom prst="rect">
            <a:avLst/>
          </a:prstGeom>
        </p:spPr>
      </p:pic>
      <p:sp>
        <p:nvSpPr>
          <p:cNvPr id="3" name="Subtítulo 2">
            <a:extLst>
              <a:ext uri="{FF2B5EF4-FFF2-40B4-BE49-F238E27FC236}">
                <a16:creationId xmlns:a16="http://schemas.microsoft.com/office/drawing/2014/main" id="{80B3C2A7-48A6-87E2-21B1-A5F461779150}"/>
              </a:ext>
            </a:extLst>
          </p:cNvPr>
          <p:cNvSpPr txBox="1">
            <a:spLocks/>
          </p:cNvSpPr>
          <p:nvPr/>
        </p:nvSpPr>
        <p:spPr>
          <a:xfrm>
            <a:off x="836017" y="6524516"/>
            <a:ext cx="7698382" cy="162409"/>
          </a:xfrm>
          <a:prstGeom prst="rect">
            <a:avLst/>
          </a:prstGeom>
        </p:spPr>
        <p:txBody>
          <a:bodyPr vert="horz" lIns="68580" tIns="34290" rIns="68580" bIns="3429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pt-PT" sz="900" dirty="0">
                <a:latin typeface="Arial" charset="0"/>
                <a:ea typeface="Arial" charset="0"/>
                <a:cs typeface="Arial" charset="0"/>
              </a:rPr>
              <a:t>@Diogo Monteiro - 32428, Gonçalo Teixeira - 31396 | </a:t>
            </a:r>
            <a:r>
              <a:rPr lang="pt-PT" sz="900" b="1" dirty="0">
                <a:solidFill>
                  <a:srgbClr val="C00000"/>
                </a:solidFill>
                <a:latin typeface="Arial" charset="0"/>
                <a:ea typeface="Arial" charset="0"/>
                <a:cs typeface="Arial" charset="0"/>
              </a:rPr>
              <a:t>Unidade Curricular: Projeto III </a:t>
            </a:r>
            <a:r>
              <a:rPr lang="pt-PT" sz="900" dirty="0">
                <a:latin typeface="Arial" charset="0"/>
                <a:ea typeface="Arial" charset="0"/>
                <a:cs typeface="Arial" charset="0"/>
              </a:rPr>
              <a:t>– Ano Letivo 2024/2025 – </a:t>
            </a:r>
            <a:r>
              <a:rPr lang="pt-PT" sz="900" b="1" dirty="0">
                <a:latin typeface="Arial" charset="0"/>
                <a:ea typeface="Arial" charset="0"/>
                <a:cs typeface="Arial" charset="0"/>
              </a:rPr>
              <a:t>MCZ03</a:t>
            </a:r>
          </a:p>
        </p:txBody>
      </p:sp>
    </p:spTree>
    <p:extLst>
      <p:ext uri="{BB962C8B-B14F-4D97-AF65-F5344CB8AC3E}">
        <p14:creationId xmlns:p14="http://schemas.microsoft.com/office/powerpoint/2010/main" val="8388870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9" name="Text Box 13"/>
          <p:cNvSpPr txBox="1">
            <a:spLocks noChangeArrowheads="1"/>
          </p:cNvSpPr>
          <p:nvPr/>
        </p:nvSpPr>
        <p:spPr bwMode="auto">
          <a:xfrm>
            <a:off x="306388" y="557213"/>
            <a:ext cx="6981825" cy="400050"/>
          </a:xfrm>
          <a:prstGeom prst="rect">
            <a:avLst/>
          </a:prstGeom>
          <a:noFill/>
          <a:ln w="9525">
            <a:noFill/>
            <a:miter lim="800000"/>
            <a:headEnd/>
            <a:tailEnd/>
          </a:ln>
          <a:effectLst/>
        </p:spPr>
        <p:txBody>
          <a:bodyPr>
            <a:spAutoFit/>
          </a:bodyPr>
          <a:lstStyle/>
          <a:p>
            <a:pPr>
              <a:spcBef>
                <a:spcPct val="50000"/>
              </a:spcBef>
              <a:defRPr/>
            </a:pPr>
            <a:r>
              <a:rPr lang="pt-PT" sz="2000" b="1" dirty="0">
                <a:solidFill>
                  <a:srgbClr val="C00000"/>
                </a:solidFill>
                <a:effectLst>
                  <a:outerShdw blurRad="38100" dist="38100" dir="2700000" algn="tl">
                    <a:srgbClr val="C0C0C0"/>
                  </a:outerShdw>
                </a:effectLst>
                <a:latin typeface="Arial"/>
                <a:cs typeface="Arial"/>
              </a:rPr>
              <a:t>■</a:t>
            </a:r>
            <a:r>
              <a:rPr lang="pt-PT" sz="2000" b="1" dirty="0">
                <a:effectLst>
                  <a:outerShdw blurRad="38100" dist="38100" dir="2700000" algn="tl">
                    <a:srgbClr val="C0C0C0"/>
                  </a:outerShdw>
                </a:effectLst>
                <a:latin typeface="Arial"/>
                <a:cs typeface="Arial"/>
              </a:rPr>
              <a:t> 3.2. Use Case </a:t>
            </a:r>
            <a:r>
              <a:rPr lang="pt-PT" sz="2000" b="1" dirty="0" err="1">
                <a:effectLst>
                  <a:outerShdw blurRad="38100" dist="38100" dir="2700000" algn="tl">
                    <a:srgbClr val="C0C0C0"/>
                  </a:outerShdw>
                </a:effectLst>
                <a:latin typeface="Arial"/>
                <a:cs typeface="Arial"/>
              </a:rPr>
              <a:t>Diagram</a:t>
            </a:r>
            <a:endParaRPr lang="pt-PT" sz="2000" b="1" dirty="0">
              <a:effectLst>
                <a:outerShdw blurRad="38100" dist="38100" dir="2700000" algn="tl">
                  <a:srgbClr val="C0C0C0"/>
                </a:outerShdw>
              </a:effectLst>
              <a:latin typeface="Arial" charset="0"/>
            </a:endParaRPr>
          </a:p>
        </p:txBody>
      </p:sp>
      <p:sp>
        <p:nvSpPr>
          <p:cNvPr id="10247" name="Line 15"/>
          <p:cNvSpPr>
            <a:spLocks noChangeShapeType="1"/>
          </p:cNvSpPr>
          <p:nvPr/>
        </p:nvSpPr>
        <p:spPr bwMode="auto">
          <a:xfrm>
            <a:off x="250825" y="0"/>
            <a:ext cx="0" cy="765175"/>
          </a:xfrm>
          <a:prstGeom prst="line">
            <a:avLst/>
          </a:prstGeom>
          <a:noFill/>
          <a:ln w="25400">
            <a:solidFill>
              <a:schemeClr val="tx1"/>
            </a:solidFill>
            <a:round/>
            <a:headEnd/>
            <a:tailEnd/>
          </a:ln>
        </p:spPr>
        <p:txBody>
          <a:bodyPr/>
          <a:lstStyle/>
          <a:p>
            <a:endParaRPr lang="pt-PT"/>
          </a:p>
        </p:txBody>
      </p:sp>
      <p:sp>
        <p:nvSpPr>
          <p:cNvPr id="9237" name="Text Box 21"/>
          <p:cNvSpPr txBox="1">
            <a:spLocks noChangeArrowheads="1"/>
          </p:cNvSpPr>
          <p:nvPr/>
        </p:nvSpPr>
        <p:spPr bwMode="auto">
          <a:xfrm>
            <a:off x="260350" y="44450"/>
            <a:ext cx="6981825" cy="304800"/>
          </a:xfrm>
          <a:prstGeom prst="rect">
            <a:avLst/>
          </a:prstGeom>
          <a:noFill/>
          <a:ln w="9525">
            <a:noFill/>
            <a:miter lim="800000"/>
            <a:headEnd/>
            <a:tailEnd/>
          </a:ln>
          <a:effectLst/>
        </p:spPr>
        <p:txBody>
          <a:bodyPr>
            <a:spAutoFit/>
          </a:bodyPr>
          <a:lstStyle/>
          <a:p>
            <a:pPr>
              <a:spcBef>
                <a:spcPct val="50000"/>
              </a:spcBef>
              <a:defRPr/>
            </a:pPr>
            <a:endParaRPr lang="pt-PT" sz="1400" b="1" dirty="0">
              <a:solidFill>
                <a:srgbClr val="FF3300"/>
              </a:solidFill>
              <a:effectLst>
                <a:outerShdw blurRad="38100" dist="38100" dir="2700000" algn="tl">
                  <a:srgbClr val="C0C0C0"/>
                </a:outerShdw>
              </a:effectLst>
              <a:latin typeface="Arial" charset="0"/>
            </a:endParaRPr>
          </a:p>
        </p:txBody>
      </p:sp>
      <p:pic>
        <p:nvPicPr>
          <p:cNvPr id="18" name="Imagem 17">
            <a:extLst>
              <a:ext uri="{FF2B5EF4-FFF2-40B4-BE49-F238E27FC236}">
                <a16:creationId xmlns:a16="http://schemas.microsoft.com/office/drawing/2014/main" id="{654421F9-9188-4704-8DF1-CBE0B14600EB}"/>
              </a:ext>
            </a:extLst>
          </p:cNvPr>
          <p:cNvPicPr>
            <a:picLocks noChangeAspect="1"/>
          </p:cNvPicPr>
          <p:nvPr/>
        </p:nvPicPr>
        <p:blipFill>
          <a:blip r:embed="rId3"/>
          <a:stretch>
            <a:fillRect/>
          </a:stretch>
        </p:blipFill>
        <p:spPr>
          <a:xfrm>
            <a:off x="101225" y="904241"/>
            <a:ext cx="9014192" cy="266482"/>
          </a:xfrm>
          <a:prstGeom prst="rect">
            <a:avLst/>
          </a:prstGeom>
        </p:spPr>
      </p:pic>
      <p:sp>
        <p:nvSpPr>
          <p:cNvPr id="21" name="Text Box 10">
            <a:extLst>
              <a:ext uri="{FF2B5EF4-FFF2-40B4-BE49-F238E27FC236}">
                <a16:creationId xmlns:a16="http://schemas.microsoft.com/office/drawing/2014/main" id="{79E0F332-2BF0-4244-8686-4780C6D12C93}"/>
              </a:ext>
            </a:extLst>
          </p:cNvPr>
          <p:cNvSpPr txBox="1">
            <a:spLocks noChangeArrowheads="1"/>
          </p:cNvSpPr>
          <p:nvPr/>
        </p:nvSpPr>
        <p:spPr bwMode="auto">
          <a:xfrm>
            <a:off x="8288338" y="6296025"/>
            <a:ext cx="827087" cy="366713"/>
          </a:xfrm>
          <a:prstGeom prst="rect">
            <a:avLst/>
          </a:prstGeom>
          <a:noFill/>
          <a:ln w="9525">
            <a:noFill/>
            <a:miter lim="800000"/>
            <a:headEnd/>
            <a:tailEnd/>
          </a:ln>
        </p:spPr>
        <p:txBody>
          <a:bodyPr>
            <a:spAutoFit/>
          </a:bodyPr>
          <a:lstStyle/>
          <a:p>
            <a:pPr>
              <a:spcBef>
                <a:spcPct val="50000"/>
              </a:spcBef>
            </a:pPr>
            <a:endParaRPr lang="pt-PT"/>
          </a:p>
        </p:txBody>
      </p:sp>
      <p:sp>
        <p:nvSpPr>
          <p:cNvPr id="22" name="Rectangle 11">
            <a:extLst>
              <a:ext uri="{FF2B5EF4-FFF2-40B4-BE49-F238E27FC236}">
                <a16:creationId xmlns:a16="http://schemas.microsoft.com/office/drawing/2014/main" id="{25695971-4FF5-4D50-A92A-B6825C14A340}"/>
              </a:ext>
            </a:extLst>
          </p:cNvPr>
          <p:cNvSpPr>
            <a:spLocks noChangeArrowheads="1"/>
          </p:cNvSpPr>
          <p:nvPr/>
        </p:nvSpPr>
        <p:spPr bwMode="auto">
          <a:xfrm>
            <a:off x="8327571" y="6496091"/>
            <a:ext cx="936625" cy="260350"/>
          </a:xfrm>
          <a:prstGeom prst="rect">
            <a:avLst/>
          </a:prstGeom>
          <a:noFill/>
          <a:ln w="9525">
            <a:noFill/>
            <a:miter lim="800000"/>
            <a:headEnd/>
            <a:tailEnd/>
          </a:ln>
        </p:spPr>
        <p:txBody>
          <a:bodyPr anchor="ctr"/>
          <a:lstStyle/>
          <a:p>
            <a:pPr algn="ctr"/>
            <a:r>
              <a:rPr lang="pt-PT" sz="1000" dirty="0"/>
              <a:t>- </a:t>
            </a:r>
            <a:fld id="{1234D2FF-8FB9-47A1-B8C9-42A5F500BA2F}" type="slidenum">
              <a:rPr lang="pt-PT" sz="1000"/>
              <a:pPr algn="ctr"/>
              <a:t>8</a:t>
            </a:fld>
            <a:r>
              <a:rPr lang="pt-PT" sz="1000" dirty="0"/>
              <a:t> -</a:t>
            </a:r>
          </a:p>
        </p:txBody>
      </p:sp>
      <p:pic>
        <p:nvPicPr>
          <p:cNvPr id="23" name="Imagem 22">
            <a:extLst>
              <a:ext uri="{FF2B5EF4-FFF2-40B4-BE49-F238E27FC236}">
                <a16:creationId xmlns:a16="http://schemas.microsoft.com/office/drawing/2014/main" id="{2E1F0DB4-D2E3-4157-86E2-FFFDA310C355}"/>
              </a:ext>
            </a:extLst>
          </p:cNvPr>
          <p:cNvPicPr>
            <a:picLocks noChangeAspect="1"/>
          </p:cNvPicPr>
          <p:nvPr/>
        </p:nvPicPr>
        <p:blipFill>
          <a:blip r:embed="rId4"/>
          <a:stretch>
            <a:fillRect/>
          </a:stretch>
        </p:blipFill>
        <p:spPr>
          <a:xfrm>
            <a:off x="0" y="6320212"/>
            <a:ext cx="9144000" cy="253252"/>
          </a:xfrm>
          <a:prstGeom prst="rect">
            <a:avLst/>
          </a:prstGeom>
        </p:spPr>
      </p:pic>
      <p:pic>
        <p:nvPicPr>
          <p:cNvPr id="25" name="Imagem 24">
            <a:extLst>
              <a:ext uri="{FF2B5EF4-FFF2-40B4-BE49-F238E27FC236}">
                <a16:creationId xmlns:a16="http://schemas.microsoft.com/office/drawing/2014/main" id="{8DACB5EC-5599-415A-B286-69D9206ABEB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8125" y="6488336"/>
            <a:ext cx="545959" cy="199802"/>
          </a:xfrm>
          <a:prstGeom prst="rect">
            <a:avLst/>
          </a:prstGeom>
        </p:spPr>
      </p:pic>
      <p:sp>
        <p:nvSpPr>
          <p:cNvPr id="26" name="Rectângulo 19">
            <a:extLst>
              <a:ext uri="{FF2B5EF4-FFF2-40B4-BE49-F238E27FC236}">
                <a16:creationId xmlns:a16="http://schemas.microsoft.com/office/drawing/2014/main" id="{77828CD5-ED62-478B-BAC8-0651BBDE341C}"/>
              </a:ext>
            </a:extLst>
          </p:cNvPr>
          <p:cNvSpPr/>
          <p:nvPr/>
        </p:nvSpPr>
        <p:spPr>
          <a:xfrm>
            <a:off x="5535613" y="553019"/>
            <a:ext cx="3505200" cy="261610"/>
          </a:xfrm>
          <a:prstGeom prst="rect">
            <a:avLst/>
          </a:prstGeom>
        </p:spPr>
        <p:txBody>
          <a:bodyPr wrap="square">
            <a:spAutoFit/>
          </a:bodyPr>
          <a:lstStyle/>
          <a:p>
            <a:pPr algn="r"/>
            <a:r>
              <a:rPr lang="pt-PT" sz="1100" b="1" cap="all" dirty="0" err="1">
                <a:highlight>
                  <a:srgbClr val="FFFF00"/>
                </a:highlight>
              </a:rPr>
              <a:t>Graduation</a:t>
            </a:r>
            <a:r>
              <a:rPr lang="pt-PT" sz="1100" b="1" cap="all" dirty="0">
                <a:highlight>
                  <a:srgbClr val="FFFF00"/>
                </a:highlight>
              </a:rPr>
              <a:t> in </a:t>
            </a:r>
            <a:r>
              <a:rPr lang="pt-PT" sz="1100" b="1" cap="all" dirty="0" err="1">
                <a:highlight>
                  <a:srgbClr val="FFFF00"/>
                </a:highlight>
              </a:rPr>
              <a:t>Informatics</a:t>
            </a:r>
            <a:r>
              <a:rPr lang="pt-PT" sz="1100" b="1" cap="all" dirty="0">
                <a:highlight>
                  <a:srgbClr val="FFFF00"/>
                </a:highlight>
              </a:rPr>
              <a:t> </a:t>
            </a:r>
            <a:r>
              <a:rPr lang="pt-PT" sz="1100" b="1" cap="all" dirty="0" err="1">
                <a:highlight>
                  <a:srgbClr val="FFFF00"/>
                </a:highlight>
              </a:rPr>
              <a:t>engineering</a:t>
            </a:r>
            <a:endParaRPr lang="pt-PT" sz="1100" dirty="0">
              <a:highlight>
                <a:srgbClr val="FFFF00"/>
              </a:highlight>
            </a:endParaRPr>
          </a:p>
        </p:txBody>
      </p:sp>
      <p:pic>
        <p:nvPicPr>
          <p:cNvPr id="27" name="Imagem 26">
            <a:extLst>
              <a:ext uri="{FF2B5EF4-FFF2-40B4-BE49-F238E27FC236}">
                <a16:creationId xmlns:a16="http://schemas.microsoft.com/office/drawing/2014/main" id="{84A6F7D9-0AB5-47E0-A56B-3D0221005E7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575316" y="9186"/>
            <a:ext cx="2575034" cy="639880"/>
          </a:xfrm>
          <a:prstGeom prst="rect">
            <a:avLst/>
          </a:prstGeom>
        </p:spPr>
      </p:pic>
      <p:pic>
        <p:nvPicPr>
          <p:cNvPr id="4" name="Picture 3" descr="A diagram of a diagram&#10;&#10;AI-generated content may be incorrect.">
            <a:extLst>
              <a:ext uri="{FF2B5EF4-FFF2-40B4-BE49-F238E27FC236}">
                <a16:creationId xmlns:a16="http://schemas.microsoft.com/office/drawing/2014/main" id="{E683BAE7-7631-49C4-E432-B776ECDE4232}"/>
              </a:ext>
            </a:extLst>
          </p:cNvPr>
          <p:cNvPicPr>
            <a:picLocks noChangeAspect="1"/>
          </p:cNvPicPr>
          <p:nvPr/>
        </p:nvPicPr>
        <p:blipFill>
          <a:blip r:embed="rId7">
            <a:extLst>
              <a:ext uri="{28A0092B-C50C-407E-A947-70E740481C1C}">
                <a14:useLocalDpi xmlns:a14="http://schemas.microsoft.com/office/drawing/2010/main" val="0"/>
              </a:ext>
            </a:extLst>
          </a:blip>
          <a:srcRect b="2776"/>
          <a:stretch>
            <a:fillRect/>
          </a:stretch>
        </p:blipFill>
        <p:spPr>
          <a:xfrm>
            <a:off x="2529501" y="1218533"/>
            <a:ext cx="4328499" cy="5130219"/>
          </a:xfrm>
          <a:prstGeom prst="rect">
            <a:avLst/>
          </a:prstGeom>
        </p:spPr>
      </p:pic>
      <p:sp>
        <p:nvSpPr>
          <p:cNvPr id="2" name="Subtítulo 2">
            <a:extLst>
              <a:ext uri="{FF2B5EF4-FFF2-40B4-BE49-F238E27FC236}">
                <a16:creationId xmlns:a16="http://schemas.microsoft.com/office/drawing/2014/main" id="{D80170D0-7795-3859-A986-EA79F0FDCC21}"/>
              </a:ext>
            </a:extLst>
          </p:cNvPr>
          <p:cNvSpPr txBox="1">
            <a:spLocks/>
          </p:cNvSpPr>
          <p:nvPr/>
        </p:nvSpPr>
        <p:spPr>
          <a:xfrm>
            <a:off x="836017" y="6524516"/>
            <a:ext cx="7698382" cy="162409"/>
          </a:xfrm>
          <a:prstGeom prst="rect">
            <a:avLst/>
          </a:prstGeom>
        </p:spPr>
        <p:txBody>
          <a:bodyPr vert="horz" lIns="68580" tIns="34290" rIns="68580" bIns="3429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pt-PT" sz="900" dirty="0">
                <a:latin typeface="Arial" charset="0"/>
                <a:ea typeface="Arial" charset="0"/>
                <a:cs typeface="Arial" charset="0"/>
              </a:rPr>
              <a:t>@Diogo Monteiro - 32428, Gonçalo Teixeira - 31396 | </a:t>
            </a:r>
            <a:r>
              <a:rPr lang="pt-PT" sz="900" b="1" dirty="0">
                <a:solidFill>
                  <a:srgbClr val="C00000"/>
                </a:solidFill>
                <a:latin typeface="Arial" charset="0"/>
                <a:ea typeface="Arial" charset="0"/>
                <a:cs typeface="Arial" charset="0"/>
              </a:rPr>
              <a:t>Unidade Curricular: Projeto III </a:t>
            </a:r>
            <a:r>
              <a:rPr lang="pt-PT" sz="900" dirty="0">
                <a:latin typeface="Arial" charset="0"/>
                <a:ea typeface="Arial" charset="0"/>
                <a:cs typeface="Arial" charset="0"/>
              </a:rPr>
              <a:t>– Ano Letivo 2024/2025 – </a:t>
            </a:r>
            <a:r>
              <a:rPr lang="pt-PT" sz="900" b="1" dirty="0">
                <a:latin typeface="Arial" charset="0"/>
                <a:ea typeface="Arial" charset="0"/>
                <a:cs typeface="Arial" charset="0"/>
              </a:rPr>
              <a:t>MCZ03</a:t>
            </a:r>
          </a:p>
        </p:txBody>
      </p:sp>
    </p:spTree>
    <p:extLst>
      <p:ext uri="{BB962C8B-B14F-4D97-AF65-F5344CB8AC3E}">
        <p14:creationId xmlns:p14="http://schemas.microsoft.com/office/powerpoint/2010/main" val="15182568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85C5D-EC2E-DDCF-9A11-90A5452EE6DE}"/>
            </a:ext>
          </a:extLst>
        </p:cNvPr>
        <p:cNvGrpSpPr/>
        <p:nvPr/>
      </p:nvGrpSpPr>
      <p:grpSpPr>
        <a:xfrm>
          <a:off x="0" y="0"/>
          <a:ext cx="0" cy="0"/>
          <a:chOff x="0" y="0"/>
          <a:chExt cx="0" cy="0"/>
        </a:xfrm>
      </p:grpSpPr>
      <p:sp>
        <p:nvSpPr>
          <p:cNvPr id="9229" name="Text Box 13">
            <a:extLst>
              <a:ext uri="{FF2B5EF4-FFF2-40B4-BE49-F238E27FC236}">
                <a16:creationId xmlns:a16="http://schemas.microsoft.com/office/drawing/2014/main" id="{0FA43D7D-9913-ACA7-4CC8-91249ED884FC}"/>
              </a:ext>
            </a:extLst>
          </p:cNvPr>
          <p:cNvSpPr txBox="1">
            <a:spLocks noChangeArrowheads="1"/>
          </p:cNvSpPr>
          <p:nvPr/>
        </p:nvSpPr>
        <p:spPr bwMode="auto">
          <a:xfrm>
            <a:off x="306388" y="557213"/>
            <a:ext cx="6981825" cy="400050"/>
          </a:xfrm>
          <a:prstGeom prst="rect">
            <a:avLst/>
          </a:prstGeom>
          <a:noFill/>
          <a:ln w="9525">
            <a:noFill/>
            <a:miter lim="800000"/>
            <a:headEnd/>
            <a:tailEnd/>
          </a:ln>
          <a:effectLst/>
        </p:spPr>
        <p:txBody>
          <a:bodyPr>
            <a:spAutoFit/>
          </a:bodyPr>
          <a:lstStyle/>
          <a:p>
            <a:pPr>
              <a:spcBef>
                <a:spcPct val="50000"/>
              </a:spcBef>
              <a:defRPr/>
            </a:pPr>
            <a:r>
              <a:rPr lang="pt-PT" sz="2000" b="1" dirty="0">
                <a:solidFill>
                  <a:srgbClr val="C00000"/>
                </a:solidFill>
                <a:effectLst>
                  <a:outerShdw blurRad="38100" dist="38100" dir="2700000" algn="tl">
                    <a:srgbClr val="C0C0C0"/>
                  </a:outerShdw>
                </a:effectLst>
                <a:latin typeface="Arial"/>
                <a:cs typeface="Arial"/>
              </a:rPr>
              <a:t>■</a:t>
            </a:r>
            <a:r>
              <a:rPr lang="pt-PT" sz="2000" b="1" dirty="0">
                <a:effectLst>
                  <a:outerShdw blurRad="38100" dist="38100" dir="2700000" algn="tl">
                    <a:srgbClr val="C0C0C0"/>
                  </a:outerShdw>
                </a:effectLst>
                <a:latin typeface="Arial"/>
                <a:cs typeface="Arial"/>
              </a:rPr>
              <a:t> 4. Data Sources </a:t>
            </a:r>
            <a:endParaRPr lang="pt-PT" sz="2000" b="1" dirty="0">
              <a:effectLst>
                <a:outerShdw blurRad="38100" dist="38100" dir="2700000" algn="tl">
                  <a:srgbClr val="C0C0C0"/>
                </a:outerShdw>
              </a:effectLst>
              <a:latin typeface="Arial" charset="0"/>
            </a:endParaRPr>
          </a:p>
        </p:txBody>
      </p:sp>
      <p:sp>
        <p:nvSpPr>
          <p:cNvPr id="10247" name="Line 15">
            <a:extLst>
              <a:ext uri="{FF2B5EF4-FFF2-40B4-BE49-F238E27FC236}">
                <a16:creationId xmlns:a16="http://schemas.microsoft.com/office/drawing/2014/main" id="{EC2FEB71-E783-EB44-3BC7-0E70783F6221}"/>
              </a:ext>
            </a:extLst>
          </p:cNvPr>
          <p:cNvSpPr>
            <a:spLocks noChangeShapeType="1"/>
          </p:cNvSpPr>
          <p:nvPr/>
        </p:nvSpPr>
        <p:spPr bwMode="auto">
          <a:xfrm>
            <a:off x="250825" y="0"/>
            <a:ext cx="0" cy="765175"/>
          </a:xfrm>
          <a:prstGeom prst="line">
            <a:avLst/>
          </a:prstGeom>
          <a:noFill/>
          <a:ln w="25400">
            <a:solidFill>
              <a:schemeClr val="tx1"/>
            </a:solidFill>
            <a:round/>
            <a:headEnd/>
            <a:tailEnd/>
          </a:ln>
        </p:spPr>
        <p:txBody>
          <a:bodyPr/>
          <a:lstStyle/>
          <a:p>
            <a:endParaRPr lang="pt-PT"/>
          </a:p>
        </p:txBody>
      </p:sp>
      <p:sp>
        <p:nvSpPr>
          <p:cNvPr id="9237" name="Text Box 21">
            <a:extLst>
              <a:ext uri="{FF2B5EF4-FFF2-40B4-BE49-F238E27FC236}">
                <a16:creationId xmlns:a16="http://schemas.microsoft.com/office/drawing/2014/main" id="{A6F08F01-2FF7-7DF7-244A-E8384E0299E9}"/>
              </a:ext>
            </a:extLst>
          </p:cNvPr>
          <p:cNvSpPr txBox="1">
            <a:spLocks noChangeArrowheads="1"/>
          </p:cNvSpPr>
          <p:nvPr/>
        </p:nvSpPr>
        <p:spPr bwMode="auto">
          <a:xfrm>
            <a:off x="260350" y="44450"/>
            <a:ext cx="6981825" cy="304800"/>
          </a:xfrm>
          <a:prstGeom prst="rect">
            <a:avLst/>
          </a:prstGeom>
          <a:noFill/>
          <a:ln w="9525">
            <a:noFill/>
            <a:miter lim="800000"/>
            <a:headEnd/>
            <a:tailEnd/>
          </a:ln>
          <a:effectLst/>
        </p:spPr>
        <p:txBody>
          <a:bodyPr>
            <a:spAutoFit/>
          </a:bodyPr>
          <a:lstStyle/>
          <a:p>
            <a:pPr>
              <a:spcBef>
                <a:spcPct val="50000"/>
              </a:spcBef>
              <a:defRPr/>
            </a:pPr>
            <a:endParaRPr lang="pt-PT" sz="1400" b="1" dirty="0">
              <a:solidFill>
                <a:srgbClr val="FF3300"/>
              </a:solidFill>
              <a:effectLst>
                <a:outerShdw blurRad="38100" dist="38100" dir="2700000" algn="tl">
                  <a:srgbClr val="C0C0C0"/>
                </a:outerShdw>
              </a:effectLst>
              <a:latin typeface="Arial" charset="0"/>
            </a:endParaRPr>
          </a:p>
        </p:txBody>
      </p:sp>
      <p:pic>
        <p:nvPicPr>
          <p:cNvPr id="18" name="Imagem 17">
            <a:extLst>
              <a:ext uri="{FF2B5EF4-FFF2-40B4-BE49-F238E27FC236}">
                <a16:creationId xmlns:a16="http://schemas.microsoft.com/office/drawing/2014/main" id="{6AE9A4F2-F1DC-B197-4DFF-FB60D76CF8D1}"/>
              </a:ext>
            </a:extLst>
          </p:cNvPr>
          <p:cNvPicPr>
            <a:picLocks noChangeAspect="1"/>
          </p:cNvPicPr>
          <p:nvPr/>
        </p:nvPicPr>
        <p:blipFill>
          <a:blip r:embed="rId3"/>
          <a:stretch>
            <a:fillRect/>
          </a:stretch>
        </p:blipFill>
        <p:spPr>
          <a:xfrm>
            <a:off x="101225" y="904241"/>
            <a:ext cx="9014192" cy="266482"/>
          </a:xfrm>
          <a:prstGeom prst="rect">
            <a:avLst/>
          </a:prstGeom>
        </p:spPr>
      </p:pic>
      <p:sp>
        <p:nvSpPr>
          <p:cNvPr id="21" name="Text Box 10">
            <a:extLst>
              <a:ext uri="{FF2B5EF4-FFF2-40B4-BE49-F238E27FC236}">
                <a16:creationId xmlns:a16="http://schemas.microsoft.com/office/drawing/2014/main" id="{BA02CBED-2B75-BD1D-F69E-3AA6FFCC2B77}"/>
              </a:ext>
            </a:extLst>
          </p:cNvPr>
          <p:cNvSpPr txBox="1">
            <a:spLocks noChangeArrowheads="1"/>
          </p:cNvSpPr>
          <p:nvPr/>
        </p:nvSpPr>
        <p:spPr bwMode="auto">
          <a:xfrm>
            <a:off x="8288338" y="6296025"/>
            <a:ext cx="827087" cy="366713"/>
          </a:xfrm>
          <a:prstGeom prst="rect">
            <a:avLst/>
          </a:prstGeom>
          <a:noFill/>
          <a:ln w="9525">
            <a:noFill/>
            <a:miter lim="800000"/>
            <a:headEnd/>
            <a:tailEnd/>
          </a:ln>
        </p:spPr>
        <p:txBody>
          <a:bodyPr>
            <a:spAutoFit/>
          </a:bodyPr>
          <a:lstStyle/>
          <a:p>
            <a:pPr>
              <a:spcBef>
                <a:spcPct val="50000"/>
              </a:spcBef>
            </a:pPr>
            <a:endParaRPr lang="pt-PT"/>
          </a:p>
        </p:txBody>
      </p:sp>
      <p:sp>
        <p:nvSpPr>
          <p:cNvPr id="22" name="Rectangle 11">
            <a:extLst>
              <a:ext uri="{FF2B5EF4-FFF2-40B4-BE49-F238E27FC236}">
                <a16:creationId xmlns:a16="http://schemas.microsoft.com/office/drawing/2014/main" id="{AA9D8EBD-051A-A151-D176-8EE03DED5A38}"/>
              </a:ext>
            </a:extLst>
          </p:cNvPr>
          <p:cNvSpPr>
            <a:spLocks noChangeArrowheads="1"/>
          </p:cNvSpPr>
          <p:nvPr/>
        </p:nvSpPr>
        <p:spPr bwMode="auto">
          <a:xfrm>
            <a:off x="8327571" y="6496091"/>
            <a:ext cx="936625" cy="260350"/>
          </a:xfrm>
          <a:prstGeom prst="rect">
            <a:avLst/>
          </a:prstGeom>
          <a:noFill/>
          <a:ln w="9525">
            <a:noFill/>
            <a:miter lim="800000"/>
            <a:headEnd/>
            <a:tailEnd/>
          </a:ln>
        </p:spPr>
        <p:txBody>
          <a:bodyPr anchor="ctr"/>
          <a:lstStyle/>
          <a:p>
            <a:pPr algn="ctr"/>
            <a:r>
              <a:rPr lang="pt-PT" sz="1000" dirty="0"/>
              <a:t>- </a:t>
            </a:r>
            <a:fld id="{1234D2FF-8FB9-47A1-B8C9-42A5F500BA2F}" type="slidenum">
              <a:rPr lang="pt-PT" sz="1000"/>
              <a:pPr algn="ctr"/>
              <a:t>9</a:t>
            </a:fld>
            <a:r>
              <a:rPr lang="pt-PT" sz="1000" dirty="0"/>
              <a:t> -</a:t>
            </a:r>
          </a:p>
        </p:txBody>
      </p:sp>
      <p:pic>
        <p:nvPicPr>
          <p:cNvPr id="23" name="Imagem 22">
            <a:extLst>
              <a:ext uri="{FF2B5EF4-FFF2-40B4-BE49-F238E27FC236}">
                <a16:creationId xmlns:a16="http://schemas.microsoft.com/office/drawing/2014/main" id="{73DF4418-A396-C5CA-E674-4F94EC08E50D}"/>
              </a:ext>
            </a:extLst>
          </p:cNvPr>
          <p:cNvPicPr>
            <a:picLocks noChangeAspect="1"/>
          </p:cNvPicPr>
          <p:nvPr/>
        </p:nvPicPr>
        <p:blipFill>
          <a:blip r:embed="rId4"/>
          <a:stretch>
            <a:fillRect/>
          </a:stretch>
        </p:blipFill>
        <p:spPr>
          <a:xfrm>
            <a:off x="0" y="6320212"/>
            <a:ext cx="9144000" cy="253252"/>
          </a:xfrm>
          <a:prstGeom prst="rect">
            <a:avLst/>
          </a:prstGeom>
        </p:spPr>
      </p:pic>
      <p:pic>
        <p:nvPicPr>
          <p:cNvPr id="25" name="Imagem 24">
            <a:extLst>
              <a:ext uri="{FF2B5EF4-FFF2-40B4-BE49-F238E27FC236}">
                <a16:creationId xmlns:a16="http://schemas.microsoft.com/office/drawing/2014/main" id="{61482403-0473-F256-EEA5-DF7A47D001B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8125" y="6488336"/>
            <a:ext cx="545959" cy="199802"/>
          </a:xfrm>
          <a:prstGeom prst="rect">
            <a:avLst/>
          </a:prstGeom>
        </p:spPr>
      </p:pic>
      <p:sp>
        <p:nvSpPr>
          <p:cNvPr id="26" name="Rectângulo 19">
            <a:extLst>
              <a:ext uri="{FF2B5EF4-FFF2-40B4-BE49-F238E27FC236}">
                <a16:creationId xmlns:a16="http://schemas.microsoft.com/office/drawing/2014/main" id="{17E2CE36-D75C-1913-4543-D19CBCC480CE}"/>
              </a:ext>
            </a:extLst>
          </p:cNvPr>
          <p:cNvSpPr/>
          <p:nvPr/>
        </p:nvSpPr>
        <p:spPr>
          <a:xfrm>
            <a:off x="5535613" y="553019"/>
            <a:ext cx="3505200" cy="261610"/>
          </a:xfrm>
          <a:prstGeom prst="rect">
            <a:avLst/>
          </a:prstGeom>
        </p:spPr>
        <p:txBody>
          <a:bodyPr wrap="square">
            <a:spAutoFit/>
          </a:bodyPr>
          <a:lstStyle/>
          <a:p>
            <a:pPr algn="r"/>
            <a:r>
              <a:rPr lang="pt-PT" sz="1100" b="1" cap="all" dirty="0" err="1">
                <a:highlight>
                  <a:srgbClr val="FFFF00"/>
                </a:highlight>
              </a:rPr>
              <a:t>Graduation</a:t>
            </a:r>
            <a:r>
              <a:rPr lang="pt-PT" sz="1100" b="1" cap="all" dirty="0">
                <a:highlight>
                  <a:srgbClr val="FFFF00"/>
                </a:highlight>
              </a:rPr>
              <a:t> in </a:t>
            </a:r>
            <a:r>
              <a:rPr lang="pt-PT" sz="1100" b="1" cap="all" dirty="0" err="1">
                <a:highlight>
                  <a:srgbClr val="FFFF00"/>
                </a:highlight>
              </a:rPr>
              <a:t>Informatics</a:t>
            </a:r>
            <a:r>
              <a:rPr lang="pt-PT" sz="1100" b="1" cap="all" dirty="0">
                <a:highlight>
                  <a:srgbClr val="FFFF00"/>
                </a:highlight>
              </a:rPr>
              <a:t> </a:t>
            </a:r>
            <a:r>
              <a:rPr lang="pt-PT" sz="1100" b="1" cap="all" dirty="0" err="1">
                <a:highlight>
                  <a:srgbClr val="FFFF00"/>
                </a:highlight>
              </a:rPr>
              <a:t>engineering</a:t>
            </a:r>
            <a:endParaRPr lang="pt-PT" sz="1100" dirty="0">
              <a:highlight>
                <a:srgbClr val="FFFF00"/>
              </a:highlight>
            </a:endParaRPr>
          </a:p>
        </p:txBody>
      </p:sp>
      <p:pic>
        <p:nvPicPr>
          <p:cNvPr id="27" name="Imagem 26">
            <a:extLst>
              <a:ext uri="{FF2B5EF4-FFF2-40B4-BE49-F238E27FC236}">
                <a16:creationId xmlns:a16="http://schemas.microsoft.com/office/drawing/2014/main" id="{A23277F7-F186-303A-22CA-CB67E1973DC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575316" y="9186"/>
            <a:ext cx="2575034" cy="639880"/>
          </a:xfrm>
          <a:prstGeom prst="rect">
            <a:avLst/>
          </a:prstGeom>
        </p:spPr>
      </p:pic>
      <p:pic>
        <p:nvPicPr>
          <p:cNvPr id="3" name="Picture 2">
            <a:extLst>
              <a:ext uri="{FF2B5EF4-FFF2-40B4-BE49-F238E27FC236}">
                <a16:creationId xmlns:a16="http://schemas.microsoft.com/office/drawing/2014/main" id="{CDAD546E-7343-0335-DC48-9012B141E073}"/>
              </a:ext>
            </a:extLst>
          </p:cNvPr>
          <p:cNvPicPr>
            <a:picLocks noChangeAspect="1"/>
          </p:cNvPicPr>
          <p:nvPr/>
        </p:nvPicPr>
        <p:blipFill>
          <a:blip r:embed="rId7"/>
          <a:srcRect b="11687"/>
          <a:stretch>
            <a:fillRect/>
          </a:stretch>
        </p:blipFill>
        <p:spPr>
          <a:xfrm>
            <a:off x="4638108" y="1170723"/>
            <a:ext cx="4356895" cy="2398123"/>
          </a:xfrm>
          <a:prstGeom prst="rect">
            <a:avLst/>
          </a:prstGeom>
        </p:spPr>
      </p:pic>
      <p:pic>
        <p:nvPicPr>
          <p:cNvPr id="6" name="Picture 5">
            <a:extLst>
              <a:ext uri="{FF2B5EF4-FFF2-40B4-BE49-F238E27FC236}">
                <a16:creationId xmlns:a16="http://schemas.microsoft.com/office/drawing/2014/main" id="{DE64EB33-4BFA-8A15-BABD-8BC6BEFD7BB7}"/>
              </a:ext>
            </a:extLst>
          </p:cNvPr>
          <p:cNvPicPr>
            <a:picLocks noChangeAspect="1"/>
          </p:cNvPicPr>
          <p:nvPr/>
        </p:nvPicPr>
        <p:blipFill>
          <a:blip r:embed="rId8"/>
          <a:srcRect l="1621" t="5494" r="7790" b="8097"/>
          <a:stretch>
            <a:fillRect/>
          </a:stretch>
        </p:blipFill>
        <p:spPr>
          <a:xfrm>
            <a:off x="6078369" y="3754872"/>
            <a:ext cx="2419687" cy="2630586"/>
          </a:xfrm>
          <a:prstGeom prst="rect">
            <a:avLst/>
          </a:prstGeom>
        </p:spPr>
      </p:pic>
      <p:sp>
        <p:nvSpPr>
          <p:cNvPr id="7" name="TextBox 6">
            <a:extLst>
              <a:ext uri="{FF2B5EF4-FFF2-40B4-BE49-F238E27FC236}">
                <a16:creationId xmlns:a16="http://schemas.microsoft.com/office/drawing/2014/main" id="{6B69355A-A5C0-38D3-A5D8-AC8EDBFD7123}"/>
              </a:ext>
            </a:extLst>
          </p:cNvPr>
          <p:cNvSpPr txBox="1"/>
          <p:nvPr/>
        </p:nvSpPr>
        <p:spPr>
          <a:xfrm>
            <a:off x="334907" y="1170723"/>
            <a:ext cx="4170986" cy="4278094"/>
          </a:xfrm>
          <a:prstGeom prst="rect">
            <a:avLst/>
          </a:prstGeom>
          <a:noFill/>
        </p:spPr>
        <p:txBody>
          <a:bodyPr wrap="square" rtlCol="0">
            <a:spAutoFit/>
          </a:bodyPr>
          <a:lstStyle/>
          <a:p>
            <a:r>
              <a:rPr lang="en-US" sz="1600" dirty="0"/>
              <a:t>The dataset contains satellite images of regions affected by wildfires and regions without wildfires.</a:t>
            </a:r>
          </a:p>
          <a:p>
            <a:endParaRPr lang="en-US" sz="1600" dirty="0"/>
          </a:p>
          <a:p>
            <a:r>
              <a:rPr lang="en-US" sz="1600" dirty="0"/>
              <a:t>Provides labeled images (“wildfire" and "no wildfire") which will be used to train the model</a:t>
            </a:r>
          </a:p>
          <a:p>
            <a:endParaRPr lang="en-US" sz="1600" dirty="0"/>
          </a:p>
          <a:p>
            <a:r>
              <a:rPr lang="en-US" sz="1600" dirty="0"/>
              <a:t>Example statistics: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Wildfire images: 22,710</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No wildfire images: 29,040</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Images size: 150x150px</a:t>
            </a:r>
          </a:p>
          <a:p>
            <a:endParaRPr lang="en-US" sz="1600" dirty="0"/>
          </a:p>
          <a:p>
            <a:r>
              <a:rPr lang="en-US" sz="1600" dirty="0"/>
              <a:t>Publicly available on Kaggle, with metadata and labels for detection tasks.</a:t>
            </a:r>
          </a:p>
        </p:txBody>
      </p:sp>
      <p:sp>
        <p:nvSpPr>
          <p:cNvPr id="2" name="Subtítulo 2">
            <a:extLst>
              <a:ext uri="{FF2B5EF4-FFF2-40B4-BE49-F238E27FC236}">
                <a16:creationId xmlns:a16="http://schemas.microsoft.com/office/drawing/2014/main" id="{300AC0EE-C5C9-6F1C-79D3-829C9E57E42D}"/>
              </a:ext>
            </a:extLst>
          </p:cNvPr>
          <p:cNvSpPr txBox="1">
            <a:spLocks/>
          </p:cNvSpPr>
          <p:nvPr/>
        </p:nvSpPr>
        <p:spPr>
          <a:xfrm>
            <a:off x="836017" y="6524516"/>
            <a:ext cx="7698382" cy="162409"/>
          </a:xfrm>
          <a:prstGeom prst="rect">
            <a:avLst/>
          </a:prstGeom>
        </p:spPr>
        <p:txBody>
          <a:bodyPr vert="horz" lIns="68580" tIns="34290" rIns="68580" bIns="3429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pt-PT" sz="900" dirty="0">
                <a:latin typeface="Arial" charset="0"/>
                <a:ea typeface="Arial" charset="0"/>
                <a:cs typeface="Arial" charset="0"/>
              </a:rPr>
              <a:t>@Diogo Monteiro - 32428, Gonçalo Teixeira - 31396 | </a:t>
            </a:r>
            <a:r>
              <a:rPr lang="pt-PT" sz="900" b="1" dirty="0">
                <a:solidFill>
                  <a:srgbClr val="C00000"/>
                </a:solidFill>
                <a:latin typeface="Arial" charset="0"/>
                <a:ea typeface="Arial" charset="0"/>
                <a:cs typeface="Arial" charset="0"/>
              </a:rPr>
              <a:t>Unidade Curricular: Projeto III </a:t>
            </a:r>
            <a:r>
              <a:rPr lang="pt-PT" sz="900" dirty="0">
                <a:latin typeface="Arial" charset="0"/>
                <a:ea typeface="Arial" charset="0"/>
                <a:cs typeface="Arial" charset="0"/>
              </a:rPr>
              <a:t>– Ano Letivo 2024/2025 – </a:t>
            </a:r>
            <a:r>
              <a:rPr lang="pt-PT" sz="900" b="1" dirty="0">
                <a:latin typeface="Arial" charset="0"/>
                <a:ea typeface="Arial" charset="0"/>
                <a:cs typeface="Arial" charset="0"/>
              </a:rPr>
              <a:t>MCZ03</a:t>
            </a:r>
          </a:p>
        </p:txBody>
      </p:sp>
    </p:spTree>
    <p:extLst>
      <p:ext uri="{BB962C8B-B14F-4D97-AF65-F5344CB8AC3E}">
        <p14:creationId xmlns:p14="http://schemas.microsoft.com/office/powerpoint/2010/main" val="23222947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9" name="Text Box 13"/>
          <p:cNvSpPr txBox="1">
            <a:spLocks noChangeArrowheads="1"/>
          </p:cNvSpPr>
          <p:nvPr/>
        </p:nvSpPr>
        <p:spPr bwMode="auto">
          <a:xfrm>
            <a:off x="306388" y="545068"/>
            <a:ext cx="6981825" cy="369332"/>
          </a:xfrm>
          <a:prstGeom prst="rect">
            <a:avLst/>
          </a:prstGeom>
          <a:noFill/>
          <a:ln w="9525">
            <a:noFill/>
            <a:miter lim="800000"/>
            <a:headEnd/>
            <a:tailEnd/>
          </a:ln>
          <a:effectLst/>
        </p:spPr>
        <p:txBody>
          <a:bodyPr>
            <a:spAutoFit/>
          </a:bodyPr>
          <a:lstStyle/>
          <a:p>
            <a:pPr>
              <a:spcBef>
                <a:spcPct val="50000"/>
              </a:spcBef>
              <a:defRPr/>
            </a:pPr>
            <a:r>
              <a:rPr lang="pt-PT" b="1" dirty="0">
                <a:solidFill>
                  <a:srgbClr val="C00000"/>
                </a:solidFill>
                <a:effectLst>
                  <a:outerShdw blurRad="38100" dist="38100" dir="2700000" algn="tl">
                    <a:srgbClr val="C0C0C0"/>
                  </a:outerShdw>
                </a:effectLst>
                <a:latin typeface="Arial"/>
                <a:cs typeface="Arial"/>
              </a:rPr>
              <a:t>■</a:t>
            </a:r>
            <a:r>
              <a:rPr lang="pt-PT" b="1" dirty="0">
                <a:effectLst>
                  <a:outerShdw blurRad="38100" dist="38100" dir="2700000" algn="tl">
                    <a:srgbClr val="C0C0C0"/>
                  </a:outerShdw>
                </a:effectLst>
                <a:latin typeface="Arial"/>
                <a:cs typeface="Arial"/>
              </a:rPr>
              <a:t> 5. </a:t>
            </a:r>
            <a:r>
              <a:rPr lang="pt-PT" b="1" dirty="0" err="1">
                <a:effectLst>
                  <a:outerShdw blurRad="38100" dist="38100" dir="2700000" algn="tl">
                    <a:srgbClr val="C0C0C0"/>
                  </a:outerShdw>
                </a:effectLst>
                <a:latin typeface="Arial"/>
                <a:cs typeface="Arial"/>
              </a:rPr>
              <a:t>Conclusion</a:t>
            </a:r>
            <a:endParaRPr lang="pt-PT" b="1" dirty="0">
              <a:effectLst>
                <a:outerShdw blurRad="38100" dist="38100" dir="2700000" algn="tl">
                  <a:srgbClr val="C0C0C0"/>
                </a:outerShdw>
              </a:effectLst>
              <a:latin typeface="Arial" charset="0"/>
            </a:endParaRPr>
          </a:p>
        </p:txBody>
      </p:sp>
      <p:sp>
        <p:nvSpPr>
          <p:cNvPr id="10247" name="Line 15"/>
          <p:cNvSpPr>
            <a:spLocks noChangeShapeType="1"/>
          </p:cNvSpPr>
          <p:nvPr/>
        </p:nvSpPr>
        <p:spPr bwMode="auto">
          <a:xfrm>
            <a:off x="250825" y="0"/>
            <a:ext cx="0" cy="765175"/>
          </a:xfrm>
          <a:prstGeom prst="line">
            <a:avLst/>
          </a:prstGeom>
          <a:noFill/>
          <a:ln w="25400">
            <a:solidFill>
              <a:schemeClr val="tx1"/>
            </a:solidFill>
            <a:round/>
            <a:headEnd/>
            <a:tailEnd/>
          </a:ln>
        </p:spPr>
        <p:txBody>
          <a:bodyPr/>
          <a:lstStyle/>
          <a:p>
            <a:endParaRPr lang="pt-PT"/>
          </a:p>
        </p:txBody>
      </p:sp>
      <p:sp>
        <p:nvSpPr>
          <p:cNvPr id="9237" name="Text Box 21"/>
          <p:cNvSpPr txBox="1">
            <a:spLocks noChangeArrowheads="1"/>
          </p:cNvSpPr>
          <p:nvPr/>
        </p:nvSpPr>
        <p:spPr bwMode="auto">
          <a:xfrm>
            <a:off x="260350" y="44450"/>
            <a:ext cx="6981825" cy="304800"/>
          </a:xfrm>
          <a:prstGeom prst="rect">
            <a:avLst/>
          </a:prstGeom>
          <a:noFill/>
          <a:ln w="9525">
            <a:noFill/>
            <a:miter lim="800000"/>
            <a:headEnd/>
            <a:tailEnd/>
          </a:ln>
          <a:effectLst/>
        </p:spPr>
        <p:txBody>
          <a:bodyPr>
            <a:spAutoFit/>
          </a:bodyPr>
          <a:lstStyle/>
          <a:p>
            <a:pPr>
              <a:spcBef>
                <a:spcPct val="50000"/>
              </a:spcBef>
              <a:defRPr/>
            </a:pPr>
            <a:endParaRPr lang="pt-PT" sz="1400" b="1" dirty="0">
              <a:solidFill>
                <a:srgbClr val="FF3300"/>
              </a:solidFill>
              <a:effectLst>
                <a:outerShdw blurRad="38100" dist="38100" dir="2700000" algn="tl">
                  <a:srgbClr val="C0C0C0"/>
                </a:outerShdw>
              </a:effectLst>
              <a:latin typeface="Arial" charset="0"/>
            </a:endParaRPr>
          </a:p>
        </p:txBody>
      </p:sp>
      <p:sp>
        <p:nvSpPr>
          <p:cNvPr id="12" name="CaixaDeTexto 11">
            <a:extLst>
              <a:ext uri="{FF2B5EF4-FFF2-40B4-BE49-F238E27FC236}">
                <a16:creationId xmlns:a16="http://schemas.microsoft.com/office/drawing/2014/main" id="{C2DC10BB-EE90-490B-903C-92703AA9B487}"/>
              </a:ext>
            </a:extLst>
          </p:cNvPr>
          <p:cNvSpPr txBox="1"/>
          <p:nvPr/>
        </p:nvSpPr>
        <p:spPr>
          <a:xfrm>
            <a:off x="419100" y="1087714"/>
            <a:ext cx="8305800" cy="2054665"/>
          </a:xfrm>
          <a:prstGeom prst="rect">
            <a:avLst/>
          </a:prstGeom>
          <a:noFill/>
          <a:ln>
            <a:noFill/>
          </a:ln>
        </p:spPr>
        <p:txBody>
          <a:bodyPr wrap="square" rtlCol="0">
            <a:spAutoFit/>
          </a:bodyPr>
          <a:lstStyle/>
          <a:p>
            <a:pPr>
              <a:lnSpc>
                <a:spcPct val="200000"/>
              </a:lnSpc>
            </a:pPr>
            <a:r>
              <a:rPr lang="en-US" i="1" dirty="0">
                <a:solidFill>
                  <a:srgbClr val="FFC000"/>
                </a:solidFill>
                <a:latin typeface="Arial"/>
                <a:cs typeface="Arial"/>
              </a:rPr>
              <a:t>■</a:t>
            </a:r>
            <a:r>
              <a:rPr lang="pt-PT" dirty="0"/>
              <a:t> </a:t>
            </a:r>
            <a:r>
              <a:rPr lang="en-US" sz="1600" dirty="0"/>
              <a:t>In conclusion, this checkpoint establishes the essential foundations for the project by defining requirements, analyzing users, outlining use cases, and identifying a suitable dataset. With these elements in place, the project is ready to proceed to the design and development phases, ensuring a clear direction for building an effective wildfire detection platform.​</a:t>
            </a:r>
            <a:endParaRPr lang="pt-PT" dirty="0"/>
          </a:p>
        </p:txBody>
      </p:sp>
      <p:pic>
        <p:nvPicPr>
          <p:cNvPr id="15" name="Imagem 14">
            <a:extLst>
              <a:ext uri="{FF2B5EF4-FFF2-40B4-BE49-F238E27FC236}">
                <a16:creationId xmlns:a16="http://schemas.microsoft.com/office/drawing/2014/main" id="{64A3D3A2-11DD-4557-AB2A-E3DDF575B119}"/>
              </a:ext>
            </a:extLst>
          </p:cNvPr>
          <p:cNvPicPr>
            <a:picLocks noChangeAspect="1"/>
          </p:cNvPicPr>
          <p:nvPr/>
        </p:nvPicPr>
        <p:blipFill>
          <a:blip r:embed="rId3"/>
          <a:stretch>
            <a:fillRect/>
          </a:stretch>
        </p:blipFill>
        <p:spPr>
          <a:xfrm>
            <a:off x="101225" y="904241"/>
            <a:ext cx="9014192" cy="266482"/>
          </a:xfrm>
          <a:prstGeom prst="rect">
            <a:avLst/>
          </a:prstGeom>
        </p:spPr>
      </p:pic>
      <p:sp>
        <p:nvSpPr>
          <p:cNvPr id="18" name="Text Box 10">
            <a:extLst>
              <a:ext uri="{FF2B5EF4-FFF2-40B4-BE49-F238E27FC236}">
                <a16:creationId xmlns:a16="http://schemas.microsoft.com/office/drawing/2014/main" id="{52DC5E7A-915F-4309-9A58-4DB1D8F8F83F}"/>
              </a:ext>
            </a:extLst>
          </p:cNvPr>
          <p:cNvSpPr txBox="1">
            <a:spLocks noChangeArrowheads="1"/>
          </p:cNvSpPr>
          <p:nvPr/>
        </p:nvSpPr>
        <p:spPr bwMode="auto">
          <a:xfrm>
            <a:off x="8288338" y="6296025"/>
            <a:ext cx="827087" cy="366713"/>
          </a:xfrm>
          <a:prstGeom prst="rect">
            <a:avLst/>
          </a:prstGeom>
          <a:noFill/>
          <a:ln w="9525">
            <a:noFill/>
            <a:miter lim="800000"/>
            <a:headEnd/>
            <a:tailEnd/>
          </a:ln>
        </p:spPr>
        <p:txBody>
          <a:bodyPr>
            <a:spAutoFit/>
          </a:bodyPr>
          <a:lstStyle/>
          <a:p>
            <a:pPr>
              <a:spcBef>
                <a:spcPct val="50000"/>
              </a:spcBef>
            </a:pPr>
            <a:endParaRPr lang="pt-PT"/>
          </a:p>
        </p:txBody>
      </p:sp>
      <p:sp>
        <p:nvSpPr>
          <p:cNvPr id="19" name="Rectangle 11">
            <a:extLst>
              <a:ext uri="{FF2B5EF4-FFF2-40B4-BE49-F238E27FC236}">
                <a16:creationId xmlns:a16="http://schemas.microsoft.com/office/drawing/2014/main" id="{147A4060-88F8-4EA0-A0E6-017C8E77DB9F}"/>
              </a:ext>
            </a:extLst>
          </p:cNvPr>
          <p:cNvSpPr>
            <a:spLocks noChangeArrowheads="1"/>
          </p:cNvSpPr>
          <p:nvPr/>
        </p:nvSpPr>
        <p:spPr bwMode="auto">
          <a:xfrm>
            <a:off x="8327571" y="6496091"/>
            <a:ext cx="936625" cy="260350"/>
          </a:xfrm>
          <a:prstGeom prst="rect">
            <a:avLst/>
          </a:prstGeom>
          <a:noFill/>
          <a:ln w="9525">
            <a:noFill/>
            <a:miter lim="800000"/>
            <a:headEnd/>
            <a:tailEnd/>
          </a:ln>
        </p:spPr>
        <p:txBody>
          <a:bodyPr anchor="ctr"/>
          <a:lstStyle/>
          <a:p>
            <a:pPr algn="ctr"/>
            <a:r>
              <a:rPr lang="pt-PT" sz="1000" dirty="0"/>
              <a:t>- </a:t>
            </a:r>
            <a:fld id="{1234D2FF-8FB9-47A1-B8C9-42A5F500BA2F}" type="slidenum">
              <a:rPr lang="pt-PT" sz="1000"/>
              <a:pPr algn="ctr"/>
              <a:t>10</a:t>
            </a:fld>
            <a:r>
              <a:rPr lang="pt-PT" sz="1000" dirty="0"/>
              <a:t> -</a:t>
            </a:r>
          </a:p>
        </p:txBody>
      </p:sp>
      <p:pic>
        <p:nvPicPr>
          <p:cNvPr id="20" name="Imagem 19">
            <a:extLst>
              <a:ext uri="{FF2B5EF4-FFF2-40B4-BE49-F238E27FC236}">
                <a16:creationId xmlns:a16="http://schemas.microsoft.com/office/drawing/2014/main" id="{063D0A12-7269-471C-A636-6A216D5C4092}"/>
              </a:ext>
            </a:extLst>
          </p:cNvPr>
          <p:cNvPicPr>
            <a:picLocks noChangeAspect="1"/>
          </p:cNvPicPr>
          <p:nvPr/>
        </p:nvPicPr>
        <p:blipFill>
          <a:blip r:embed="rId4"/>
          <a:stretch>
            <a:fillRect/>
          </a:stretch>
        </p:blipFill>
        <p:spPr>
          <a:xfrm>
            <a:off x="0" y="6320212"/>
            <a:ext cx="9144000" cy="253252"/>
          </a:xfrm>
          <a:prstGeom prst="rect">
            <a:avLst/>
          </a:prstGeom>
        </p:spPr>
      </p:pic>
      <p:pic>
        <p:nvPicPr>
          <p:cNvPr id="22" name="Imagem 21">
            <a:extLst>
              <a:ext uri="{FF2B5EF4-FFF2-40B4-BE49-F238E27FC236}">
                <a16:creationId xmlns:a16="http://schemas.microsoft.com/office/drawing/2014/main" id="{E2381B2C-2472-499D-AA50-2A52367E681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8125" y="6488336"/>
            <a:ext cx="545959" cy="199802"/>
          </a:xfrm>
          <a:prstGeom prst="rect">
            <a:avLst/>
          </a:prstGeom>
        </p:spPr>
      </p:pic>
      <p:sp>
        <p:nvSpPr>
          <p:cNvPr id="23" name="Rectângulo 19">
            <a:extLst>
              <a:ext uri="{FF2B5EF4-FFF2-40B4-BE49-F238E27FC236}">
                <a16:creationId xmlns:a16="http://schemas.microsoft.com/office/drawing/2014/main" id="{65C3353E-895D-4138-8467-776217C9BA47}"/>
              </a:ext>
            </a:extLst>
          </p:cNvPr>
          <p:cNvSpPr/>
          <p:nvPr/>
        </p:nvSpPr>
        <p:spPr>
          <a:xfrm>
            <a:off x="5535613" y="553019"/>
            <a:ext cx="3505200" cy="261610"/>
          </a:xfrm>
          <a:prstGeom prst="rect">
            <a:avLst/>
          </a:prstGeom>
        </p:spPr>
        <p:txBody>
          <a:bodyPr wrap="square">
            <a:spAutoFit/>
          </a:bodyPr>
          <a:lstStyle/>
          <a:p>
            <a:pPr algn="r"/>
            <a:r>
              <a:rPr lang="pt-PT" sz="1100" b="1" cap="all" dirty="0" err="1">
                <a:highlight>
                  <a:srgbClr val="FFFF00"/>
                </a:highlight>
              </a:rPr>
              <a:t>Graduation</a:t>
            </a:r>
            <a:r>
              <a:rPr lang="pt-PT" sz="1100" b="1" cap="all" dirty="0">
                <a:highlight>
                  <a:srgbClr val="FFFF00"/>
                </a:highlight>
              </a:rPr>
              <a:t> in </a:t>
            </a:r>
            <a:r>
              <a:rPr lang="pt-PT" sz="1100" b="1" cap="all" dirty="0" err="1">
                <a:highlight>
                  <a:srgbClr val="FFFF00"/>
                </a:highlight>
              </a:rPr>
              <a:t>Informatics</a:t>
            </a:r>
            <a:r>
              <a:rPr lang="pt-PT" sz="1100" b="1" cap="all" dirty="0">
                <a:highlight>
                  <a:srgbClr val="FFFF00"/>
                </a:highlight>
              </a:rPr>
              <a:t> </a:t>
            </a:r>
            <a:r>
              <a:rPr lang="pt-PT" sz="1100" b="1" cap="all" dirty="0" err="1">
                <a:highlight>
                  <a:srgbClr val="FFFF00"/>
                </a:highlight>
              </a:rPr>
              <a:t>engineering</a:t>
            </a:r>
            <a:endParaRPr lang="pt-PT" sz="1100" dirty="0">
              <a:highlight>
                <a:srgbClr val="FFFF00"/>
              </a:highlight>
            </a:endParaRPr>
          </a:p>
        </p:txBody>
      </p:sp>
      <p:pic>
        <p:nvPicPr>
          <p:cNvPr id="24" name="Imagem 23">
            <a:extLst>
              <a:ext uri="{FF2B5EF4-FFF2-40B4-BE49-F238E27FC236}">
                <a16:creationId xmlns:a16="http://schemas.microsoft.com/office/drawing/2014/main" id="{AEEDEC7D-0897-4C52-BABF-22CAF94FF46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575316" y="9186"/>
            <a:ext cx="2575034" cy="639880"/>
          </a:xfrm>
          <a:prstGeom prst="rect">
            <a:avLst/>
          </a:prstGeom>
        </p:spPr>
      </p:pic>
      <p:sp>
        <p:nvSpPr>
          <p:cNvPr id="2" name="Subtítulo 2">
            <a:extLst>
              <a:ext uri="{FF2B5EF4-FFF2-40B4-BE49-F238E27FC236}">
                <a16:creationId xmlns:a16="http://schemas.microsoft.com/office/drawing/2014/main" id="{80C180AC-6206-1D76-D73B-31A17CCA5953}"/>
              </a:ext>
            </a:extLst>
          </p:cNvPr>
          <p:cNvSpPr txBox="1">
            <a:spLocks/>
          </p:cNvSpPr>
          <p:nvPr/>
        </p:nvSpPr>
        <p:spPr>
          <a:xfrm>
            <a:off x="836017" y="6524516"/>
            <a:ext cx="7698382" cy="162409"/>
          </a:xfrm>
          <a:prstGeom prst="rect">
            <a:avLst/>
          </a:prstGeom>
        </p:spPr>
        <p:txBody>
          <a:bodyPr vert="horz" lIns="68580" tIns="34290" rIns="68580" bIns="3429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pt-PT" sz="900" dirty="0">
                <a:latin typeface="Arial" charset="0"/>
                <a:ea typeface="Arial" charset="0"/>
                <a:cs typeface="Arial" charset="0"/>
              </a:rPr>
              <a:t>@Diogo Monteiro - 32428, Gonçalo Teixeira - 31396 | </a:t>
            </a:r>
            <a:r>
              <a:rPr lang="pt-PT" sz="900" b="1" dirty="0">
                <a:solidFill>
                  <a:srgbClr val="C00000"/>
                </a:solidFill>
                <a:latin typeface="Arial" charset="0"/>
                <a:ea typeface="Arial" charset="0"/>
                <a:cs typeface="Arial" charset="0"/>
              </a:rPr>
              <a:t>Unidade Curricular: Projeto III </a:t>
            </a:r>
            <a:r>
              <a:rPr lang="pt-PT" sz="900" dirty="0">
                <a:latin typeface="Arial" charset="0"/>
                <a:ea typeface="Arial" charset="0"/>
                <a:cs typeface="Arial" charset="0"/>
              </a:rPr>
              <a:t>– Ano Letivo 2024/2025 – </a:t>
            </a:r>
            <a:r>
              <a:rPr lang="pt-PT" sz="900" b="1" dirty="0">
                <a:latin typeface="Arial" charset="0"/>
                <a:ea typeface="Arial" charset="0"/>
                <a:cs typeface="Arial" charset="0"/>
              </a:rPr>
              <a:t>MCZ03</a:t>
            </a:r>
          </a:p>
        </p:txBody>
      </p:sp>
    </p:spTree>
    <p:extLst>
      <p:ext uri="{BB962C8B-B14F-4D97-AF65-F5344CB8AC3E}">
        <p14:creationId xmlns:p14="http://schemas.microsoft.com/office/powerpoint/2010/main" val="34634213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9" name="Text Box 13"/>
          <p:cNvSpPr txBox="1">
            <a:spLocks noChangeArrowheads="1"/>
          </p:cNvSpPr>
          <p:nvPr/>
        </p:nvSpPr>
        <p:spPr bwMode="auto">
          <a:xfrm>
            <a:off x="306388" y="545068"/>
            <a:ext cx="6981825" cy="369332"/>
          </a:xfrm>
          <a:prstGeom prst="rect">
            <a:avLst/>
          </a:prstGeom>
          <a:noFill/>
          <a:ln w="9525">
            <a:noFill/>
            <a:miter lim="800000"/>
            <a:headEnd/>
            <a:tailEnd/>
          </a:ln>
          <a:effectLst/>
        </p:spPr>
        <p:txBody>
          <a:bodyPr>
            <a:spAutoFit/>
          </a:bodyPr>
          <a:lstStyle/>
          <a:p>
            <a:pPr>
              <a:spcBef>
                <a:spcPct val="50000"/>
              </a:spcBef>
              <a:defRPr/>
            </a:pPr>
            <a:r>
              <a:rPr lang="pt-PT" b="1" dirty="0">
                <a:solidFill>
                  <a:srgbClr val="C00000"/>
                </a:solidFill>
                <a:effectLst>
                  <a:outerShdw blurRad="38100" dist="38100" dir="2700000" algn="tl">
                    <a:srgbClr val="C0C0C0"/>
                  </a:outerShdw>
                </a:effectLst>
                <a:latin typeface="Arial"/>
                <a:cs typeface="Arial"/>
              </a:rPr>
              <a:t>■</a:t>
            </a:r>
            <a:r>
              <a:rPr lang="pt-PT" b="1" dirty="0">
                <a:effectLst>
                  <a:outerShdw blurRad="38100" dist="38100" dir="2700000" algn="tl">
                    <a:srgbClr val="C0C0C0"/>
                  </a:outerShdw>
                </a:effectLst>
                <a:latin typeface="Arial"/>
                <a:cs typeface="Arial"/>
              </a:rPr>
              <a:t> 5. Future </a:t>
            </a:r>
            <a:r>
              <a:rPr lang="pt-PT" b="1" dirty="0" err="1">
                <a:effectLst>
                  <a:outerShdw blurRad="38100" dist="38100" dir="2700000" algn="tl">
                    <a:srgbClr val="C0C0C0"/>
                  </a:outerShdw>
                </a:effectLst>
                <a:latin typeface="Arial"/>
                <a:cs typeface="Arial"/>
              </a:rPr>
              <a:t>Work</a:t>
            </a:r>
            <a:endParaRPr lang="pt-PT" b="1" dirty="0">
              <a:effectLst>
                <a:outerShdw blurRad="38100" dist="38100" dir="2700000" algn="tl">
                  <a:srgbClr val="C0C0C0"/>
                </a:outerShdw>
              </a:effectLst>
              <a:latin typeface="Arial" charset="0"/>
            </a:endParaRPr>
          </a:p>
        </p:txBody>
      </p:sp>
      <p:sp>
        <p:nvSpPr>
          <p:cNvPr id="10247" name="Line 15"/>
          <p:cNvSpPr>
            <a:spLocks noChangeShapeType="1"/>
          </p:cNvSpPr>
          <p:nvPr/>
        </p:nvSpPr>
        <p:spPr bwMode="auto">
          <a:xfrm>
            <a:off x="250825" y="0"/>
            <a:ext cx="0" cy="765175"/>
          </a:xfrm>
          <a:prstGeom prst="line">
            <a:avLst/>
          </a:prstGeom>
          <a:noFill/>
          <a:ln w="25400">
            <a:solidFill>
              <a:schemeClr val="tx1"/>
            </a:solidFill>
            <a:round/>
            <a:headEnd/>
            <a:tailEnd/>
          </a:ln>
        </p:spPr>
        <p:txBody>
          <a:bodyPr/>
          <a:lstStyle/>
          <a:p>
            <a:endParaRPr lang="pt-PT"/>
          </a:p>
        </p:txBody>
      </p:sp>
      <p:sp>
        <p:nvSpPr>
          <p:cNvPr id="9237" name="Text Box 21"/>
          <p:cNvSpPr txBox="1">
            <a:spLocks noChangeArrowheads="1"/>
          </p:cNvSpPr>
          <p:nvPr/>
        </p:nvSpPr>
        <p:spPr bwMode="auto">
          <a:xfrm>
            <a:off x="317274" y="43419"/>
            <a:ext cx="6981825" cy="304800"/>
          </a:xfrm>
          <a:prstGeom prst="rect">
            <a:avLst/>
          </a:prstGeom>
          <a:noFill/>
          <a:ln w="9525">
            <a:noFill/>
            <a:miter lim="800000"/>
            <a:headEnd/>
            <a:tailEnd/>
          </a:ln>
          <a:effectLst/>
        </p:spPr>
        <p:txBody>
          <a:bodyPr>
            <a:spAutoFit/>
          </a:bodyPr>
          <a:lstStyle/>
          <a:p>
            <a:pPr>
              <a:spcBef>
                <a:spcPct val="50000"/>
              </a:spcBef>
              <a:defRPr/>
            </a:pPr>
            <a:endParaRPr lang="pt-PT" sz="1400" b="1" dirty="0">
              <a:solidFill>
                <a:srgbClr val="FF3300"/>
              </a:solidFill>
              <a:effectLst>
                <a:outerShdw blurRad="38100" dist="38100" dir="2700000" algn="tl">
                  <a:srgbClr val="C0C0C0"/>
                </a:outerShdw>
              </a:effectLst>
              <a:latin typeface="Arial" charset="0"/>
            </a:endParaRPr>
          </a:p>
        </p:txBody>
      </p:sp>
      <p:sp>
        <p:nvSpPr>
          <p:cNvPr id="8" name="Content Placeholder 2">
            <a:extLst>
              <a:ext uri="{FF2B5EF4-FFF2-40B4-BE49-F238E27FC236}">
                <a16:creationId xmlns:a16="http://schemas.microsoft.com/office/drawing/2014/main" id="{8E0830EF-ABA4-4AB5-8E11-4285C542BC49}"/>
              </a:ext>
            </a:extLst>
          </p:cNvPr>
          <p:cNvSpPr txBox="1">
            <a:spLocks/>
          </p:cNvSpPr>
          <p:nvPr/>
        </p:nvSpPr>
        <p:spPr>
          <a:xfrm>
            <a:off x="152400" y="1192899"/>
            <a:ext cx="8839200" cy="5014226"/>
          </a:xfrm>
          <a:prstGeom prst="rect">
            <a:avLst/>
          </a:prstGeom>
        </p:spPr>
        <p:txBody>
          <a:bodyPr vert="horz" lIns="91440" tIns="45720" rIns="91440" bIns="45720" rtlCol="0">
            <a:normAutofit/>
          </a:bodyPr>
          <a:lstStyle/>
          <a:p>
            <a:pPr marL="36576" algn="just">
              <a:lnSpc>
                <a:spcPct val="200000"/>
              </a:lnSpc>
              <a:spcBef>
                <a:spcPct val="20000"/>
              </a:spcBef>
              <a:defRPr/>
            </a:pPr>
            <a:r>
              <a:rPr lang="en-US" sz="1600" dirty="0">
                <a:solidFill>
                  <a:srgbClr val="FFC000"/>
                </a:solidFill>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Collect and prepare labeled fire/no fire image data</a:t>
            </a:r>
          </a:p>
          <a:p>
            <a:pPr marL="36576" algn="just">
              <a:lnSpc>
                <a:spcPct val="200000"/>
              </a:lnSpc>
              <a:spcBef>
                <a:spcPct val="20000"/>
              </a:spcBef>
              <a:defRPr/>
            </a:pPr>
            <a:r>
              <a:rPr lang="en-US" sz="1600" dirty="0">
                <a:solidFill>
                  <a:srgbClr val="FFC000"/>
                </a:solidFill>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Train and validate the AI model with this data</a:t>
            </a:r>
          </a:p>
          <a:p>
            <a:pPr marL="36576" algn="just">
              <a:lnSpc>
                <a:spcPct val="200000"/>
              </a:lnSpc>
              <a:spcBef>
                <a:spcPct val="20000"/>
              </a:spcBef>
              <a:defRPr/>
            </a:pPr>
            <a:r>
              <a:rPr lang="en-US" sz="1600" dirty="0">
                <a:solidFill>
                  <a:srgbClr val="FFC000"/>
                </a:solidFill>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Test the model and improve it </a:t>
            </a:r>
          </a:p>
          <a:p>
            <a:pPr marL="36576" algn="just">
              <a:lnSpc>
                <a:spcPct val="200000"/>
              </a:lnSpc>
              <a:spcBef>
                <a:spcPct val="20000"/>
              </a:spcBef>
              <a:defRPr/>
            </a:pPr>
            <a:endParaRPr lang="en-US" sz="2000" dirty="0">
              <a:latin typeface="Arial" panose="020B0604020202020204" pitchFamily="34" charset="0"/>
              <a:cs typeface="Arial" panose="020B0604020202020204" pitchFamily="34" charset="0"/>
            </a:endParaRPr>
          </a:p>
        </p:txBody>
      </p:sp>
      <p:pic>
        <p:nvPicPr>
          <p:cNvPr id="15" name="Imagem 14">
            <a:extLst>
              <a:ext uri="{FF2B5EF4-FFF2-40B4-BE49-F238E27FC236}">
                <a16:creationId xmlns:a16="http://schemas.microsoft.com/office/drawing/2014/main" id="{48CE301F-4D2A-420A-9071-9EC466321D7E}"/>
              </a:ext>
            </a:extLst>
          </p:cNvPr>
          <p:cNvPicPr>
            <a:picLocks noChangeAspect="1"/>
          </p:cNvPicPr>
          <p:nvPr/>
        </p:nvPicPr>
        <p:blipFill>
          <a:blip r:embed="rId3"/>
          <a:stretch>
            <a:fillRect/>
          </a:stretch>
        </p:blipFill>
        <p:spPr>
          <a:xfrm>
            <a:off x="101225" y="904241"/>
            <a:ext cx="9014192" cy="266482"/>
          </a:xfrm>
          <a:prstGeom prst="rect">
            <a:avLst/>
          </a:prstGeom>
        </p:spPr>
      </p:pic>
      <p:sp>
        <p:nvSpPr>
          <p:cNvPr id="18" name="Text Box 10">
            <a:extLst>
              <a:ext uri="{FF2B5EF4-FFF2-40B4-BE49-F238E27FC236}">
                <a16:creationId xmlns:a16="http://schemas.microsoft.com/office/drawing/2014/main" id="{4A7CCD90-D66C-4E05-B4E2-C77CF254E187}"/>
              </a:ext>
            </a:extLst>
          </p:cNvPr>
          <p:cNvSpPr txBox="1">
            <a:spLocks noChangeArrowheads="1"/>
          </p:cNvSpPr>
          <p:nvPr/>
        </p:nvSpPr>
        <p:spPr bwMode="auto">
          <a:xfrm>
            <a:off x="8288338" y="6296025"/>
            <a:ext cx="827087" cy="366713"/>
          </a:xfrm>
          <a:prstGeom prst="rect">
            <a:avLst/>
          </a:prstGeom>
          <a:noFill/>
          <a:ln w="9525">
            <a:noFill/>
            <a:miter lim="800000"/>
            <a:headEnd/>
            <a:tailEnd/>
          </a:ln>
        </p:spPr>
        <p:txBody>
          <a:bodyPr>
            <a:spAutoFit/>
          </a:bodyPr>
          <a:lstStyle/>
          <a:p>
            <a:pPr>
              <a:spcBef>
                <a:spcPct val="50000"/>
              </a:spcBef>
            </a:pPr>
            <a:endParaRPr lang="pt-PT"/>
          </a:p>
        </p:txBody>
      </p:sp>
      <p:sp>
        <p:nvSpPr>
          <p:cNvPr id="19" name="Rectangle 11">
            <a:extLst>
              <a:ext uri="{FF2B5EF4-FFF2-40B4-BE49-F238E27FC236}">
                <a16:creationId xmlns:a16="http://schemas.microsoft.com/office/drawing/2014/main" id="{BB49C8A0-A5D6-400A-AE8C-1D6D9FF45C02}"/>
              </a:ext>
            </a:extLst>
          </p:cNvPr>
          <p:cNvSpPr>
            <a:spLocks noChangeArrowheads="1"/>
          </p:cNvSpPr>
          <p:nvPr/>
        </p:nvSpPr>
        <p:spPr bwMode="auto">
          <a:xfrm>
            <a:off x="8327571" y="6496091"/>
            <a:ext cx="936625" cy="260350"/>
          </a:xfrm>
          <a:prstGeom prst="rect">
            <a:avLst/>
          </a:prstGeom>
          <a:noFill/>
          <a:ln w="9525">
            <a:noFill/>
            <a:miter lim="800000"/>
            <a:headEnd/>
            <a:tailEnd/>
          </a:ln>
        </p:spPr>
        <p:txBody>
          <a:bodyPr anchor="ctr"/>
          <a:lstStyle/>
          <a:p>
            <a:pPr algn="ctr"/>
            <a:r>
              <a:rPr lang="pt-PT" sz="1000" dirty="0"/>
              <a:t>- </a:t>
            </a:r>
            <a:fld id="{1234D2FF-8FB9-47A1-B8C9-42A5F500BA2F}" type="slidenum">
              <a:rPr lang="pt-PT" sz="1000"/>
              <a:pPr algn="ctr"/>
              <a:t>11</a:t>
            </a:fld>
            <a:r>
              <a:rPr lang="pt-PT" sz="1000" dirty="0"/>
              <a:t> -</a:t>
            </a:r>
          </a:p>
        </p:txBody>
      </p:sp>
      <p:pic>
        <p:nvPicPr>
          <p:cNvPr id="20" name="Imagem 19">
            <a:extLst>
              <a:ext uri="{FF2B5EF4-FFF2-40B4-BE49-F238E27FC236}">
                <a16:creationId xmlns:a16="http://schemas.microsoft.com/office/drawing/2014/main" id="{45283E34-7739-47C5-BC5C-02F5F3212551}"/>
              </a:ext>
            </a:extLst>
          </p:cNvPr>
          <p:cNvPicPr>
            <a:picLocks noChangeAspect="1"/>
          </p:cNvPicPr>
          <p:nvPr/>
        </p:nvPicPr>
        <p:blipFill>
          <a:blip r:embed="rId4"/>
          <a:stretch>
            <a:fillRect/>
          </a:stretch>
        </p:blipFill>
        <p:spPr>
          <a:xfrm>
            <a:off x="0" y="6320212"/>
            <a:ext cx="9144000" cy="253252"/>
          </a:xfrm>
          <a:prstGeom prst="rect">
            <a:avLst/>
          </a:prstGeom>
        </p:spPr>
      </p:pic>
      <p:pic>
        <p:nvPicPr>
          <p:cNvPr id="22" name="Imagem 21">
            <a:extLst>
              <a:ext uri="{FF2B5EF4-FFF2-40B4-BE49-F238E27FC236}">
                <a16:creationId xmlns:a16="http://schemas.microsoft.com/office/drawing/2014/main" id="{B23061A6-CE18-4A0A-892F-6F73949E6F2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8125" y="6488336"/>
            <a:ext cx="545959" cy="199802"/>
          </a:xfrm>
          <a:prstGeom prst="rect">
            <a:avLst/>
          </a:prstGeom>
        </p:spPr>
      </p:pic>
      <p:sp>
        <p:nvSpPr>
          <p:cNvPr id="23" name="Rectângulo 19">
            <a:extLst>
              <a:ext uri="{FF2B5EF4-FFF2-40B4-BE49-F238E27FC236}">
                <a16:creationId xmlns:a16="http://schemas.microsoft.com/office/drawing/2014/main" id="{F3205D47-42F9-433F-A298-927D4A50A05C}"/>
              </a:ext>
            </a:extLst>
          </p:cNvPr>
          <p:cNvSpPr/>
          <p:nvPr/>
        </p:nvSpPr>
        <p:spPr>
          <a:xfrm>
            <a:off x="5535613" y="553019"/>
            <a:ext cx="3505200" cy="261610"/>
          </a:xfrm>
          <a:prstGeom prst="rect">
            <a:avLst/>
          </a:prstGeom>
        </p:spPr>
        <p:txBody>
          <a:bodyPr wrap="square">
            <a:spAutoFit/>
          </a:bodyPr>
          <a:lstStyle/>
          <a:p>
            <a:pPr algn="r"/>
            <a:r>
              <a:rPr lang="pt-PT" sz="1100" b="1" cap="all" dirty="0" err="1">
                <a:highlight>
                  <a:srgbClr val="FFFF00"/>
                </a:highlight>
              </a:rPr>
              <a:t>Graduation</a:t>
            </a:r>
            <a:r>
              <a:rPr lang="pt-PT" sz="1100" b="1" cap="all" dirty="0">
                <a:highlight>
                  <a:srgbClr val="FFFF00"/>
                </a:highlight>
              </a:rPr>
              <a:t> in </a:t>
            </a:r>
            <a:r>
              <a:rPr lang="pt-PT" sz="1100" b="1" cap="all" dirty="0" err="1">
                <a:highlight>
                  <a:srgbClr val="FFFF00"/>
                </a:highlight>
              </a:rPr>
              <a:t>Informatics</a:t>
            </a:r>
            <a:r>
              <a:rPr lang="pt-PT" sz="1100" b="1" cap="all" dirty="0">
                <a:highlight>
                  <a:srgbClr val="FFFF00"/>
                </a:highlight>
              </a:rPr>
              <a:t> </a:t>
            </a:r>
            <a:r>
              <a:rPr lang="pt-PT" sz="1100" b="1" cap="all" dirty="0" err="1">
                <a:highlight>
                  <a:srgbClr val="FFFF00"/>
                </a:highlight>
              </a:rPr>
              <a:t>engineering</a:t>
            </a:r>
            <a:endParaRPr lang="pt-PT" sz="1100" dirty="0">
              <a:highlight>
                <a:srgbClr val="FFFF00"/>
              </a:highlight>
            </a:endParaRPr>
          </a:p>
        </p:txBody>
      </p:sp>
      <p:pic>
        <p:nvPicPr>
          <p:cNvPr id="24" name="Imagem 23">
            <a:extLst>
              <a:ext uri="{FF2B5EF4-FFF2-40B4-BE49-F238E27FC236}">
                <a16:creationId xmlns:a16="http://schemas.microsoft.com/office/drawing/2014/main" id="{EEB89B00-514F-40DA-A07A-D64C01970A2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575316" y="9186"/>
            <a:ext cx="2575034" cy="639880"/>
          </a:xfrm>
          <a:prstGeom prst="rect">
            <a:avLst/>
          </a:prstGeom>
        </p:spPr>
      </p:pic>
      <p:sp>
        <p:nvSpPr>
          <p:cNvPr id="2" name="Subtítulo 2">
            <a:extLst>
              <a:ext uri="{FF2B5EF4-FFF2-40B4-BE49-F238E27FC236}">
                <a16:creationId xmlns:a16="http://schemas.microsoft.com/office/drawing/2014/main" id="{180B081C-234D-AADD-0590-A1F6CD52E199}"/>
              </a:ext>
            </a:extLst>
          </p:cNvPr>
          <p:cNvSpPr txBox="1">
            <a:spLocks/>
          </p:cNvSpPr>
          <p:nvPr/>
        </p:nvSpPr>
        <p:spPr>
          <a:xfrm>
            <a:off x="836017" y="6524516"/>
            <a:ext cx="7698382" cy="162409"/>
          </a:xfrm>
          <a:prstGeom prst="rect">
            <a:avLst/>
          </a:prstGeom>
        </p:spPr>
        <p:txBody>
          <a:bodyPr vert="horz" lIns="68580" tIns="34290" rIns="68580" bIns="3429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pt-PT" sz="900" dirty="0">
                <a:latin typeface="Arial" charset="0"/>
                <a:ea typeface="Arial" charset="0"/>
                <a:cs typeface="Arial" charset="0"/>
              </a:rPr>
              <a:t>@Diogo Monteiro - 32428, Gonçalo Teixeira - 31396 | </a:t>
            </a:r>
            <a:r>
              <a:rPr lang="pt-PT" sz="900" b="1" dirty="0">
                <a:solidFill>
                  <a:srgbClr val="C00000"/>
                </a:solidFill>
                <a:latin typeface="Arial" charset="0"/>
                <a:ea typeface="Arial" charset="0"/>
                <a:cs typeface="Arial" charset="0"/>
              </a:rPr>
              <a:t>Unidade Curricular: Projeto III </a:t>
            </a:r>
            <a:r>
              <a:rPr lang="pt-PT" sz="900" dirty="0">
                <a:latin typeface="Arial" charset="0"/>
                <a:ea typeface="Arial" charset="0"/>
                <a:cs typeface="Arial" charset="0"/>
              </a:rPr>
              <a:t>– Ano Letivo 2024/2025 – </a:t>
            </a:r>
            <a:r>
              <a:rPr lang="pt-PT" sz="900" b="1" dirty="0">
                <a:latin typeface="Arial" charset="0"/>
                <a:ea typeface="Arial" charset="0"/>
                <a:cs typeface="Arial" charset="0"/>
              </a:rPr>
              <a:t>MCZ03</a:t>
            </a:r>
          </a:p>
        </p:txBody>
      </p:sp>
    </p:spTree>
    <p:extLst>
      <p:ext uri="{BB962C8B-B14F-4D97-AF65-F5344CB8AC3E}">
        <p14:creationId xmlns:p14="http://schemas.microsoft.com/office/powerpoint/2010/main" val="11264447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9" name="Text Box 13"/>
          <p:cNvSpPr txBox="1">
            <a:spLocks noChangeArrowheads="1"/>
          </p:cNvSpPr>
          <p:nvPr/>
        </p:nvSpPr>
        <p:spPr bwMode="auto">
          <a:xfrm>
            <a:off x="306388" y="557213"/>
            <a:ext cx="6981825" cy="400110"/>
          </a:xfrm>
          <a:prstGeom prst="rect">
            <a:avLst/>
          </a:prstGeom>
          <a:noFill/>
          <a:ln w="9525">
            <a:noFill/>
            <a:miter lim="800000"/>
            <a:headEnd/>
            <a:tailEnd/>
          </a:ln>
          <a:effectLst/>
        </p:spPr>
        <p:txBody>
          <a:bodyPr>
            <a:spAutoFit/>
          </a:bodyPr>
          <a:lstStyle/>
          <a:p>
            <a:pPr>
              <a:spcBef>
                <a:spcPct val="50000"/>
              </a:spcBef>
              <a:defRPr/>
            </a:pPr>
            <a:r>
              <a:rPr lang="pt-PT" sz="2000" b="1" dirty="0">
                <a:solidFill>
                  <a:srgbClr val="C00000"/>
                </a:solidFill>
                <a:effectLst>
                  <a:outerShdw blurRad="38100" dist="38100" dir="2700000" algn="tl">
                    <a:srgbClr val="C0C0C0"/>
                  </a:outerShdw>
                </a:effectLst>
                <a:latin typeface="Arial"/>
                <a:cs typeface="Arial"/>
              </a:rPr>
              <a:t>■</a:t>
            </a:r>
            <a:r>
              <a:rPr lang="pt-PT" sz="2000" b="1" dirty="0">
                <a:effectLst>
                  <a:outerShdw blurRad="38100" dist="38100" dir="2700000" algn="tl">
                    <a:srgbClr val="C0C0C0"/>
                  </a:outerShdw>
                </a:effectLst>
                <a:latin typeface="Arial"/>
                <a:cs typeface="Arial"/>
              </a:rPr>
              <a:t> </a:t>
            </a:r>
            <a:r>
              <a:rPr lang="en-US" sz="2000" b="1" dirty="0">
                <a:effectLst>
                  <a:outerShdw blurRad="38100" dist="38100" dir="2700000" algn="tl">
                    <a:srgbClr val="C0C0C0"/>
                  </a:outerShdw>
                </a:effectLst>
                <a:latin typeface="Arial" pitchFamily="34" charset="0"/>
                <a:cs typeface="Arial" pitchFamily="34" charset="0"/>
              </a:rPr>
              <a:t>6</a:t>
            </a:r>
            <a:r>
              <a:rPr lang="en-US" sz="2000" b="1" dirty="0">
                <a:latin typeface="Arial" pitchFamily="34" charset="0"/>
                <a:cs typeface="Arial" pitchFamily="34" charset="0"/>
              </a:rPr>
              <a:t>. Bibliography and Web References </a:t>
            </a:r>
          </a:p>
        </p:txBody>
      </p:sp>
      <p:sp>
        <p:nvSpPr>
          <p:cNvPr id="10247" name="Line 15"/>
          <p:cNvSpPr>
            <a:spLocks noChangeShapeType="1"/>
          </p:cNvSpPr>
          <p:nvPr/>
        </p:nvSpPr>
        <p:spPr bwMode="auto">
          <a:xfrm>
            <a:off x="250825" y="0"/>
            <a:ext cx="0" cy="765175"/>
          </a:xfrm>
          <a:prstGeom prst="line">
            <a:avLst/>
          </a:prstGeom>
          <a:noFill/>
          <a:ln w="25400">
            <a:solidFill>
              <a:schemeClr val="tx1"/>
            </a:solidFill>
            <a:round/>
            <a:headEnd/>
            <a:tailEnd/>
          </a:ln>
        </p:spPr>
        <p:txBody>
          <a:bodyPr/>
          <a:lstStyle/>
          <a:p>
            <a:endParaRPr lang="pt-PT"/>
          </a:p>
        </p:txBody>
      </p:sp>
      <p:sp>
        <p:nvSpPr>
          <p:cNvPr id="9237" name="Text Box 21"/>
          <p:cNvSpPr txBox="1">
            <a:spLocks noChangeArrowheads="1"/>
          </p:cNvSpPr>
          <p:nvPr/>
        </p:nvSpPr>
        <p:spPr bwMode="auto">
          <a:xfrm>
            <a:off x="260350" y="44450"/>
            <a:ext cx="6981825" cy="304800"/>
          </a:xfrm>
          <a:prstGeom prst="rect">
            <a:avLst/>
          </a:prstGeom>
          <a:noFill/>
          <a:ln w="9525">
            <a:noFill/>
            <a:miter lim="800000"/>
            <a:headEnd/>
            <a:tailEnd/>
          </a:ln>
          <a:effectLst/>
        </p:spPr>
        <p:txBody>
          <a:bodyPr>
            <a:spAutoFit/>
          </a:bodyPr>
          <a:lstStyle/>
          <a:p>
            <a:pPr>
              <a:spcBef>
                <a:spcPct val="50000"/>
              </a:spcBef>
              <a:defRPr/>
            </a:pPr>
            <a:endParaRPr lang="pt-PT" sz="1400" b="1" dirty="0">
              <a:solidFill>
                <a:srgbClr val="FF3300"/>
              </a:solidFill>
              <a:effectLst>
                <a:outerShdw blurRad="38100" dist="38100" dir="2700000" algn="tl">
                  <a:srgbClr val="C0C0C0"/>
                </a:outerShdw>
              </a:effectLst>
              <a:latin typeface="Arial" charset="0"/>
            </a:endParaRPr>
          </a:p>
        </p:txBody>
      </p:sp>
      <p:sp>
        <p:nvSpPr>
          <p:cNvPr id="18" name="Content Placeholder 2"/>
          <p:cNvSpPr txBox="1">
            <a:spLocks/>
          </p:cNvSpPr>
          <p:nvPr/>
        </p:nvSpPr>
        <p:spPr>
          <a:xfrm>
            <a:off x="152400" y="1066800"/>
            <a:ext cx="8839200" cy="5257800"/>
          </a:xfrm>
          <a:prstGeom prst="rect">
            <a:avLst/>
          </a:prstGeom>
        </p:spPr>
        <p:txBody>
          <a:bodyPr vert="horz" lIns="91440" tIns="45720" rIns="91440" bIns="45720" rtlCol="0">
            <a:normAutofit/>
          </a:bodyPr>
          <a:lstStyle/>
          <a:p>
            <a:pPr>
              <a:lnSpc>
                <a:spcPct val="200000"/>
              </a:lnSpc>
              <a:spcBef>
                <a:spcPct val="20000"/>
              </a:spcBef>
              <a:defRPr/>
            </a:pPr>
            <a:r>
              <a:rPr lang="en-US" sz="1600" dirty="0">
                <a:solidFill>
                  <a:srgbClr val="FFC000"/>
                </a:solidFill>
                <a:cs typeface="Arial" panose="020B0604020202020204" pitchFamily="34" charset="0"/>
              </a:rPr>
              <a:t>■ </a:t>
            </a:r>
            <a:r>
              <a:rPr lang="en-US" sz="1600" dirty="0">
                <a:cs typeface="Arial" panose="020B0604020202020204" pitchFamily="34" charset="0"/>
              </a:rPr>
              <a:t>Wildfire Prediction Dataset (Satellite Images): </a:t>
            </a:r>
            <a:r>
              <a:rPr lang="pt-PT" sz="1600" dirty="0">
                <a:hlinkClick r:id="rId3"/>
              </a:rPr>
              <a:t>https://www.kaggle.com/datasets/abdelghaniaaba/wildfire-prediction-dataset</a:t>
            </a:r>
            <a:br>
              <a:rPr lang="en-US" sz="1600" dirty="0">
                <a:cs typeface="Arial" panose="020B0604020202020204" pitchFamily="34" charset="0"/>
              </a:rPr>
            </a:br>
            <a:r>
              <a:rPr lang="en-US" sz="1600" dirty="0">
                <a:solidFill>
                  <a:srgbClr val="FFC000"/>
                </a:solidFill>
                <a:cs typeface="Arial" panose="020B0604020202020204" pitchFamily="34" charset="0"/>
              </a:rPr>
              <a:t>■ </a:t>
            </a:r>
            <a:r>
              <a:rPr lang="pt-PT" sz="1600" dirty="0"/>
              <a:t>Lucidchart: </a:t>
            </a:r>
            <a:r>
              <a:rPr lang="pt-PT" sz="1600" dirty="0">
                <a:hlinkClick r:id="rId4"/>
              </a:rPr>
              <a:t>https://www.lucidchart.com/pages</a:t>
            </a:r>
            <a:br>
              <a:rPr lang="pt-PT" sz="1600" dirty="0"/>
            </a:br>
            <a:endParaRPr kumimoji="0" lang="en-US" sz="2000" b="0" i="1"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pic>
        <p:nvPicPr>
          <p:cNvPr id="15" name="Imagem 14">
            <a:extLst>
              <a:ext uri="{FF2B5EF4-FFF2-40B4-BE49-F238E27FC236}">
                <a16:creationId xmlns:a16="http://schemas.microsoft.com/office/drawing/2014/main" id="{5DEBD917-885F-4E14-9AAA-FA7433880DF4}"/>
              </a:ext>
            </a:extLst>
          </p:cNvPr>
          <p:cNvPicPr>
            <a:picLocks noChangeAspect="1"/>
          </p:cNvPicPr>
          <p:nvPr/>
        </p:nvPicPr>
        <p:blipFill>
          <a:blip r:embed="rId5"/>
          <a:stretch>
            <a:fillRect/>
          </a:stretch>
        </p:blipFill>
        <p:spPr>
          <a:xfrm>
            <a:off x="101225" y="904241"/>
            <a:ext cx="9014192" cy="266482"/>
          </a:xfrm>
          <a:prstGeom prst="rect">
            <a:avLst/>
          </a:prstGeom>
        </p:spPr>
      </p:pic>
      <p:sp>
        <p:nvSpPr>
          <p:cNvPr id="22" name="Text Box 10">
            <a:extLst>
              <a:ext uri="{FF2B5EF4-FFF2-40B4-BE49-F238E27FC236}">
                <a16:creationId xmlns:a16="http://schemas.microsoft.com/office/drawing/2014/main" id="{DA5B9C9C-A53C-457C-B627-555280D1CB8B}"/>
              </a:ext>
            </a:extLst>
          </p:cNvPr>
          <p:cNvSpPr txBox="1">
            <a:spLocks noChangeArrowheads="1"/>
          </p:cNvSpPr>
          <p:nvPr/>
        </p:nvSpPr>
        <p:spPr bwMode="auto">
          <a:xfrm>
            <a:off x="8288338" y="6296025"/>
            <a:ext cx="827087" cy="366713"/>
          </a:xfrm>
          <a:prstGeom prst="rect">
            <a:avLst/>
          </a:prstGeom>
          <a:noFill/>
          <a:ln w="9525">
            <a:noFill/>
            <a:miter lim="800000"/>
            <a:headEnd/>
            <a:tailEnd/>
          </a:ln>
        </p:spPr>
        <p:txBody>
          <a:bodyPr>
            <a:spAutoFit/>
          </a:bodyPr>
          <a:lstStyle/>
          <a:p>
            <a:pPr>
              <a:spcBef>
                <a:spcPct val="50000"/>
              </a:spcBef>
            </a:pPr>
            <a:endParaRPr lang="pt-PT"/>
          </a:p>
        </p:txBody>
      </p:sp>
      <p:sp>
        <p:nvSpPr>
          <p:cNvPr id="23" name="Rectangle 11">
            <a:extLst>
              <a:ext uri="{FF2B5EF4-FFF2-40B4-BE49-F238E27FC236}">
                <a16:creationId xmlns:a16="http://schemas.microsoft.com/office/drawing/2014/main" id="{BB99FE70-D639-4143-8929-E0DCB4730DC1}"/>
              </a:ext>
            </a:extLst>
          </p:cNvPr>
          <p:cNvSpPr>
            <a:spLocks noChangeArrowheads="1"/>
          </p:cNvSpPr>
          <p:nvPr/>
        </p:nvSpPr>
        <p:spPr bwMode="auto">
          <a:xfrm>
            <a:off x="8327571" y="6496091"/>
            <a:ext cx="936625" cy="260350"/>
          </a:xfrm>
          <a:prstGeom prst="rect">
            <a:avLst/>
          </a:prstGeom>
          <a:noFill/>
          <a:ln w="9525">
            <a:noFill/>
            <a:miter lim="800000"/>
            <a:headEnd/>
            <a:tailEnd/>
          </a:ln>
        </p:spPr>
        <p:txBody>
          <a:bodyPr anchor="ctr"/>
          <a:lstStyle/>
          <a:p>
            <a:pPr algn="ctr"/>
            <a:r>
              <a:rPr lang="pt-PT" sz="1000" dirty="0"/>
              <a:t>- </a:t>
            </a:r>
            <a:fld id="{1234D2FF-8FB9-47A1-B8C9-42A5F500BA2F}" type="slidenum">
              <a:rPr lang="pt-PT" sz="1000"/>
              <a:pPr algn="ctr"/>
              <a:t>12</a:t>
            </a:fld>
            <a:r>
              <a:rPr lang="pt-PT" sz="1000" dirty="0"/>
              <a:t> -</a:t>
            </a:r>
          </a:p>
        </p:txBody>
      </p:sp>
      <p:pic>
        <p:nvPicPr>
          <p:cNvPr id="24" name="Imagem 23">
            <a:extLst>
              <a:ext uri="{FF2B5EF4-FFF2-40B4-BE49-F238E27FC236}">
                <a16:creationId xmlns:a16="http://schemas.microsoft.com/office/drawing/2014/main" id="{F0F6DBA2-3272-4ADE-89D0-26028F95569C}"/>
              </a:ext>
            </a:extLst>
          </p:cNvPr>
          <p:cNvPicPr>
            <a:picLocks noChangeAspect="1"/>
          </p:cNvPicPr>
          <p:nvPr/>
        </p:nvPicPr>
        <p:blipFill>
          <a:blip r:embed="rId6"/>
          <a:stretch>
            <a:fillRect/>
          </a:stretch>
        </p:blipFill>
        <p:spPr>
          <a:xfrm>
            <a:off x="0" y="6320212"/>
            <a:ext cx="9144000" cy="253252"/>
          </a:xfrm>
          <a:prstGeom prst="rect">
            <a:avLst/>
          </a:prstGeom>
        </p:spPr>
      </p:pic>
      <p:pic>
        <p:nvPicPr>
          <p:cNvPr id="26" name="Imagem 25">
            <a:extLst>
              <a:ext uri="{FF2B5EF4-FFF2-40B4-BE49-F238E27FC236}">
                <a16:creationId xmlns:a16="http://schemas.microsoft.com/office/drawing/2014/main" id="{5E229B33-7BB1-4C1A-91F4-D6178C8F475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38125" y="6488336"/>
            <a:ext cx="545959" cy="199802"/>
          </a:xfrm>
          <a:prstGeom prst="rect">
            <a:avLst/>
          </a:prstGeom>
        </p:spPr>
      </p:pic>
      <p:sp>
        <p:nvSpPr>
          <p:cNvPr id="27" name="Rectângulo 19">
            <a:extLst>
              <a:ext uri="{FF2B5EF4-FFF2-40B4-BE49-F238E27FC236}">
                <a16:creationId xmlns:a16="http://schemas.microsoft.com/office/drawing/2014/main" id="{8C1A7A11-171A-4B51-AF54-818C7D826E60}"/>
              </a:ext>
            </a:extLst>
          </p:cNvPr>
          <p:cNvSpPr/>
          <p:nvPr/>
        </p:nvSpPr>
        <p:spPr>
          <a:xfrm>
            <a:off x="5535613" y="553019"/>
            <a:ext cx="3505200" cy="261610"/>
          </a:xfrm>
          <a:prstGeom prst="rect">
            <a:avLst/>
          </a:prstGeom>
        </p:spPr>
        <p:txBody>
          <a:bodyPr wrap="square">
            <a:spAutoFit/>
          </a:bodyPr>
          <a:lstStyle/>
          <a:p>
            <a:pPr algn="r"/>
            <a:r>
              <a:rPr lang="pt-PT" sz="1100" b="1" cap="all" dirty="0" err="1">
                <a:highlight>
                  <a:srgbClr val="FFFF00"/>
                </a:highlight>
              </a:rPr>
              <a:t>Graduation</a:t>
            </a:r>
            <a:r>
              <a:rPr lang="pt-PT" sz="1100" b="1" cap="all" dirty="0">
                <a:highlight>
                  <a:srgbClr val="FFFF00"/>
                </a:highlight>
              </a:rPr>
              <a:t> in </a:t>
            </a:r>
            <a:r>
              <a:rPr lang="pt-PT" sz="1100" b="1" cap="all" dirty="0" err="1">
                <a:highlight>
                  <a:srgbClr val="FFFF00"/>
                </a:highlight>
              </a:rPr>
              <a:t>Informatics</a:t>
            </a:r>
            <a:r>
              <a:rPr lang="pt-PT" sz="1100" b="1" cap="all" dirty="0">
                <a:highlight>
                  <a:srgbClr val="FFFF00"/>
                </a:highlight>
              </a:rPr>
              <a:t> </a:t>
            </a:r>
            <a:r>
              <a:rPr lang="pt-PT" sz="1100" b="1" cap="all" dirty="0" err="1">
                <a:highlight>
                  <a:srgbClr val="FFFF00"/>
                </a:highlight>
              </a:rPr>
              <a:t>engineering</a:t>
            </a:r>
            <a:endParaRPr lang="pt-PT" sz="1100" dirty="0">
              <a:highlight>
                <a:srgbClr val="FFFF00"/>
              </a:highlight>
            </a:endParaRPr>
          </a:p>
        </p:txBody>
      </p:sp>
      <p:pic>
        <p:nvPicPr>
          <p:cNvPr id="28" name="Imagem 27">
            <a:extLst>
              <a:ext uri="{FF2B5EF4-FFF2-40B4-BE49-F238E27FC236}">
                <a16:creationId xmlns:a16="http://schemas.microsoft.com/office/drawing/2014/main" id="{BC0DA002-1D3A-41DC-B132-1A198053902D}"/>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575316" y="9186"/>
            <a:ext cx="2575034" cy="639880"/>
          </a:xfrm>
          <a:prstGeom prst="rect">
            <a:avLst/>
          </a:prstGeom>
        </p:spPr>
      </p:pic>
      <p:sp>
        <p:nvSpPr>
          <p:cNvPr id="2" name="Subtítulo 2">
            <a:extLst>
              <a:ext uri="{FF2B5EF4-FFF2-40B4-BE49-F238E27FC236}">
                <a16:creationId xmlns:a16="http://schemas.microsoft.com/office/drawing/2014/main" id="{875FC6AD-B9CF-67E2-93DA-5D73C5A15758}"/>
              </a:ext>
            </a:extLst>
          </p:cNvPr>
          <p:cNvSpPr txBox="1">
            <a:spLocks/>
          </p:cNvSpPr>
          <p:nvPr/>
        </p:nvSpPr>
        <p:spPr>
          <a:xfrm>
            <a:off x="836017" y="6524516"/>
            <a:ext cx="7698382" cy="162409"/>
          </a:xfrm>
          <a:prstGeom prst="rect">
            <a:avLst/>
          </a:prstGeom>
        </p:spPr>
        <p:txBody>
          <a:bodyPr vert="horz" lIns="68580" tIns="34290" rIns="68580" bIns="3429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pt-PT" sz="900" dirty="0">
                <a:latin typeface="Arial" charset="0"/>
                <a:ea typeface="Arial" charset="0"/>
                <a:cs typeface="Arial" charset="0"/>
              </a:rPr>
              <a:t>@Diogo Monteiro - 32428, Gonçalo Teixeira - 31396 | </a:t>
            </a:r>
            <a:r>
              <a:rPr lang="pt-PT" sz="900" b="1" dirty="0">
                <a:solidFill>
                  <a:srgbClr val="C00000"/>
                </a:solidFill>
                <a:latin typeface="Arial" charset="0"/>
                <a:ea typeface="Arial" charset="0"/>
                <a:cs typeface="Arial" charset="0"/>
              </a:rPr>
              <a:t>Unidade Curricular: Projeto III </a:t>
            </a:r>
            <a:r>
              <a:rPr lang="pt-PT" sz="900" dirty="0">
                <a:latin typeface="Arial" charset="0"/>
                <a:ea typeface="Arial" charset="0"/>
                <a:cs typeface="Arial" charset="0"/>
              </a:rPr>
              <a:t>– Ano Letivo 2024/2025 – </a:t>
            </a:r>
            <a:r>
              <a:rPr lang="pt-PT" sz="900" b="1" dirty="0">
                <a:latin typeface="Arial" charset="0"/>
                <a:ea typeface="Arial" charset="0"/>
                <a:cs typeface="Arial" charset="0"/>
              </a:rPr>
              <a:t>MCZ03</a:t>
            </a:r>
          </a:p>
        </p:txBody>
      </p:sp>
    </p:spTree>
    <p:extLst>
      <p:ext uri="{BB962C8B-B14F-4D97-AF65-F5344CB8AC3E}">
        <p14:creationId xmlns:p14="http://schemas.microsoft.com/office/powerpoint/2010/main" val="15909494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m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Subtítulo 2"/>
          <p:cNvSpPr>
            <a:spLocks noGrp="1"/>
          </p:cNvSpPr>
          <p:nvPr>
            <p:ph type="subTitle" idx="1"/>
          </p:nvPr>
        </p:nvSpPr>
        <p:spPr>
          <a:xfrm>
            <a:off x="2000250" y="5867400"/>
            <a:ext cx="5143500" cy="489738"/>
          </a:xfrm>
        </p:spPr>
        <p:txBody>
          <a:bodyPr>
            <a:normAutofit/>
          </a:bodyPr>
          <a:lstStyle/>
          <a:p>
            <a:r>
              <a:rPr lang="pt-PT" sz="1500" dirty="0" err="1">
                <a:solidFill>
                  <a:schemeClr val="bg1"/>
                </a:solidFill>
                <a:latin typeface="Arial" charset="0"/>
                <a:ea typeface="Arial" charset="0"/>
                <a:cs typeface="Arial" charset="0"/>
              </a:rPr>
              <a:t>www.ipvc.pt</a:t>
            </a:r>
            <a:endParaRPr lang="pt-PT" sz="1500" dirty="0">
              <a:solidFill>
                <a:schemeClr val="bg1"/>
              </a:solidFill>
              <a:latin typeface="Arial" charset="0"/>
              <a:ea typeface="Arial" charset="0"/>
              <a:cs typeface="Arial" charset="0"/>
            </a:endParaRPr>
          </a:p>
        </p:txBody>
      </p:sp>
      <p:sp>
        <p:nvSpPr>
          <p:cNvPr id="5" name="Título 1">
            <a:extLst>
              <a:ext uri="{FF2B5EF4-FFF2-40B4-BE49-F238E27FC236}">
                <a16:creationId xmlns:a16="http://schemas.microsoft.com/office/drawing/2014/main" id="{DD769FFC-20AF-190F-F337-FF5108527C2F}"/>
              </a:ext>
            </a:extLst>
          </p:cNvPr>
          <p:cNvSpPr>
            <a:spLocks noGrp="1"/>
          </p:cNvSpPr>
          <p:nvPr>
            <p:ph type="ctrTitle"/>
          </p:nvPr>
        </p:nvSpPr>
        <p:spPr>
          <a:xfrm>
            <a:off x="1828800" y="3429000"/>
            <a:ext cx="5486400" cy="552329"/>
          </a:xfrm>
        </p:spPr>
        <p:txBody>
          <a:bodyPr>
            <a:normAutofit/>
          </a:bodyPr>
          <a:lstStyle/>
          <a:p>
            <a:r>
              <a:rPr lang="pt-PT" sz="2500" b="1" dirty="0">
                <a:solidFill>
                  <a:schemeClr val="bg1"/>
                </a:solidFill>
                <a:latin typeface="Arial" charset="0"/>
                <a:ea typeface="Arial" charset="0"/>
                <a:cs typeface="Arial" charset="0"/>
              </a:rPr>
              <a:t>Ponto Controlo 1</a:t>
            </a:r>
          </a:p>
        </p:txBody>
      </p:sp>
    </p:spTree>
    <p:extLst>
      <p:ext uri="{BB962C8B-B14F-4D97-AF65-F5344CB8AC3E}">
        <p14:creationId xmlns:p14="http://schemas.microsoft.com/office/powerpoint/2010/main" val="9472599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6719D-8348-6323-5FC2-56E2E7CA3CFE}"/>
            </a:ext>
          </a:extLst>
        </p:cNvPr>
        <p:cNvGrpSpPr/>
        <p:nvPr/>
      </p:nvGrpSpPr>
      <p:grpSpPr>
        <a:xfrm>
          <a:off x="0" y="0"/>
          <a:ext cx="0" cy="0"/>
          <a:chOff x="0" y="0"/>
          <a:chExt cx="0" cy="0"/>
        </a:xfrm>
      </p:grpSpPr>
      <p:sp>
        <p:nvSpPr>
          <p:cNvPr id="10243" name="Text Box 10">
            <a:extLst>
              <a:ext uri="{FF2B5EF4-FFF2-40B4-BE49-F238E27FC236}">
                <a16:creationId xmlns:a16="http://schemas.microsoft.com/office/drawing/2014/main" id="{7F83D815-FC1C-EDFA-1999-8AED735C5562}"/>
              </a:ext>
            </a:extLst>
          </p:cNvPr>
          <p:cNvSpPr txBox="1">
            <a:spLocks noChangeArrowheads="1"/>
          </p:cNvSpPr>
          <p:nvPr/>
        </p:nvSpPr>
        <p:spPr bwMode="auto">
          <a:xfrm>
            <a:off x="8288338" y="6296025"/>
            <a:ext cx="827087" cy="366713"/>
          </a:xfrm>
          <a:prstGeom prst="rect">
            <a:avLst/>
          </a:prstGeom>
          <a:noFill/>
          <a:ln w="9525">
            <a:noFill/>
            <a:miter lim="800000"/>
            <a:headEnd/>
            <a:tailEnd/>
          </a:ln>
        </p:spPr>
        <p:txBody>
          <a:bodyPr>
            <a:spAutoFit/>
          </a:bodyPr>
          <a:lstStyle/>
          <a:p>
            <a:pPr>
              <a:spcBef>
                <a:spcPct val="50000"/>
              </a:spcBef>
            </a:pPr>
            <a:endParaRPr lang="pt-PT"/>
          </a:p>
        </p:txBody>
      </p:sp>
      <p:sp>
        <p:nvSpPr>
          <p:cNvPr id="10244" name="Rectangle 11">
            <a:extLst>
              <a:ext uri="{FF2B5EF4-FFF2-40B4-BE49-F238E27FC236}">
                <a16:creationId xmlns:a16="http://schemas.microsoft.com/office/drawing/2014/main" id="{210C4D97-80C0-20FA-4572-1EE47659CD7A}"/>
              </a:ext>
            </a:extLst>
          </p:cNvPr>
          <p:cNvSpPr>
            <a:spLocks noChangeArrowheads="1"/>
          </p:cNvSpPr>
          <p:nvPr/>
        </p:nvSpPr>
        <p:spPr bwMode="auto">
          <a:xfrm>
            <a:off x="8327571" y="6496091"/>
            <a:ext cx="936625" cy="260350"/>
          </a:xfrm>
          <a:prstGeom prst="rect">
            <a:avLst/>
          </a:prstGeom>
          <a:noFill/>
          <a:ln w="9525">
            <a:noFill/>
            <a:miter lim="800000"/>
            <a:headEnd/>
            <a:tailEnd/>
          </a:ln>
        </p:spPr>
        <p:txBody>
          <a:bodyPr anchor="ctr"/>
          <a:lstStyle/>
          <a:p>
            <a:pPr algn="ctr"/>
            <a:r>
              <a:rPr lang="pt-PT" sz="1000" dirty="0"/>
              <a:t>- </a:t>
            </a:r>
            <a:fld id="{1234D2FF-8FB9-47A1-B8C9-42A5F500BA2F}" type="slidenum">
              <a:rPr lang="pt-PT" sz="1000"/>
              <a:pPr algn="ctr"/>
              <a:t>14</a:t>
            </a:fld>
            <a:r>
              <a:rPr lang="pt-PT" sz="1000" dirty="0"/>
              <a:t> -</a:t>
            </a:r>
          </a:p>
        </p:txBody>
      </p:sp>
      <p:sp>
        <p:nvSpPr>
          <p:cNvPr id="9229" name="Text Box 13">
            <a:extLst>
              <a:ext uri="{FF2B5EF4-FFF2-40B4-BE49-F238E27FC236}">
                <a16:creationId xmlns:a16="http://schemas.microsoft.com/office/drawing/2014/main" id="{6DC7570E-EF6E-AB39-8AC1-A94A64411F76}"/>
              </a:ext>
            </a:extLst>
          </p:cNvPr>
          <p:cNvSpPr txBox="1">
            <a:spLocks noChangeArrowheads="1"/>
          </p:cNvSpPr>
          <p:nvPr/>
        </p:nvSpPr>
        <p:spPr bwMode="auto">
          <a:xfrm>
            <a:off x="306388" y="557213"/>
            <a:ext cx="6981825" cy="400050"/>
          </a:xfrm>
          <a:prstGeom prst="rect">
            <a:avLst/>
          </a:prstGeom>
          <a:noFill/>
          <a:ln w="9525">
            <a:noFill/>
            <a:miter lim="800000"/>
            <a:headEnd/>
            <a:tailEnd/>
          </a:ln>
          <a:effectLst/>
        </p:spPr>
        <p:txBody>
          <a:bodyPr>
            <a:spAutoFit/>
          </a:bodyPr>
          <a:lstStyle/>
          <a:p>
            <a:pPr>
              <a:spcBef>
                <a:spcPct val="50000"/>
              </a:spcBef>
              <a:defRPr/>
            </a:pPr>
            <a:r>
              <a:rPr lang="pt-PT" sz="2000" b="1" dirty="0">
                <a:solidFill>
                  <a:srgbClr val="C00000"/>
                </a:solidFill>
                <a:effectLst>
                  <a:outerShdw blurRad="38100" dist="38100" dir="2700000" algn="tl">
                    <a:srgbClr val="C0C0C0"/>
                  </a:outerShdw>
                </a:effectLst>
                <a:latin typeface="Arial"/>
                <a:cs typeface="Arial"/>
              </a:rPr>
              <a:t>■</a:t>
            </a:r>
            <a:r>
              <a:rPr lang="pt-PT" sz="2000" b="1" dirty="0">
                <a:effectLst>
                  <a:outerShdw blurRad="38100" dist="38100" dir="2700000" algn="tl">
                    <a:srgbClr val="C0C0C0"/>
                  </a:outerShdw>
                </a:effectLst>
                <a:latin typeface="Arial"/>
                <a:cs typeface="Arial"/>
              </a:rPr>
              <a:t> Summary</a:t>
            </a:r>
            <a:endParaRPr lang="pt-PT" sz="2000" b="1" dirty="0">
              <a:effectLst>
                <a:outerShdw blurRad="38100" dist="38100" dir="2700000" algn="tl">
                  <a:srgbClr val="C0C0C0"/>
                </a:outerShdw>
              </a:effectLst>
              <a:latin typeface="Arial" charset="0"/>
            </a:endParaRPr>
          </a:p>
        </p:txBody>
      </p:sp>
      <p:sp>
        <p:nvSpPr>
          <p:cNvPr id="10247" name="Line 15">
            <a:extLst>
              <a:ext uri="{FF2B5EF4-FFF2-40B4-BE49-F238E27FC236}">
                <a16:creationId xmlns:a16="http://schemas.microsoft.com/office/drawing/2014/main" id="{993E83CF-71A2-2870-655A-57D8DE1954F0}"/>
              </a:ext>
            </a:extLst>
          </p:cNvPr>
          <p:cNvSpPr>
            <a:spLocks noChangeShapeType="1"/>
          </p:cNvSpPr>
          <p:nvPr/>
        </p:nvSpPr>
        <p:spPr bwMode="auto">
          <a:xfrm>
            <a:off x="250825" y="0"/>
            <a:ext cx="0" cy="765175"/>
          </a:xfrm>
          <a:prstGeom prst="line">
            <a:avLst/>
          </a:prstGeom>
          <a:noFill/>
          <a:ln w="25400">
            <a:solidFill>
              <a:schemeClr val="tx1"/>
            </a:solidFill>
            <a:round/>
            <a:headEnd/>
            <a:tailEnd/>
          </a:ln>
        </p:spPr>
        <p:txBody>
          <a:bodyPr/>
          <a:lstStyle/>
          <a:p>
            <a:endParaRPr lang="pt-PT"/>
          </a:p>
        </p:txBody>
      </p:sp>
      <p:sp>
        <p:nvSpPr>
          <p:cNvPr id="9237" name="Text Box 21">
            <a:extLst>
              <a:ext uri="{FF2B5EF4-FFF2-40B4-BE49-F238E27FC236}">
                <a16:creationId xmlns:a16="http://schemas.microsoft.com/office/drawing/2014/main" id="{ACF841FE-6C15-D3EE-24A0-CD39A4ED548F}"/>
              </a:ext>
            </a:extLst>
          </p:cNvPr>
          <p:cNvSpPr txBox="1">
            <a:spLocks noChangeArrowheads="1"/>
          </p:cNvSpPr>
          <p:nvPr/>
        </p:nvSpPr>
        <p:spPr bwMode="auto">
          <a:xfrm>
            <a:off x="260350" y="44450"/>
            <a:ext cx="6981825" cy="304800"/>
          </a:xfrm>
          <a:prstGeom prst="rect">
            <a:avLst/>
          </a:prstGeom>
          <a:noFill/>
          <a:ln w="9525">
            <a:noFill/>
            <a:miter lim="800000"/>
            <a:headEnd/>
            <a:tailEnd/>
          </a:ln>
          <a:effectLst/>
        </p:spPr>
        <p:txBody>
          <a:bodyPr>
            <a:spAutoFit/>
          </a:bodyPr>
          <a:lstStyle/>
          <a:p>
            <a:pPr>
              <a:spcBef>
                <a:spcPct val="50000"/>
              </a:spcBef>
              <a:defRPr/>
            </a:pPr>
            <a:endParaRPr lang="pt-PT" sz="1400" b="1" dirty="0">
              <a:solidFill>
                <a:srgbClr val="FF3300"/>
              </a:solidFill>
              <a:effectLst>
                <a:outerShdw blurRad="38100" dist="38100" dir="2700000" algn="tl">
                  <a:srgbClr val="C0C0C0"/>
                </a:outerShdw>
              </a:effectLst>
              <a:latin typeface="Arial" charset="0"/>
            </a:endParaRPr>
          </a:p>
        </p:txBody>
      </p:sp>
      <p:sp>
        <p:nvSpPr>
          <p:cNvPr id="19" name="Marcador de Posição de Conteúdo 2">
            <a:extLst>
              <a:ext uri="{FF2B5EF4-FFF2-40B4-BE49-F238E27FC236}">
                <a16:creationId xmlns:a16="http://schemas.microsoft.com/office/drawing/2014/main" id="{3215EB15-A943-18EE-2D9E-5C0BC44AF814}"/>
              </a:ext>
            </a:extLst>
          </p:cNvPr>
          <p:cNvSpPr txBox="1">
            <a:spLocks/>
          </p:cNvSpPr>
          <p:nvPr/>
        </p:nvSpPr>
        <p:spPr>
          <a:xfrm>
            <a:off x="457200" y="1219200"/>
            <a:ext cx="8229600" cy="4937760"/>
          </a:xfrm>
          <a:prstGeom prst="rect">
            <a:avLst/>
          </a:prstGeom>
        </p:spPr>
        <p:txBody>
          <a:bodyPr vert="horz" lIns="91440" tIns="45720" rIns="91440" bIns="45720" rtlCol="0">
            <a:normAutofit/>
          </a:bodyPr>
          <a:lstStyle/>
          <a:p>
            <a:pPr>
              <a:lnSpc>
                <a:spcPct val="150000"/>
              </a:lnSpc>
            </a:pPr>
            <a:r>
              <a:rPr lang="pt-PT" dirty="0">
                <a:latin typeface="Arial" pitchFamily="34" charset="0"/>
                <a:cs typeface="Arial" pitchFamily="34" charset="0"/>
              </a:rPr>
              <a:t>1. </a:t>
            </a:r>
            <a:r>
              <a:rPr lang="pt-PT" dirty="0" err="1">
                <a:latin typeface="Arial" pitchFamily="34" charset="0"/>
                <a:cs typeface="Arial" pitchFamily="34" charset="0"/>
              </a:rPr>
              <a:t>Introduction</a:t>
            </a:r>
            <a:r>
              <a:rPr lang="pt-PT" dirty="0">
                <a:latin typeface="Arial" pitchFamily="34" charset="0"/>
                <a:cs typeface="Arial" pitchFamily="34" charset="0"/>
              </a:rPr>
              <a:t> </a:t>
            </a:r>
            <a:r>
              <a:rPr lang="pt-PT" dirty="0" err="1">
                <a:latin typeface="Arial" pitchFamily="34" charset="0"/>
                <a:cs typeface="Arial" pitchFamily="34" charset="0"/>
              </a:rPr>
              <a:t>and</a:t>
            </a:r>
            <a:r>
              <a:rPr lang="pt-PT" dirty="0">
                <a:latin typeface="Arial" pitchFamily="34" charset="0"/>
                <a:cs typeface="Arial" pitchFamily="34" charset="0"/>
              </a:rPr>
              <a:t> </a:t>
            </a:r>
            <a:r>
              <a:rPr lang="pt-PT" dirty="0" err="1">
                <a:latin typeface="Arial" pitchFamily="34" charset="0"/>
                <a:cs typeface="Arial" pitchFamily="34" charset="0"/>
              </a:rPr>
              <a:t>Objectives</a:t>
            </a:r>
            <a:endParaRPr lang="en-US" dirty="0">
              <a:latin typeface="Arial" pitchFamily="34" charset="0"/>
              <a:cs typeface="Arial" pitchFamily="34" charset="0"/>
            </a:endParaRPr>
          </a:p>
          <a:p>
            <a:pPr>
              <a:lnSpc>
                <a:spcPct val="150000"/>
              </a:lnSpc>
            </a:pPr>
            <a:r>
              <a:rPr lang="en-US" dirty="0">
                <a:latin typeface="Arial" pitchFamily="34" charset="0"/>
                <a:cs typeface="Arial" pitchFamily="34" charset="0"/>
              </a:rPr>
              <a:t>2. Model Development and Training</a:t>
            </a:r>
          </a:p>
          <a:p>
            <a:pPr>
              <a:lnSpc>
                <a:spcPct val="150000"/>
              </a:lnSpc>
            </a:pPr>
            <a:r>
              <a:rPr lang="en-US" dirty="0">
                <a:latin typeface="Arial" pitchFamily="34" charset="0"/>
                <a:cs typeface="Arial" pitchFamily="34" charset="0"/>
              </a:rPr>
              <a:t>3. Training Results and Performance</a:t>
            </a:r>
          </a:p>
          <a:p>
            <a:pPr>
              <a:lnSpc>
                <a:spcPct val="150000"/>
              </a:lnSpc>
            </a:pPr>
            <a:r>
              <a:rPr lang="en-US" dirty="0">
                <a:latin typeface="Arial" pitchFamily="34" charset="0"/>
                <a:cs typeface="Arial" pitchFamily="34" charset="0"/>
              </a:rPr>
              <a:t>4. Model Testing with New Images</a:t>
            </a:r>
          </a:p>
          <a:p>
            <a:pPr>
              <a:lnSpc>
                <a:spcPct val="150000"/>
              </a:lnSpc>
            </a:pPr>
            <a:r>
              <a:rPr lang="en-US" dirty="0">
                <a:latin typeface="Arial" pitchFamily="34" charset="0"/>
                <a:cs typeface="Arial" pitchFamily="34" charset="0"/>
              </a:rPr>
              <a:t>5. Conclusion and Future Work</a:t>
            </a:r>
          </a:p>
          <a:p>
            <a:pPr>
              <a:lnSpc>
                <a:spcPct val="150000"/>
              </a:lnSpc>
            </a:pPr>
            <a:r>
              <a:rPr lang="en-US" dirty="0">
                <a:latin typeface="Arial" pitchFamily="34" charset="0"/>
                <a:cs typeface="Arial" pitchFamily="34" charset="0"/>
              </a:rPr>
              <a:t>6. Bibliography and Web References </a:t>
            </a:r>
          </a:p>
          <a:p>
            <a:pPr>
              <a:lnSpc>
                <a:spcPct val="200000"/>
              </a:lnSpc>
              <a:spcBef>
                <a:spcPct val="20000"/>
              </a:spcBef>
            </a:pPr>
            <a:endParaRPr lang="pt-PT" sz="2000" dirty="0">
              <a:latin typeface="Arial" pitchFamily="34" charset="0"/>
              <a:cs typeface="Arial" pitchFamily="34" charset="0"/>
            </a:endParaRPr>
          </a:p>
          <a:p>
            <a:pPr lvl="0">
              <a:lnSpc>
                <a:spcPct val="200000"/>
              </a:lnSpc>
              <a:spcBef>
                <a:spcPct val="20000"/>
              </a:spcBef>
            </a:pPr>
            <a:endParaRPr kumimoji="0" lang="pt-PT" sz="2000" b="0" i="0" u="none" strike="noStrike" kern="1200" cap="none" spc="0" normalizeH="0" baseline="0" noProof="0" dirty="0">
              <a:ln>
                <a:noFill/>
              </a:ln>
              <a:effectLst/>
              <a:uLnTx/>
              <a:uFillTx/>
              <a:latin typeface="Arial" pitchFamily="34" charset="0"/>
              <a:cs typeface="Arial" pitchFamily="34" charset="0"/>
            </a:endParaRPr>
          </a:p>
          <a:p>
            <a:pPr marL="457200" marR="0" lvl="1" indent="0" defTabSz="914400" rtl="0" eaLnBrk="1" fontAlgn="auto" latinLnBrk="0" hangingPunct="1">
              <a:lnSpc>
                <a:spcPct val="200000"/>
              </a:lnSpc>
              <a:spcBef>
                <a:spcPct val="20000"/>
              </a:spcBef>
              <a:spcAft>
                <a:spcPts val="0"/>
              </a:spcAft>
              <a:buClrTx/>
              <a:buSzTx/>
              <a:buFont typeface="Arial" pitchFamily="34" charset="0"/>
              <a:buNone/>
              <a:tabLst/>
              <a:defRPr/>
            </a:pPr>
            <a:endParaRPr kumimoji="0" lang="pt-PT" sz="2000" b="0" i="0" u="none" strike="noStrike" kern="1200" cap="none" spc="0" normalizeH="0" baseline="0" noProof="0" dirty="0">
              <a:ln>
                <a:noFill/>
              </a:ln>
              <a:effectLst/>
              <a:uLnTx/>
              <a:uFillTx/>
              <a:latin typeface="Arial" pitchFamily="34" charset="0"/>
              <a:cs typeface="Arial" pitchFamily="34" charset="0"/>
            </a:endParaRPr>
          </a:p>
          <a:p>
            <a:pPr marL="457200" marR="0" lvl="1" indent="0" defTabSz="914400" rtl="0" eaLnBrk="1" fontAlgn="auto" latinLnBrk="0" hangingPunct="1">
              <a:lnSpc>
                <a:spcPct val="200000"/>
              </a:lnSpc>
              <a:spcBef>
                <a:spcPct val="20000"/>
              </a:spcBef>
              <a:spcAft>
                <a:spcPts val="0"/>
              </a:spcAft>
              <a:buClrTx/>
              <a:buSzTx/>
              <a:buFont typeface="Arial" pitchFamily="34" charset="0"/>
              <a:buNone/>
              <a:tabLst/>
              <a:defRPr/>
            </a:pPr>
            <a:endParaRPr kumimoji="0" lang="pt-PT" sz="2000" b="0" i="0" u="none" strike="noStrike" kern="1200" cap="none" spc="0" normalizeH="0" baseline="0" noProof="0" dirty="0">
              <a:ln>
                <a:noFill/>
              </a:ln>
              <a:effectLst/>
              <a:uLnTx/>
              <a:uFillTx/>
              <a:latin typeface="Arial" pitchFamily="34" charset="0"/>
              <a:cs typeface="Arial" pitchFamily="34" charset="0"/>
            </a:endParaRPr>
          </a:p>
          <a:p>
            <a:pPr marL="0" marR="0" lvl="0" indent="0" defTabSz="914400" rtl="0" eaLnBrk="1" fontAlgn="auto" latinLnBrk="0" hangingPunct="1">
              <a:lnSpc>
                <a:spcPct val="200000"/>
              </a:lnSpc>
              <a:spcBef>
                <a:spcPct val="20000"/>
              </a:spcBef>
              <a:spcAft>
                <a:spcPts val="0"/>
              </a:spcAft>
              <a:buClrTx/>
              <a:buSzTx/>
              <a:buFont typeface="Arial" pitchFamily="34" charset="0"/>
              <a:buNone/>
              <a:tabLst/>
              <a:defRPr/>
            </a:pPr>
            <a:endParaRPr kumimoji="0" lang="pt-PT" sz="2000" b="0" i="0" u="none" strike="noStrike" kern="1200" cap="none" spc="0" normalizeH="0" baseline="0" noProof="0" dirty="0">
              <a:ln>
                <a:noFill/>
              </a:ln>
              <a:effectLst/>
              <a:uLnTx/>
              <a:uFillTx/>
              <a:latin typeface="Arial" pitchFamily="34" charset="0"/>
              <a:cs typeface="Arial" pitchFamily="34" charset="0"/>
            </a:endParaRPr>
          </a:p>
          <a:p>
            <a:pPr marL="0" marR="0" lvl="0" indent="0" defTabSz="914400" rtl="0" eaLnBrk="1" fontAlgn="auto" latinLnBrk="0" hangingPunct="1">
              <a:lnSpc>
                <a:spcPct val="200000"/>
              </a:lnSpc>
              <a:spcBef>
                <a:spcPct val="20000"/>
              </a:spcBef>
              <a:spcAft>
                <a:spcPts val="0"/>
              </a:spcAft>
              <a:buClrTx/>
              <a:buSzTx/>
              <a:buFont typeface="Arial" pitchFamily="34" charset="0"/>
              <a:buNone/>
              <a:tabLst/>
              <a:defRPr/>
            </a:pPr>
            <a:endParaRPr kumimoji="0" lang="pt-PT" sz="2000" b="0" i="0" u="none" strike="noStrike" kern="1200" cap="none" spc="0" normalizeH="0" baseline="0" noProof="0" dirty="0">
              <a:ln>
                <a:noFill/>
              </a:ln>
              <a:effectLst/>
              <a:uLnTx/>
              <a:uFillTx/>
              <a:latin typeface="Arial" pitchFamily="34" charset="0"/>
              <a:cs typeface="Arial" pitchFamily="34" charset="0"/>
            </a:endParaRPr>
          </a:p>
          <a:p>
            <a:pPr marL="0" marR="0" lvl="0" indent="0" defTabSz="914400" rtl="0" eaLnBrk="1" fontAlgn="auto" latinLnBrk="0" hangingPunct="1">
              <a:lnSpc>
                <a:spcPct val="200000"/>
              </a:lnSpc>
              <a:spcBef>
                <a:spcPct val="20000"/>
              </a:spcBef>
              <a:spcAft>
                <a:spcPts val="0"/>
              </a:spcAft>
              <a:buClrTx/>
              <a:buSzTx/>
              <a:buFont typeface="Arial" pitchFamily="34" charset="0"/>
              <a:buNone/>
              <a:tabLst/>
              <a:defRPr/>
            </a:pPr>
            <a:endParaRPr kumimoji="0" lang="pt-PT" sz="2000" b="0" i="0" u="none" strike="noStrike" kern="1200" cap="none" spc="0" normalizeH="0" baseline="0" noProof="0" dirty="0">
              <a:ln>
                <a:noFill/>
              </a:ln>
              <a:effectLst/>
              <a:uLnTx/>
              <a:uFillTx/>
              <a:latin typeface="Arial" pitchFamily="34" charset="0"/>
              <a:cs typeface="Arial" pitchFamily="34" charset="0"/>
            </a:endParaRPr>
          </a:p>
        </p:txBody>
      </p:sp>
      <p:pic>
        <p:nvPicPr>
          <p:cNvPr id="7" name="Imagem 6">
            <a:extLst>
              <a:ext uri="{FF2B5EF4-FFF2-40B4-BE49-F238E27FC236}">
                <a16:creationId xmlns:a16="http://schemas.microsoft.com/office/drawing/2014/main" id="{F886EB77-71EC-86D5-D78C-B1A1EF90F843}"/>
              </a:ext>
            </a:extLst>
          </p:cNvPr>
          <p:cNvPicPr>
            <a:picLocks noChangeAspect="1"/>
          </p:cNvPicPr>
          <p:nvPr/>
        </p:nvPicPr>
        <p:blipFill>
          <a:blip r:embed="rId3"/>
          <a:stretch>
            <a:fillRect/>
          </a:stretch>
        </p:blipFill>
        <p:spPr>
          <a:xfrm>
            <a:off x="101225" y="904241"/>
            <a:ext cx="9014192" cy="266482"/>
          </a:xfrm>
          <a:prstGeom prst="rect">
            <a:avLst/>
          </a:prstGeom>
        </p:spPr>
      </p:pic>
      <p:pic>
        <p:nvPicPr>
          <p:cNvPr id="9" name="Imagem 8">
            <a:extLst>
              <a:ext uri="{FF2B5EF4-FFF2-40B4-BE49-F238E27FC236}">
                <a16:creationId xmlns:a16="http://schemas.microsoft.com/office/drawing/2014/main" id="{D044D1C2-9CBF-ED8F-26F4-D15DC1280D51}"/>
              </a:ext>
            </a:extLst>
          </p:cNvPr>
          <p:cNvPicPr>
            <a:picLocks noChangeAspect="1"/>
          </p:cNvPicPr>
          <p:nvPr/>
        </p:nvPicPr>
        <p:blipFill>
          <a:blip r:embed="rId4"/>
          <a:stretch>
            <a:fillRect/>
          </a:stretch>
        </p:blipFill>
        <p:spPr>
          <a:xfrm>
            <a:off x="0" y="6320212"/>
            <a:ext cx="9144000" cy="253252"/>
          </a:xfrm>
          <a:prstGeom prst="rect">
            <a:avLst/>
          </a:prstGeom>
        </p:spPr>
      </p:pic>
      <p:sp>
        <p:nvSpPr>
          <p:cNvPr id="22" name="Subtítulo 2">
            <a:extLst>
              <a:ext uri="{FF2B5EF4-FFF2-40B4-BE49-F238E27FC236}">
                <a16:creationId xmlns:a16="http://schemas.microsoft.com/office/drawing/2014/main" id="{27B1196D-7901-D25E-21EF-72E350CAE3CD}"/>
              </a:ext>
            </a:extLst>
          </p:cNvPr>
          <p:cNvSpPr txBox="1">
            <a:spLocks/>
          </p:cNvSpPr>
          <p:nvPr/>
        </p:nvSpPr>
        <p:spPr>
          <a:xfrm>
            <a:off x="836017" y="6524516"/>
            <a:ext cx="7698382" cy="162409"/>
          </a:xfrm>
          <a:prstGeom prst="rect">
            <a:avLst/>
          </a:prstGeom>
        </p:spPr>
        <p:txBody>
          <a:bodyPr vert="horz" lIns="68580" tIns="34290" rIns="68580" bIns="3429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pt-PT" sz="900" dirty="0">
                <a:latin typeface="Arial" charset="0"/>
                <a:ea typeface="Arial" charset="0"/>
                <a:cs typeface="Arial" charset="0"/>
              </a:rPr>
              <a:t>@Diogo Monteiro - 32428, Gonçalo Teixeira - 31396 | </a:t>
            </a:r>
            <a:r>
              <a:rPr lang="pt-PT" sz="900" b="1" dirty="0">
                <a:solidFill>
                  <a:srgbClr val="C00000"/>
                </a:solidFill>
                <a:latin typeface="Arial" charset="0"/>
                <a:ea typeface="Arial" charset="0"/>
                <a:cs typeface="Arial" charset="0"/>
              </a:rPr>
              <a:t>Unidade Curricular: Projeto III </a:t>
            </a:r>
            <a:r>
              <a:rPr lang="pt-PT" sz="900" dirty="0">
                <a:latin typeface="Arial" charset="0"/>
                <a:ea typeface="Arial" charset="0"/>
                <a:cs typeface="Arial" charset="0"/>
              </a:rPr>
              <a:t>– Ano Letivo 2024/2025 – </a:t>
            </a:r>
            <a:r>
              <a:rPr lang="pt-PT" sz="900" b="1" dirty="0">
                <a:latin typeface="Arial" charset="0"/>
                <a:ea typeface="Arial" charset="0"/>
                <a:cs typeface="Arial" charset="0"/>
              </a:rPr>
              <a:t>MCZ03</a:t>
            </a:r>
          </a:p>
        </p:txBody>
      </p:sp>
      <p:pic>
        <p:nvPicPr>
          <p:cNvPr id="13" name="Imagem 12">
            <a:extLst>
              <a:ext uri="{FF2B5EF4-FFF2-40B4-BE49-F238E27FC236}">
                <a16:creationId xmlns:a16="http://schemas.microsoft.com/office/drawing/2014/main" id="{E7FCACA5-5FD5-63BE-4C4F-9583554F931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8125" y="6488336"/>
            <a:ext cx="545959" cy="199802"/>
          </a:xfrm>
          <a:prstGeom prst="rect">
            <a:avLst/>
          </a:prstGeom>
        </p:spPr>
      </p:pic>
      <p:sp>
        <p:nvSpPr>
          <p:cNvPr id="3" name="Rectângulo 19">
            <a:extLst>
              <a:ext uri="{FF2B5EF4-FFF2-40B4-BE49-F238E27FC236}">
                <a16:creationId xmlns:a16="http://schemas.microsoft.com/office/drawing/2014/main" id="{AF042175-5A17-D685-2FD8-CD285C29B9BE}"/>
              </a:ext>
            </a:extLst>
          </p:cNvPr>
          <p:cNvSpPr/>
          <p:nvPr/>
        </p:nvSpPr>
        <p:spPr>
          <a:xfrm>
            <a:off x="5535613" y="553019"/>
            <a:ext cx="3505200" cy="261610"/>
          </a:xfrm>
          <a:prstGeom prst="rect">
            <a:avLst/>
          </a:prstGeom>
        </p:spPr>
        <p:txBody>
          <a:bodyPr wrap="square">
            <a:spAutoFit/>
          </a:bodyPr>
          <a:lstStyle/>
          <a:p>
            <a:pPr algn="r"/>
            <a:r>
              <a:rPr lang="pt-PT" sz="1100" b="1" cap="all" dirty="0" err="1">
                <a:highlight>
                  <a:srgbClr val="FFFF00"/>
                </a:highlight>
              </a:rPr>
              <a:t>Graduation</a:t>
            </a:r>
            <a:r>
              <a:rPr lang="pt-PT" sz="1100" b="1" cap="all" dirty="0">
                <a:highlight>
                  <a:srgbClr val="FFFF00"/>
                </a:highlight>
              </a:rPr>
              <a:t> in </a:t>
            </a:r>
            <a:r>
              <a:rPr lang="pt-PT" sz="1100" b="1" cap="all" dirty="0" err="1">
                <a:highlight>
                  <a:srgbClr val="FFFF00"/>
                </a:highlight>
              </a:rPr>
              <a:t>Informatics</a:t>
            </a:r>
            <a:r>
              <a:rPr lang="pt-PT" sz="1100" b="1" cap="all" dirty="0">
                <a:highlight>
                  <a:srgbClr val="FFFF00"/>
                </a:highlight>
              </a:rPr>
              <a:t> </a:t>
            </a:r>
            <a:r>
              <a:rPr lang="pt-PT" sz="1100" b="1" cap="all" dirty="0" err="1">
                <a:highlight>
                  <a:srgbClr val="FFFF00"/>
                </a:highlight>
              </a:rPr>
              <a:t>engineering</a:t>
            </a:r>
            <a:endParaRPr lang="pt-PT" sz="1100" dirty="0">
              <a:highlight>
                <a:srgbClr val="FFFF00"/>
              </a:highlight>
            </a:endParaRPr>
          </a:p>
        </p:txBody>
      </p:sp>
      <p:pic>
        <p:nvPicPr>
          <p:cNvPr id="5" name="Imagem 4">
            <a:extLst>
              <a:ext uri="{FF2B5EF4-FFF2-40B4-BE49-F238E27FC236}">
                <a16:creationId xmlns:a16="http://schemas.microsoft.com/office/drawing/2014/main" id="{E42DACEB-DE58-1528-40EE-61C39477E15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575316" y="9186"/>
            <a:ext cx="2575034" cy="639880"/>
          </a:xfrm>
          <a:prstGeom prst="rect">
            <a:avLst/>
          </a:prstGeom>
        </p:spPr>
      </p:pic>
    </p:spTree>
    <p:extLst>
      <p:ext uri="{BB962C8B-B14F-4D97-AF65-F5344CB8AC3E}">
        <p14:creationId xmlns:p14="http://schemas.microsoft.com/office/powerpoint/2010/main" val="17785490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986AC-B581-41CA-530A-577D392D4D7A}"/>
            </a:ext>
          </a:extLst>
        </p:cNvPr>
        <p:cNvGrpSpPr/>
        <p:nvPr/>
      </p:nvGrpSpPr>
      <p:grpSpPr>
        <a:xfrm>
          <a:off x="0" y="0"/>
          <a:ext cx="0" cy="0"/>
          <a:chOff x="0" y="0"/>
          <a:chExt cx="0" cy="0"/>
        </a:xfrm>
      </p:grpSpPr>
      <p:sp>
        <p:nvSpPr>
          <p:cNvPr id="9229" name="Text Box 13">
            <a:extLst>
              <a:ext uri="{FF2B5EF4-FFF2-40B4-BE49-F238E27FC236}">
                <a16:creationId xmlns:a16="http://schemas.microsoft.com/office/drawing/2014/main" id="{A89AA419-FC79-B4B2-ECBD-43AB7451F7ED}"/>
              </a:ext>
            </a:extLst>
          </p:cNvPr>
          <p:cNvSpPr txBox="1">
            <a:spLocks noChangeArrowheads="1"/>
          </p:cNvSpPr>
          <p:nvPr/>
        </p:nvSpPr>
        <p:spPr bwMode="auto">
          <a:xfrm>
            <a:off x="306388" y="557213"/>
            <a:ext cx="6981825" cy="400050"/>
          </a:xfrm>
          <a:prstGeom prst="rect">
            <a:avLst/>
          </a:prstGeom>
          <a:noFill/>
          <a:ln w="9525">
            <a:noFill/>
            <a:miter lim="800000"/>
            <a:headEnd/>
            <a:tailEnd/>
          </a:ln>
          <a:effectLst/>
        </p:spPr>
        <p:txBody>
          <a:bodyPr>
            <a:spAutoFit/>
          </a:bodyPr>
          <a:lstStyle/>
          <a:p>
            <a:pPr>
              <a:spcBef>
                <a:spcPct val="50000"/>
              </a:spcBef>
              <a:defRPr/>
            </a:pPr>
            <a:r>
              <a:rPr lang="pt-PT" sz="2000" b="1" dirty="0">
                <a:solidFill>
                  <a:srgbClr val="C00000"/>
                </a:solidFill>
                <a:effectLst>
                  <a:outerShdw blurRad="38100" dist="38100" dir="2700000" algn="tl">
                    <a:srgbClr val="C0C0C0"/>
                  </a:outerShdw>
                </a:effectLst>
                <a:latin typeface="Arial"/>
                <a:cs typeface="Arial"/>
              </a:rPr>
              <a:t>■</a:t>
            </a:r>
            <a:r>
              <a:rPr lang="pt-PT" sz="2000" b="1" dirty="0">
                <a:effectLst>
                  <a:outerShdw blurRad="38100" dist="38100" dir="2700000" algn="tl">
                    <a:srgbClr val="C0C0C0"/>
                  </a:outerShdw>
                </a:effectLst>
                <a:latin typeface="Arial"/>
                <a:cs typeface="Arial"/>
              </a:rPr>
              <a:t> 1. </a:t>
            </a:r>
            <a:r>
              <a:rPr lang="pt-PT" sz="2000" b="1" dirty="0" err="1">
                <a:effectLst>
                  <a:outerShdw blurRad="38100" dist="38100" dir="2700000" algn="tl">
                    <a:srgbClr val="C0C0C0"/>
                  </a:outerShdw>
                </a:effectLst>
                <a:latin typeface="Arial" charset="0"/>
              </a:rPr>
              <a:t>Introduction</a:t>
            </a:r>
            <a:r>
              <a:rPr lang="pt-PT" sz="2000" b="1" dirty="0">
                <a:effectLst>
                  <a:outerShdw blurRad="38100" dist="38100" dir="2700000" algn="tl">
                    <a:srgbClr val="C0C0C0"/>
                  </a:outerShdw>
                </a:effectLst>
                <a:latin typeface="Arial" charset="0"/>
              </a:rPr>
              <a:t> </a:t>
            </a:r>
            <a:r>
              <a:rPr lang="pt-PT" sz="2000" b="1" dirty="0" err="1">
                <a:effectLst>
                  <a:outerShdw blurRad="38100" dist="38100" dir="2700000" algn="tl">
                    <a:srgbClr val="C0C0C0"/>
                  </a:outerShdw>
                </a:effectLst>
                <a:latin typeface="Arial" charset="0"/>
              </a:rPr>
              <a:t>and</a:t>
            </a:r>
            <a:r>
              <a:rPr lang="pt-PT" sz="2000" b="1" dirty="0">
                <a:effectLst>
                  <a:outerShdw blurRad="38100" dist="38100" dir="2700000" algn="tl">
                    <a:srgbClr val="C0C0C0"/>
                  </a:outerShdw>
                </a:effectLst>
                <a:latin typeface="Arial" charset="0"/>
              </a:rPr>
              <a:t> </a:t>
            </a:r>
            <a:r>
              <a:rPr lang="pt-PT" sz="2000" b="1" dirty="0" err="1">
                <a:effectLst>
                  <a:outerShdw blurRad="38100" dist="38100" dir="2700000" algn="tl">
                    <a:srgbClr val="C0C0C0"/>
                  </a:outerShdw>
                </a:effectLst>
                <a:latin typeface="Arial" charset="0"/>
              </a:rPr>
              <a:t>Objectives</a:t>
            </a:r>
            <a:endParaRPr lang="pt-PT" sz="2000" b="1" dirty="0">
              <a:effectLst>
                <a:outerShdw blurRad="38100" dist="38100" dir="2700000" algn="tl">
                  <a:srgbClr val="C0C0C0"/>
                </a:outerShdw>
              </a:effectLst>
              <a:latin typeface="Arial" charset="0"/>
            </a:endParaRPr>
          </a:p>
        </p:txBody>
      </p:sp>
      <p:sp>
        <p:nvSpPr>
          <p:cNvPr id="10247" name="Line 15">
            <a:extLst>
              <a:ext uri="{FF2B5EF4-FFF2-40B4-BE49-F238E27FC236}">
                <a16:creationId xmlns:a16="http://schemas.microsoft.com/office/drawing/2014/main" id="{450C3108-3FC3-4D0C-8821-B2CA09D0F904}"/>
              </a:ext>
            </a:extLst>
          </p:cNvPr>
          <p:cNvSpPr>
            <a:spLocks noChangeShapeType="1"/>
          </p:cNvSpPr>
          <p:nvPr/>
        </p:nvSpPr>
        <p:spPr bwMode="auto">
          <a:xfrm>
            <a:off x="250825" y="0"/>
            <a:ext cx="0" cy="765175"/>
          </a:xfrm>
          <a:prstGeom prst="line">
            <a:avLst/>
          </a:prstGeom>
          <a:noFill/>
          <a:ln w="25400">
            <a:solidFill>
              <a:schemeClr val="tx1"/>
            </a:solidFill>
            <a:round/>
            <a:headEnd/>
            <a:tailEnd/>
          </a:ln>
        </p:spPr>
        <p:txBody>
          <a:bodyPr/>
          <a:lstStyle/>
          <a:p>
            <a:endParaRPr lang="pt-PT"/>
          </a:p>
        </p:txBody>
      </p:sp>
      <p:sp>
        <p:nvSpPr>
          <p:cNvPr id="9237" name="Text Box 21">
            <a:extLst>
              <a:ext uri="{FF2B5EF4-FFF2-40B4-BE49-F238E27FC236}">
                <a16:creationId xmlns:a16="http://schemas.microsoft.com/office/drawing/2014/main" id="{26684C3F-76CF-12DE-FE66-CD3AA6CA1FA6}"/>
              </a:ext>
            </a:extLst>
          </p:cNvPr>
          <p:cNvSpPr txBox="1">
            <a:spLocks noChangeArrowheads="1"/>
          </p:cNvSpPr>
          <p:nvPr/>
        </p:nvSpPr>
        <p:spPr bwMode="auto">
          <a:xfrm>
            <a:off x="260350" y="44450"/>
            <a:ext cx="6981825" cy="304800"/>
          </a:xfrm>
          <a:prstGeom prst="rect">
            <a:avLst/>
          </a:prstGeom>
          <a:noFill/>
          <a:ln w="9525">
            <a:noFill/>
            <a:miter lim="800000"/>
            <a:headEnd/>
            <a:tailEnd/>
          </a:ln>
          <a:effectLst/>
        </p:spPr>
        <p:txBody>
          <a:bodyPr>
            <a:spAutoFit/>
          </a:bodyPr>
          <a:lstStyle/>
          <a:p>
            <a:pPr>
              <a:spcBef>
                <a:spcPct val="50000"/>
              </a:spcBef>
              <a:defRPr/>
            </a:pPr>
            <a:endParaRPr lang="pt-PT" sz="1400" b="1" dirty="0">
              <a:solidFill>
                <a:srgbClr val="FF3300"/>
              </a:solidFill>
              <a:effectLst>
                <a:outerShdw blurRad="38100" dist="38100" dir="2700000" algn="tl">
                  <a:srgbClr val="C0C0C0"/>
                </a:outerShdw>
              </a:effectLst>
              <a:latin typeface="Arial" charset="0"/>
            </a:endParaRPr>
          </a:p>
        </p:txBody>
      </p:sp>
      <p:sp>
        <p:nvSpPr>
          <p:cNvPr id="12" name="CaixaDeTexto 11">
            <a:extLst>
              <a:ext uri="{FF2B5EF4-FFF2-40B4-BE49-F238E27FC236}">
                <a16:creationId xmlns:a16="http://schemas.microsoft.com/office/drawing/2014/main" id="{B3C4C53B-8849-73D0-4541-A0996408AB52}"/>
              </a:ext>
            </a:extLst>
          </p:cNvPr>
          <p:cNvSpPr txBox="1"/>
          <p:nvPr/>
        </p:nvSpPr>
        <p:spPr>
          <a:xfrm>
            <a:off x="419100" y="1122339"/>
            <a:ext cx="8305800" cy="5070875"/>
          </a:xfrm>
          <a:prstGeom prst="rect">
            <a:avLst/>
          </a:prstGeom>
          <a:noFill/>
          <a:ln>
            <a:noFill/>
          </a:ln>
        </p:spPr>
        <p:txBody>
          <a:bodyPr wrap="square" rtlCol="0">
            <a:spAutoFit/>
          </a:bodyPr>
          <a:lstStyle/>
          <a:p>
            <a:pPr algn="just">
              <a:lnSpc>
                <a:spcPct val="200000"/>
              </a:lnSpc>
            </a:pPr>
            <a:r>
              <a:rPr lang="en-US" i="1" dirty="0">
                <a:solidFill>
                  <a:srgbClr val="FFC000"/>
                </a:solidFill>
                <a:latin typeface="Arial"/>
                <a:cs typeface="Arial"/>
              </a:rPr>
              <a:t>■</a:t>
            </a:r>
            <a:r>
              <a:rPr lang="pt-PT" dirty="0"/>
              <a:t> </a:t>
            </a:r>
            <a:r>
              <a:rPr lang="en-US" sz="1600" dirty="0"/>
              <a:t>This checkpoint focuses on the initial implementation and training of the wildfire detection model. The main work consists of preparing the dataset structure, developing a convolutional neural network (CNN) for binary image classification, training the model using satellite images from the Kaggle dataset, and evaluating its performance through validation metrics.</a:t>
            </a:r>
          </a:p>
          <a:p>
            <a:pPr algn="just">
              <a:lnSpc>
                <a:spcPct val="200000"/>
              </a:lnSpc>
            </a:pPr>
            <a:r>
              <a:rPr lang="en-US" i="1" dirty="0">
                <a:solidFill>
                  <a:srgbClr val="FFC000"/>
                </a:solidFill>
                <a:latin typeface="Arial"/>
                <a:cs typeface="Arial"/>
              </a:rPr>
              <a:t>■ </a:t>
            </a:r>
            <a:r>
              <a:rPr lang="en-US" sz="1600" b="1" dirty="0"/>
              <a:t>Objectives:</a:t>
            </a:r>
          </a:p>
          <a:p>
            <a:pPr marL="285750" indent="-285750">
              <a:lnSpc>
                <a:spcPct val="200000"/>
              </a:lnSpc>
              <a:buFont typeface="Arial" panose="020B0604020202020204" pitchFamily="34" charset="0"/>
              <a:buChar char="•"/>
            </a:pPr>
            <a:r>
              <a:rPr lang="en-US" sz="1600" dirty="0"/>
              <a:t>Prepare and organize the training dataset with wildfire and </a:t>
            </a:r>
            <a:r>
              <a:rPr lang="en-US" sz="1600" dirty="0" err="1"/>
              <a:t>no_wildfire</a:t>
            </a:r>
            <a:r>
              <a:rPr lang="en-US" sz="1600" dirty="0"/>
              <a:t> image classes</a:t>
            </a:r>
          </a:p>
          <a:p>
            <a:pPr marL="285750" indent="-285750">
              <a:lnSpc>
                <a:spcPct val="200000"/>
              </a:lnSpc>
              <a:buFont typeface="Arial" panose="020B0604020202020204" pitchFamily="34" charset="0"/>
              <a:buChar char="•"/>
            </a:pPr>
            <a:r>
              <a:rPr lang="en-US" sz="1600" dirty="0"/>
              <a:t>Develop a CNN architecture suitable for binary classification of satellite images</a:t>
            </a:r>
          </a:p>
          <a:p>
            <a:pPr marL="285750" indent="-285750">
              <a:lnSpc>
                <a:spcPct val="200000"/>
              </a:lnSpc>
              <a:buFont typeface="Arial" panose="020B0604020202020204" pitchFamily="34" charset="0"/>
              <a:buChar char="•"/>
            </a:pPr>
            <a:r>
              <a:rPr lang="en-US" sz="1600" dirty="0"/>
              <a:t>Train the model using TensorFlow/</a:t>
            </a:r>
            <a:r>
              <a:rPr lang="en-US" sz="1600" dirty="0" err="1"/>
              <a:t>Keras</a:t>
            </a:r>
            <a:r>
              <a:rPr lang="en-US" sz="1600" dirty="0"/>
              <a:t> with appropriate hyperparameters</a:t>
            </a:r>
          </a:p>
          <a:p>
            <a:pPr marL="285750" indent="-285750">
              <a:lnSpc>
                <a:spcPct val="200000"/>
              </a:lnSpc>
              <a:buFont typeface="Arial" panose="020B0604020202020204" pitchFamily="34" charset="0"/>
              <a:buChar char="•"/>
            </a:pPr>
            <a:r>
              <a:rPr lang="en-US" sz="1600" dirty="0"/>
              <a:t>Evaluate model performance through accuracy and loss metrics across training epochs</a:t>
            </a:r>
          </a:p>
          <a:p>
            <a:pPr marL="285750" indent="-285750">
              <a:lnSpc>
                <a:spcPct val="200000"/>
              </a:lnSpc>
              <a:buFont typeface="Arial" panose="020B0604020202020204" pitchFamily="34" charset="0"/>
              <a:buChar char="•"/>
            </a:pPr>
            <a:r>
              <a:rPr lang="en-US" sz="1600" dirty="0"/>
              <a:t>Test the trained model with new unseen images to verify prediction capabilities</a:t>
            </a:r>
            <a:endParaRPr lang="pt-PT" sz="1600" dirty="0"/>
          </a:p>
        </p:txBody>
      </p:sp>
      <p:pic>
        <p:nvPicPr>
          <p:cNvPr id="15" name="Imagem 14">
            <a:extLst>
              <a:ext uri="{FF2B5EF4-FFF2-40B4-BE49-F238E27FC236}">
                <a16:creationId xmlns:a16="http://schemas.microsoft.com/office/drawing/2014/main" id="{70BB6AF6-0F24-591E-6D51-2DB014DD5CEA}"/>
              </a:ext>
            </a:extLst>
          </p:cNvPr>
          <p:cNvPicPr>
            <a:picLocks noChangeAspect="1"/>
          </p:cNvPicPr>
          <p:nvPr/>
        </p:nvPicPr>
        <p:blipFill>
          <a:blip r:embed="rId3"/>
          <a:stretch>
            <a:fillRect/>
          </a:stretch>
        </p:blipFill>
        <p:spPr>
          <a:xfrm>
            <a:off x="101225" y="904241"/>
            <a:ext cx="9014192" cy="266482"/>
          </a:xfrm>
          <a:prstGeom prst="rect">
            <a:avLst/>
          </a:prstGeom>
        </p:spPr>
      </p:pic>
      <p:sp>
        <p:nvSpPr>
          <p:cNvPr id="16" name="Rectângulo 19">
            <a:extLst>
              <a:ext uri="{FF2B5EF4-FFF2-40B4-BE49-F238E27FC236}">
                <a16:creationId xmlns:a16="http://schemas.microsoft.com/office/drawing/2014/main" id="{CEF94E7B-A676-360D-7C6F-8415435FF3E7}"/>
              </a:ext>
            </a:extLst>
          </p:cNvPr>
          <p:cNvSpPr/>
          <p:nvPr/>
        </p:nvSpPr>
        <p:spPr>
          <a:xfrm>
            <a:off x="5535613" y="553019"/>
            <a:ext cx="3505200" cy="261610"/>
          </a:xfrm>
          <a:prstGeom prst="rect">
            <a:avLst/>
          </a:prstGeom>
        </p:spPr>
        <p:txBody>
          <a:bodyPr wrap="square">
            <a:spAutoFit/>
          </a:bodyPr>
          <a:lstStyle/>
          <a:p>
            <a:pPr algn="r"/>
            <a:r>
              <a:rPr lang="pt-PT" sz="1100" b="1" cap="all" dirty="0" err="1">
                <a:highlight>
                  <a:srgbClr val="FFFF00"/>
                </a:highlight>
              </a:rPr>
              <a:t>Graduation</a:t>
            </a:r>
            <a:r>
              <a:rPr lang="pt-PT" sz="1100" b="1" cap="all" dirty="0">
                <a:highlight>
                  <a:srgbClr val="FFFF00"/>
                </a:highlight>
              </a:rPr>
              <a:t> in </a:t>
            </a:r>
            <a:r>
              <a:rPr lang="pt-PT" sz="1100" b="1" cap="all" dirty="0" err="1">
                <a:highlight>
                  <a:srgbClr val="FFFF00"/>
                </a:highlight>
              </a:rPr>
              <a:t>Informatics</a:t>
            </a:r>
            <a:r>
              <a:rPr lang="pt-PT" sz="1100" b="1" cap="all" dirty="0">
                <a:highlight>
                  <a:srgbClr val="FFFF00"/>
                </a:highlight>
              </a:rPr>
              <a:t> </a:t>
            </a:r>
            <a:r>
              <a:rPr lang="pt-PT" sz="1100" b="1" cap="all" dirty="0" err="1">
                <a:highlight>
                  <a:srgbClr val="FFFF00"/>
                </a:highlight>
              </a:rPr>
              <a:t>engineering</a:t>
            </a:r>
            <a:endParaRPr lang="pt-PT" sz="1100" dirty="0">
              <a:highlight>
                <a:srgbClr val="FFFF00"/>
              </a:highlight>
            </a:endParaRPr>
          </a:p>
        </p:txBody>
      </p:sp>
      <p:pic>
        <p:nvPicPr>
          <p:cNvPr id="17" name="Imagem 16">
            <a:extLst>
              <a:ext uri="{FF2B5EF4-FFF2-40B4-BE49-F238E27FC236}">
                <a16:creationId xmlns:a16="http://schemas.microsoft.com/office/drawing/2014/main" id="{6001E977-583C-8744-C508-C47B217C4D4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575316" y="9186"/>
            <a:ext cx="2575034" cy="639880"/>
          </a:xfrm>
          <a:prstGeom prst="rect">
            <a:avLst/>
          </a:prstGeom>
        </p:spPr>
      </p:pic>
      <p:sp>
        <p:nvSpPr>
          <p:cNvPr id="18" name="Text Box 10">
            <a:extLst>
              <a:ext uri="{FF2B5EF4-FFF2-40B4-BE49-F238E27FC236}">
                <a16:creationId xmlns:a16="http://schemas.microsoft.com/office/drawing/2014/main" id="{9F496BA5-AF02-BFC8-C321-D25D7FA6BD3C}"/>
              </a:ext>
            </a:extLst>
          </p:cNvPr>
          <p:cNvSpPr txBox="1">
            <a:spLocks noChangeArrowheads="1"/>
          </p:cNvSpPr>
          <p:nvPr/>
        </p:nvSpPr>
        <p:spPr bwMode="auto">
          <a:xfrm>
            <a:off x="8288338" y="6296025"/>
            <a:ext cx="827087" cy="366713"/>
          </a:xfrm>
          <a:prstGeom prst="rect">
            <a:avLst/>
          </a:prstGeom>
          <a:noFill/>
          <a:ln w="9525">
            <a:noFill/>
            <a:miter lim="800000"/>
            <a:headEnd/>
            <a:tailEnd/>
          </a:ln>
        </p:spPr>
        <p:txBody>
          <a:bodyPr>
            <a:spAutoFit/>
          </a:bodyPr>
          <a:lstStyle/>
          <a:p>
            <a:pPr>
              <a:spcBef>
                <a:spcPct val="50000"/>
              </a:spcBef>
            </a:pPr>
            <a:endParaRPr lang="pt-PT"/>
          </a:p>
        </p:txBody>
      </p:sp>
      <p:sp>
        <p:nvSpPr>
          <p:cNvPr id="19" name="Rectangle 11">
            <a:extLst>
              <a:ext uri="{FF2B5EF4-FFF2-40B4-BE49-F238E27FC236}">
                <a16:creationId xmlns:a16="http://schemas.microsoft.com/office/drawing/2014/main" id="{7EC84FAE-81C8-7F1C-4F8C-6A52D6AA2740}"/>
              </a:ext>
            </a:extLst>
          </p:cNvPr>
          <p:cNvSpPr>
            <a:spLocks noChangeArrowheads="1"/>
          </p:cNvSpPr>
          <p:nvPr/>
        </p:nvSpPr>
        <p:spPr bwMode="auto">
          <a:xfrm>
            <a:off x="8327571" y="6496091"/>
            <a:ext cx="936625" cy="260350"/>
          </a:xfrm>
          <a:prstGeom prst="rect">
            <a:avLst/>
          </a:prstGeom>
          <a:noFill/>
          <a:ln w="9525">
            <a:noFill/>
            <a:miter lim="800000"/>
            <a:headEnd/>
            <a:tailEnd/>
          </a:ln>
        </p:spPr>
        <p:txBody>
          <a:bodyPr anchor="ctr"/>
          <a:lstStyle/>
          <a:p>
            <a:pPr algn="ctr"/>
            <a:r>
              <a:rPr lang="pt-PT" sz="1000" dirty="0"/>
              <a:t>- </a:t>
            </a:r>
            <a:fld id="{1234D2FF-8FB9-47A1-B8C9-42A5F500BA2F}" type="slidenum">
              <a:rPr lang="pt-PT" sz="1000"/>
              <a:pPr algn="ctr"/>
              <a:t>15</a:t>
            </a:fld>
            <a:r>
              <a:rPr lang="pt-PT" sz="1000" dirty="0"/>
              <a:t> -</a:t>
            </a:r>
          </a:p>
        </p:txBody>
      </p:sp>
      <p:pic>
        <p:nvPicPr>
          <p:cNvPr id="20" name="Imagem 19">
            <a:extLst>
              <a:ext uri="{FF2B5EF4-FFF2-40B4-BE49-F238E27FC236}">
                <a16:creationId xmlns:a16="http://schemas.microsoft.com/office/drawing/2014/main" id="{CB744C85-3D0A-C390-9F56-4F995A7006E3}"/>
              </a:ext>
            </a:extLst>
          </p:cNvPr>
          <p:cNvPicPr>
            <a:picLocks noChangeAspect="1"/>
          </p:cNvPicPr>
          <p:nvPr/>
        </p:nvPicPr>
        <p:blipFill>
          <a:blip r:embed="rId5"/>
          <a:stretch>
            <a:fillRect/>
          </a:stretch>
        </p:blipFill>
        <p:spPr>
          <a:xfrm>
            <a:off x="0" y="6320212"/>
            <a:ext cx="9144000" cy="253252"/>
          </a:xfrm>
          <a:prstGeom prst="rect">
            <a:avLst/>
          </a:prstGeom>
        </p:spPr>
      </p:pic>
      <p:pic>
        <p:nvPicPr>
          <p:cNvPr id="22" name="Imagem 21">
            <a:extLst>
              <a:ext uri="{FF2B5EF4-FFF2-40B4-BE49-F238E27FC236}">
                <a16:creationId xmlns:a16="http://schemas.microsoft.com/office/drawing/2014/main" id="{7DB49F91-7879-9354-447E-459DCB66759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38125" y="6488336"/>
            <a:ext cx="545959" cy="199802"/>
          </a:xfrm>
          <a:prstGeom prst="rect">
            <a:avLst/>
          </a:prstGeom>
        </p:spPr>
      </p:pic>
      <p:sp>
        <p:nvSpPr>
          <p:cNvPr id="2" name="Subtítulo 2">
            <a:extLst>
              <a:ext uri="{FF2B5EF4-FFF2-40B4-BE49-F238E27FC236}">
                <a16:creationId xmlns:a16="http://schemas.microsoft.com/office/drawing/2014/main" id="{6BCF3690-086C-1C02-064D-9E1596DD85AC}"/>
              </a:ext>
            </a:extLst>
          </p:cNvPr>
          <p:cNvSpPr txBox="1">
            <a:spLocks/>
          </p:cNvSpPr>
          <p:nvPr/>
        </p:nvSpPr>
        <p:spPr>
          <a:xfrm>
            <a:off x="836017" y="6524516"/>
            <a:ext cx="7698382" cy="162409"/>
          </a:xfrm>
          <a:prstGeom prst="rect">
            <a:avLst/>
          </a:prstGeom>
        </p:spPr>
        <p:txBody>
          <a:bodyPr vert="horz" lIns="68580" tIns="34290" rIns="68580" bIns="3429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pt-PT" sz="900" dirty="0">
                <a:latin typeface="Arial" charset="0"/>
                <a:ea typeface="Arial" charset="0"/>
                <a:cs typeface="Arial" charset="0"/>
              </a:rPr>
              <a:t>@Diogo Monteiro - 32428, Gonçalo Teixeira - 31396 | </a:t>
            </a:r>
            <a:r>
              <a:rPr lang="pt-PT" sz="900" b="1" dirty="0">
                <a:solidFill>
                  <a:srgbClr val="C00000"/>
                </a:solidFill>
                <a:latin typeface="Arial" charset="0"/>
                <a:ea typeface="Arial" charset="0"/>
                <a:cs typeface="Arial" charset="0"/>
              </a:rPr>
              <a:t>Unidade Curricular: Projeto III </a:t>
            </a:r>
            <a:r>
              <a:rPr lang="pt-PT" sz="900" dirty="0">
                <a:latin typeface="Arial" charset="0"/>
                <a:ea typeface="Arial" charset="0"/>
                <a:cs typeface="Arial" charset="0"/>
              </a:rPr>
              <a:t>– Ano Letivo 2024/2025 – </a:t>
            </a:r>
            <a:r>
              <a:rPr lang="pt-PT" sz="900" b="1" dirty="0">
                <a:latin typeface="Arial" charset="0"/>
                <a:ea typeface="Arial" charset="0"/>
                <a:cs typeface="Arial" charset="0"/>
              </a:rPr>
              <a:t>MCZ03</a:t>
            </a:r>
          </a:p>
        </p:txBody>
      </p:sp>
    </p:spTree>
    <p:extLst>
      <p:ext uri="{BB962C8B-B14F-4D97-AF65-F5344CB8AC3E}">
        <p14:creationId xmlns:p14="http://schemas.microsoft.com/office/powerpoint/2010/main" val="35957742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D0CF1-18C7-7B11-DC9E-E4EAA82FD3E1}"/>
            </a:ext>
          </a:extLst>
        </p:cNvPr>
        <p:cNvGrpSpPr/>
        <p:nvPr/>
      </p:nvGrpSpPr>
      <p:grpSpPr>
        <a:xfrm>
          <a:off x="0" y="0"/>
          <a:ext cx="0" cy="0"/>
          <a:chOff x="0" y="0"/>
          <a:chExt cx="0" cy="0"/>
        </a:xfrm>
      </p:grpSpPr>
      <p:sp>
        <p:nvSpPr>
          <p:cNvPr id="9229" name="Text Box 13">
            <a:extLst>
              <a:ext uri="{FF2B5EF4-FFF2-40B4-BE49-F238E27FC236}">
                <a16:creationId xmlns:a16="http://schemas.microsoft.com/office/drawing/2014/main" id="{8AA808EF-6941-5C59-AAF6-22E1A7B7877F}"/>
              </a:ext>
            </a:extLst>
          </p:cNvPr>
          <p:cNvSpPr txBox="1">
            <a:spLocks noChangeArrowheads="1"/>
          </p:cNvSpPr>
          <p:nvPr/>
        </p:nvSpPr>
        <p:spPr bwMode="auto">
          <a:xfrm>
            <a:off x="306388" y="557213"/>
            <a:ext cx="6981825" cy="400050"/>
          </a:xfrm>
          <a:prstGeom prst="rect">
            <a:avLst/>
          </a:prstGeom>
          <a:noFill/>
          <a:ln w="9525">
            <a:noFill/>
            <a:miter lim="800000"/>
            <a:headEnd/>
            <a:tailEnd/>
          </a:ln>
          <a:effectLst/>
        </p:spPr>
        <p:txBody>
          <a:bodyPr>
            <a:spAutoFit/>
          </a:bodyPr>
          <a:lstStyle/>
          <a:p>
            <a:pPr>
              <a:spcBef>
                <a:spcPct val="50000"/>
              </a:spcBef>
              <a:defRPr/>
            </a:pPr>
            <a:r>
              <a:rPr lang="pt-PT" sz="2000" b="1" dirty="0">
                <a:solidFill>
                  <a:srgbClr val="C00000"/>
                </a:solidFill>
                <a:effectLst>
                  <a:outerShdw blurRad="38100" dist="38100" dir="2700000" algn="tl">
                    <a:srgbClr val="C0C0C0"/>
                  </a:outerShdw>
                </a:effectLst>
                <a:latin typeface="Arial"/>
                <a:cs typeface="Arial"/>
              </a:rPr>
              <a:t>■</a:t>
            </a:r>
            <a:r>
              <a:rPr lang="pt-PT" sz="2000" b="1" dirty="0">
                <a:effectLst>
                  <a:outerShdw blurRad="38100" dist="38100" dir="2700000" algn="tl">
                    <a:srgbClr val="C0C0C0"/>
                  </a:outerShdw>
                </a:effectLst>
                <a:latin typeface="Arial"/>
                <a:cs typeface="Arial"/>
              </a:rPr>
              <a:t> </a:t>
            </a:r>
            <a:r>
              <a:rPr lang="en-US" sz="2000" b="1" dirty="0">
                <a:effectLst>
                  <a:outerShdw blurRad="38100" dist="38100" dir="2700000" algn="tl">
                    <a:srgbClr val="C0C0C0"/>
                  </a:outerShdw>
                </a:effectLst>
                <a:latin typeface="Arial"/>
                <a:cs typeface="Arial"/>
              </a:rPr>
              <a:t>2. Model Development and Training</a:t>
            </a:r>
            <a:endParaRPr lang="pt-PT" sz="2000" b="1" dirty="0">
              <a:effectLst>
                <a:outerShdw blurRad="38100" dist="38100" dir="2700000" algn="tl">
                  <a:srgbClr val="C0C0C0"/>
                </a:outerShdw>
              </a:effectLst>
              <a:latin typeface="Arial" charset="0"/>
            </a:endParaRPr>
          </a:p>
        </p:txBody>
      </p:sp>
      <p:sp>
        <p:nvSpPr>
          <p:cNvPr id="10247" name="Line 15">
            <a:extLst>
              <a:ext uri="{FF2B5EF4-FFF2-40B4-BE49-F238E27FC236}">
                <a16:creationId xmlns:a16="http://schemas.microsoft.com/office/drawing/2014/main" id="{E1FCD088-0C31-1472-22F5-4EC2CAA1267B}"/>
              </a:ext>
            </a:extLst>
          </p:cNvPr>
          <p:cNvSpPr>
            <a:spLocks noChangeShapeType="1"/>
          </p:cNvSpPr>
          <p:nvPr/>
        </p:nvSpPr>
        <p:spPr bwMode="auto">
          <a:xfrm>
            <a:off x="250825" y="0"/>
            <a:ext cx="0" cy="765175"/>
          </a:xfrm>
          <a:prstGeom prst="line">
            <a:avLst/>
          </a:prstGeom>
          <a:noFill/>
          <a:ln w="25400">
            <a:solidFill>
              <a:schemeClr val="tx1"/>
            </a:solidFill>
            <a:round/>
            <a:headEnd/>
            <a:tailEnd/>
          </a:ln>
        </p:spPr>
        <p:txBody>
          <a:bodyPr/>
          <a:lstStyle/>
          <a:p>
            <a:endParaRPr lang="pt-PT"/>
          </a:p>
        </p:txBody>
      </p:sp>
      <p:sp>
        <p:nvSpPr>
          <p:cNvPr id="9237" name="Text Box 21">
            <a:extLst>
              <a:ext uri="{FF2B5EF4-FFF2-40B4-BE49-F238E27FC236}">
                <a16:creationId xmlns:a16="http://schemas.microsoft.com/office/drawing/2014/main" id="{46AD930F-BA17-8555-363F-D1CA9CC56EEF}"/>
              </a:ext>
            </a:extLst>
          </p:cNvPr>
          <p:cNvSpPr txBox="1">
            <a:spLocks noChangeArrowheads="1"/>
          </p:cNvSpPr>
          <p:nvPr/>
        </p:nvSpPr>
        <p:spPr bwMode="auto">
          <a:xfrm>
            <a:off x="260350" y="44450"/>
            <a:ext cx="6981825" cy="304800"/>
          </a:xfrm>
          <a:prstGeom prst="rect">
            <a:avLst/>
          </a:prstGeom>
          <a:noFill/>
          <a:ln w="9525">
            <a:noFill/>
            <a:miter lim="800000"/>
            <a:headEnd/>
            <a:tailEnd/>
          </a:ln>
          <a:effectLst/>
        </p:spPr>
        <p:txBody>
          <a:bodyPr>
            <a:spAutoFit/>
          </a:bodyPr>
          <a:lstStyle/>
          <a:p>
            <a:pPr>
              <a:spcBef>
                <a:spcPct val="50000"/>
              </a:spcBef>
              <a:defRPr/>
            </a:pPr>
            <a:endParaRPr lang="pt-PT" sz="1400" b="1" dirty="0">
              <a:solidFill>
                <a:srgbClr val="FF3300"/>
              </a:solidFill>
              <a:effectLst>
                <a:outerShdw blurRad="38100" dist="38100" dir="2700000" algn="tl">
                  <a:srgbClr val="C0C0C0"/>
                </a:outerShdw>
              </a:effectLst>
              <a:latin typeface="Arial" charset="0"/>
            </a:endParaRPr>
          </a:p>
        </p:txBody>
      </p:sp>
      <p:pic>
        <p:nvPicPr>
          <p:cNvPr id="18" name="Imagem 17">
            <a:extLst>
              <a:ext uri="{FF2B5EF4-FFF2-40B4-BE49-F238E27FC236}">
                <a16:creationId xmlns:a16="http://schemas.microsoft.com/office/drawing/2014/main" id="{ED8599A4-184A-D669-6237-45684602661D}"/>
              </a:ext>
            </a:extLst>
          </p:cNvPr>
          <p:cNvPicPr>
            <a:picLocks noChangeAspect="1"/>
          </p:cNvPicPr>
          <p:nvPr/>
        </p:nvPicPr>
        <p:blipFill>
          <a:blip r:embed="rId3"/>
          <a:stretch>
            <a:fillRect/>
          </a:stretch>
        </p:blipFill>
        <p:spPr>
          <a:xfrm>
            <a:off x="101225" y="904241"/>
            <a:ext cx="9014192" cy="266482"/>
          </a:xfrm>
          <a:prstGeom prst="rect">
            <a:avLst/>
          </a:prstGeom>
        </p:spPr>
      </p:pic>
      <p:sp>
        <p:nvSpPr>
          <p:cNvPr id="21" name="Text Box 10">
            <a:extLst>
              <a:ext uri="{FF2B5EF4-FFF2-40B4-BE49-F238E27FC236}">
                <a16:creationId xmlns:a16="http://schemas.microsoft.com/office/drawing/2014/main" id="{4A9F007B-649B-8D7C-A9AD-0E3B81B4AC3F}"/>
              </a:ext>
            </a:extLst>
          </p:cNvPr>
          <p:cNvSpPr txBox="1">
            <a:spLocks noChangeArrowheads="1"/>
          </p:cNvSpPr>
          <p:nvPr/>
        </p:nvSpPr>
        <p:spPr bwMode="auto">
          <a:xfrm>
            <a:off x="8288338" y="6296025"/>
            <a:ext cx="827087" cy="366713"/>
          </a:xfrm>
          <a:prstGeom prst="rect">
            <a:avLst/>
          </a:prstGeom>
          <a:noFill/>
          <a:ln w="9525">
            <a:noFill/>
            <a:miter lim="800000"/>
            <a:headEnd/>
            <a:tailEnd/>
          </a:ln>
        </p:spPr>
        <p:txBody>
          <a:bodyPr>
            <a:spAutoFit/>
          </a:bodyPr>
          <a:lstStyle/>
          <a:p>
            <a:pPr>
              <a:spcBef>
                <a:spcPct val="50000"/>
              </a:spcBef>
            </a:pPr>
            <a:endParaRPr lang="pt-PT"/>
          </a:p>
        </p:txBody>
      </p:sp>
      <p:sp>
        <p:nvSpPr>
          <p:cNvPr id="22" name="Rectangle 11">
            <a:extLst>
              <a:ext uri="{FF2B5EF4-FFF2-40B4-BE49-F238E27FC236}">
                <a16:creationId xmlns:a16="http://schemas.microsoft.com/office/drawing/2014/main" id="{2F07F5D4-99BE-9C6A-A630-83AB8D220939}"/>
              </a:ext>
            </a:extLst>
          </p:cNvPr>
          <p:cNvSpPr>
            <a:spLocks noChangeArrowheads="1"/>
          </p:cNvSpPr>
          <p:nvPr/>
        </p:nvSpPr>
        <p:spPr bwMode="auto">
          <a:xfrm>
            <a:off x="8327571" y="6496091"/>
            <a:ext cx="936625" cy="260350"/>
          </a:xfrm>
          <a:prstGeom prst="rect">
            <a:avLst/>
          </a:prstGeom>
          <a:noFill/>
          <a:ln w="9525">
            <a:noFill/>
            <a:miter lim="800000"/>
            <a:headEnd/>
            <a:tailEnd/>
          </a:ln>
        </p:spPr>
        <p:txBody>
          <a:bodyPr anchor="ctr"/>
          <a:lstStyle/>
          <a:p>
            <a:pPr algn="ctr"/>
            <a:r>
              <a:rPr lang="pt-PT" sz="1000" dirty="0"/>
              <a:t>- </a:t>
            </a:r>
            <a:fld id="{1234D2FF-8FB9-47A1-B8C9-42A5F500BA2F}" type="slidenum">
              <a:rPr lang="pt-PT" sz="1000"/>
              <a:pPr algn="ctr"/>
              <a:t>16</a:t>
            </a:fld>
            <a:r>
              <a:rPr lang="pt-PT" sz="1000" dirty="0"/>
              <a:t> -</a:t>
            </a:r>
          </a:p>
        </p:txBody>
      </p:sp>
      <p:pic>
        <p:nvPicPr>
          <p:cNvPr id="23" name="Imagem 22">
            <a:extLst>
              <a:ext uri="{FF2B5EF4-FFF2-40B4-BE49-F238E27FC236}">
                <a16:creationId xmlns:a16="http://schemas.microsoft.com/office/drawing/2014/main" id="{8BA19261-E8BD-0DC8-E9F4-8A5C7C5E8541}"/>
              </a:ext>
            </a:extLst>
          </p:cNvPr>
          <p:cNvPicPr>
            <a:picLocks noChangeAspect="1"/>
          </p:cNvPicPr>
          <p:nvPr/>
        </p:nvPicPr>
        <p:blipFill>
          <a:blip r:embed="rId4"/>
          <a:stretch>
            <a:fillRect/>
          </a:stretch>
        </p:blipFill>
        <p:spPr>
          <a:xfrm>
            <a:off x="0" y="6320212"/>
            <a:ext cx="9144000" cy="253252"/>
          </a:xfrm>
          <a:prstGeom prst="rect">
            <a:avLst/>
          </a:prstGeom>
        </p:spPr>
      </p:pic>
      <p:pic>
        <p:nvPicPr>
          <p:cNvPr id="25" name="Imagem 24">
            <a:extLst>
              <a:ext uri="{FF2B5EF4-FFF2-40B4-BE49-F238E27FC236}">
                <a16:creationId xmlns:a16="http://schemas.microsoft.com/office/drawing/2014/main" id="{60270982-7B3C-027D-D99B-8B3299C461A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8125" y="6488336"/>
            <a:ext cx="545959" cy="199802"/>
          </a:xfrm>
          <a:prstGeom prst="rect">
            <a:avLst/>
          </a:prstGeom>
        </p:spPr>
      </p:pic>
      <p:sp>
        <p:nvSpPr>
          <p:cNvPr id="26" name="Rectângulo 19">
            <a:extLst>
              <a:ext uri="{FF2B5EF4-FFF2-40B4-BE49-F238E27FC236}">
                <a16:creationId xmlns:a16="http://schemas.microsoft.com/office/drawing/2014/main" id="{D6C21677-84B8-395C-FE02-66D2B36C6745}"/>
              </a:ext>
            </a:extLst>
          </p:cNvPr>
          <p:cNvSpPr/>
          <p:nvPr/>
        </p:nvSpPr>
        <p:spPr>
          <a:xfrm>
            <a:off x="5535613" y="553019"/>
            <a:ext cx="3505200" cy="261610"/>
          </a:xfrm>
          <a:prstGeom prst="rect">
            <a:avLst/>
          </a:prstGeom>
        </p:spPr>
        <p:txBody>
          <a:bodyPr wrap="square">
            <a:spAutoFit/>
          </a:bodyPr>
          <a:lstStyle/>
          <a:p>
            <a:pPr algn="r"/>
            <a:r>
              <a:rPr lang="pt-PT" sz="1100" b="1" cap="all" dirty="0" err="1">
                <a:highlight>
                  <a:srgbClr val="FFFF00"/>
                </a:highlight>
              </a:rPr>
              <a:t>Graduation</a:t>
            </a:r>
            <a:r>
              <a:rPr lang="pt-PT" sz="1100" b="1" cap="all" dirty="0">
                <a:highlight>
                  <a:srgbClr val="FFFF00"/>
                </a:highlight>
              </a:rPr>
              <a:t> in </a:t>
            </a:r>
            <a:r>
              <a:rPr lang="pt-PT" sz="1100" b="1" cap="all" dirty="0" err="1">
                <a:highlight>
                  <a:srgbClr val="FFFF00"/>
                </a:highlight>
              </a:rPr>
              <a:t>Informatics</a:t>
            </a:r>
            <a:r>
              <a:rPr lang="pt-PT" sz="1100" b="1" cap="all" dirty="0">
                <a:highlight>
                  <a:srgbClr val="FFFF00"/>
                </a:highlight>
              </a:rPr>
              <a:t> </a:t>
            </a:r>
            <a:r>
              <a:rPr lang="pt-PT" sz="1100" b="1" cap="all" dirty="0" err="1">
                <a:highlight>
                  <a:srgbClr val="FFFF00"/>
                </a:highlight>
              </a:rPr>
              <a:t>engineering</a:t>
            </a:r>
            <a:endParaRPr lang="pt-PT" sz="1100" dirty="0">
              <a:highlight>
                <a:srgbClr val="FFFF00"/>
              </a:highlight>
            </a:endParaRPr>
          </a:p>
        </p:txBody>
      </p:sp>
      <p:pic>
        <p:nvPicPr>
          <p:cNvPr id="27" name="Imagem 26">
            <a:extLst>
              <a:ext uri="{FF2B5EF4-FFF2-40B4-BE49-F238E27FC236}">
                <a16:creationId xmlns:a16="http://schemas.microsoft.com/office/drawing/2014/main" id="{DB2F4F8A-F9D8-8E9C-0D53-20F9D6EDA70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575316" y="9186"/>
            <a:ext cx="2575034" cy="639880"/>
          </a:xfrm>
          <a:prstGeom prst="rect">
            <a:avLst/>
          </a:prstGeom>
        </p:spPr>
      </p:pic>
      <p:sp>
        <p:nvSpPr>
          <p:cNvPr id="7" name="TextBox 6">
            <a:extLst>
              <a:ext uri="{FF2B5EF4-FFF2-40B4-BE49-F238E27FC236}">
                <a16:creationId xmlns:a16="http://schemas.microsoft.com/office/drawing/2014/main" id="{9930D8DE-6CD4-9778-3514-E8D9B3796822}"/>
              </a:ext>
            </a:extLst>
          </p:cNvPr>
          <p:cNvSpPr txBox="1"/>
          <p:nvPr/>
        </p:nvSpPr>
        <p:spPr>
          <a:xfrm>
            <a:off x="334907" y="1170723"/>
            <a:ext cx="3703693" cy="4770537"/>
          </a:xfrm>
          <a:prstGeom prst="rect">
            <a:avLst/>
          </a:prstGeom>
          <a:noFill/>
        </p:spPr>
        <p:txBody>
          <a:bodyPr wrap="square" rtlCol="0">
            <a:spAutoFit/>
          </a:bodyPr>
          <a:lstStyle/>
          <a:p>
            <a:pPr algn="just"/>
            <a:r>
              <a:rPr lang="en-US" sz="1600" b="1" dirty="0"/>
              <a:t>Dataset Preparation</a:t>
            </a:r>
          </a:p>
          <a:p>
            <a:pPr algn="just"/>
            <a:endParaRPr lang="en-US" sz="1600" dirty="0"/>
          </a:p>
          <a:p>
            <a:pPr algn="just"/>
            <a:r>
              <a:rPr lang="en-US" sz="1600" dirty="0"/>
              <a:t>The dataset was prepared using satellite images from Kaggle. </a:t>
            </a:r>
          </a:p>
          <a:p>
            <a:pPr algn="just"/>
            <a:endParaRPr lang="en-US" sz="1600" dirty="0"/>
          </a:p>
          <a:p>
            <a:pPr algn="just"/>
            <a:r>
              <a:rPr lang="en-US" sz="1600" dirty="0"/>
              <a:t>A total of 100 images were organized into two folders representing wildfire and non-wildfire scenarios, ensuring balanced representation of both classes.</a:t>
            </a:r>
          </a:p>
          <a:p>
            <a:pPr marL="285750" indent="-285750" algn="just">
              <a:buFont typeface="Arial" panose="020B0604020202020204" pitchFamily="34" charset="0"/>
              <a:buChar char="•"/>
            </a:pPr>
            <a:endParaRPr lang="en-US" sz="1600" dirty="0"/>
          </a:p>
          <a:p>
            <a:pPr marL="285750" indent="-285750" algn="just">
              <a:buFont typeface="Arial" panose="020B0604020202020204" pitchFamily="34" charset="0"/>
              <a:buChar char="•"/>
            </a:pPr>
            <a:r>
              <a:rPr lang="en-US" sz="1600" dirty="0"/>
              <a:t>Images organized by class</a:t>
            </a:r>
          </a:p>
          <a:p>
            <a:pPr marL="285750" indent="-285750" algn="just">
              <a:buFont typeface="Arial" panose="020B0604020202020204" pitchFamily="34" charset="0"/>
              <a:buChar char="•"/>
            </a:pPr>
            <a:r>
              <a:rPr lang="en-US" sz="1600" dirty="0"/>
              <a:t>80/20 split for training and validation</a:t>
            </a:r>
          </a:p>
          <a:p>
            <a:pPr marL="285750" indent="-285750" algn="just">
              <a:buFont typeface="Arial" panose="020B0604020202020204" pitchFamily="34" charset="0"/>
              <a:buChar char="•"/>
            </a:pPr>
            <a:r>
              <a:rPr lang="en-US" sz="1600" dirty="0"/>
              <a:t>All images resized and normalized</a:t>
            </a:r>
          </a:p>
          <a:p>
            <a:pPr algn="just"/>
            <a:endParaRPr lang="en-US" sz="1600" dirty="0"/>
          </a:p>
          <a:p>
            <a:pPr algn="just"/>
            <a:r>
              <a:rPr lang="en-US" sz="1600" b="1" dirty="0"/>
              <a:t>Model Creation</a:t>
            </a:r>
          </a:p>
          <a:p>
            <a:pPr algn="just"/>
            <a:endParaRPr lang="en-US" sz="1600" dirty="0"/>
          </a:p>
          <a:p>
            <a:pPr algn="just"/>
            <a:r>
              <a:rPr lang="en-US" sz="1600" dirty="0"/>
              <a:t>A CNN model was built to analyze the satellite images and classify them automatically. </a:t>
            </a:r>
          </a:p>
        </p:txBody>
      </p:sp>
      <p:sp>
        <p:nvSpPr>
          <p:cNvPr id="2" name="Subtítulo 2">
            <a:extLst>
              <a:ext uri="{FF2B5EF4-FFF2-40B4-BE49-F238E27FC236}">
                <a16:creationId xmlns:a16="http://schemas.microsoft.com/office/drawing/2014/main" id="{ED6CB2BA-1730-C191-0142-5468EA8E7941}"/>
              </a:ext>
            </a:extLst>
          </p:cNvPr>
          <p:cNvSpPr txBox="1">
            <a:spLocks/>
          </p:cNvSpPr>
          <p:nvPr/>
        </p:nvSpPr>
        <p:spPr>
          <a:xfrm>
            <a:off x="836017" y="6524516"/>
            <a:ext cx="7698382" cy="162409"/>
          </a:xfrm>
          <a:prstGeom prst="rect">
            <a:avLst/>
          </a:prstGeom>
        </p:spPr>
        <p:txBody>
          <a:bodyPr vert="horz" lIns="68580" tIns="34290" rIns="68580" bIns="3429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pt-PT" sz="900" dirty="0">
                <a:latin typeface="Arial" charset="0"/>
                <a:ea typeface="Arial" charset="0"/>
                <a:cs typeface="Arial" charset="0"/>
              </a:rPr>
              <a:t>@Diogo Monteiro - 32428, Gonçalo Teixeira - 31396 | </a:t>
            </a:r>
            <a:r>
              <a:rPr lang="pt-PT" sz="900" b="1" dirty="0">
                <a:solidFill>
                  <a:srgbClr val="C00000"/>
                </a:solidFill>
                <a:latin typeface="Arial" charset="0"/>
                <a:ea typeface="Arial" charset="0"/>
                <a:cs typeface="Arial" charset="0"/>
              </a:rPr>
              <a:t>Unidade Curricular: Projeto III </a:t>
            </a:r>
            <a:r>
              <a:rPr lang="pt-PT" sz="900" dirty="0">
                <a:latin typeface="Arial" charset="0"/>
                <a:ea typeface="Arial" charset="0"/>
                <a:cs typeface="Arial" charset="0"/>
              </a:rPr>
              <a:t>– Ano Letivo 2024/2025 – </a:t>
            </a:r>
            <a:r>
              <a:rPr lang="pt-PT" sz="900" b="1" dirty="0">
                <a:latin typeface="Arial" charset="0"/>
                <a:ea typeface="Arial" charset="0"/>
                <a:cs typeface="Arial" charset="0"/>
              </a:rPr>
              <a:t>MCZ03</a:t>
            </a:r>
          </a:p>
        </p:txBody>
      </p:sp>
      <p:pic>
        <p:nvPicPr>
          <p:cNvPr id="1026" name="Picture 2">
            <a:extLst>
              <a:ext uri="{FF2B5EF4-FFF2-40B4-BE49-F238E27FC236}">
                <a16:creationId xmlns:a16="http://schemas.microsoft.com/office/drawing/2014/main" id="{B5BC7EDF-58F0-E39C-21D6-5D3DD6C59A2D}"/>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b="44112"/>
          <a:stretch>
            <a:fillRect/>
          </a:stretch>
        </p:blipFill>
        <p:spPr bwMode="auto">
          <a:xfrm>
            <a:off x="4191000" y="1156873"/>
            <a:ext cx="4618093" cy="41037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80891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E5A34-5E19-9C48-95E3-941F45056941}"/>
            </a:ext>
          </a:extLst>
        </p:cNvPr>
        <p:cNvGrpSpPr/>
        <p:nvPr/>
      </p:nvGrpSpPr>
      <p:grpSpPr>
        <a:xfrm>
          <a:off x="0" y="0"/>
          <a:ext cx="0" cy="0"/>
          <a:chOff x="0" y="0"/>
          <a:chExt cx="0" cy="0"/>
        </a:xfrm>
      </p:grpSpPr>
      <p:sp>
        <p:nvSpPr>
          <p:cNvPr id="9229" name="Text Box 13">
            <a:extLst>
              <a:ext uri="{FF2B5EF4-FFF2-40B4-BE49-F238E27FC236}">
                <a16:creationId xmlns:a16="http://schemas.microsoft.com/office/drawing/2014/main" id="{2367A855-33A2-23A2-CFE1-60939C22482D}"/>
              </a:ext>
            </a:extLst>
          </p:cNvPr>
          <p:cNvSpPr txBox="1">
            <a:spLocks noChangeArrowheads="1"/>
          </p:cNvSpPr>
          <p:nvPr/>
        </p:nvSpPr>
        <p:spPr bwMode="auto">
          <a:xfrm>
            <a:off x="306388" y="557213"/>
            <a:ext cx="6981825" cy="400050"/>
          </a:xfrm>
          <a:prstGeom prst="rect">
            <a:avLst/>
          </a:prstGeom>
          <a:noFill/>
          <a:ln w="9525">
            <a:noFill/>
            <a:miter lim="800000"/>
            <a:headEnd/>
            <a:tailEnd/>
          </a:ln>
          <a:effectLst/>
        </p:spPr>
        <p:txBody>
          <a:bodyPr>
            <a:spAutoFit/>
          </a:bodyPr>
          <a:lstStyle/>
          <a:p>
            <a:pPr>
              <a:spcBef>
                <a:spcPct val="50000"/>
              </a:spcBef>
              <a:defRPr/>
            </a:pPr>
            <a:r>
              <a:rPr lang="pt-PT" sz="2000" b="1" dirty="0">
                <a:solidFill>
                  <a:srgbClr val="C00000"/>
                </a:solidFill>
                <a:effectLst>
                  <a:outerShdw blurRad="38100" dist="38100" dir="2700000" algn="tl">
                    <a:srgbClr val="C0C0C0"/>
                  </a:outerShdw>
                </a:effectLst>
                <a:latin typeface="Arial"/>
                <a:cs typeface="Arial"/>
              </a:rPr>
              <a:t>■</a:t>
            </a:r>
            <a:r>
              <a:rPr lang="pt-PT" sz="2000" b="1" dirty="0">
                <a:effectLst>
                  <a:outerShdw blurRad="38100" dist="38100" dir="2700000" algn="tl">
                    <a:srgbClr val="C0C0C0"/>
                  </a:outerShdw>
                </a:effectLst>
                <a:latin typeface="Arial"/>
                <a:cs typeface="Arial"/>
              </a:rPr>
              <a:t> </a:t>
            </a:r>
            <a:r>
              <a:rPr lang="en-US" sz="2000" b="1" dirty="0">
                <a:effectLst>
                  <a:outerShdw blurRad="38100" dist="38100" dir="2700000" algn="tl">
                    <a:srgbClr val="C0C0C0"/>
                  </a:outerShdw>
                </a:effectLst>
                <a:latin typeface="Arial"/>
                <a:cs typeface="Arial"/>
              </a:rPr>
              <a:t>2. Model Development and Training</a:t>
            </a:r>
            <a:endParaRPr lang="pt-PT" sz="2000" b="1" dirty="0">
              <a:effectLst>
                <a:outerShdw blurRad="38100" dist="38100" dir="2700000" algn="tl">
                  <a:srgbClr val="C0C0C0"/>
                </a:outerShdw>
              </a:effectLst>
              <a:latin typeface="Arial" charset="0"/>
            </a:endParaRPr>
          </a:p>
        </p:txBody>
      </p:sp>
      <p:sp>
        <p:nvSpPr>
          <p:cNvPr id="10247" name="Line 15">
            <a:extLst>
              <a:ext uri="{FF2B5EF4-FFF2-40B4-BE49-F238E27FC236}">
                <a16:creationId xmlns:a16="http://schemas.microsoft.com/office/drawing/2014/main" id="{F49A0F1D-62F3-679C-30E8-A79984279AED}"/>
              </a:ext>
            </a:extLst>
          </p:cNvPr>
          <p:cNvSpPr>
            <a:spLocks noChangeShapeType="1"/>
          </p:cNvSpPr>
          <p:nvPr/>
        </p:nvSpPr>
        <p:spPr bwMode="auto">
          <a:xfrm>
            <a:off x="250825" y="0"/>
            <a:ext cx="0" cy="765175"/>
          </a:xfrm>
          <a:prstGeom prst="line">
            <a:avLst/>
          </a:prstGeom>
          <a:noFill/>
          <a:ln w="25400">
            <a:solidFill>
              <a:schemeClr val="tx1"/>
            </a:solidFill>
            <a:round/>
            <a:headEnd/>
            <a:tailEnd/>
          </a:ln>
        </p:spPr>
        <p:txBody>
          <a:bodyPr/>
          <a:lstStyle/>
          <a:p>
            <a:endParaRPr lang="pt-PT"/>
          </a:p>
        </p:txBody>
      </p:sp>
      <p:sp>
        <p:nvSpPr>
          <p:cNvPr id="9237" name="Text Box 21">
            <a:extLst>
              <a:ext uri="{FF2B5EF4-FFF2-40B4-BE49-F238E27FC236}">
                <a16:creationId xmlns:a16="http://schemas.microsoft.com/office/drawing/2014/main" id="{29500BA6-3AD1-5379-2019-29CB117FFBCA}"/>
              </a:ext>
            </a:extLst>
          </p:cNvPr>
          <p:cNvSpPr txBox="1">
            <a:spLocks noChangeArrowheads="1"/>
          </p:cNvSpPr>
          <p:nvPr/>
        </p:nvSpPr>
        <p:spPr bwMode="auto">
          <a:xfrm>
            <a:off x="260350" y="44450"/>
            <a:ext cx="6981825" cy="304800"/>
          </a:xfrm>
          <a:prstGeom prst="rect">
            <a:avLst/>
          </a:prstGeom>
          <a:noFill/>
          <a:ln w="9525">
            <a:noFill/>
            <a:miter lim="800000"/>
            <a:headEnd/>
            <a:tailEnd/>
          </a:ln>
          <a:effectLst/>
        </p:spPr>
        <p:txBody>
          <a:bodyPr>
            <a:spAutoFit/>
          </a:bodyPr>
          <a:lstStyle/>
          <a:p>
            <a:pPr>
              <a:spcBef>
                <a:spcPct val="50000"/>
              </a:spcBef>
              <a:defRPr/>
            </a:pPr>
            <a:endParaRPr lang="pt-PT" sz="1400" b="1" dirty="0">
              <a:solidFill>
                <a:srgbClr val="FF3300"/>
              </a:solidFill>
              <a:effectLst>
                <a:outerShdw blurRad="38100" dist="38100" dir="2700000" algn="tl">
                  <a:srgbClr val="C0C0C0"/>
                </a:outerShdw>
              </a:effectLst>
              <a:latin typeface="Arial" charset="0"/>
            </a:endParaRPr>
          </a:p>
        </p:txBody>
      </p:sp>
      <p:pic>
        <p:nvPicPr>
          <p:cNvPr id="18" name="Imagem 17">
            <a:extLst>
              <a:ext uri="{FF2B5EF4-FFF2-40B4-BE49-F238E27FC236}">
                <a16:creationId xmlns:a16="http://schemas.microsoft.com/office/drawing/2014/main" id="{CA9EA319-ACAA-DA1E-6F0C-A3C1790CFD01}"/>
              </a:ext>
            </a:extLst>
          </p:cNvPr>
          <p:cNvPicPr>
            <a:picLocks noChangeAspect="1"/>
          </p:cNvPicPr>
          <p:nvPr/>
        </p:nvPicPr>
        <p:blipFill>
          <a:blip r:embed="rId3"/>
          <a:stretch>
            <a:fillRect/>
          </a:stretch>
        </p:blipFill>
        <p:spPr>
          <a:xfrm>
            <a:off x="101225" y="904241"/>
            <a:ext cx="9014192" cy="266482"/>
          </a:xfrm>
          <a:prstGeom prst="rect">
            <a:avLst/>
          </a:prstGeom>
        </p:spPr>
      </p:pic>
      <p:sp>
        <p:nvSpPr>
          <p:cNvPr id="21" name="Text Box 10">
            <a:extLst>
              <a:ext uri="{FF2B5EF4-FFF2-40B4-BE49-F238E27FC236}">
                <a16:creationId xmlns:a16="http://schemas.microsoft.com/office/drawing/2014/main" id="{2808ADEC-B87D-D5FA-DC54-4555C218ABCB}"/>
              </a:ext>
            </a:extLst>
          </p:cNvPr>
          <p:cNvSpPr txBox="1">
            <a:spLocks noChangeArrowheads="1"/>
          </p:cNvSpPr>
          <p:nvPr/>
        </p:nvSpPr>
        <p:spPr bwMode="auto">
          <a:xfrm>
            <a:off x="8288338" y="6296025"/>
            <a:ext cx="827087" cy="366713"/>
          </a:xfrm>
          <a:prstGeom prst="rect">
            <a:avLst/>
          </a:prstGeom>
          <a:noFill/>
          <a:ln w="9525">
            <a:noFill/>
            <a:miter lim="800000"/>
            <a:headEnd/>
            <a:tailEnd/>
          </a:ln>
        </p:spPr>
        <p:txBody>
          <a:bodyPr>
            <a:spAutoFit/>
          </a:bodyPr>
          <a:lstStyle/>
          <a:p>
            <a:pPr>
              <a:spcBef>
                <a:spcPct val="50000"/>
              </a:spcBef>
            </a:pPr>
            <a:endParaRPr lang="pt-PT"/>
          </a:p>
        </p:txBody>
      </p:sp>
      <p:sp>
        <p:nvSpPr>
          <p:cNvPr id="22" name="Rectangle 11">
            <a:extLst>
              <a:ext uri="{FF2B5EF4-FFF2-40B4-BE49-F238E27FC236}">
                <a16:creationId xmlns:a16="http://schemas.microsoft.com/office/drawing/2014/main" id="{59AD714C-CD12-EA2A-CA2F-C026323E9B7D}"/>
              </a:ext>
            </a:extLst>
          </p:cNvPr>
          <p:cNvSpPr>
            <a:spLocks noChangeArrowheads="1"/>
          </p:cNvSpPr>
          <p:nvPr/>
        </p:nvSpPr>
        <p:spPr bwMode="auto">
          <a:xfrm>
            <a:off x="8327571" y="6496091"/>
            <a:ext cx="936625" cy="260350"/>
          </a:xfrm>
          <a:prstGeom prst="rect">
            <a:avLst/>
          </a:prstGeom>
          <a:noFill/>
          <a:ln w="9525">
            <a:noFill/>
            <a:miter lim="800000"/>
            <a:headEnd/>
            <a:tailEnd/>
          </a:ln>
        </p:spPr>
        <p:txBody>
          <a:bodyPr anchor="ctr"/>
          <a:lstStyle/>
          <a:p>
            <a:pPr algn="ctr"/>
            <a:r>
              <a:rPr lang="pt-PT" sz="1000" dirty="0"/>
              <a:t>- </a:t>
            </a:r>
            <a:fld id="{1234D2FF-8FB9-47A1-B8C9-42A5F500BA2F}" type="slidenum">
              <a:rPr lang="pt-PT" sz="1000"/>
              <a:pPr algn="ctr"/>
              <a:t>17</a:t>
            </a:fld>
            <a:r>
              <a:rPr lang="pt-PT" sz="1000" dirty="0"/>
              <a:t> -</a:t>
            </a:r>
          </a:p>
        </p:txBody>
      </p:sp>
      <p:pic>
        <p:nvPicPr>
          <p:cNvPr id="23" name="Imagem 22">
            <a:extLst>
              <a:ext uri="{FF2B5EF4-FFF2-40B4-BE49-F238E27FC236}">
                <a16:creationId xmlns:a16="http://schemas.microsoft.com/office/drawing/2014/main" id="{B56543C8-277C-42C7-A432-1D123A17B168}"/>
              </a:ext>
            </a:extLst>
          </p:cNvPr>
          <p:cNvPicPr>
            <a:picLocks noChangeAspect="1"/>
          </p:cNvPicPr>
          <p:nvPr/>
        </p:nvPicPr>
        <p:blipFill>
          <a:blip r:embed="rId4"/>
          <a:stretch>
            <a:fillRect/>
          </a:stretch>
        </p:blipFill>
        <p:spPr>
          <a:xfrm>
            <a:off x="0" y="6320212"/>
            <a:ext cx="9144000" cy="253252"/>
          </a:xfrm>
          <a:prstGeom prst="rect">
            <a:avLst/>
          </a:prstGeom>
        </p:spPr>
      </p:pic>
      <p:pic>
        <p:nvPicPr>
          <p:cNvPr id="25" name="Imagem 24">
            <a:extLst>
              <a:ext uri="{FF2B5EF4-FFF2-40B4-BE49-F238E27FC236}">
                <a16:creationId xmlns:a16="http://schemas.microsoft.com/office/drawing/2014/main" id="{EB7F6BA7-4F0F-A076-05A9-107DE5FA91E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8125" y="6488336"/>
            <a:ext cx="545959" cy="199802"/>
          </a:xfrm>
          <a:prstGeom prst="rect">
            <a:avLst/>
          </a:prstGeom>
        </p:spPr>
      </p:pic>
      <p:sp>
        <p:nvSpPr>
          <p:cNvPr id="26" name="Rectângulo 19">
            <a:extLst>
              <a:ext uri="{FF2B5EF4-FFF2-40B4-BE49-F238E27FC236}">
                <a16:creationId xmlns:a16="http://schemas.microsoft.com/office/drawing/2014/main" id="{5B07FAAB-D763-8764-AC9D-292441BFE65C}"/>
              </a:ext>
            </a:extLst>
          </p:cNvPr>
          <p:cNvSpPr/>
          <p:nvPr/>
        </p:nvSpPr>
        <p:spPr>
          <a:xfrm>
            <a:off x="5535613" y="553019"/>
            <a:ext cx="3505200" cy="261610"/>
          </a:xfrm>
          <a:prstGeom prst="rect">
            <a:avLst/>
          </a:prstGeom>
        </p:spPr>
        <p:txBody>
          <a:bodyPr wrap="square">
            <a:spAutoFit/>
          </a:bodyPr>
          <a:lstStyle/>
          <a:p>
            <a:pPr algn="r"/>
            <a:r>
              <a:rPr lang="pt-PT" sz="1100" b="1" cap="all" dirty="0" err="1">
                <a:highlight>
                  <a:srgbClr val="FFFF00"/>
                </a:highlight>
              </a:rPr>
              <a:t>Graduation</a:t>
            </a:r>
            <a:r>
              <a:rPr lang="pt-PT" sz="1100" b="1" cap="all" dirty="0">
                <a:highlight>
                  <a:srgbClr val="FFFF00"/>
                </a:highlight>
              </a:rPr>
              <a:t> in </a:t>
            </a:r>
            <a:r>
              <a:rPr lang="pt-PT" sz="1100" b="1" cap="all" dirty="0" err="1">
                <a:highlight>
                  <a:srgbClr val="FFFF00"/>
                </a:highlight>
              </a:rPr>
              <a:t>Informatics</a:t>
            </a:r>
            <a:r>
              <a:rPr lang="pt-PT" sz="1100" b="1" cap="all" dirty="0">
                <a:highlight>
                  <a:srgbClr val="FFFF00"/>
                </a:highlight>
              </a:rPr>
              <a:t> </a:t>
            </a:r>
            <a:r>
              <a:rPr lang="pt-PT" sz="1100" b="1" cap="all" dirty="0" err="1">
                <a:highlight>
                  <a:srgbClr val="FFFF00"/>
                </a:highlight>
              </a:rPr>
              <a:t>engineering</a:t>
            </a:r>
            <a:endParaRPr lang="pt-PT" sz="1100" dirty="0">
              <a:highlight>
                <a:srgbClr val="FFFF00"/>
              </a:highlight>
            </a:endParaRPr>
          </a:p>
        </p:txBody>
      </p:sp>
      <p:pic>
        <p:nvPicPr>
          <p:cNvPr id="27" name="Imagem 26">
            <a:extLst>
              <a:ext uri="{FF2B5EF4-FFF2-40B4-BE49-F238E27FC236}">
                <a16:creationId xmlns:a16="http://schemas.microsoft.com/office/drawing/2014/main" id="{5B364294-528C-3CF1-19E1-AC3AD164FEC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575316" y="9186"/>
            <a:ext cx="2575034" cy="639880"/>
          </a:xfrm>
          <a:prstGeom prst="rect">
            <a:avLst/>
          </a:prstGeom>
        </p:spPr>
      </p:pic>
      <p:sp>
        <p:nvSpPr>
          <p:cNvPr id="7" name="TextBox 6">
            <a:extLst>
              <a:ext uri="{FF2B5EF4-FFF2-40B4-BE49-F238E27FC236}">
                <a16:creationId xmlns:a16="http://schemas.microsoft.com/office/drawing/2014/main" id="{C9FCDCCE-FBEF-E269-9ECB-7F82C677712F}"/>
              </a:ext>
            </a:extLst>
          </p:cNvPr>
          <p:cNvSpPr txBox="1"/>
          <p:nvPr/>
        </p:nvSpPr>
        <p:spPr>
          <a:xfrm>
            <a:off x="334907" y="1170723"/>
            <a:ext cx="3932293" cy="4770537"/>
          </a:xfrm>
          <a:prstGeom prst="rect">
            <a:avLst/>
          </a:prstGeom>
          <a:noFill/>
        </p:spPr>
        <p:txBody>
          <a:bodyPr wrap="square" rtlCol="0">
            <a:spAutoFit/>
          </a:bodyPr>
          <a:lstStyle/>
          <a:p>
            <a:pPr algn="just"/>
            <a:r>
              <a:rPr lang="en-US" sz="1600" dirty="0"/>
              <a:t>The model learns to recognize visual patterns that distinguish wildfires from normal scenarios through multiple processing layers: </a:t>
            </a:r>
          </a:p>
          <a:p>
            <a:pPr algn="just"/>
            <a:endParaRPr lang="en-US" sz="1600" dirty="0"/>
          </a:p>
          <a:p>
            <a:pPr marL="285750" indent="-285750" algn="just">
              <a:buFont typeface="Arial" panose="020B0604020202020204" pitchFamily="34" charset="0"/>
              <a:buChar char="•"/>
            </a:pPr>
            <a:r>
              <a:rPr lang="en-US" sz="1600" dirty="0"/>
              <a:t>Binary classification model</a:t>
            </a:r>
          </a:p>
          <a:p>
            <a:pPr marL="285750" indent="-285750" algn="just">
              <a:buFont typeface="Arial" panose="020B0604020202020204" pitchFamily="34" charset="0"/>
              <a:buChar char="•"/>
            </a:pPr>
            <a:r>
              <a:rPr lang="en-US" sz="1600" dirty="0"/>
              <a:t>Extracts features from images</a:t>
            </a:r>
          </a:p>
          <a:p>
            <a:pPr marL="285750" indent="-285750" algn="just">
              <a:buFont typeface="Arial" panose="020B0604020202020204" pitchFamily="34" charset="0"/>
              <a:buChar char="•"/>
            </a:pPr>
            <a:r>
              <a:rPr lang="en-US" sz="1600" dirty="0"/>
              <a:t>Learns patterns automatically</a:t>
            </a:r>
          </a:p>
          <a:p>
            <a:pPr algn="just"/>
            <a:endParaRPr lang="en-US" sz="1600" dirty="0"/>
          </a:p>
          <a:p>
            <a:pPr algn="just"/>
            <a:r>
              <a:rPr lang="en-US" sz="1600" b="1" dirty="0"/>
              <a:t>Training Execution</a:t>
            </a:r>
          </a:p>
          <a:p>
            <a:pPr algn="just"/>
            <a:endParaRPr lang="en-US" sz="1600" dirty="0"/>
          </a:p>
          <a:p>
            <a:pPr algn="just"/>
            <a:r>
              <a:rPr lang="en-US" sz="1600" dirty="0"/>
              <a:t>The model was trained for 10 epochs, allowing it to progressively improve its accuracy. Standard optimization methods were used to ensure effective learning from the dataset.</a:t>
            </a:r>
          </a:p>
          <a:p>
            <a:pPr algn="just"/>
            <a:endParaRPr lang="en-US" sz="1600" dirty="0"/>
          </a:p>
          <a:p>
            <a:pPr marL="285750" indent="-285750" algn="just">
              <a:buFont typeface="Arial" panose="020B0604020202020204" pitchFamily="34" charset="0"/>
              <a:buChar char="•"/>
            </a:pPr>
            <a:r>
              <a:rPr lang="en-US" sz="1600" dirty="0"/>
              <a:t>10 training cycles</a:t>
            </a:r>
          </a:p>
          <a:p>
            <a:pPr marL="285750" indent="-285750" algn="just">
              <a:buFont typeface="Arial" panose="020B0604020202020204" pitchFamily="34" charset="0"/>
              <a:buChar char="•"/>
            </a:pPr>
            <a:r>
              <a:rPr lang="en-US" sz="1600" dirty="0"/>
              <a:t>Progressive accuracy improvement</a:t>
            </a:r>
          </a:p>
          <a:p>
            <a:pPr marL="285750" indent="-285750" algn="just">
              <a:buFont typeface="Arial" panose="020B0604020202020204" pitchFamily="34" charset="0"/>
              <a:buChar char="•"/>
            </a:pPr>
            <a:r>
              <a:rPr lang="en-US" sz="1600" dirty="0"/>
              <a:t>Validation at each epoch</a:t>
            </a:r>
          </a:p>
        </p:txBody>
      </p:sp>
      <p:sp>
        <p:nvSpPr>
          <p:cNvPr id="2" name="Subtítulo 2">
            <a:extLst>
              <a:ext uri="{FF2B5EF4-FFF2-40B4-BE49-F238E27FC236}">
                <a16:creationId xmlns:a16="http://schemas.microsoft.com/office/drawing/2014/main" id="{B4853B56-3238-2DE3-ADEC-6704E323F348}"/>
              </a:ext>
            </a:extLst>
          </p:cNvPr>
          <p:cNvSpPr txBox="1">
            <a:spLocks/>
          </p:cNvSpPr>
          <p:nvPr/>
        </p:nvSpPr>
        <p:spPr>
          <a:xfrm>
            <a:off x="836017" y="6524516"/>
            <a:ext cx="7698382" cy="162409"/>
          </a:xfrm>
          <a:prstGeom prst="rect">
            <a:avLst/>
          </a:prstGeom>
        </p:spPr>
        <p:txBody>
          <a:bodyPr vert="horz" lIns="68580" tIns="34290" rIns="68580" bIns="3429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pt-PT" sz="900" dirty="0">
                <a:latin typeface="Arial" charset="0"/>
                <a:ea typeface="Arial" charset="0"/>
                <a:cs typeface="Arial" charset="0"/>
              </a:rPr>
              <a:t>@Diogo Monteiro - 32428, Gonçalo Teixeira - 31396 | </a:t>
            </a:r>
            <a:r>
              <a:rPr lang="pt-PT" sz="900" b="1" dirty="0">
                <a:solidFill>
                  <a:srgbClr val="C00000"/>
                </a:solidFill>
                <a:latin typeface="Arial" charset="0"/>
                <a:ea typeface="Arial" charset="0"/>
                <a:cs typeface="Arial" charset="0"/>
              </a:rPr>
              <a:t>Unidade Curricular: Projeto III </a:t>
            </a:r>
            <a:r>
              <a:rPr lang="pt-PT" sz="900" dirty="0">
                <a:latin typeface="Arial" charset="0"/>
                <a:ea typeface="Arial" charset="0"/>
                <a:cs typeface="Arial" charset="0"/>
              </a:rPr>
              <a:t>– Ano Letivo 2024/2025 – </a:t>
            </a:r>
            <a:r>
              <a:rPr lang="pt-PT" sz="900" b="1" dirty="0">
                <a:latin typeface="Arial" charset="0"/>
                <a:ea typeface="Arial" charset="0"/>
                <a:cs typeface="Arial" charset="0"/>
              </a:rPr>
              <a:t>MCZ03</a:t>
            </a:r>
          </a:p>
        </p:txBody>
      </p:sp>
      <p:pic>
        <p:nvPicPr>
          <p:cNvPr id="1026" name="Picture 2">
            <a:extLst>
              <a:ext uri="{FF2B5EF4-FFF2-40B4-BE49-F238E27FC236}">
                <a16:creationId xmlns:a16="http://schemas.microsoft.com/office/drawing/2014/main" id="{EDABB282-555E-FCF0-605A-A33F0CF58D0E}"/>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47021"/>
          <a:stretch>
            <a:fillRect/>
          </a:stretch>
        </p:blipFill>
        <p:spPr bwMode="auto">
          <a:xfrm>
            <a:off x="4390166" y="1274273"/>
            <a:ext cx="4418927" cy="37223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02818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AA4D4-78F5-1A5E-FA15-3F8970C43138}"/>
            </a:ext>
          </a:extLst>
        </p:cNvPr>
        <p:cNvGrpSpPr/>
        <p:nvPr/>
      </p:nvGrpSpPr>
      <p:grpSpPr>
        <a:xfrm>
          <a:off x="0" y="0"/>
          <a:ext cx="0" cy="0"/>
          <a:chOff x="0" y="0"/>
          <a:chExt cx="0" cy="0"/>
        </a:xfrm>
      </p:grpSpPr>
      <p:sp>
        <p:nvSpPr>
          <p:cNvPr id="9229" name="Text Box 13">
            <a:extLst>
              <a:ext uri="{FF2B5EF4-FFF2-40B4-BE49-F238E27FC236}">
                <a16:creationId xmlns:a16="http://schemas.microsoft.com/office/drawing/2014/main" id="{A916E6C3-5F52-917B-C9BD-EBB741DAD6A3}"/>
              </a:ext>
            </a:extLst>
          </p:cNvPr>
          <p:cNvSpPr txBox="1">
            <a:spLocks noChangeArrowheads="1"/>
          </p:cNvSpPr>
          <p:nvPr/>
        </p:nvSpPr>
        <p:spPr bwMode="auto">
          <a:xfrm>
            <a:off x="306388" y="557213"/>
            <a:ext cx="6981825" cy="400050"/>
          </a:xfrm>
          <a:prstGeom prst="rect">
            <a:avLst/>
          </a:prstGeom>
          <a:noFill/>
          <a:ln w="9525">
            <a:noFill/>
            <a:miter lim="800000"/>
            <a:headEnd/>
            <a:tailEnd/>
          </a:ln>
          <a:effectLst/>
        </p:spPr>
        <p:txBody>
          <a:bodyPr>
            <a:spAutoFit/>
          </a:bodyPr>
          <a:lstStyle/>
          <a:p>
            <a:pPr>
              <a:spcBef>
                <a:spcPct val="50000"/>
              </a:spcBef>
              <a:defRPr/>
            </a:pPr>
            <a:r>
              <a:rPr lang="pt-PT" sz="2000" b="1" dirty="0">
                <a:solidFill>
                  <a:srgbClr val="C00000"/>
                </a:solidFill>
                <a:effectLst>
                  <a:outerShdw blurRad="38100" dist="38100" dir="2700000" algn="tl">
                    <a:srgbClr val="C0C0C0"/>
                  </a:outerShdw>
                </a:effectLst>
                <a:latin typeface="Arial"/>
                <a:cs typeface="Arial"/>
              </a:rPr>
              <a:t>■</a:t>
            </a:r>
            <a:r>
              <a:rPr lang="pt-PT" sz="2000" b="1" dirty="0">
                <a:effectLst>
                  <a:outerShdw blurRad="38100" dist="38100" dir="2700000" algn="tl">
                    <a:srgbClr val="C0C0C0"/>
                  </a:outerShdw>
                </a:effectLst>
                <a:latin typeface="Arial"/>
                <a:cs typeface="Arial"/>
              </a:rPr>
              <a:t> </a:t>
            </a:r>
            <a:r>
              <a:rPr lang="en-US" sz="2000" b="1" dirty="0">
                <a:effectLst>
                  <a:outerShdw blurRad="38100" dist="38100" dir="2700000" algn="tl">
                    <a:srgbClr val="C0C0C0"/>
                  </a:outerShdw>
                </a:effectLst>
                <a:latin typeface="Arial"/>
                <a:cs typeface="Arial"/>
              </a:rPr>
              <a:t>3. Training Results and Performance</a:t>
            </a:r>
            <a:endParaRPr lang="pt-PT" sz="2000" b="1" dirty="0">
              <a:effectLst>
                <a:outerShdw blurRad="38100" dist="38100" dir="2700000" algn="tl">
                  <a:srgbClr val="C0C0C0"/>
                </a:outerShdw>
              </a:effectLst>
              <a:latin typeface="Arial" charset="0"/>
            </a:endParaRPr>
          </a:p>
        </p:txBody>
      </p:sp>
      <p:sp>
        <p:nvSpPr>
          <p:cNvPr id="10247" name="Line 15">
            <a:extLst>
              <a:ext uri="{FF2B5EF4-FFF2-40B4-BE49-F238E27FC236}">
                <a16:creationId xmlns:a16="http://schemas.microsoft.com/office/drawing/2014/main" id="{BBB12478-4881-AB22-0A5B-66C197B8BDB4}"/>
              </a:ext>
            </a:extLst>
          </p:cNvPr>
          <p:cNvSpPr>
            <a:spLocks noChangeShapeType="1"/>
          </p:cNvSpPr>
          <p:nvPr/>
        </p:nvSpPr>
        <p:spPr bwMode="auto">
          <a:xfrm>
            <a:off x="250825" y="0"/>
            <a:ext cx="0" cy="765175"/>
          </a:xfrm>
          <a:prstGeom prst="line">
            <a:avLst/>
          </a:prstGeom>
          <a:noFill/>
          <a:ln w="25400">
            <a:solidFill>
              <a:schemeClr val="tx1"/>
            </a:solidFill>
            <a:round/>
            <a:headEnd/>
            <a:tailEnd/>
          </a:ln>
        </p:spPr>
        <p:txBody>
          <a:bodyPr/>
          <a:lstStyle/>
          <a:p>
            <a:endParaRPr lang="pt-PT"/>
          </a:p>
        </p:txBody>
      </p:sp>
      <p:sp>
        <p:nvSpPr>
          <p:cNvPr id="9237" name="Text Box 21">
            <a:extLst>
              <a:ext uri="{FF2B5EF4-FFF2-40B4-BE49-F238E27FC236}">
                <a16:creationId xmlns:a16="http://schemas.microsoft.com/office/drawing/2014/main" id="{B33A2079-1B2B-4C49-F5F9-7EFD84C23478}"/>
              </a:ext>
            </a:extLst>
          </p:cNvPr>
          <p:cNvSpPr txBox="1">
            <a:spLocks noChangeArrowheads="1"/>
          </p:cNvSpPr>
          <p:nvPr/>
        </p:nvSpPr>
        <p:spPr bwMode="auto">
          <a:xfrm>
            <a:off x="260350" y="44450"/>
            <a:ext cx="6981825" cy="304800"/>
          </a:xfrm>
          <a:prstGeom prst="rect">
            <a:avLst/>
          </a:prstGeom>
          <a:noFill/>
          <a:ln w="9525">
            <a:noFill/>
            <a:miter lim="800000"/>
            <a:headEnd/>
            <a:tailEnd/>
          </a:ln>
          <a:effectLst/>
        </p:spPr>
        <p:txBody>
          <a:bodyPr>
            <a:spAutoFit/>
          </a:bodyPr>
          <a:lstStyle/>
          <a:p>
            <a:pPr>
              <a:spcBef>
                <a:spcPct val="50000"/>
              </a:spcBef>
              <a:defRPr/>
            </a:pPr>
            <a:endParaRPr lang="pt-PT" sz="1400" b="1" dirty="0">
              <a:solidFill>
                <a:srgbClr val="FF3300"/>
              </a:solidFill>
              <a:effectLst>
                <a:outerShdw blurRad="38100" dist="38100" dir="2700000" algn="tl">
                  <a:srgbClr val="C0C0C0"/>
                </a:outerShdw>
              </a:effectLst>
              <a:latin typeface="Arial" charset="0"/>
            </a:endParaRPr>
          </a:p>
        </p:txBody>
      </p:sp>
      <p:pic>
        <p:nvPicPr>
          <p:cNvPr id="18" name="Imagem 17">
            <a:extLst>
              <a:ext uri="{FF2B5EF4-FFF2-40B4-BE49-F238E27FC236}">
                <a16:creationId xmlns:a16="http://schemas.microsoft.com/office/drawing/2014/main" id="{A54B07A1-DA15-5583-A6BB-60CAE81F91A2}"/>
              </a:ext>
            </a:extLst>
          </p:cNvPr>
          <p:cNvPicPr>
            <a:picLocks noChangeAspect="1"/>
          </p:cNvPicPr>
          <p:nvPr/>
        </p:nvPicPr>
        <p:blipFill>
          <a:blip r:embed="rId3"/>
          <a:stretch>
            <a:fillRect/>
          </a:stretch>
        </p:blipFill>
        <p:spPr>
          <a:xfrm>
            <a:off x="101225" y="904241"/>
            <a:ext cx="9014192" cy="266482"/>
          </a:xfrm>
          <a:prstGeom prst="rect">
            <a:avLst/>
          </a:prstGeom>
        </p:spPr>
      </p:pic>
      <p:sp>
        <p:nvSpPr>
          <p:cNvPr id="21" name="Text Box 10">
            <a:extLst>
              <a:ext uri="{FF2B5EF4-FFF2-40B4-BE49-F238E27FC236}">
                <a16:creationId xmlns:a16="http://schemas.microsoft.com/office/drawing/2014/main" id="{D5104B28-695E-8D25-F59E-26E937D76ACA}"/>
              </a:ext>
            </a:extLst>
          </p:cNvPr>
          <p:cNvSpPr txBox="1">
            <a:spLocks noChangeArrowheads="1"/>
          </p:cNvSpPr>
          <p:nvPr/>
        </p:nvSpPr>
        <p:spPr bwMode="auto">
          <a:xfrm>
            <a:off x="8288338" y="6296025"/>
            <a:ext cx="827087" cy="366713"/>
          </a:xfrm>
          <a:prstGeom prst="rect">
            <a:avLst/>
          </a:prstGeom>
          <a:noFill/>
          <a:ln w="9525">
            <a:noFill/>
            <a:miter lim="800000"/>
            <a:headEnd/>
            <a:tailEnd/>
          </a:ln>
        </p:spPr>
        <p:txBody>
          <a:bodyPr>
            <a:spAutoFit/>
          </a:bodyPr>
          <a:lstStyle/>
          <a:p>
            <a:pPr>
              <a:spcBef>
                <a:spcPct val="50000"/>
              </a:spcBef>
            </a:pPr>
            <a:endParaRPr lang="pt-PT"/>
          </a:p>
        </p:txBody>
      </p:sp>
      <p:sp>
        <p:nvSpPr>
          <p:cNvPr id="22" name="Rectangle 11">
            <a:extLst>
              <a:ext uri="{FF2B5EF4-FFF2-40B4-BE49-F238E27FC236}">
                <a16:creationId xmlns:a16="http://schemas.microsoft.com/office/drawing/2014/main" id="{9D3CFF6E-F756-AF53-01EA-59D529E3466E}"/>
              </a:ext>
            </a:extLst>
          </p:cNvPr>
          <p:cNvSpPr>
            <a:spLocks noChangeArrowheads="1"/>
          </p:cNvSpPr>
          <p:nvPr/>
        </p:nvSpPr>
        <p:spPr bwMode="auto">
          <a:xfrm>
            <a:off x="8327571" y="6496091"/>
            <a:ext cx="936625" cy="260350"/>
          </a:xfrm>
          <a:prstGeom prst="rect">
            <a:avLst/>
          </a:prstGeom>
          <a:noFill/>
          <a:ln w="9525">
            <a:noFill/>
            <a:miter lim="800000"/>
            <a:headEnd/>
            <a:tailEnd/>
          </a:ln>
        </p:spPr>
        <p:txBody>
          <a:bodyPr anchor="ctr"/>
          <a:lstStyle/>
          <a:p>
            <a:pPr algn="ctr"/>
            <a:r>
              <a:rPr lang="pt-PT" sz="1000" dirty="0"/>
              <a:t>- </a:t>
            </a:r>
            <a:fld id="{1234D2FF-8FB9-47A1-B8C9-42A5F500BA2F}" type="slidenum">
              <a:rPr lang="pt-PT" sz="1000"/>
              <a:pPr algn="ctr"/>
              <a:t>18</a:t>
            </a:fld>
            <a:r>
              <a:rPr lang="pt-PT" sz="1000" dirty="0"/>
              <a:t> -</a:t>
            </a:r>
          </a:p>
        </p:txBody>
      </p:sp>
      <p:pic>
        <p:nvPicPr>
          <p:cNvPr id="23" name="Imagem 22">
            <a:extLst>
              <a:ext uri="{FF2B5EF4-FFF2-40B4-BE49-F238E27FC236}">
                <a16:creationId xmlns:a16="http://schemas.microsoft.com/office/drawing/2014/main" id="{47321E2C-9BCC-C585-B0B1-E4737EDCD8C0}"/>
              </a:ext>
            </a:extLst>
          </p:cNvPr>
          <p:cNvPicPr>
            <a:picLocks noChangeAspect="1"/>
          </p:cNvPicPr>
          <p:nvPr/>
        </p:nvPicPr>
        <p:blipFill>
          <a:blip r:embed="rId4"/>
          <a:stretch>
            <a:fillRect/>
          </a:stretch>
        </p:blipFill>
        <p:spPr>
          <a:xfrm>
            <a:off x="0" y="6320212"/>
            <a:ext cx="9144000" cy="253252"/>
          </a:xfrm>
          <a:prstGeom prst="rect">
            <a:avLst/>
          </a:prstGeom>
        </p:spPr>
      </p:pic>
      <p:pic>
        <p:nvPicPr>
          <p:cNvPr id="25" name="Imagem 24">
            <a:extLst>
              <a:ext uri="{FF2B5EF4-FFF2-40B4-BE49-F238E27FC236}">
                <a16:creationId xmlns:a16="http://schemas.microsoft.com/office/drawing/2014/main" id="{1A1DA309-51C4-B647-E5B1-570886161B9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8125" y="6488336"/>
            <a:ext cx="545959" cy="199802"/>
          </a:xfrm>
          <a:prstGeom prst="rect">
            <a:avLst/>
          </a:prstGeom>
        </p:spPr>
      </p:pic>
      <p:sp>
        <p:nvSpPr>
          <p:cNvPr id="26" name="Rectângulo 19">
            <a:extLst>
              <a:ext uri="{FF2B5EF4-FFF2-40B4-BE49-F238E27FC236}">
                <a16:creationId xmlns:a16="http://schemas.microsoft.com/office/drawing/2014/main" id="{B0776873-CF5E-5699-C565-22D204F434ED}"/>
              </a:ext>
            </a:extLst>
          </p:cNvPr>
          <p:cNvSpPr/>
          <p:nvPr/>
        </p:nvSpPr>
        <p:spPr>
          <a:xfrm>
            <a:off x="5535613" y="553019"/>
            <a:ext cx="3505200" cy="261610"/>
          </a:xfrm>
          <a:prstGeom prst="rect">
            <a:avLst/>
          </a:prstGeom>
        </p:spPr>
        <p:txBody>
          <a:bodyPr wrap="square">
            <a:spAutoFit/>
          </a:bodyPr>
          <a:lstStyle/>
          <a:p>
            <a:pPr algn="r"/>
            <a:r>
              <a:rPr lang="pt-PT" sz="1100" b="1" cap="all" dirty="0" err="1">
                <a:highlight>
                  <a:srgbClr val="FFFF00"/>
                </a:highlight>
              </a:rPr>
              <a:t>Graduation</a:t>
            </a:r>
            <a:r>
              <a:rPr lang="pt-PT" sz="1100" b="1" cap="all" dirty="0">
                <a:highlight>
                  <a:srgbClr val="FFFF00"/>
                </a:highlight>
              </a:rPr>
              <a:t> in </a:t>
            </a:r>
            <a:r>
              <a:rPr lang="pt-PT" sz="1100" b="1" cap="all" dirty="0" err="1">
                <a:highlight>
                  <a:srgbClr val="FFFF00"/>
                </a:highlight>
              </a:rPr>
              <a:t>Informatics</a:t>
            </a:r>
            <a:r>
              <a:rPr lang="pt-PT" sz="1100" b="1" cap="all" dirty="0">
                <a:highlight>
                  <a:srgbClr val="FFFF00"/>
                </a:highlight>
              </a:rPr>
              <a:t> </a:t>
            </a:r>
            <a:r>
              <a:rPr lang="pt-PT" sz="1100" b="1" cap="all" dirty="0" err="1">
                <a:highlight>
                  <a:srgbClr val="FFFF00"/>
                </a:highlight>
              </a:rPr>
              <a:t>engineering</a:t>
            </a:r>
            <a:endParaRPr lang="pt-PT" sz="1100" dirty="0">
              <a:highlight>
                <a:srgbClr val="FFFF00"/>
              </a:highlight>
            </a:endParaRPr>
          </a:p>
        </p:txBody>
      </p:sp>
      <p:pic>
        <p:nvPicPr>
          <p:cNvPr id="27" name="Imagem 26">
            <a:extLst>
              <a:ext uri="{FF2B5EF4-FFF2-40B4-BE49-F238E27FC236}">
                <a16:creationId xmlns:a16="http://schemas.microsoft.com/office/drawing/2014/main" id="{9BB264C5-4770-A462-C8B7-8795013C365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575316" y="9186"/>
            <a:ext cx="2575034" cy="639880"/>
          </a:xfrm>
          <a:prstGeom prst="rect">
            <a:avLst/>
          </a:prstGeom>
        </p:spPr>
      </p:pic>
      <p:sp>
        <p:nvSpPr>
          <p:cNvPr id="7" name="TextBox 6">
            <a:extLst>
              <a:ext uri="{FF2B5EF4-FFF2-40B4-BE49-F238E27FC236}">
                <a16:creationId xmlns:a16="http://schemas.microsoft.com/office/drawing/2014/main" id="{D159366E-6D3E-62D2-7D42-FB8899FBFAC9}"/>
              </a:ext>
            </a:extLst>
          </p:cNvPr>
          <p:cNvSpPr txBox="1"/>
          <p:nvPr/>
        </p:nvSpPr>
        <p:spPr>
          <a:xfrm>
            <a:off x="244186" y="1170723"/>
            <a:ext cx="4378539" cy="3785652"/>
          </a:xfrm>
          <a:prstGeom prst="rect">
            <a:avLst/>
          </a:prstGeom>
          <a:noFill/>
        </p:spPr>
        <p:txBody>
          <a:bodyPr wrap="square" rtlCol="0">
            <a:spAutoFit/>
          </a:bodyPr>
          <a:lstStyle/>
          <a:p>
            <a:pPr algn="just"/>
            <a:r>
              <a:rPr lang="en-US" sz="1600" b="1" dirty="0"/>
              <a:t>Model Summary</a:t>
            </a:r>
          </a:p>
          <a:p>
            <a:pPr algn="just"/>
            <a:endParaRPr lang="en-US" sz="1600" dirty="0"/>
          </a:p>
          <a:p>
            <a:pPr algn="just"/>
            <a:r>
              <a:rPr lang="en-US" sz="1600" dirty="0"/>
              <a:t>The model architecture was successfully built with approximately 12 million trainable parameters distributed across convolutional, pooling, and dense layers.</a:t>
            </a:r>
          </a:p>
          <a:p>
            <a:pPr algn="just"/>
            <a:endParaRPr lang="en-US" sz="1600" dirty="0"/>
          </a:p>
          <a:p>
            <a:pPr marL="285750" indent="-285750" algn="just">
              <a:buFont typeface="Arial" panose="020B0604020202020204" pitchFamily="34" charset="0"/>
              <a:buChar char="•"/>
            </a:pPr>
            <a:r>
              <a:rPr lang="en-US" sz="1600" dirty="0"/>
              <a:t>Total parameters: 11,963,457</a:t>
            </a:r>
          </a:p>
          <a:p>
            <a:pPr marL="285750" indent="-285750" algn="just">
              <a:buFont typeface="Arial" panose="020B0604020202020204" pitchFamily="34" charset="0"/>
              <a:buChar char="•"/>
            </a:pPr>
            <a:r>
              <a:rPr lang="en-US" sz="1600" dirty="0"/>
              <a:t>All parameters trainable</a:t>
            </a:r>
          </a:p>
          <a:p>
            <a:pPr marL="285750" indent="-285750" algn="just">
              <a:buFont typeface="Arial" panose="020B0604020202020204" pitchFamily="34" charset="0"/>
              <a:buChar char="•"/>
            </a:pPr>
            <a:r>
              <a:rPr lang="en-US" sz="1600" dirty="0"/>
              <a:t>Sequential architecture confirmed</a:t>
            </a:r>
          </a:p>
          <a:p>
            <a:pPr algn="just"/>
            <a:endParaRPr lang="en-US" sz="1600" dirty="0"/>
          </a:p>
          <a:p>
            <a:pPr algn="just"/>
            <a:r>
              <a:rPr lang="en-US" sz="1600" b="1" dirty="0"/>
              <a:t>Training Execution</a:t>
            </a:r>
          </a:p>
          <a:p>
            <a:pPr algn="just"/>
            <a:endParaRPr lang="en-US" sz="1600" dirty="0"/>
          </a:p>
          <a:p>
            <a:pPr algn="just"/>
            <a:r>
              <a:rPr lang="en-US" sz="1600" dirty="0"/>
              <a:t>The model was trained for 10 epochs using 80 images for training and 20 for validation.</a:t>
            </a:r>
          </a:p>
        </p:txBody>
      </p:sp>
      <p:sp>
        <p:nvSpPr>
          <p:cNvPr id="2" name="Subtítulo 2">
            <a:extLst>
              <a:ext uri="{FF2B5EF4-FFF2-40B4-BE49-F238E27FC236}">
                <a16:creationId xmlns:a16="http://schemas.microsoft.com/office/drawing/2014/main" id="{D43EE0DE-263E-2FF9-40EA-B30CA94673C4}"/>
              </a:ext>
            </a:extLst>
          </p:cNvPr>
          <p:cNvSpPr txBox="1">
            <a:spLocks/>
          </p:cNvSpPr>
          <p:nvPr/>
        </p:nvSpPr>
        <p:spPr>
          <a:xfrm>
            <a:off x="836017" y="6524516"/>
            <a:ext cx="7698382" cy="162409"/>
          </a:xfrm>
          <a:prstGeom prst="rect">
            <a:avLst/>
          </a:prstGeom>
        </p:spPr>
        <p:txBody>
          <a:bodyPr vert="horz" lIns="68580" tIns="34290" rIns="68580" bIns="3429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pt-PT" sz="900" dirty="0">
                <a:latin typeface="Arial" charset="0"/>
                <a:ea typeface="Arial" charset="0"/>
                <a:cs typeface="Arial" charset="0"/>
              </a:rPr>
              <a:t>@Diogo Monteiro - 32428, Gonçalo Teixeira - 31396 | </a:t>
            </a:r>
            <a:r>
              <a:rPr lang="pt-PT" sz="900" b="1" dirty="0">
                <a:solidFill>
                  <a:srgbClr val="C00000"/>
                </a:solidFill>
                <a:latin typeface="Arial" charset="0"/>
                <a:ea typeface="Arial" charset="0"/>
                <a:cs typeface="Arial" charset="0"/>
              </a:rPr>
              <a:t>Unidade Curricular: Projeto III </a:t>
            </a:r>
            <a:r>
              <a:rPr lang="pt-PT" sz="900" dirty="0">
                <a:latin typeface="Arial" charset="0"/>
                <a:ea typeface="Arial" charset="0"/>
                <a:cs typeface="Arial" charset="0"/>
              </a:rPr>
              <a:t>– Ano Letivo 2024/2025 – </a:t>
            </a:r>
            <a:r>
              <a:rPr lang="pt-PT" sz="900" b="1" dirty="0">
                <a:latin typeface="Arial" charset="0"/>
                <a:ea typeface="Arial" charset="0"/>
                <a:cs typeface="Arial" charset="0"/>
              </a:rPr>
              <a:t>MCZ03</a:t>
            </a:r>
          </a:p>
        </p:txBody>
      </p:sp>
      <p:pic>
        <p:nvPicPr>
          <p:cNvPr id="2050" name="Picture 2">
            <a:extLst>
              <a:ext uri="{FF2B5EF4-FFF2-40B4-BE49-F238E27FC236}">
                <a16:creationId xmlns:a16="http://schemas.microsoft.com/office/drawing/2014/main" id="{907BD6F1-A1B8-5D5B-46EB-027691B3654B}"/>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648"/>
          <a:stretch>
            <a:fillRect/>
          </a:stretch>
        </p:blipFill>
        <p:spPr bwMode="auto">
          <a:xfrm>
            <a:off x="4799963" y="1905000"/>
            <a:ext cx="4138224" cy="439526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82C6DFE3-9368-F09A-F3FC-4129A84B2B3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99963" y="1190672"/>
            <a:ext cx="2143125" cy="628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77424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D3D29-6A3E-7737-59ED-F93A77996C7A}"/>
            </a:ext>
          </a:extLst>
        </p:cNvPr>
        <p:cNvGrpSpPr/>
        <p:nvPr/>
      </p:nvGrpSpPr>
      <p:grpSpPr>
        <a:xfrm>
          <a:off x="0" y="0"/>
          <a:ext cx="0" cy="0"/>
          <a:chOff x="0" y="0"/>
          <a:chExt cx="0" cy="0"/>
        </a:xfrm>
      </p:grpSpPr>
      <p:sp>
        <p:nvSpPr>
          <p:cNvPr id="9229" name="Text Box 13">
            <a:extLst>
              <a:ext uri="{FF2B5EF4-FFF2-40B4-BE49-F238E27FC236}">
                <a16:creationId xmlns:a16="http://schemas.microsoft.com/office/drawing/2014/main" id="{BADDF59C-2238-181C-89B3-5A4DCAC57DA5}"/>
              </a:ext>
            </a:extLst>
          </p:cNvPr>
          <p:cNvSpPr txBox="1">
            <a:spLocks noChangeArrowheads="1"/>
          </p:cNvSpPr>
          <p:nvPr/>
        </p:nvSpPr>
        <p:spPr bwMode="auto">
          <a:xfrm>
            <a:off x="306388" y="557213"/>
            <a:ext cx="6981825" cy="400050"/>
          </a:xfrm>
          <a:prstGeom prst="rect">
            <a:avLst/>
          </a:prstGeom>
          <a:noFill/>
          <a:ln w="9525">
            <a:noFill/>
            <a:miter lim="800000"/>
            <a:headEnd/>
            <a:tailEnd/>
          </a:ln>
          <a:effectLst/>
        </p:spPr>
        <p:txBody>
          <a:bodyPr>
            <a:spAutoFit/>
          </a:bodyPr>
          <a:lstStyle/>
          <a:p>
            <a:pPr>
              <a:spcBef>
                <a:spcPct val="50000"/>
              </a:spcBef>
              <a:defRPr/>
            </a:pPr>
            <a:r>
              <a:rPr lang="pt-PT" sz="2000" b="1" dirty="0">
                <a:solidFill>
                  <a:srgbClr val="C00000"/>
                </a:solidFill>
                <a:effectLst>
                  <a:outerShdw blurRad="38100" dist="38100" dir="2700000" algn="tl">
                    <a:srgbClr val="C0C0C0"/>
                  </a:outerShdw>
                </a:effectLst>
                <a:latin typeface="Arial"/>
                <a:cs typeface="Arial"/>
              </a:rPr>
              <a:t>■</a:t>
            </a:r>
            <a:r>
              <a:rPr lang="pt-PT" sz="2000" b="1" dirty="0">
                <a:effectLst>
                  <a:outerShdw blurRad="38100" dist="38100" dir="2700000" algn="tl">
                    <a:srgbClr val="C0C0C0"/>
                  </a:outerShdw>
                </a:effectLst>
                <a:latin typeface="Arial"/>
                <a:cs typeface="Arial"/>
              </a:rPr>
              <a:t> </a:t>
            </a:r>
            <a:r>
              <a:rPr lang="en-US" sz="2000" b="1" dirty="0">
                <a:effectLst>
                  <a:outerShdw blurRad="38100" dist="38100" dir="2700000" algn="tl">
                    <a:srgbClr val="C0C0C0"/>
                  </a:outerShdw>
                </a:effectLst>
                <a:latin typeface="Arial"/>
                <a:cs typeface="Arial"/>
              </a:rPr>
              <a:t>3. Training Results and Performance</a:t>
            </a:r>
            <a:endParaRPr lang="pt-PT" sz="2000" b="1" dirty="0">
              <a:effectLst>
                <a:outerShdw blurRad="38100" dist="38100" dir="2700000" algn="tl">
                  <a:srgbClr val="C0C0C0"/>
                </a:outerShdw>
              </a:effectLst>
              <a:latin typeface="Arial" charset="0"/>
            </a:endParaRPr>
          </a:p>
        </p:txBody>
      </p:sp>
      <p:sp>
        <p:nvSpPr>
          <p:cNvPr id="10247" name="Line 15">
            <a:extLst>
              <a:ext uri="{FF2B5EF4-FFF2-40B4-BE49-F238E27FC236}">
                <a16:creationId xmlns:a16="http://schemas.microsoft.com/office/drawing/2014/main" id="{2B6C418C-63D2-3661-6C47-9FB5D2DCB70F}"/>
              </a:ext>
            </a:extLst>
          </p:cNvPr>
          <p:cNvSpPr>
            <a:spLocks noChangeShapeType="1"/>
          </p:cNvSpPr>
          <p:nvPr/>
        </p:nvSpPr>
        <p:spPr bwMode="auto">
          <a:xfrm>
            <a:off x="250825" y="0"/>
            <a:ext cx="0" cy="765175"/>
          </a:xfrm>
          <a:prstGeom prst="line">
            <a:avLst/>
          </a:prstGeom>
          <a:noFill/>
          <a:ln w="25400">
            <a:solidFill>
              <a:schemeClr val="tx1"/>
            </a:solidFill>
            <a:round/>
            <a:headEnd/>
            <a:tailEnd/>
          </a:ln>
        </p:spPr>
        <p:txBody>
          <a:bodyPr/>
          <a:lstStyle/>
          <a:p>
            <a:endParaRPr lang="pt-PT"/>
          </a:p>
        </p:txBody>
      </p:sp>
      <p:sp>
        <p:nvSpPr>
          <p:cNvPr id="9237" name="Text Box 21">
            <a:extLst>
              <a:ext uri="{FF2B5EF4-FFF2-40B4-BE49-F238E27FC236}">
                <a16:creationId xmlns:a16="http://schemas.microsoft.com/office/drawing/2014/main" id="{F02B5548-DCC3-883D-1F59-C67FA5DA991A}"/>
              </a:ext>
            </a:extLst>
          </p:cNvPr>
          <p:cNvSpPr txBox="1">
            <a:spLocks noChangeArrowheads="1"/>
          </p:cNvSpPr>
          <p:nvPr/>
        </p:nvSpPr>
        <p:spPr bwMode="auto">
          <a:xfrm>
            <a:off x="260350" y="44450"/>
            <a:ext cx="6981825" cy="304800"/>
          </a:xfrm>
          <a:prstGeom prst="rect">
            <a:avLst/>
          </a:prstGeom>
          <a:noFill/>
          <a:ln w="9525">
            <a:noFill/>
            <a:miter lim="800000"/>
            <a:headEnd/>
            <a:tailEnd/>
          </a:ln>
          <a:effectLst/>
        </p:spPr>
        <p:txBody>
          <a:bodyPr>
            <a:spAutoFit/>
          </a:bodyPr>
          <a:lstStyle/>
          <a:p>
            <a:pPr>
              <a:spcBef>
                <a:spcPct val="50000"/>
              </a:spcBef>
              <a:defRPr/>
            </a:pPr>
            <a:endParaRPr lang="pt-PT" sz="1400" b="1" dirty="0">
              <a:solidFill>
                <a:srgbClr val="FF3300"/>
              </a:solidFill>
              <a:effectLst>
                <a:outerShdw blurRad="38100" dist="38100" dir="2700000" algn="tl">
                  <a:srgbClr val="C0C0C0"/>
                </a:outerShdw>
              </a:effectLst>
              <a:latin typeface="Arial" charset="0"/>
            </a:endParaRPr>
          </a:p>
        </p:txBody>
      </p:sp>
      <p:pic>
        <p:nvPicPr>
          <p:cNvPr id="18" name="Imagem 17">
            <a:extLst>
              <a:ext uri="{FF2B5EF4-FFF2-40B4-BE49-F238E27FC236}">
                <a16:creationId xmlns:a16="http://schemas.microsoft.com/office/drawing/2014/main" id="{EC6438FF-D56E-33F5-545F-FD253E0E8642}"/>
              </a:ext>
            </a:extLst>
          </p:cNvPr>
          <p:cNvPicPr>
            <a:picLocks noChangeAspect="1"/>
          </p:cNvPicPr>
          <p:nvPr/>
        </p:nvPicPr>
        <p:blipFill>
          <a:blip r:embed="rId3"/>
          <a:stretch>
            <a:fillRect/>
          </a:stretch>
        </p:blipFill>
        <p:spPr>
          <a:xfrm>
            <a:off x="101225" y="904241"/>
            <a:ext cx="9014192" cy="266482"/>
          </a:xfrm>
          <a:prstGeom prst="rect">
            <a:avLst/>
          </a:prstGeom>
        </p:spPr>
      </p:pic>
      <p:sp>
        <p:nvSpPr>
          <p:cNvPr id="21" name="Text Box 10">
            <a:extLst>
              <a:ext uri="{FF2B5EF4-FFF2-40B4-BE49-F238E27FC236}">
                <a16:creationId xmlns:a16="http://schemas.microsoft.com/office/drawing/2014/main" id="{FE1C3B3B-E2FC-36DB-CFA5-0504CD4B988B}"/>
              </a:ext>
            </a:extLst>
          </p:cNvPr>
          <p:cNvSpPr txBox="1">
            <a:spLocks noChangeArrowheads="1"/>
          </p:cNvSpPr>
          <p:nvPr/>
        </p:nvSpPr>
        <p:spPr bwMode="auto">
          <a:xfrm>
            <a:off x="8288338" y="6296025"/>
            <a:ext cx="827087" cy="366713"/>
          </a:xfrm>
          <a:prstGeom prst="rect">
            <a:avLst/>
          </a:prstGeom>
          <a:noFill/>
          <a:ln w="9525">
            <a:noFill/>
            <a:miter lim="800000"/>
            <a:headEnd/>
            <a:tailEnd/>
          </a:ln>
        </p:spPr>
        <p:txBody>
          <a:bodyPr>
            <a:spAutoFit/>
          </a:bodyPr>
          <a:lstStyle/>
          <a:p>
            <a:pPr>
              <a:spcBef>
                <a:spcPct val="50000"/>
              </a:spcBef>
            </a:pPr>
            <a:endParaRPr lang="pt-PT"/>
          </a:p>
        </p:txBody>
      </p:sp>
      <p:sp>
        <p:nvSpPr>
          <p:cNvPr id="22" name="Rectangle 11">
            <a:extLst>
              <a:ext uri="{FF2B5EF4-FFF2-40B4-BE49-F238E27FC236}">
                <a16:creationId xmlns:a16="http://schemas.microsoft.com/office/drawing/2014/main" id="{1082D3F7-3261-A00F-5853-882A004BFFC6}"/>
              </a:ext>
            </a:extLst>
          </p:cNvPr>
          <p:cNvSpPr>
            <a:spLocks noChangeArrowheads="1"/>
          </p:cNvSpPr>
          <p:nvPr/>
        </p:nvSpPr>
        <p:spPr bwMode="auto">
          <a:xfrm>
            <a:off x="8327571" y="6496091"/>
            <a:ext cx="936625" cy="260350"/>
          </a:xfrm>
          <a:prstGeom prst="rect">
            <a:avLst/>
          </a:prstGeom>
          <a:noFill/>
          <a:ln w="9525">
            <a:noFill/>
            <a:miter lim="800000"/>
            <a:headEnd/>
            <a:tailEnd/>
          </a:ln>
        </p:spPr>
        <p:txBody>
          <a:bodyPr anchor="ctr"/>
          <a:lstStyle/>
          <a:p>
            <a:pPr algn="ctr"/>
            <a:r>
              <a:rPr lang="pt-PT" sz="1000" dirty="0"/>
              <a:t>- </a:t>
            </a:r>
            <a:fld id="{1234D2FF-8FB9-47A1-B8C9-42A5F500BA2F}" type="slidenum">
              <a:rPr lang="pt-PT" sz="1000"/>
              <a:pPr algn="ctr"/>
              <a:t>19</a:t>
            </a:fld>
            <a:r>
              <a:rPr lang="pt-PT" sz="1000" dirty="0"/>
              <a:t> -</a:t>
            </a:r>
          </a:p>
        </p:txBody>
      </p:sp>
      <p:pic>
        <p:nvPicPr>
          <p:cNvPr id="23" name="Imagem 22">
            <a:extLst>
              <a:ext uri="{FF2B5EF4-FFF2-40B4-BE49-F238E27FC236}">
                <a16:creationId xmlns:a16="http://schemas.microsoft.com/office/drawing/2014/main" id="{F6456B60-4207-CE59-C235-6210600E26C6}"/>
              </a:ext>
            </a:extLst>
          </p:cNvPr>
          <p:cNvPicPr>
            <a:picLocks noChangeAspect="1"/>
          </p:cNvPicPr>
          <p:nvPr/>
        </p:nvPicPr>
        <p:blipFill>
          <a:blip r:embed="rId4"/>
          <a:stretch>
            <a:fillRect/>
          </a:stretch>
        </p:blipFill>
        <p:spPr>
          <a:xfrm>
            <a:off x="0" y="6320212"/>
            <a:ext cx="9144000" cy="253252"/>
          </a:xfrm>
          <a:prstGeom prst="rect">
            <a:avLst/>
          </a:prstGeom>
        </p:spPr>
      </p:pic>
      <p:pic>
        <p:nvPicPr>
          <p:cNvPr id="25" name="Imagem 24">
            <a:extLst>
              <a:ext uri="{FF2B5EF4-FFF2-40B4-BE49-F238E27FC236}">
                <a16:creationId xmlns:a16="http://schemas.microsoft.com/office/drawing/2014/main" id="{959BBE64-EBC9-2E15-93F4-149DE0C1DB7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8125" y="6488336"/>
            <a:ext cx="545959" cy="199802"/>
          </a:xfrm>
          <a:prstGeom prst="rect">
            <a:avLst/>
          </a:prstGeom>
        </p:spPr>
      </p:pic>
      <p:sp>
        <p:nvSpPr>
          <p:cNvPr id="26" name="Rectângulo 19">
            <a:extLst>
              <a:ext uri="{FF2B5EF4-FFF2-40B4-BE49-F238E27FC236}">
                <a16:creationId xmlns:a16="http://schemas.microsoft.com/office/drawing/2014/main" id="{8CA634E7-8780-30CE-00AC-868F1EC52724}"/>
              </a:ext>
            </a:extLst>
          </p:cNvPr>
          <p:cNvSpPr/>
          <p:nvPr/>
        </p:nvSpPr>
        <p:spPr>
          <a:xfrm>
            <a:off x="5535613" y="553019"/>
            <a:ext cx="3505200" cy="261610"/>
          </a:xfrm>
          <a:prstGeom prst="rect">
            <a:avLst/>
          </a:prstGeom>
        </p:spPr>
        <p:txBody>
          <a:bodyPr wrap="square">
            <a:spAutoFit/>
          </a:bodyPr>
          <a:lstStyle/>
          <a:p>
            <a:pPr algn="r"/>
            <a:r>
              <a:rPr lang="pt-PT" sz="1100" b="1" cap="all" dirty="0" err="1">
                <a:highlight>
                  <a:srgbClr val="FFFF00"/>
                </a:highlight>
              </a:rPr>
              <a:t>Graduation</a:t>
            </a:r>
            <a:r>
              <a:rPr lang="pt-PT" sz="1100" b="1" cap="all" dirty="0">
                <a:highlight>
                  <a:srgbClr val="FFFF00"/>
                </a:highlight>
              </a:rPr>
              <a:t> in </a:t>
            </a:r>
            <a:r>
              <a:rPr lang="pt-PT" sz="1100" b="1" cap="all" dirty="0" err="1">
                <a:highlight>
                  <a:srgbClr val="FFFF00"/>
                </a:highlight>
              </a:rPr>
              <a:t>Informatics</a:t>
            </a:r>
            <a:r>
              <a:rPr lang="pt-PT" sz="1100" b="1" cap="all" dirty="0">
                <a:highlight>
                  <a:srgbClr val="FFFF00"/>
                </a:highlight>
              </a:rPr>
              <a:t> </a:t>
            </a:r>
            <a:r>
              <a:rPr lang="pt-PT" sz="1100" b="1" cap="all" dirty="0" err="1">
                <a:highlight>
                  <a:srgbClr val="FFFF00"/>
                </a:highlight>
              </a:rPr>
              <a:t>engineering</a:t>
            </a:r>
            <a:endParaRPr lang="pt-PT" sz="1100" dirty="0">
              <a:highlight>
                <a:srgbClr val="FFFF00"/>
              </a:highlight>
            </a:endParaRPr>
          </a:p>
        </p:txBody>
      </p:sp>
      <p:pic>
        <p:nvPicPr>
          <p:cNvPr id="27" name="Imagem 26">
            <a:extLst>
              <a:ext uri="{FF2B5EF4-FFF2-40B4-BE49-F238E27FC236}">
                <a16:creationId xmlns:a16="http://schemas.microsoft.com/office/drawing/2014/main" id="{37F57D8B-BC19-4361-CC21-CD7E34DD9FF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575316" y="9186"/>
            <a:ext cx="2575034" cy="639880"/>
          </a:xfrm>
          <a:prstGeom prst="rect">
            <a:avLst/>
          </a:prstGeom>
        </p:spPr>
      </p:pic>
      <p:sp>
        <p:nvSpPr>
          <p:cNvPr id="7" name="TextBox 6">
            <a:extLst>
              <a:ext uri="{FF2B5EF4-FFF2-40B4-BE49-F238E27FC236}">
                <a16:creationId xmlns:a16="http://schemas.microsoft.com/office/drawing/2014/main" id="{F0526125-DAD2-5F69-386B-C25065160D0C}"/>
              </a:ext>
            </a:extLst>
          </p:cNvPr>
          <p:cNvSpPr txBox="1"/>
          <p:nvPr/>
        </p:nvSpPr>
        <p:spPr>
          <a:xfrm>
            <a:off x="334907" y="1170723"/>
            <a:ext cx="4287818" cy="4524315"/>
          </a:xfrm>
          <a:prstGeom prst="rect">
            <a:avLst/>
          </a:prstGeom>
          <a:noFill/>
        </p:spPr>
        <p:txBody>
          <a:bodyPr wrap="square" rtlCol="0">
            <a:spAutoFit/>
          </a:bodyPr>
          <a:lstStyle/>
          <a:p>
            <a:pPr algn="just"/>
            <a:r>
              <a:rPr lang="en-US" sz="1600" dirty="0"/>
              <a:t>Performance metrics were recorded at each epoch to monitor learning progress.</a:t>
            </a:r>
          </a:p>
          <a:p>
            <a:pPr algn="just"/>
            <a:endParaRPr lang="en-US" sz="1600" dirty="0"/>
          </a:p>
          <a:p>
            <a:pPr marL="285750" indent="-285750" algn="just">
              <a:buFont typeface="Arial" panose="020B0604020202020204" pitchFamily="34" charset="0"/>
              <a:buChar char="•"/>
            </a:pPr>
            <a:r>
              <a:rPr lang="en-US" sz="1600" dirty="0"/>
              <a:t>10 training epochs completed</a:t>
            </a:r>
          </a:p>
          <a:p>
            <a:pPr marL="285750" indent="-285750" algn="just">
              <a:buFont typeface="Arial" panose="020B0604020202020204" pitchFamily="34" charset="0"/>
              <a:buChar char="•"/>
            </a:pPr>
            <a:r>
              <a:rPr lang="en-US" sz="1600" dirty="0"/>
              <a:t>Training set: 80 images</a:t>
            </a:r>
          </a:p>
          <a:p>
            <a:pPr marL="285750" indent="-285750" algn="just">
              <a:buFont typeface="Arial" panose="020B0604020202020204" pitchFamily="34" charset="0"/>
              <a:buChar char="•"/>
            </a:pPr>
            <a:r>
              <a:rPr lang="en-US" sz="1600" dirty="0"/>
              <a:t>Validation set: 20 images</a:t>
            </a:r>
          </a:p>
          <a:p>
            <a:pPr algn="just"/>
            <a:endParaRPr lang="en-US" sz="1600" dirty="0"/>
          </a:p>
          <a:p>
            <a:pPr algn="just"/>
            <a:r>
              <a:rPr lang="en-US" sz="1600" b="1" dirty="0"/>
              <a:t>Performance Metrics</a:t>
            </a:r>
          </a:p>
          <a:p>
            <a:pPr algn="just"/>
            <a:endParaRPr lang="en-US" sz="1600" dirty="0"/>
          </a:p>
          <a:p>
            <a:pPr algn="just"/>
            <a:r>
              <a:rPr lang="en-US" sz="1600" dirty="0"/>
              <a:t>The model achieved strong performance, reaching approximately 95% validation accuracy by the final epoch. Both training and validation loss decreased consistently, indicating effective learning without overfitting.</a:t>
            </a:r>
          </a:p>
          <a:p>
            <a:pPr algn="just"/>
            <a:endParaRPr lang="en-US" sz="1600" dirty="0"/>
          </a:p>
          <a:p>
            <a:pPr marL="285750" indent="-285750" algn="just">
              <a:buFont typeface="Arial" panose="020B0604020202020204" pitchFamily="34" charset="0"/>
              <a:buChar char="•"/>
            </a:pPr>
            <a:r>
              <a:rPr lang="en-US" sz="1600" dirty="0"/>
              <a:t>Final validation accuracy: ~95%</a:t>
            </a:r>
          </a:p>
          <a:p>
            <a:pPr marL="285750" indent="-285750" algn="just">
              <a:buFont typeface="Arial" panose="020B0604020202020204" pitchFamily="34" charset="0"/>
              <a:buChar char="•"/>
            </a:pPr>
            <a:r>
              <a:rPr lang="en-US" sz="1600" dirty="0"/>
              <a:t>Consistent loss reduction</a:t>
            </a:r>
          </a:p>
          <a:p>
            <a:pPr marL="285750" indent="-285750" algn="just">
              <a:buFont typeface="Arial" panose="020B0604020202020204" pitchFamily="34" charset="0"/>
              <a:buChar char="•"/>
            </a:pPr>
            <a:r>
              <a:rPr lang="en-US" sz="1600" dirty="0"/>
              <a:t>Stable training progression</a:t>
            </a:r>
          </a:p>
        </p:txBody>
      </p:sp>
      <p:sp>
        <p:nvSpPr>
          <p:cNvPr id="2" name="Subtítulo 2">
            <a:extLst>
              <a:ext uri="{FF2B5EF4-FFF2-40B4-BE49-F238E27FC236}">
                <a16:creationId xmlns:a16="http://schemas.microsoft.com/office/drawing/2014/main" id="{45FFC35E-E0C3-223F-C6C7-C708F822628E}"/>
              </a:ext>
            </a:extLst>
          </p:cNvPr>
          <p:cNvSpPr txBox="1">
            <a:spLocks/>
          </p:cNvSpPr>
          <p:nvPr/>
        </p:nvSpPr>
        <p:spPr>
          <a:xfrm>
            <a:off x="836017" y="6524516"/>
            <a:ext cx="7698382" cy="162409"/>
          </a:xfrm>
          <a:prstGeom prst="rect">
            <a:avLst/>
          </a:prstGeom>
        </p:spPr>
        <p:txBody>
          <a:bodyPr vert="horz" lIns="68580" tIns="34290" rIns="68580" bIns="3429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pt-PT" sz="900" dirty="0">
                <a:latin typeface="Arial" charset="0"/>
                <a:ea typeface="Arial" charset="0"/>
                <a:cs typeface="Arial" charset="0"/>
              </a:rPr>
              <a:t>@Diogo Monteiro - 32428, Gonçalo Teixeira - 31396 | </a:t>
            </a:r>
            <a:r>
              <a:rPr lang="pt-PT" sz="900" b="1" dirty="0">
                <a:solidFill>
                  <a:srgbClr val="C00000"/>
                </a:solidFill>
                <a:latin typeface="Arial" charset="0"/>
                <a:ea typeface="Arial" charset="0"/>
                <a:cs typeface="Arial" charset="0"/>
              </a:rPr>
              <a:t>Unidade Curricular: Projeto III </a:t>
            </a:r>
            <a:r>
              <a:rPr lang="pt-PT" sz="900" dirty="0">
                <a:latin typeface="Arial" charset="0"/>
                <a:ea typeface="Arial" charset="0"/>
                <a:cs typeface="Arial" charset="0"/>
              </a:rPr>
              <a:t>– Ano Letivo 2024/2025 – </a:t>
            </a:r>
            <a:r>
              <a:rPr lang="pt-PT" sz="900" b="1" dirty="0">
                <a:latin typeface="Arial" charset="0"/>
                <a:ea typeface="Arial" charset="0"/>
                <a:cs typeface="Arial" charset="0"/>
              </a:rPr>
              <a:t>MCZ03</a:t>
            </a:r>
          </a:p>
        </p:txBody>
      </p:sp>
      <p:pic>
        <p:nvPicPr>
          <p:cNvPr id="2050" name="Picture 2">
            <a:extLst>
              <a:ext uri="{FF2B5EF4-FFF2-40B4-BE49-F238E27FC236}">
                <a16:creationId xmlns:a16="http://schemas.microsoft.com/office/drawing/2014/main" id="{E9106D70-1175-3E55-2DEC-BEA85DF9A27F}"/>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648"/>
          <a:stretch>
            <a:fillRect/>
          </a:stretch>
        </p:blipFill>
        <p:spPr bwMode="auto">
          <a:xfrm>
            <a:off x="4799963" y="1905000"/>
            <a:ext cx="4138224" cy="439526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C7A8E9F6-92FA-6B70-FE14-AADC8A5ED77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99963" y="1190672"/>
            <a:ext cx="2143125" cy="628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61561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BC166-15F4-2271-D41C-B712A043B661}"/>
            </a:ext>
          </a:extLst>
        </p:cNvPr>
        <p:cNvGrpSpPr/>
        <p:nvPr/>
      </p:nvGrpSpPr>
      <p:grpSpPr>
        <a:xfrm>
          <a:off x="0" y="0"/>
          <a:ext cx="0" cy="0"/>
          <a:chOff x="0" y="0"/>
          <a:chExt cx="0" cy="0"/>
        </a:xfrm>
      </p:grpSpPr>
      <p:sp>
        <p:nvSpPr>
          <p:cNvPr id="9229" name="Text Box 13">
            <a:extLst>
              <a:ext uri="{FF2B5EF4-FFF2-40B4-BE49-F238E27FC236}">
                <a16:creationId xmlns:a16="http://schemas.microsoft.com/office/drawing/2014/main" id="{7D7A37E9-1EFA-38C5-5E3A-0FB4A25D64D6}"/>
              </a:ext>
            </a:extLst>
          </p:cNvPr>
          <p:cNvSpPr txBox="1">
            <a:spLocks noChangeArrowheads="1"/>
          </p:cNvSpPr>
          <p:nvPr/>
        </p:nvSpPr>
        <p:spPr bwMode="auto">
          <a:xfrm>
            <a:off x="306388" y="557213"/>
            <a:ext cx="6981825" cy="400050"/>
          </a:xfrm>
          <a:prstGeom prst="rect">
            <a:avLst/>
          </a:prstGeom>
          <a:noFill/>
          <a:ln w="9525">
            <a:noFill/>
            <a:miter lim="800000"/>
            <a:headEnd/>
            <a:tailEnd/>
          </a:ln>
          <a:effectLst/>
        </p:spPr>
        <p:txBody>
          <a:bodyPr>
            <a:spAutoFit/>
          </a:bodyPr>
          <a:lstStyle/>
          <a:p>
            <a:pPr>
              <a:spcBef>
                <a:spcPct val="50000"/>
              </a:spcBef>
              <a:defRPr/>
            </a:pPr>
            <a:r>
              <a:rPr lang="pt-PT" sz="2000" b="1" dirty="0">
                <a:solidFill>
                  <a:srgbClr val="C00000"/>
                </a:solidFill>
                <a:effectLst>
                  <a:outerShdw blurRad="38100" dist="38100" dir="2700000" algn="tl">
                    <a:srgbClr val="C0C0C0"/>
                  </a:outerShdw>
                </a:effectLst>
                <a:latin typeface="Arial"/>
                <a:cs typeface="Arial"/>
              </a:rPr>
              <a:t>■</a:t>
            </a:r>
            <a:r>
              <a:rPr lang="pt-PT" sz="2000" b="1" dirty="0">
                <a:effectLst>
                  <a:outerShdw blurRad="38100" dist="38100" dir="2700000" algn="tl">
                    <a:srgbClr val="C0C0C0"/>
                  </a:outerShdw>
                </a:effectLst>
                <a:latin typeface="Arial"/>
                <a:cs typeface="Arial"/>
              </a:rPr>
              <a:t> </a:t>
            </a:r>
            <a:r>
              <a:rPr lang="en-US" sz="2000" b="1" dirty="0">
                <a:effectLst>
                  <a:outerShdw blurRad="38100" dist="38100" dir="2700000" algn="tl">
                    <a:srgbClr val="C0C0C0"/>
                  </a:outerShdw>
                </a:effectLst>
                <a:latin typeface="Arial"/>
                <a:cs typeface="Arial"/>
              </a:rPr>
              <a:t>4. Model Testing with New Images</a:t>
            </a:r>
            <a:endParaRPr lang="pt-PT" sz="2000" b="1" dirty="0">
              <a:effectLst>
                <a:outerShdw blurRad="38100" dist="38100" dir="2700000" algn="tl">
                  <a:srgbClr val="C0C0C0"/>
                </a:outerShdw>
              </a:effectLst>
              <a:latin typeface="Arial" charset="0"/>
            </a:endParaRPr>
          </a:p>
        </p:txBody>
      </p:sp>
      <p:sp>
        <p:nvSpPr>
          <p:cNvPr id="10247" name="Line 15">
            <a:extLst>
              <a:ext uri="{FF2B5EF4-FFF2-40B4-BE49-F238E27FC236}">
                <a16:creationId xmlns:a16="http://schemas.microsoft.com/office/drawing/2014/main" id="{0596D3F7-E503-2007-D781-50046BB50B32}"/>
              </a:ext>
            </a:extLst>
          </p:cNvPr>
          <p:cNvSpPr>
            <a:spLocks noChangeShapeType="1"/>
          </p:cNvSpPr>
          <p:nvPr/>
        </p:nvSpPr>
        <p:spPr bwMode="auto">
          <a:xfrm>
            <a:off x="250825" y="0"/>
            <a:ext cx="0" cy="765175"/>
          </a:xfrm>
          <a:prstGeom prst="line">
            <a:avLst/>
          </a:prstGeom>
          <a:noFill/>
          <a:ln w="25400">
            <a:solidFill>
              <a:schemeClr val="tx1"/>
            </a:solidFill>
            <a:round/>
            <a:headEnd/>
            <a:tailEnd/>
          </a:ln>
        </p:spPr>
        <p:txBody>
          <a:bodyPr/>
          <a:lstStyle/>
          <a:p>
            <a:endParaRPr lang="pt-PT"/>
          </a:p>
        </p:txBody>
      </p:sp>
      <p:sp>
        <p:nvSpPr>
          <p:cNvPr id="9237" name="Text Box 21">
            <a:extLst>
              <a:ext uri="{FF2B5EF4-FFF2-40B4-BE49-F238E27FC236}">
                <a16:creationId xmlns:a16="http://schemas.microsoft.com/office/drawing/2014/main" id="{91B26945-2074-84FC-4779-9EA92F491CAF}"/>
              </a:ext>
            </a:extLst>
          </p:cNvPr>
          <p:cNvSpPr txBox="1">
            <a:spLocks noChangeArrowheads="1"/>
          </p:cNvSpPr>
          <p:nvPr/>
        </p:nvSpPr>
        <p:spPr bwMode="auto">
          <a:xfrm>
            <a:off x="260350" y="44450"/>
            <a:ext cx="6981825" cy="304800"/>
          </a:xfrm>
          <a:prstGeom prst="rect">
            <a:avLst/>
          </a:prstGeom>
          <a:noFill/>
          <a:ln w="9525">
            <a:noFill/>
            <a:miter lim="800000"/>
            <a:headEnd/>
            <a:tailEnd/>
          </a:ln>
          <a:effectLst/>
        </p:spPr>
        <p:txBody>
          <a:bodyPr>
            <a:spAutoFit/>
          </a:bodyPr>
          <a:lstStyle/>
          <a:p>
            <a:pPr>
              <a:spcBef>
                <a:spcPct val="50000"/>
              </a:spcBef>
              <a:defRPr/>
            </a:pPr>
            <a:endParaRPr lang="pt-PT" sz="1400" b="1" dirty="0">
              <a:solidFill>
                <a:srgbClr val="FF3300"/>
              </a:solidFill>
              <a:effectLst>
                <a:outerShdw blurRad="38100" dist="38100" dir="2700000" algn="tl">
                  <a:srgbClr val="C0C0C0"/>
                </a:outerShdw>
              </a:effectLst>
              <a:latin typeface="Arial" charset="0"/>
            </a:endParaRPr>
          </a:p>
        </p:txBody>
      </p:sp>
      <p:pic>
        <p:nvPicPr>
          <p:cNvPr id="18" name="Imagem 17">
            <a:extLst>
              <a:ext uri="{FF2B5EF4-FFF2-40B4-BE49-F238E27FC236}">
                <a16:creationId xmlns:a16="http://schemas.microsoft.com/office/drawing/2014/main" id="{31E2081A-5C84-7CF7-79ED-49ADDC3310B4}"/>
              </a:ext>
            </a:extLst>
          </p:cNvPr>
          <p:cNvPicPr>
            <a:picLocks noChangeAspect="1"/>
          </p:cNvPicPr>
          <p:nvPr/>
        </p:nvPicPr>
        <p:blipFill>
          <a:blip r:embed="rId3"/>
          <a:stretch>
            <a:fillRect/>
          </a:stretch>
        </p:blipFill>
        <p:spPr>
          <a:xfrm>
            <a:off x="101225" y="904241"/>
            <a:ext cx="9014192" cy="266482"/>
          </a:xfrm>
          <a:prstGeom prst="rect">
            <a:avLst/>
          </a:prstGeom>
        </p:spPr>
      </p:pic>
      <p:sp>
        <p:nvSpPr>
          <p:cNvPr id="21" name="Text Box 10">
            <a:extLst>
              <a:ext uri="{FF2B5EF4-FFF2-40B4-BE49-F238E27FC236}">
                <a16:creationId xmlns:a16="http://schemas.microsoft.com/office/drawing/2014/main" id="{2C5E91D6-2985-26BF-C589-AC77045D49B3}"/>
              </a:ext>
            </a:extLst>
          </p:cNvPr>
          <p:cNvSpPr txBox="1">
            <a:spLocks noChangeArrowheads="1"/>
          </p:cNvSpPr>
          <p:nvPr/>
        </p:nvSpPr>
        <p:spPr bwMode="auto">
          <a:xfrm>
            <a:off x="8288338" y="6296025"/>
            <a:ext cx="827087" cy="366713"/>
          </a:xfrm>
          <a:prstGeom prst="rect">
            <a:avLst/>
          </a:prstGeom>
          <a:noFill/>
          <a:ln w="9525">
            <a:noFill/>
            <a:miter lim="800000"/>
            <a:headEnd/>
            <a:tailEnd/>
          </a:ln>
        </p:spPr>
        <p:txBody>
          <a:bodyPr>
            <a:spAutoFit/>
          </a:bodyPr>
          <a:lstStyle/>
          <a:p>
            <a:pPr>
              <a:spcBef>
                <a:spcPct val="50000"/>
              </a:spcBef>
            </a:pPr>
            <a:endParaRPr lang="pt-PT"/>
          </a:p>
        </p:txBody>
      </p:sp>
      <p:sp>
        <p:nvSpPr>
          <p:cNvPr id="22" name="Rectangle 11">
            <a:extLst>
              <a:ext uri="{FF2B5EF4-FFF2-40B4-BE49-F238E27FC236}">
                <a16:creationId xmlns:a16="http://schemas.microsoft.com/office/drawing/2014/main" id="{EF644561-2AD0-7DFD-63CD-4DBC5CAEF989}"/>
              </a:ext>
            </a:extLst>
          </p:cNvPr>
          <p:cNvSpPr>
            <a:spLocks noChangeArrowheads="1"/>
          </p:cNvSpPr>
          <p:nvPr/>
        </p:nvSpPr>
        <p:spPr bwMode="auto">
          <a:xfrm>
            <a:off x="8327571" y="6496091"/>
            <a:ext cx="936625" cy="260350"/>
          </a:xfrm>
          <a:prstGeom prst="rect">
            <a:avLst/>
          </a:prstGeom>
          <a:noFill/>
          <a:ln w="9525">
            <a:noFill/>
            <a:miter lim="800000"/>
            <a:headEnd/>
            <a:tailEnd/>
          </a:ln>
        </p:spPr>
        <p:txBody>
          <a:bodyPr anchor="ctr"/>
          <a:lstStyle/>
          <a:p>
            <a:pPr algn="ctr"/>
            <a:r>
              <a:rPr lang="pt-PT" sz="1000" dirty="0"/>
              <a:t>- </a:t>
            </a:r>
            <a:fld id="{1234D2FF-8FB9-47A1-B8C9-42A5F500BA2F}" type="slidenum">
              <a:rPr lang="pt-PT" sz="1000"/>
              <a:pPr algn="ctr"/>
              <a:t>20</a:t>
            </a:fld>
            <a:r>
              <a:rPr lang="pt-PT" sz="1000" dirty="0"/>
              <a:t> -</a:t>
            </a:r>
          </a:p>
        </p:txBody>
      </p:sp>
      <p:pic>
        <p:nvPicPr>
          <p:cNvPr id="23" name="Imagem 22">
            <a:extLst>
              <a:ext uri="{FF2B5EF4-FFF2-40B4-BE49-F238E27FC236}">
                <a16:creationId xmlns:a16="http://schemas.microsoft.com/office/drawing/2014/main" id="{6C41B9C8-4B43-180F-167F-D28B74CA9A2F}"/>
              </a:ext>
            </a:extLst>
          </p:cNvPr>
          <p:cNvPicPr>
            <a:picLocks noChangeAspect="1"/>
          </p:cNvPicPr>
          <p:nvPr/>
        </p:nvPicPr>
        <p:blipFill>
          <a:blip r:embed="rId4"/>
          <a:stretch>
            <a:fillRect/>
          </a:stretch>
        </p:blipFill>
        <p:spPr>
          <a:xfrm>
            <a:off x="0" y="6320212"/>
            <a:ext cx="9144000" cy="253252"/>
          </a:xfrm>
          <a:prstGeom prst="rect">
            <a:avLst/>
          </a:prstGeom>
        </p:spPr>
      </p:pic>
      <p:pic>
        <p:nvPicPr>
          <p:cNvPr id="25" name="Imagem 24">
            <a:extLst>
              <a:ext uri="{FF2B5EF4-FFF2-40B4-BE49-F238E27FC236}">
                <a16:creationId xmlns:a16="http://schemas.microsoft.com/office/drawing/2014/main" id="{27AA2DF3-A8DE-F8D7-71D6-EEF9C23A2D2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8125" y="6488336"/>
            <a:ext cx="545959" cy="199802"/>
          </a:xfrm>
          <a:prstGeom prst="rect">
            <a:avLst/>
          </a:prstGeom>
        </p:spPr>
      </p:pic>
      <p:sp>
        <p:nvSpPr>
          <p:cNvPr id="26" name="Rectângulo 19">
            <a:extLst>
              <a:ext uri="{FF2B5EF4-FFF2-40B4-BE49-F238E27FC236}">
                <a16:creationId xmlns:a16="http://schemas.microsoft.com/office/drawing/2014/main" id="{52344AE0-19C0-FFA2-B15E-A9DD7FFC3A90}"/>
              </a:ext>
            </a:extLst>
          </p:cNvPr>
          <p:cNvSpPr/>
          <p:nvPr/>
        </p:nvSpPr>
        <p:spPr>
          <a:xfrm>
            <a:off x="5535613" y="553019"/>
            <a:ext cx="3505200" cy="261610"/>
          </a:xfrm>
          <a:prstGeom prst="rect">
            <a:avLst/>
          </a:prstGeom>
        </p:spPr>
        <p:txBody>
          <a:bodyPr wrap="square">
            <a:spAutoFit/>
          </a:bodyPr>
          <a:lstStyle/>
          <a:p>
            <a:pPr algn="r"/>
            <a:r>
              <a:rPr lang="pt-PT" sz="1100" b="1" cap="all" dirty="0" err="1">
                <a:highlight>
                  <a:srgbClr val="FFFF00"/>
                </a:highlight>
              </a:rPr>
              <a:t>Graduation</a:t>
            </a:r>
            <a:r>
              <a:rPr lang="pt-PT" sz="1100" b="1" cap="all" dirty="0">
                <a:highlight>
                  <a:srgbClr val="FFFF00"/>
                </a:highlight>
              </a:rPr>
              <a:t> in </a:t>
            </a:r>
            <a:r>
              <a:rPr lang="pt-PT" sz="1100" b="1" cap="all" dirty="0" err="1">
                <a:highlight>
                  <a:srgbClr val="FFFF00"/>
                </a:highlight>
              </a:rPr>
              <a:t>Informatics</a:t>
            </a:r>
            <a:r>
              <a:rPr lang="pt-PT" sz="1100" b="1" cap="all" dirty="0">
                <a:highlight>
                  <a:srgbClr val="FFFF00"/>
                </a:highlight>
              </a:rPr>
              <a:t> </a:t>
            </a:r>
            <a:r>
              <a:rPr lang="pt-PT" sz="1100" b="1" cap="all" dirty="0" err="1">
                <a:highlight>
                  <a:srgbClr val="FFFF00"/>
                </a:highlight>
              </a:rPr>
              <a:t>engineering</a:t>
            </a:r>
            <a:endParaRPr lang="pt-PT" sz="1100" dirty="0">
              <a:highlight>
                <a:srgbClr val="FFFF00"/>
              </a:highlight>
            </a:endParaRPr>
          </a:p>
        </p:txBody>
      </p:sp>
      <p:pic>
        <p:nvPicPr>
          <p:cNvPr id="27" name="Imagem 26">
            <a:extLst>
              <a:ext uri="{FF2B5EF4-FFF2-40B4-BE49-F238E27FC236}">
                <a16:creationId xmlns:a16="http://schemas.microsoft.com/office/drawing/2014/main" id="{8A9A4651-B777-EC72-8F63-DAF05B39438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575316" y="9186"/>
            <a:ext cx="2575034" cy="639880"/>
          </a:xfrm>
          <a:prstGeom prst="rect">
            <a:avLst/>
          </a:prstGeom>
        </p:spPr>
      </p:pic>
      <p:sp>
        <p:nvSpPr>
          <p:cNvPr id="7" name="TextBox 6">
            <a:extLst>
              <a:ext uri="{FF2B5EF4-FFF2-40B4-BE49-F238E27FC236}">
                <a16:creationId xmlns:a16="http://schemas.microsoft.com/office/drawing/2014/main" id="{D9E5D249-19FA-C183-6C12-5B8644914D30}"/>
              </a:ext>
            </a:extLst>
          </p:cNvPr>
          <p:cNvSpPr txBox="1"/>
          <p:nvPr/>
        </p:nvSpPr>
        <p:spPr>
          <a:xfrm>
            <a:off x="334907" y="1170723"/>
            <a:ext cx="3856093" cy="4770537"/>
          </a:xfrm>
          <a:prstGeom prst="rect">
            <a:avLst/>
          </a:prstGeom>
          <a:noFill/>
        </p:spPr>
        <p:txBody>
          <a:bodyPr wrap="square" rtlCol="0">
            <a:spAutoFit/>
          </a:bodyPr>
          <a:lstStyle/>
          <a:p>
            <a:pPr algn="just"/>
            <a:r>
              <a:rPr lang="en-US" sz="1600" b="1" dirty="0"/>
              <a:t>Test Implementation</a:t>
            </a:r>
          </a:p>
          <a:p>
            <a:pPr algn="just"/>
            <a:endParaRPr lang="en-US" sz="1600" dirty="0"/>
          </a:p>
          <a:p>
            <a:pPr algn="just"/>
            <a:r>
              <a:rPr lang="en-US" sz="1600" dirty="0"/>
              <a:t>A testing function was created to evaluate the model's performance on unseen images. This function loads new satellite images, processes them, and uses the trained model to make predictions.</a:t>
            </a:r>
          </a:p>
          <a:p>
            <a:pPr marL="285750" indent="-285750" algn="just">
              <a:buFont typeface="Arial" panose="020B0604020202020204" pitchFamily="34" charset="0"/>
              <a:buChar char="•"/>
            </a:pPr>
            <a:endParaRPr lang="en-US" sz="1600" dirty="0"/>
          </a:p>
          <a:p>
            <a:pPr marL="285750" indent="-285750" algn="just">
              <a:buFont typeface="Arial" panose="020B0604020202020204" pitchFamily="34" charset="0"/>
              <a:buChar char="•"/>
            </a:pPr>
            <a:r>
              <a:rPr lang="en-US" sz="1600" dirty="0"/>
              <a:t>Function to load and preprocess test images</a:t>
            </a:r>
          </a:p>
          <a:p>
            <a:pPr marL="285750" indent="-285750" algn="just">
              <a:buFont typeface="Arial" panose="020B0604020202020204" pitchFamily="34" charset="0"/>
              <a:buChar char="•"/>
            </a:pPr>
            <a:r>
              <a:rPr lang="en-US" sz="1600" dirty="0"/>
              <a:t>Prediction threshold set at 0.5 probability</a:t>
            </a:r>
          </a:p>
          <a:p>
            <a:pPr marL="285750" indent="-285750" algn="just">
              <a:buFont typeface="Arial" panose="020B0604020202020204" pitchFamily="34" charset="0"/>
              <a:buChar char="•"/>
            </a:pPr>
            <a:r>
              <a:rPr lang="en-US" sz="1600" dirty="0"/>
              <a:t>Output displays class and confidence level</a:t>
            </a:r>
          </a:p>
          <a:p>
            <a:pPr algn="just"/>
            <a:endParaRPr lang="en-US" sz="1600" dirty="0"/>
          </a:p>
          <a:p>
            <a:pPr algn="just"/>
            <a:r>
              <a:rPr lang="en-US" sz="1600" b="1" dirty="0"/>
              <a:t>Test Execution</a:t>
            </a:r>
          </a:p>
          <a:p>
            <a:pPr algn="just"/>
            <a:endParaRPr lang="en-US" sz="1600" dirty="0"/>
          </a:p>
          <a:p>
            <a:pPr algn="just"/>
            <a:r>
              <a:rPr lang="en-US" sz="1600" dirty="0"/>
              <a:t>Two example images were tested to verify the model's classification capabilities.</a:t>
            </a:r>
          </a:p>
        </p:txBody>
      </p:sp>
      <p:sp>
        <p:nvSpPr>
          <p:cNvPr id="2" name="Subtítulo 2">
            <a:extLst>
              <a:ext uri="{FF2B5EF4-FFF2-40B4-BE49-F238E27FC236}">
                <a16:creationId xmlns:a16="http://schemas.microsoft.com/office/drawing/2014/main" id="{585E3941-2848-C12C-29DC-72E2C06A84B9}"/>
              </a:ext>
            </a:extLst>
          </p:cNvPr>
          <p:cNvSpPr txBox="1">
            <a:spLocks/>
          </p:cNvSpPr>
          <p:nvPr/>
        </p:nvSpPr>
        <p:spPr>
          <a:xfrm>
            <a:off x="836017" y="6524516"/>
            <a:ext cx="7698382" cy="162409"/>
          </a:xfrm>
          <a:prstGeom prst="rect">
            <a:avLst/>
          </a:prstGeom>
        </p:spPr>
        <p:txBody>
          <a:bodyPr vert="horz" lIns="68580" tIns="34290" rIns="68580" bIns="3429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pt-PT" sz="900" dirty="0">
                <a:latin typeface="Arial" charset="0"/>
                <a:ea typeface="Arial" charset="0"/>
                <a:cs typeface="Arial" charset="0"/>
              </a:rPr>
              <a:t>@Diogo Monteiro - 32428, Gonçalo Teixeira - 31396 | </a:t>
            </a:r>
            <a:r>
              <a:rPr lang="pt-PT" sz="900" b="1" dirty="0">
                <a:solidFill>
                  <a:srgbClr val="C00000"/>
                </a:solidFill>
                <a:latin typeface="Arial" charset="0"/>
                <a:ea typeface="Arial" charset="0"/>
                <a:cs typeface="Arial" charset="0"/>
              </a:rPr>
              <a:t>Unidade Curricular: Projeto III </a:t>
            </a:r>
            <a:r>
              <a:rPr lang="pt-PT" sz="900" dirty="0">
                <a:latin typeface="Arial" charset="0"/>
                <a:ea typeface="Arial" charset="0"/>
                <a:cs typeface="Arial" charset="0"/>
              </a:rPr>
              <a:t>– Ano Letivo 2024/2025 – </a:t>
            </a:r>
            <a:r>
              <a:rPr lang="pt-PT" sz="900" b="1" dirty="0">
                <a:latin typeface="Arial" charset="0"/>
                <a:ea typeface="Arial" charset="0"/>
                <a:cs typeface="Arial" charset="0"/>
              </a:rPr>
              <a:t>MCZ03</a:t>
            </a:r>
          </a:p>
        </p:txBody>
      </p:sp>
      <p:pic>
        <p:nvPicPr>
          <p:cNvPr id="3" name="Picture 2">
            <a:extLst>
              <a:ext uri="{FF2B5EF4-FFF2-40B4-BE49-F238E27FC236}">
                <a16:creationId xmlns:a16="http://schemas.microsoft.com/office/drawing/2014/main" id="{E0B8E0B3-A9B2-7850-A0E0-73BBF28C0FC4}"/>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515"/>
          <a:stretch>
            <a:fillRect/>
          </a:stretch>
        </p:blipFill>
        <p:spPr bwMode="auto">
          <a:xfrm>
            <a:off x="4305331" y="1178773"/>
            <a:ext cx="4719318" cy="46013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36756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F5139-B600-9B83-5715-86BB0003A7A0}"/>
            </a:ext>
          </a:extLst>
        </p:cNvPr>
        <p:cNvGrpSpPr/>
        <p:nvPr/>
      </p:nvGrpSpPr>
      <p:grpSpPr>
        <a:xfrm>
          <a:off x="0" y="0"/>
          <a:ext cx="0" cy="0"/>
          <a:chOff x="0" y="0"/>
          <a:chExt cx="0" cy="0"/>
        </a:xfrm>
      </p:grpSpPr>
      <p:sp>
        <p:nvSpPr>
          <p:cNvPr id="9229" name="Text Box 13">
            <a:extLst>
              <a:ext uri="{FF2B5EF4-FFF2-40B4-BE49-F238E27FC236}">
                <a16:creationId xmlns:a16="http://schemas.microsoft.com/office/drawing/2014/main" id="{BFC31C14-2A4E-12CD-84D3-BA19534707BF}"/>
              </a:ext>
            </a:extLst>
          </p:cNvPr>
          <p:cNvSpPr txBox="1">
            <a:spLocks noChangeArrowheads="1"/>
          </p:cNvSpPr>
          <p:nvPr/>
        </p:nvSpPr>
        <p:spPr bwMode="auto">
          <a:xfrm>
            <a:off x="306388" y="557213"/>
            <a:ext cx="6981825" cy="400050"/>
          </a:xfrm>
          <a:prstGeom prst="rect">
            <a:avLst/>
          </a:prstGeom>
          <a:noFill/>
          <a:ln w="9525">
            <a:noFill/>
            <a:miter lim="800000"/>
            <a:headEnd/>
            <a:tailEnd/>
          </a:ln>
          <a:effectLst/>
        </p:spPr>
        <p:txBody>
          <a:bodyPr>
            <a:spAutoFit/>
          </a:bodyPr>
          <a:lstStyle/>
          <a:p>
            <a:pPr>
              <a:spcBef>
                <a:spcPct val="50000"/>
              </a:spcBef>
              <a:defRPr/>
            </a:pPr>
            <a:r>
              <a:rPr lang="pt-PT" sz="2000" b="1" dirty="0">
                <a:solidFill>
                  <a:srgbClr val="C00000"/>
                </a:solidFill>
                <a:effectLst>
                  <a:outerShdw blurRad="38100" dist="38100" dir="2700000" algn="tl">
                    <a:srgbClr val="C0C0C0"/>
                  </a:outerShdw>
                </a:effectLst>
                <a:latin typeface="Arial"/>
                <a:cs typeface="Arial"/>
              </a:rPr>
              <a:t>■</a:t>
            </a:r>
            <a:r>
              <a:rPr lang="pt-PT" sz="2000" b="1" dirty="0">
                <a:effectLst>
                  <a:outerShdw blurRad="38100" dist="38100" dir="2700000" algn="tl">
                    <a:srgbClr val="C0C0C0"/>
                  </a:outerShdw>
                </a:effectLst>
                <a:latin typeface="Arial"/>
                <a:cs typeface="Arial"/>
              </a:rPr>
              <a:t> </a:t>
            </a:r>
            <a:r>
              <a:rPr lang="en-US" sz="2000" b="1" dirty="0">
                <a:effectLst>
                  <a:outerShdw blurRad="38100" dist="38100" dir="2700000" algn="tl">
                    <a:srgbClr val="C0C0C0"/>
                  </a:outerShdw>
                </a:effectLst>
                <a:latin typeface="Arial"/>
                <a:cs typeface="Arial"/>
              </a:rPr>
              <a:t>4. Model Testing with New Images</a:t>
            </a:r>
            <a:endParaRPr lang="pt-PT" sz="2000" b="1" dirty="0">
              <a:effectLst>
                <a:outerShdw blurRad="38100" dist="38100" dir="2700000" algn="tl">
                  <a:srgbClr val="C0C0C0"/>
                </a:outerShdw>
              </a:effectLst>
              <a:latin typeface="Arial" charset="0"/>
            </a:endParaRPr>
          </a:p>
        </p:txBody>
      </p:sp>
      <p:sp>
        <p:nvSpPr>
          <p:cNvPr id="10247" name="Line 15">
            <a:extLst>
              <a:ext uri="{FF2B5EF4-FFF2-40B4-BE49-F238E27FC236}">
                <a16:creationId xmlns:a16="http://schemas.microsoft.com/office/drawing/2014/main" id="{918458A7-4E4C-D9A5-EE4A-0BECF62FFABB}"/>
              </a:ext>
            </a:extLst>
          </p:cNvPr>
          <p:cNvSpPr>
            <a:spLocks noChangeShapeType="1"/>
          </p:cNvSpPr>
          <p:nvPr/>
        </p:nvSpPr>
        <p:spPr bwMode="auto">
          <a:xfrm>
            <a:off x="250825" y="0"/>
            <a:ext cx="0" cy="765175"/>
          </a:xfrm>
          <a:prstGeom prst="line">
            <a:avLst/>
          </a:prstGeom>
          <a:noFill/>
          <a:ln w="25400">
            <a:solidFill>
              <a:schemeClr val="tx1"/>
            </a:solidFill>
            <a:round/>
            <a:headEnd/>
            <a:tailEnd/>
          </a:ln>
        </p:spPr>
        <p:txBody>
          <a:bodyPr/>
          <a:lstStyle/>
          <a:p>
            <a:endParaRPr lang="pt-PT"/>
          </a:p>
        </p:txBody>
      </p:sp>
      <p:sp>
        <p:nvSpPr>
          <p:cNvPr id="9237" name="Text Box 21">
            <a:extLst>
              <a:ext uri="{FF2B5EF4-FFF2-40B4-BE49-F238E27FC236}">
                <a16:creationId xmlns:a16="http://schemas.microsoft.com/office/drawing/2014/main" id="{653283A4-1A44-4120-1060-3071AF03B5D7}"/>
              </a:ext>
            </a:extLst>
          </p:cNvPr>
          <p:cNvSpPr txBox="1">
            <a:spLocks noChangeArrowheads="1"/>
          </p:cNvSpPr>
          <p:nvPr/>
        </p:nvSpPr>
        <p:spPr bwMode="auto">
          <a:xfrm>
            <a:off x="260350" y="44450"/>
            <a:ext cx="6981825" cy="304800"/>
          </a:xfrm>
          <a:prstGeom prst="rect">
            <a:avLst/>
          </a:prstGeom>
          <a:noFill/>
          <a:ln w="9525">
            <a:noFill/>
            <a:miter lim="800000"/>
            <a:headEnd/>
            <a:tailEnd/>
          </a:ln>
          <a:effectLst/>
        </p:spPr>
        <p:txBody>
          <a:bodyPr>
            <a:spAutoFit/>
          </a:bodyPr>
          <a:lstStyle/>
          <a:p>
            <a:pPr>
              <a:spcBef>
                <a:spcPct val="50000"/>
              </a:spcBef>
              <a:defRPr/>
            </a:pPr>
            <a:endParaRPr lang="pt-PT" sz="1400" b="1" dirty="0">
              <a:solidFill>
                <a:srgbClr val="FF3300"/>
              </a:solidFill>
              <a:effectLst>
                <a:outerShdw blurRad="38100" dist="38100" dir="2700000" algn="tl">
                  <a:srgbClr val="C0C0C0"/>
                </a:outerShdw>
              </a:effectLst>
              <a:latin typeface="Arial" charset="0"/>
            </a:endParaRPr>
          </a:p>
        </p:txBody>
      </p:sp>
      <p:pic>
        <p:nvPicPr>
          <p:cNvPr id="18" name="Imagem 17">
            <a:extLst>
              <a:ext uri="{FF2B5EF4-FFF2-40B4-BE49-F238E27FC236}">
                <a16:creationId xmlns:a16="http://schemas.microsoft.com/office/drawing/2014/main" id="{644781FB-EC1E-1B0A-57E6-AC7787954A4C}"/>
              </a:ext>
            </a:extLst>
          </p:cNvPr>
          <p:cNvPicPr>
            <a:picLocks noChangeAspect="1"/>
          </p:cNvPicPr>
          <p:nvPr/>
        </p:nvPicPr>
        <p:blipFill>
          <a:blip r:embed="rId3"/>
          <a:stretch>
            <a:fillRect/>
          </a:stretch>
        </p:blipFill>
        <p:spPr>
          <a:xfrm>
            <a:off x="101225" y="904241"/>
            <a:ext cx="9014192" cy="266482"/>
          </a:xfrm>
          <a:prstGeom prst="rect">
            <a:avLst/>
          </a:prstGeom>
        </p:spPr>
      </p:pic>
      <p:sp>
        <p:nvSpPr>
          <p:cNvPr id="21" name="Text Box 10">
            <a:extLst>
              <a:ext uri="{FF2B5EF4-FFF2-40B4-BE49-F238E27FC236}">
                <a16:creationId xmlns:a16="http://schemas.microsoft.com/office/drawing/2014/main" id="{C185D96A-741A-2537-55A3-56FB04CED1AF}"/>
              </a:ext>
            </a:extLst>
          </p:cNvPr>
          <p:cNvSpPr txBox="1">
            <a:spLocks noChangeArrowheads="1"/>
          </p:cNvSpPr>
          <p:nvPr/>
        </p:nvSpPr>
        <p:spPr bwMode="auto">
          <a:xfrm>
            <a:off x="8288338" y="6296025"/>
            <a:ext cx="827087" cy="366713"/>
          </a:xfrm>
          <a:prstGeom prst="rect">
            <a:avLst/>
          </a:prstGeom>
          <a:noFill/>
          <a:ln w="9525">
            <a:noFill/>
            <a:miter lim="800000"/>
            <a:headEnd/>
            <a:tailEnd/>
          </a:ln>
        </p:spPr>
        <p:txBody>
          <a:bodyPr>
            <a:spAutoFit/>
          </a:bodyPr>
          <a:lstStyle/>
          <a:p>
            <a:pPr>
              <a:spcBef>
                <a:spcPct val="50000"/>
              </a:spcBef>
            </a:pPr>
            <a:endParaRPr lang="pt-PT"/>
          </a:p>
        </p:txBody>
      </p:sp>
      <p:sp>
        <p:nvSpPr>
          <p:cNvPr id="22" name="Rectangle 11">
            <a:extLst>
              <a:ext uri="{FF2B5EF4-FFF2-40B4-BE49-F238E27FC236}">
                <a16:creationId xmlns:a16="http://schemas.microsoft.com/office/drawing/2014/main" id="{15213A35-EEF6-01DA-CE6C-F04AE21098C1}"/>
              </a:ext>
            </a:extLst>
          </p:cNvPr>
          <p:cNvSpPr>
            <a:spLocks noChangeArrowheads="1"/>
          </p:cNvSpPr>
          <p:nvPr/>
        </p:nvSpPr>
        <p:spPr bwMode="auto">
          <a:xfrm>
            <a:off x="8327571" y="6496091"/>
            <a:ext cx="936625" cy="260350"/>
          </a:xfrm>
          <a:prstGeom prst="rect">
            <a:avLst/>
          </a:prstGeom>
          <a:noFill/>
          <a:ln w="9525">
            <a:noFill/>
            <a:miter lim="800000"/>
            <a:headEnd/>
            <a:tailEnd/>
          </a:ln>
        </p:spPr>
        <p:txBody>
          <a:bodyPr anchor="ctr"/>
          <a:lstStyle/>
          <a:p>
            <a:pPr algn="ctr"/>
            <a:r>
              <a:rPr lang="pt-PT" sz="1000" dirty="0"/>
              <a:t>- </a:t>
            </a:r>
            <a:fld id="{1234D2FF-8FB9-47A1-B8C9-42A5F500BA2F}" type="slidenum">
              <a:rPr lang="pt-PT" sz="1000"/>
              <a:pPr algn="ctr"/>
              <a:t>21</a:t>
            </a:fld>
            <a:r>
              <a:rPr lang="pt-PT" sz="1000" dirty="0"/>
              <a:t> -</a:t>
            </a:r>
          </a:p>
        </p:txBody>
      </p:sp>
      <p:pic>
        <p:nvPicPr>
          <p:cNvPr id="23" name="Imagem 22">
            <a:extLst>
              <a:ext uri="{FF2B5EF4-FFF2-40B4-BE49-F238E27FC236}">
                <a16:creationId xmlns:a16="http://schemas.microsoft.com/office/drawing/2014/main" id="{79AF2D23-C91B-71FF-74B9-4110CF313CD5}"/>
              </a:ext>
            </a:extLst>
          </p:cNvPr>
          <p:cNvPicPr>
            <a:picLocks noChangeAspect="1"/>
          </p:cNvPicPr>
          <p:nvPr/>
        </p:nvPicPr>
        <p:blipFill>
          <a:blip r:embed="rId4"/>
          <a:stretch>
            <a:fillRect/>
          </a:stretch>
        </p:blipFill>
        <p:spPr>
          <a:xfrm>
            <a:off x="0" y="6320212"/>
            <a:ext cx="9144000" cy="253252"/>
          </a:xfrm>
          <a:prstGeom prst="rect">
            <a:avLst/>
          </a:prstGeom>
        </p:spPr>
      </p:pic>
      <p:pic>
        <p:nvPicPr>
          <p:cNvPr id="25" name="Imagem 24">
            <a:extLst>
              <a:ext uri="{FF2B5EF4-FFF2-40B4-BE49-F238E27FC236}">
                <a16:creationId xmlns:a16="http://schemas.microsoft.com/office/drawing/2014/main" id="{9A3E3A1B-44A0-7A8F-78D0-61791EECFE1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8125" y="6488336"/>
            <a:ext cx="545959" cy="199802"/>
          </a:xfrm>
          <a:prstGeom prst="rect">
            <a:avLst/>
          </a:prstGeom>
        </p:spPr>
      </p:pic>
      <p:sp>
        <p:nvSpPr>
          <p:cNvPr id="26" name="Rectângulo 19">
            <a:extLst>
              <a:ext uri="{FF2B5EF4-FFF2-40B4-BE49-F238E27FC236}">
                <a16:creationId xmlns:a16="http://schemas.microsoft.com/office/drawing/2014/main" id="{472CF8CF-BBB2-21D7-C97E-44A986D2CE5F}"/>
              </a:ext>
            </a:extLst>
          </p:cNvPr>
          <p:cNvSpPr/>
          <p:nvPr/>
        </p:nvSpPr>
        <p:spPr>
          <a:xfrm>
            <a:off x="5535613" y="553019"/>
            <a:ext cx="3505200" cy="261610"/>
          </a:xfrm>
          <a:prstGeom prst="rect">
            <a:avLst/>
          </a:prstGeom>
        </p:spPr>
        <p:txBody>
          <a:bodyPr wrap="square">
            <a:spAutoFit/>
          </a:bodyPr>
          <a:lstStyle/>
          <a:p>
            <a:pPr algn="r"/>
            <a:r>
              <a:rPr lang="pt-PT" sz="1100" b="1" cap="all" dirty="0" err="1">
                <a:highlight>
                  <a:srgbClr val="FFFF00"/>
                </a:highlight>
              </a:rPr>
              <a:t>Graduation</a:t>
            </a:r>
            <a:r>
              <a:rPr lang="pt-PT" sz="1100" b="1" cap="all" dirty="0">
                <a:highlight>
                  <a:srgbClr val="FFFF00"/>
                </a:highlight>
              </a:rPr>
              <a:t> in </a:t>
            </a:r>
            <a:r>
              <a:rPr lang="pt-PT" sz="1100" b="1" cap="all" dirty="0" err="1">
                <a:highlight>
                  <a:srgbClr val="FFFF00"/>
                </a:highlight>
              </a:rPr>
              <a:t>Informatics</a:t>
            </a:r>
            <a:r>
              <a:rPr lang="pt-PT" sz="1100" b="1" cap="all" dirty="0">
                <a:highlight>
                  <a:srgbClr val="FFFF00"/>
                </a:highlight>
              </a:rPr>
              <a:t> </a:t>
            </a:r>
            <a:r>
              <a:rPr lang="pt-PT" sz="1100" b="1" cap="all" dirty="0" err="1">
                <a:highlight>
                  <a:srgbClr val="FFFF00"/>
                </a:highlight>
              </a:rPr>
              <a:t>engineering</a:t>
            </a:r>
            <a:endParaRPr lang="pt-PT" sz="1100" dirty="0">
              <a:highlight>
                <a:srgbClr val="FFFF00"/>
              </a:highlight>
            </a:endParaRPr>
          </a:p>
        </p:txBody>
      </p:sp>
      <p:pic>
        <p:nvPicPr>
          <p:cNvPr id="27" name="Imagem 26">
            <a:extLst>
              <a:ext uri="{FF2B5EF4-FFF2-40B4-BE49-F238E27FC236}">
                <a16:creationId xmlns:a16="http://schemas.microsoft.com/office/drawing/2014/main" id="{F359E5B1-3126-9A13-7408-ECD335A27ED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575316" y="9186"/>
            <a:ext cx="2575034" cy="639880"/>
          </a:xfrm>
          <a:prstGeom prst="rect">
            <a:avLst/>
          </a:prstGeom>
        </p:spPr>
      </p:pic>
      <p:sp>
        <p:nvSpPr>
          <p:cNvPr id="7" name="TextBox 6">
            <a:extLst>
              <a:ext uri="{FF2B5EF4-FFF2-40B4-BE49-F238E27FC236}">
                <a16:creationId xmlns:a16="http://schemas.microsoft.com/office/drawing/2014/main" id="{5D5BA728-8814-5133-74C9-2A9F3826A9F9}"/>
              </a:ext>
            </a:extLst>
          </p:cNvPr>
          <p:cNvSpPr txBox="1"/>
          <p:nvPr/>
        </p:nvSpPr>
        <p:spPr>
          <a:xfrm>
            <a:off x="334907" y="1170723"/>
            <a:ext cx="3850228" cy="5016758"/>
          </a:xfrm>
          <a:prstGeom prst="rect">
            <a:avLst/>
          </a:prstGeom>
          <a:noFill/>
        </p:spPr>
        <p:txBody>
          <a:bodyPr wrap="square" rtlCol="0">
            <a:spAutoFit/>
          </a:bodyPr>
          <a:lstStyle/>
          <a:p>
            <a:pPr algn="just"/>
            <a:r>
              <a:rPr lang="en-US" sz="1600" dirty="0"/>
              <a:t>The model successfully processed both images and provided predictions with probability scores.</a:t>
            </a:r>
          </a:p>
          <a:p>
            <a:pPr algn="just"/>
            <a:endParaRPr lang="en-US" sz="1600" dirty="0"/>
          </a:p>
          <a:p>
            <a:pPr marL="285750" indent="-285750" algn="just">
              <a:buFont typeface="Arial" panose="020B0604020202020204" pitchFamily="34" charset="0"/>
              <a:buChar char="•"/>
            </a:pPr>
            <a:r>
              <a:rPr lang="en-US" sz="1600" dirty="0"/>
              <a:t>Test images from separate folder</a:t>
            </a:r>
          </a:p>
          <a:p>
            <a:pPr marL="285750" indent="-285750" algn="just">
              <a:buFont typeface="Arial" panose="020B0604020202020204" pitchFamily="34" charset="0"/>
              <a:buChar char="•"/>
            </a:pPr>
            <a:r>
              <a:rPr lang="en-US" sz="1600" dirty="0"/>
              <a:t>Real-time prediction on new data</a:t>
            </a:r>
          </a:p>
          <a:p>
            <a:pPr marL="285750" indent="-285750" algn="just">
              <a:buFont typeface="Arial" panose="020B0604020202020204" pitchFamily="34" charset="0"/>
              <a:buChar char="•"/>
            </a:pPr>
            <a:r>
              <a:rPr lang="en-US" sz="1600" dirty="0"/>
              <a:t>Confidence scores displayed</a:t>
            </a:r>
          </a:p>
          <a:p>
            <a:pPr algn="just"/>
            <a:endParaRPr lang="en-US" sz="1600" dirty="0"/>
          </a:p>
          <a:p>
            <a:pPr algn="just"/>
            <a:r>
              <a:rPr lang="en-US" sz="1600" b="1" dirty="0"/>
              <a:t>Test Results</a:t>
            </a:r>
          </a:p>
          <a:p>
            <a:pPr algn="just"/>
            <a:endParaRPr lang="en-US" sz="1600" dirty="0"/>
          </a:p>
          <a:p>
            <a:pPr algn="just"/>
            <a:r>
              <a:rPr lang="en-US" sz="1600" dirty="0"/>
              <a:t>The model correctly classified both test images, demonstrating its ability to generalize to unseen data. Predictions included probability scores showing confidence levels.</a:t>
            </a:r>
          </a:p>
          <a:p>
            <a:pPr algn="just"/>
            <a:endParaRPr lang="en-US" sz="1600" dirty="0"/>
          </a:p>
          <a:p>
            <a:pPr marL="285750" indent="-285750" algn="just">
              <a:buFont typeface="Arial" panose="020B0604020202020204" pitchFamily="34" charset="0"/>
              <a:buChar char="•"/>
            </a:pPr>
            <a:r>
              <a:rPr lang="en-US" sz="1600" dirty="0"/>
              <a:t>Example 1: Wildfire detected (0.96 probability)</a:t>
            </a:r>
          </a:p>
          <a:p>
            <a:pPr marL="285750" indent="-285750" algn="just">
              <a:buFont typeface="Arial" panose="020B0604020202020204" pitchFamily="34" charset="0"/>
              <a:buChar char="•"/>
            </a:pPr>
            <a:r>
              <a:rPr lang="en-US" sz="1600" dirty="0"/>
              <a:t>Example 2: No wildfire (0.99 probability)</a:t>
            </a:r>
          </a:p>
          <a:p>
            <a:pPr marL="285750" indent="-285750" algn="just">
              <a:buFont typeface="Arial" panose="020B0604020202020204" pitchFamily="34" charset="0"/>
              <a:buChar char="•"/>
            </a:pPr>
            <a:r>
              <a:rPr lang="en-US" sz="1600" dirty="0"/>
              <a:t>Model successfully generalized</a:t>
            </a:r>
          </a:p>
        </p:txBody>
      </p:sp>
      <p:sp>
        <p:nvSpPr>
          <p:cNvPr id="2" name="Subtítulo 2">
            <a:extLst>
              <a:ext uri="{FF2B5EF4-FFF2-40B4-BE49-F238E27FC236}">
                <a16:creationId xmlns:a16="http://schemas.microsoft.com/office/drawing/2014/main" id="{F0FF5CCF-07C6-13A5-A8FA-1898DF2D2B78}"/>
              </a:ext>
            </a:extLst>
          </p:cNvPr>
          <p:cNvSpPr txBox="1">
            <a:spLocks/>
          </p:cNvSpPr>
          <p:nvPr/>
        </p:nvSpPr>
        <p:spPr>
          <a:xfrm>
            <a:off x="836017" y="6524516"/>
            <a:ext cx="7698382" cy="162409"/>
          </a:xfrm>
          <a:prstGeom prst="rect">
            <a:avLst/>
          </a:prstGeom>
        </p:spPr>
        <p:txBody>
          <a:bodyPr vert="horz" lIns="68580" tIns="34290" rIns="68580" bIns="3429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pt-PT" sz="900" dirty="0">
                <a:latin typeface="Arial" charset="0"/>
                <a:ea typeface="Arial" charset="0"/>
                <a:cs typeface="Arial" charset="0"/>
              </a:rPr>
              <a:t>@Diogo Monteiro - 32428, Gonçalo Teixeira - 31396 | </a:t>
            </a:r>
            <a:r>
              <a:rPr lang="pt-PT" sz="900" b="1" dirty="0">
                <a:solidFill>
                  <a:srgbClr val="C00000"/>
                </a:solidFill>
                <a:latin typeface="Arial" charset="0"/>
                <a:ea typeface="Arial" charset="0"/>
                <a:cs typeface="Arial" charset="0"/>
              </a:rPr>
              <a:t>Unidade Curricular: Projeto III </a:t>
            </a:r>
            <a:r>
              <a:rPr lang="pt-PT" sz="900" dirty="0">
                <a:latin typeface="Arial" charset="0"/>
                <a:ea typeface="Arial" charset="0"/>
                <a:cs typeface="Arial" charset="0"/>
              </a:rPr>
              <a:t>– Ano Letivo 2024/2025 – </a:t>
            </a:r>
            <a:r>
              <a:rPr lang="pt-PT" sz="900" b="1" dirty="0">
                <a:latin typeface="Arial" charset="0"/>
                <a:ea typeface="Arial" charset="0"/>
                <a:cs typeface="Arial" charset="0"/>
              </a:rPr>
              <a:t>MCZ03</a:t>
            </a:r>
          </a:p>
        </p:txBody>
      </p:sp>
      <p:pic>
        <p:nvPicPr>
          <p:cNvPr id="3074" name="Picture 2">
            <a:extLst>
              <a:ext uri="{FF2B5EF4-FFF2-40B4-BE49-F238E27FC236}">
                <a16:creationId xmlns:a16="http://schemas.microsoft.com/office/drawing/2014/main" id="{1B1936BC-784A-BC20-2506-8F2D07AB2808}"/>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515"/>
          <a:stretch>
            <a:fillRect/>
          </a:stretch>
        </p:blipFill>
        <p:spPr bwMode="auto">
          <a:xfrm>
            <a:off x="4305331" y="1178773"/>
            <a:ext cx="4719318" cy="46013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70726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19F41-24F2-7DD9-0E10-423BE9F7F2DE}"/>
            </a:ext>
          </a:extLst>
        </p:cNvPr>
        <p:cNvGrpSpPr/>
        <p:nvPr/>
      </p:nvGrpSpPr>
      <p:grpSpPr>
        <a:xfrm>
          <a:off x="0" y="0"/>
          <a:ext cx="0" cy="0"/>
          <a:chOff x="0" y="0"/>
          <a:chExt cx="0" cy="0"/>
        </a:xfrm>
      </p:grpSpPr>
      <p:sp>
        <p:nvSpPr>
          <p:cNvPr id="9229" name="Text Box 13">
            <a:extLst>
              <a:ext uri="{FF2B5EF4-FFF2-40B4-BE49-F238E27FC236}">
                <a16:creationId xmlns:a16="http://schemas.microsoft.com/office/drawing/2014/main" id="{51E4486A-8233-24E1-0894-4339D81A43A8}"/>
              </a:ext>
            </a:extLst>
          </p:cNvPr>
          <p:cNvSpPr txBox="1">
            <a:spLocks noChangeArrowheads="1"/>
          </p:cNvSpPr>
          <p:nvPr/>
        </p:nvSpPr>
        <p:spPr bwMode="auto">
          <a:xfrm>
            <a:off x="306388" y="545068"/>
            <a:ext cx="6981825" cy="369332"/>
          </a:xfrm>
          <a:prstGeom prst="rect">
            <a:avLst/>
          </a:prstGeom>
          <a:noFill/>
          <a:ln w="9525">
            <a:noFill/>
            <a:miter lim="800000"/>
            <a:headEnd/>
            <a:tailEnd/>
          </a:ln>
          <a:effectLst/>
        </p:spPr>
        <p:txBody>
          <a:bodyPr>
            <a:spAutoFit/>
          </a:bodyPr>
          <a:lstStyle/>
          <a:p>
            <a:pPr>
              <a:spcBef>
                <a:spcPct val="50000"/>
              </a:spcBef>
              <a:defRPr/>
            </a:pPr>
            <a:r>
              <a:rPr lang="pt-PT" b="1" dirty="0">
                <a:solidFill>
                  <a:srgbClr val="C00000"/>
                </a:solidFill>
                <a:effectLst>
                  <a:outerShdw blurRad="38100" dist="38100" dir="2700000" algn="tl">
                    <a:srgbClr val="C0C0C0"/>
                  </a:outerShdw>
                </a:effectLst>
                <a:latin typeface="Arial"/>
                <a:cs typeface="Arial"/>
              </a:rPr>
              <a:t>■</a:t>
            </a:r>
            <a:r>
              <a:rPr lang="pt-PT" b="1" dirty="0">
                <a:effectLst>
                  <a:outerShdw blurRad="38100" dist="38100" dir="2700000" algn="tl">
                    <a:srgbClr val="C0C0C0"/>
                  </a:outerShdw>
                </a:effectLst>
                <a:latin typeface="Arial"/>
                <a:cs typeface="Arial"/>
              </a:rPr>
              <a:t> 5. </a:t>
            </a:r>
            <a:r>
              <a:rPr lang="pt-PT" b="1" dirty="0" err="1">
                <a:effectLst>
                  <a:outerShdw blurRad="38100" dist="38100" dir="2700000" algn="tl">
                    <a:srgbClr val="C0C0C0"/>
                  </a:outerShdw>
                </a:effectLst>
                <a:latin typeface="Arial"/>
                <a:cs typeface="Arial"/>
              </a:rPr>
              <a:t>Conclusion</a:t>
            </a:r>
            <a:endParaRPr lang="pt-PT" b="1" dirty="0">
              <a:effectLst>
                <a:outerShdw blurRad="38100" dist="38100" dir="2700000" algn="tl">
                  <a:srgbClr val="C0C0C0"/>
                </a:outerShdw>
              </a:effectLst>
              <a:latin typeface="Arial" charset="0"/>
            </a:endParaRPr>
          </a:p>
        </p:txBody>
      </p:sp>
      <p:sp>
        <p:nvSpPr>
          <p:cNvPr id="10247" name="Line 15">
            <a:extLst>
              <a:ext uri="{FF2B5EF4-FFF2-40B4-BE49-F238E27FC236}">
                <a16:creationId xmlns:a16="http://schemas.microsoft.com/office/drawing/2014/main" id="{EEBF86DA-EB49-7CE8-82A1-7E166F785D2B}"/>
              </a:ext>
            </a:extLst>
          </p:cNvPr>
          <p:cNvSpPr>
            <a:spLocks noChangeShapeType="1"/>
          </p:cNvSpPr>
          <p:nvPr/>
        </p:nvSpPr>
        <p:spPr bwMode="auto">
          <a:xfrm>
            <a:off x="250825" y="0"/>
            <a:ext cx="0" cy="765175"/>
          </a:xfrm>
          <a:prstGeom prst="line">
            <a:avLst/>
          </a:prstGeom>
          <a:noFill/>
          <a:ln w="25400">
            <a:solidFill>
              <a:schemeClr val="tx1"/>
            </a:solidFill>
            <a:round/>
            <a:headEnd/>
            <a:tailEnd/>
          </a:ln>
        </p:spPr>
        <p:txBody>
          <a:bodyPr/>
          <a:lstStyle/>
          <a:p>
            <a:endParaRPr lang="pt-PT"/>
          </a:p>
        </p:txBody>
      </p:sp>
      <p:sp>
        <p:nvSpPr>
          <p:cNvPr id="9237" name="Text Box 21">
            <a:extLst>
              <a:ext uri="{FF2B5EF4-FFF2-40B4-BE49-F238E27FC236}">
                <a16:creationId xmlns:a16="http://schemas.microsoft.com/office/drawing/2014/main" id="{D0B65A3C-9E59-BBF1-C2AB-63C359F16FB4}"/>
              </a:ext>
            </a:extLst>
          </p:cNvPr>
          <p:cNvSpPr txBox="1">
            <a:spLocks noChangeArrowheads="1"/>
          </p:cNvSpPr>
          <p:nvPr/>
        </p:nvSpPr>
        <p:spPr bwMode="auto">
          <a:xfrm>
            <a:off x="260350" y="44450"/>
            <a:ext cx="6981825" cy="304800"/>
          </a:xfrm>
          <a:prstGeom prst="rect">
            <a:avLst/>
          </a:prstGeom>
          <a:noFill/>
          <a:ln w="9525">
            <a:noFill/>
            <a:miter lim="800000"/>
            <a:headEnd/>
            <a:tailEnd/>
          </a:ln>
          <a:effectLst/>
        </p:spPr>
        <p:txBody>
          <a:bodyPr>
            <a:spAutoFit/>
          </a:bodyPr>
          <a:lstStyle/>
          <a:p>
            <a:pPr>
              <a:spcBef>
                <a:spcPct val="50000"/>
              </a:spcBef>
              <a:defRPr/>
            </a:pPr>
            <a:endParaRPr lang="pt-PT" sz="1400" b="1" dirty="0">
              <a:solidFill>
                <a:srgbClr val="FF3300"/>
              </a:solidFill>
              <a:effectLst>
                <a:outerShdw blurRad="38100" dist="38100" dir="2700000" algn="tl">
                  <a:srgbClr val="C0C0C0"/>
                </a:outerShdw>
              </a:effectLst>
              <a:latin typeface="Arial" charset="0"/>
            </a:endParaRPr>
          </a:p>
        </p:txBody>
      </p:sp>
      <p:sp>
        <p:nvSpPr>
          <p:cNvPr id="12" name="CaixaDeTexto 11">
            <a:extLst>
              <a:ext uri="{FF2B5EF4-FFF2-40B4-BE49-F238E27FC236}">
                <a16:creationId xmlns:a16="http://schemas.microsoft.com/office/drawing/2014/main" id="{8579ED89-EEF2-E1B8-E306-C774F8D26AEF}"/>
              </a:ext>
            </a:extLst>
          </p:cNvPr>
          <p:cNvSpPr txBox="1"/>
          <p:nvPr/>
        </p:nvSpPr>
        <p:spPr>
          <a:xfrm>
            <a:off x="419100" y="1087714"/>
            <a:ext cx="8305800" cy="2547108"/>
          </a:xfrm>
          <a:prstGeom prst="rect">
            <a:avLst/>
          </a:prstGeom>
          <a:noFill/>
          <a:ln>
            <a:noFill/>
          </a:ln>
        </p:spPr>
        <p:txBody>
          <a:bodyPr wrap="square" rtlCol="0">
            <a:spAutoFit/>
          </a:bodyPr>
          <a:lstStyle/>
          <a:p>
            <a:pPr algn="just">
              <a:lnSpc>
                <a:spcPct val="200000"/>
              </a:lnSpc>
            </a:pPr>
            <a:r>
              <a:rPr lang="en-US" i="1" dirty="0">
                <a:solidFill>
                  <a:srgbClr val="FFC000"/>
                </a:solidFill>
                <a:latin typeface="Arial"/>
                <a:cs typeface="Arial"/>
              </a:rPr>
              <a:t>■</a:t>
            </a:r>
            <a:r>
              <a:rPr lang="pt-PT" dirty="0"/>
              <a:t> </a:t>
            </a:r>
            <a:r>
              <a:rPr lang="en-US" sz="1600" dirty="0"/>
              <a:t>In conclusion, this checkpoint successfully establishes the foundational model for the wildfire detection project by developing and training a CNN, evaluating its performance through multiple epochs, and testing its predictions on new unseen images. With these elements in place, the project is ready to proceed to the optimization and enhancement phases, ensuring a clear direction for building an effective and robust wildfire detection system.</a:t>
            </a:r>
            <a:endParaRPr lang="pt-PT" dirty="0"/>
          </a:p>
        </p:txBody>
      </p:sp>
      <p:pic>
        <p:nvPicPr>
          <p:cNvPr id="15" name="Imagem 14">
            <a:extLst>
              <a:ext uri="{FF2B5EF4-FFF2-40B4-BE49-F238E27FC236}">
                <a16:creationId xmlns:a16="http://schemas.microsoft.com/office/drawing/2014/main" id="{F2283885-1CFA-B27B-E7E6-D36CEF3A1558}"/>
              </a:ext>
            </a:extLst>
          </p:cNvPr>
          <p:cNvPicPr>
            <a:picLocks noChangeAspect="1"/>
          </p:cNvPicPr>
          <p:nvPr/>
        </p:nvPicPr>
        <p:blipFill>
          <a:blip r:embed="rId3"/>
          <a:stretch>
            <a:fillRect/>
          </a:stretch>
        </p:blipFill>
        <p:spPr>
          <a:xfrm>
            <a:off x="101225" y="904241"/>
            <a:ext cx="9014192" cy="266482"/>
          </a:xfrm>
          <a:prstGeom prst="rect">
            <a:avLst/>
          </a:prstGeom>
        </p:spPr>
      </p:pic>
      <p:sp>
        <p:nvSpPr>
          <p:cNvPr id="18" name="Text Box 10">
            <a:extLst>
              <a:ext uri="{FF2B5EF4-FFF2-40B4-BE49-F238E27FC236}">
                <a16:creationId xmlns:a16="http://schemas.microsoft.com/office/drawing/2014/main" id="{915F784D-8F23-7707-DD0F-E224A89E6BA8}"/>
              </a:ext>
            </a:extLst>
          </p:cNvPr>
          <p:cNvSpPr txBox="1">
            <a:spLocks noChangeArrowheads="1"/>
          </p:cNvSpPr>
          <p:nvPr/>
        </p:nvSpPr>
        <p:spPr bwMode="auto">
          <a:xfrm>
            <a:off x="8288338" y="6296025"/>
            <a:ext cx="827087" cy="366713"/>
          </a:xfrm>
          <a:prstGeom prst="rect">
            <a:avLst/>
          </a:prstGeom>
          <a:noFill/>
          <a:ln w="9525">
            <a:noFill/>
            <a:miter lim="800000"/>
            <a:headEnd/>
            <a:tailEnd/>
          </a:ln>
        </p:spPr>
        <p:txBody>
          <a:bodyPr>
            <a:spAutoFit/>
          </a:bodyPr>
          <a:lstStyle/>
          <a:p>
            <a:pPr>
              <a:spcBef>
                <a:spcPct val="50000"/>
              </a:spcBef>
            </a:pPr>
            <a:endParaRPr lang="pt-PT"/>
          </a:p>
        </p:txBody>
      </p:sp>
      <p:sp>
        <p:nvSpPr>
          <p:cNvPr id="19" name="Rectangle 11">
            <a:extLst>
              <a:ext uri="{FF2B5EF4-FFF2-40B4-BE49-F238E27FC236}">
                <a16:creationId xmlns:a16="http://schemas.microsoft.com/office/drawing/2014/main" id="{B7D9DEC2-3CF1-7FC6-2165-3915BD2A3963}"/>
              </a:ext>
            </a:extLst>
          </p:cNvPr>
          <p:cNvSpPr>
            <a:spLocks noChangeArrowheads="1"/>
          </p:cNvSpPr>
          <p:nvPr/>
        </p:nvSpPr>
        <p:spPr bwMode="auto">
          <a:xfrm>
            <a:off x="8327571" y="6496091"/>
            <a:ext cx="936625" cy="260350"/>
          </a:xfrm>
          <a:prstGeom prst="rect">
            <a:avLst/>
          </a:prstGeom>
          <a:noFill/>
          <a:ln w="9525">
            <a:noFill/>
            <a:miter lim="800000"/>
            <a:headEnd/>
            <a:tailEnd/>
          </a:ln>
        </p:spPr>
        <p:txBody>
          <a:bodyPr anchor="ctr"/>
          <a:lstStyle/>
          <a:p>
            <a:pPr algn="ctr"/>
            <a:r>
              <a:rPr lang="pt-PT" sz="1000" dirty="0"/>
              <a:t>- </a:t>
            </a:r>
            <a:fld id="{1234D2FF-8FB9-47A1-B8C9-42A5F500BA2F}" type="slidenum">
              <a:rPr lang="pt-PT" sz="1000"/>
              <a:pPr algn="ctr"/>
              <a:t>22</a:t>
            </a:fld>
            <a:r>
              <a:rPr lang="pt-PT" sz="1000" dirty="0"/>
              <a:t> -</a:t>
            </a:r>
          </a:p>
        </p:txBody>
      </p:sp>
      <p:pic>
        <p:nvPicPr>
          <p:cNvPr id="20" name="Imagem 19">
            <a:extLst>
              <a:ext uri="{FF2B5EF4-FFF2-40B4-BE49-F238E27FC236}">
                <a16:creationId xmlns:a16="http://schemas.microsoft.com/office/drawing/2014/main" id="{A28441FB-D052-9CDA-002D-89B69B103852}"/>
              </a:ext>
            </a:extLst>
          </p:cNvPr>
          <p:cNvPicPr>
            <a:picLocks noChangeAspect="1"/>
          </p:cNvPicPr>
          <p:nvPr/>
        </p:nvPicPr>
        <p:blipFill>
          <a:blip r:embed="rId4"/>
          <a:stretch>
            <a:fillRect/>
          </a:stretch>
        </p:blipFill>
        <p:spPr>
          <a:xfrm>
            <a:off x="0" y="6320212"/>
            <a:ext cx="9144000" cy="253252"/>
          </a:xfrm>
          <a:prstGeom prst="rect">
            <a:avLst/>
          </a:prstGeom>
        </p:spPr>
      </p:pic>
      <p:pic>
        <p:nvPicPr>
          <p:cNvPr id="22" name="Imagem 21">
            <a:extLst>
              <a:ext uri="{FF2B5EF4-FFF2-40B4-BE49-F238E27FC236}">
                <a16:creationId xmlns:a16="http://schemas.microsoft.com/office/drawing/2014/main" id="{10C43628-5ED5-CCC7-8163-5BB48C7594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8125" y="6488336"/>
            <a:ext cx="545959" cy="199802"/>
          </a:xfrm>
          <a:prstGeom prst="rect">
            <a:avLst/>
          </a:prstGeom>
        </p:spPr>
      </p:pic>
      <p:sp>
        <p:nvSpPr>
          <p:cNvPr id="23" name="Rectângulo 19">
            <a:extLst>
              <a:ext uri="{FF2B5EF4-FFF2-40B4-BE49-F238E27FC236}">
                <a16:creationId xmlns:a16="http://schemas.microsoft.com/office/drawing/2014/main" id="{B58152A6-50E4-9C4A-B212-0BF926D47DFC}"/>
              </a:ext>
            </a:extLst>
          </p:cNvPr>
          <p:cNvSpPr/>
          <p:nvPr/>
        </p:nvSpPr>
        <p:spPr>
          <a:xfrm>
            <a:off x="5535613" y="553019"/>
            <a:ext cx="3505200" cy="261610"/>
          </a:xfrm>
          <a:prstGeom prst="rect">
            <a:avLst/>
          </a:prstGeom>
        </p:spPr>
        <p:txBody>
          <a:bodyPr wrap="square">
            <a:spAutoFit/>
          </a:bodyPr>
          <a:lstStyle/>
          <a:p>
            <a:pPr algn="r"/>
            <a:r>
              <a:rPr lang="pt-PT" sz="1100" b="1" cap="all" dirty="0" err="1">
                <a:highlight>
                  <a:srgbClr val="FFFF00"/>
                </a:highlight>
              </a:rPr>
              <a:t>Graduation</a:t>
            </a:r>
            <a:r>
              <a:rPr lang="pt-PT" sz="1100" b="1" cap="all" dirty="0">
                <a:highlight>
                  <a:srgbClr val="FFFF00"/>
                </a:highlight>
              </a:rPr>
              <a:t> in </a:t>
            </a:r>
            <a:r>
              <a:rPr lang="pt-PT" sz="1100" b="1" cap="all" dirty="0" err="1">
                <a:highlight>
                  <a:srgbClr val="FFFF00"/>
                </a:highlight>
              </a:rPr>
              <a:t>Informatics</a:t>
            </a:r>
            <a:r>
              <a:rPr lang="pt-PT" sz="1100" b="1" cap="all" dirty="0">
                <a:highlight>
                  <a:srgbClr val="FFFF00"/>
                </a:highlight>
              </a:rPr>
              <a:t> </a:t>
            </a:r>
            <a:r>
              <a:rPr lang="pt-PT" sz="1100" b="1" cap="all" dirty="0" err="1">
                <a:highlight>
                  <a:srgbClr val="FFFF00"/>
                </a:highlight>
              </a:rPr>
              <a:t>engineering</a:t>
            </a:r>
            <a:endParaRPr lang="pt-PT" sz="1100" dirty="0">
              <a:highlight>
                <a:srgbClr val="FFFF00"/>
              </a:highlight>
            </a:endParaRPr>
          </a:p>
        </p:txBody>
      </p:sp>
      <p:pic>
        <p:nvPicPr>
          <p:cNvPr id="24" name="Imagem 23">
            <a:extLst>
              <a:ext uri="{FF2B5EF4-FFF2-40B4-BE49-F238E27FC236}">
                <a16:creationId xmlns:a16="http://schemas.microsoft.com/office/drawing/2014/main" id="{D8471AEB-B21F-BB0B-99E0-0C33CA666B1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575316" y="9186"/>
            <a:ext cx="2575034" cy="639880"/>
          </a:xfrm>
          <a:prstGeom prst="rect">
            <a:avLst/>
          </a:prstGeom>
        </p:spPr>
      </p:pic>
      <p:sp>
        <p:nvSpPr>
          <p:cNvPr id="2" name="Subtítulo 2">
            <a:extLst>
              <a:ext uri="{FF2B5EF4-FFF2-40B4-BE49-F238E27FC236}">
                <a16:creationId xmlns:a16="http://schemas.microsoft.com/office/drawing/2014/main" id="{0DE33529-DDA7-A81A-6F0C-B1E7CCDDFBF8}"/>
              </a:ext>
            </a:extLst>
          </p:cNvPr>
          <p:cNvSpPr txBox="1">
            <a:spLocks/>
          </p:cNvSpPr>
          <p:nvPr/>
        </p:nvSpPr>
        <p:spPr>
          <a:xfrm>
            <a:off x="836017" y="6524516"/>
            <a:ext cx="7698382" cy="162409"/>
          </a:xfrm>
          <a:prstGeom prst="rect">
            <a:avLst/>
          </a:prstGeom>
        </p:spPr>
        <p:txBody>
          <a:bodyPr vert="horz" lIns="68580" tIns="34290" rIns="68580" bIns="3429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pt-PT" sz="900" dirty="0">
                <a:latin typeface="Arial" charset="0"/>
                <a:ea typeface="Arial" charset="0"/>
                <a:cs typeface="Arial" charset="0"/>
              </a:rPr>
              <a:t>@Diogo Monteiro - 32428, Gonçalo Teixeira - 31396 | </a:t>
            </a:r>
            <a:r>
              <a:rPr lang="pt-PT" sz="900" b="1" dirty="0">
                <a:solidFill>
                  <a:srgbClr val="C00000"/>
                </a:solidFill>
                <a:latin typeface="Arial" charset="0"/>
                <a:ea typeface="Arial" charset="0"/>
                <a:cs typeface="Arial" charset="0"/>
              </a:rPr>
              <a:t>Unidade Curricular: Projeto III </a:t>
            </a:r>
            <a:r>
              <a:rPr lang="pt-PT" sz="900" dirty="0">
                <a:latin typeface="Arial" charset="0"/>
                <a:ea typeface="Arial" charset="0"/>
                <a:cs typeface="Arial" charset="0"/>
              </a:rPr>
              <a:t>– Ano Letivo 2024/2025 – </a:t>
            </a:r>
            <a:r>
              <a:rPr lang="pt-PT" sz="900" b="1" dirty="0">
                <a:latin typeface="Arial" charset="0"/>
                <a:ea typeface="Arial" charset="0"/>
                <a:cs typeface="Arial" charset="0"/>
              </a:rPr>
              <a:t>MCZ03</a:t>
            </a:r>
          </a:p>
        </p:txBody>
      </p:sp>
    </p:spTree>
    <p:extLst>
      <p:ext uri="{BB962C8B-B14F-4D97-AF65-F5344CB8AC3E}">
        <p14:creationId xmlns:p14="http://schemas.microsoft.com/office/powerpoint/2010/main" val="8377253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B408E-07C3-8535-72AB-9AD4538388CD}"/>
            </a:ext>
          </a:extLst>
        </p:cNvPr>
        <p:cNvGrpSpPr/>
        <p:nvPr/>
      </p:nvGrpSpPr>
      <p:grpSpPr>
        <a:xfrm>
          <a:off x="0" y="0"/>
          <a:ext cx="0" cy="0"/>
          <a:chOff x="0" y="0"/>
          <a:chExt cx="0" cy="0"/>
        </a:xfrm>
      </p:grpSpPr>
      <p:sp>
        <p:nvSpPr>
          <p:cNvPr id="9229" name="Text Box 13">
            <a:extLst>
              <a:ext uri="{FF2B5EF4-FFF2-40B4-BE49-F238E27FC236}">
                <a16:creationId xmlns:a16="http://schemas.microsoft.com/office/drawing/2014/main" id="{1AB0CE7A-6500-1E12-3074-5288AC788475}"/>
              </a:ext>
            </a:extLst>
          </p:cNvPr>
          <p:cNvSpPr txBox="1">
            <a:spLocks noChangeArrowheads="1"/>
          </p:cNvSpPr>
          <p:nvPr/>
        </p:nvSpPr>
        <p:spPr bwMode="auto">
          <a:xfrm>
            <a:off x="306388" y="545068"/>
            <a:ext cx="6981825" cy="369332"/>
          </a:xfrm>
          <a:prstGeom prst="rect">
            <a:avLst/>
          </a:prstGeom>
          <a:noFill/>
          <a:ln w="9525">
            <a:noFill/>
            <a:miter lim="800000"/>
            <a:headEnd/>
            <a:tailEnd/>
          </a:ln>
          <a:effectLst/>
        </p:spPr>
        <p:txBody>
          <a:bodyPr>
            <a:spAutoFit/>
          </a:bodyPr>
          <a:lstStyle/>
          <a:p>
            <a:pPr>
              <a:spcBef>
                <a:spcPct val="50000"/>
              </a:spcBef>
              <a:defRPr/>
            </a:pPr>
            <a:r>
              <a:rPr lang="pt-PT" b="1" dirty="0">
                <a:solidFill>
                  <a:srgbClr val="C00000"/>
                </a:solidFill>
                <a:effectLst>
                  <a:outerShdw blurRad="38100" dist="38100" dir="2700000" algn="tl">
                    <a:srgbClr val="C0C0C0"/>
                  </a:outerShdw>
                </a:effectLst>
                <a:latin typeface="Arial"/>
                <a:cs typeface="Arial"/>
              </a:rPr>
              <a:t>■</a:t>
            </a:r>
            <a:r>
              <a:rPr lang="pt-PT" b="1" dirty="0">
                <a:effectLst>
                  <a:outerShdw blurRad="38100" dist="38100" dir="2700000" algn="tl">
                    <a:srgbClr val="C0C0C0"/>
                  </a:outerShdw>
                </a:effectLst>
                <a:latin typeface="Arial"/>
                <a:cs typeface="Arial"/>
              </a:rPr>
              <a:t> 5. Future </a:t>
            </a:r>
            <a:r>
              <a:rPr lang="pt-PT" b="1" dirty="0" err="1">
                <a:effectLst>
                  <a:outerShdw blurRad="38100" dist="38100" dir="2700000" algn="tl">
                    <a:srgbClr val="C0C0C0"/>
                  </a:outerShdw>
                </a:effectLst>
                <a:latin typeface="Arial"/>
                <a:cs typeface="Arial"/>
              </a:rPr>
              <a:t>Work</a:t>
            </a:r>
            <a:endParaRPr lang="pt-PT" b="1" dirty="0">
              <a:effectLst>
                <a:outerShdw blurRad="38100" dist="38100" dir="2700000" algn="tl">
                  <a:srgbClr val="C0C0C0"/>
                </a:outerShdw>
              </a:effectLst>
              <a:latin typeface="Arial" charset="0"/>
            </a:endParaRPr>
          </a:p>
        </p:txBody>
      </p:sp>
      <p:sp>
        <p:nvSpPr>
          <p:cNvPr id="10247" name="Line 15">
            <a:extLst>
              <a:ext uri="{FF2B5EF4-FFF2-40B4-BE49-F238E27FC236}">
                <a16:creationId xmlns:a16="http://schemas.microsoft.com/office/drawing/2014/main" id="{FE7A1CF3-5AC8-387D-3B4D-4C08ABBACBBE}"/>
              </a:ext>
            </a:extLst>
          </p:cNvPr>
          <p:cNvSpPr>
            <a:spLocks noChangeShapeType="1"/>
          </p:cNvSpPr>
          <p:nvPr/>
        </p:nvSpPr>
        <p:spPr bwMode="auto">
          <a:xfrm>
            <a:off x="250825" y="0"/>
            <a:ext cx="0" cy="765175"/>
          </a:xfrm>
          <a:prstGeom prst="line">
            <a:avLst/>
          </a:prstGeom>
          <a:noFill/>
          <a:ln w="25400">
            <a:solidFill>
              <a:schemeClr val="tx1"/>
            </a:solidFill>
            <a:round/>
            <a:headEnd/>
            <a:tailEnd/>
          </a:ln>
        </p:spPr>
        <p:txBody>
          <a:bodyPr/>
          <a:lstStyle/>
          <a:p>
            <a:endParaRPr lang="pt-PT"/>
          </a:p>
        </p:txBody>
      </p:sp>
      <p:sp>
        <p:nvSpPr>
          <p:cNvPr id="9237" name="Text Box 21">
            <a:extLst>
              <a:ext uri="{FF2B5EF4-FFF2-40B4-BE49-F238E27FC236}">
                <a16:creationId xmlns:a16="http://schemas.microsoft.com/office/drawing/2014/main" id="{7B150E65-E777-01B0-79FA-EBFB52CF0F96}"/>
              </a:ext>
            </a:extLst>
          </p:cNvPr>
          <p:cNvSpPr txBox="1">
            <a:spLocks noChangeArrowheads="1"/>
          </p:cNvSpPr>
          <p:nvPr/>
        </p:nvSpPr>
        <p:spPr bwMode="auto">
          <a:xfrm>
            <a:off x="317274" y="43419"/>
            <a:ext cx="6981825" cy="304800"/>
          </a:xfrm>
          <a:prstGeom prst="rect">
            <a:avLst/>
          </a:prstGeom>
          <a:noFill/>
          <a:ln w="9525">
            <a:noFill/>
            <a:miter lim="800000"/>
            <a:headEnd/>
            <a:tailEnd/>
          </a:ln>
          <a:effectLst/>
        </p:spPr>
        <p:txBody>
          <a:bodyPr>
            <a:spAutoFit/>
          </a:bodyPr>
          <a:lstStyle/>
          <a:p>
            <a:pPr>
              <a:spcBef>
                <a:spcPct val="50000"/>
              </a:spcBef>
              <a:defRPr/>
            </a:pPr>
            <a:endParaRPr lang="pt-PT" sz="1400" b="1" dirty="0">
              <a:solidFill>
                <a:srgbClr val="FF3300"/>
              </a:solidFill>
              <a:effectLst>
                <a:outerShdw blurRad="38100" dist="38100" dir="2700000" algn="tl">
                  <a:srgbClr val="C0C0C0"/>
                </a:outerShdw>
              </a:effectLst>
              <a:latin typeface="Arial" charset="0"/>
            </a:endParaRPr>
          </a:p>
        </p:txBody>
      </p:sp>
      <p:sp>
        <p:nvSpPr>
          <p:cNvPr id="8" name="Content Placeholder 2">
            <a:extLst>
              <a:ext uri="{FF2B5EF4-FFF2-40B4-BE49-F238E27FC236}">
                <a16:creationId xmlns:a16="http://schemas.microsoft.com/office/drawing/2014/main" id="{0275FCF2-D579-3F26-45F5-D20E2C242FDD}"/>
              </a:ext>
            </a:extLst>
          </p:cNvPr>
          <p:cNvSpPr txBox="1">
            <a:spLocks/>
          </p:cNvSpPr>
          <p:nvPr/>
        </p:nvSpPr>
        <p:spPr>
          <a:xfrm>
            <a:off x="152400" y="1192899"/>
            <a:ext cx="8839200" cy="5014226"/>
          </a:xfrm>
          <a:prstGeom prst="rect">
            <a:avLst/>
          </a:prstGeom>
        </p:spPr>
        <p:txBody>
          <a:bodyPr vert="horz" lIns="91440" tIns="45720" rIns="91440" bIns="45720" rtlCol="0">
            <a:normAutofit/>
          </a:bodyPr>
          <a:lstStyle/>
          <a:p>
            <a:pPr marL="36576" algn="just">
              <a:lnSpc>
                <a:spcPct val="200000"/>
              </a:lnSpc>
              <a:spcBef>
                <a:spcPct val="20000"/>
              </a:spcBef>
              <a:defRPr/>
            </a:pPr>
            <a:r>
              <a:rPr lang="en-US" sz="1600" dirty="0">
                <a:solidFill>
                  <a:srgbClr val="FFC000"/>
                </a:solidFill>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Optimize and refine the CNN model architecture for improved accuracy</a:t>
            </a:r>
          </a:p>
          <a:p>
            <a:pPr marL="36576" algn="just">
              <a:lnSpc>
                <a:spcPct val="200000"/>
              </a:lnSpc>
              <a:spcBef>
                <a:spcPct val="20000"/>
              </a:spcBef>
              <a:defRPr/>
            </a:pPr>
            <a:r>
              <a:rPr lang="en-US" sz="1600" dirty="0">
                <a:solidFill>
                  <a:srgbClr val="FFC000"/>
                </a:solidFill>
                <a:latin typeface="Arial" panose="020B0604020202020204" pitchFamily="34" charset="0"/>
                <a:cs typeface="Arial" panose="020B0604020202020204" pitchFamily="34" charset="0"/>
              </a:rPr>
              <a:t>■</a:t>
            </a:r>
            <a:r>
              <a:rPr lang="en-US" sz="1600" dirty="0">
                <a:latin typeface="Arial" panose="020B0604020202020204" pitchFamily="34" charset="0"/>
                <a:cs typeface="Arial" panose="020B0604020202020204" pitchFamily="34" charset="0"/>
              </a:rPr>
              <a:t> Train the model with the complete Kaggle dataset (full-scale training)</a:t>
            </a:r>
          </a:p>
          <a:p>
            <a:pPr marL="36576" algn="just">
              <a:lnSpc>
                <a:spcPct val="200000"/>
              </a:lnSpc>
              <a:spcBef>
                <a:spcPct val="20000"/>
              </a:spcBef>
              <a:defRPr/>
            </a:pPr>
            <a:r>
              <a:rPr lang="en-US" sz="1600" dirty="0">
                <a:solidFill>
                  <a:srgbClr val="FFC000"/>
                </a:solidFill>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Implement additional testing scenarios and validation methods</a:t>
            </a:r>
          </a:p>
          <a:p>
            <a:pPr marL="36576" algn="just">
              <a:lnSpc>
                <a:spcPct val="200000"/>
              </a:lnSpc>
              <a:spcBef>
                <a:spcPct val="20000"/>
              </a:spcBef>
              <a:defRPr/>
            </a:pPr>
            <a:r>
              <a:rPr lang="en-US" sz="1600" dirty="0">
                <a:solidFill>
                  <a:srgbClr val="FFC000"/>
                </a:solidFill>
                <a:latin typeface="Arial" panose="020B0604020202020204" pitchFamily="34" charset="0"/>
                <a:cs typeface="Arial" panose="020B0604020202020204" pitchFamily="34" charset="0"/>
              </a:rPr>
              <a:t>■</a:t>
            </a:r>
            <a:r>
              <a:rPr lang="en-US" sz="1600" dirty="0">
                <a:latin typeface="Arial" panose="020B0604020202020204" pitchFamily="34" charset="0"/>
                <a:cs typeface="Arial" panose="020B0604020202020204" pitchFamily="34" charset="0"/>
              </a:rPr>
              <a:t> Integrate environmental variables (temperature, humidity, wind) into the model</a:t>
            </a:r>
          </a:p>
          <a:p>
            <a:pPr marL="36576" algn="just">
              <a:lnSpc>
                <a:spcPct val="200000"/>
              </a:lnSpc>
              <a:spcBef>
                <a:spcPct val="20000"/>
              </a:spcBef>
              <a:defRPr/>
            </a:pPr>
            <a:r>
              <a:rPr lang="en-US" sz="1600" dirty="0">
                <a:solidFill>
                  <a:srgbClr val="FFC000"/>
                </a:solidFill>
                <a:latin typeface="Arial" panose="020B0604020202020204" pitchFamily="34" charset="0"/>
                <a:cs typeface="Arial" panose="020B0604020202020204" pitchFamily="34" charset="0"/>
              </a:rPr>
              <a:t>■</a:t>
            </a:r>
            <a:r>
              <a:rPr lang="en-US" sz="1600" dirty="0">
                <a:latin typeface="Arial" panose="020B0604020202020204" pitchFamily="34" charset="0"/>
                <a:cs typeface="Arial" panose="020B0604020202020204" pitchFamily="34" charset="0"/>
              </a:rPr>
              <a:t> Develop the complete wildfire detection platform interface</a:t>
            </a:r>
            <a:endParaRPr lang="en-US" sz="2000" dirty="0">
              <a:latin typeface="Arial" panose="020B0604020202020204" pitchFamily="34" charset="0"/>
              <a:cs typeface="Arial" panose="020B0604020202020204" pitchFamily="34" charset="0"/>
            </a:endParaRPr>
          </a:p>
        </p:txBody>
      </p:sp>
      <p:pic>
        <p:nvPicPr>
          <p:cNvPr id="15" name="Imagem 14">
            <a:extLst>
              <a:ext uri="{FF2B5EF4-FFF2-40B4-BE49-F238E27FC236}">
                <a16:creationId xmlns:a16="http://schemas.microsoft.com/office/drawing/2014/main" id="{68EB7255-FC17-F102-1FEE-CDF9D8AA62A5}"/>
              </a:ext>
            </a:extLst>
          </p:cNvPr>
          <p:cNvPicPr>
            <a:picLocks noChangeAspect="1"/>
          </p:cNvPicPr>
          <p:nvPr/>
        </p:nvPicPr>
        <p:blipFill>
          <a:blip r:embed="rId3"/>
          <a:stretch>
            <a:fillRect/>
          </a:stretch>
        </p:blipFill>
        <p:spPr>
          <a:xfrm>
            <a:off x="101225" y="904241"/>
            <a:ext cx="9014192" cy="266482"/>
          </a:xfrm>
          <a:prstGeom prst="rect">
            <a:avLst/>
          </a:prstGeom>
        </p:spPr>
      </p:pic>
      <p:sp>
        <p:nvSpPr>
          <p:cNvPr id="18" name="Text Box 10">
            <a:extLst>
              <a:ext uri="{FF2B5EF4-FFF2-40B4-BE49-F238E27FC236}">
                <a16:creationId xmlns:a16="http://schemas.microsoft.com/office/drawing/2014/main" id="{F943F28B-AEA6-9534-90DB-2B125B77F3BA}"/>
              </a:ext>
            </a:extLst>
          </p:cNvPr>
          <p:cNvSpPr txBox="1">
            <a:spLocks noChangeArrowheads="1"/>
          </p:cNvSpPr>
          <p:nvPr/>
        </p:nvSpPr>
        <p:spPr bwMode="auto">
          <a:xfrm>
            <a:off x="8288338" y="6296025"/>
            <a:ext cx="827087" cy="366713"/>
          </a:xfrm>
          <a:prstGeom prst="rect">
            <a:avLst/>
          </a:prstGeom>
          <a:noFill/>
          <a:ln w="9525">
            <a:noFill/>
            <a:miter lim="800000"/>
            <a:headEnd/>
            <a:tailEnd/>
          </a:ln>
        </p:spPr>
        <p:txBody>
          <a:bodyPr>
            <a:spAutoFit/>
          </a:bodyPr>
          <a:lstStyle/>
          <a:p>
            <a:pPr>
              <a:spcBef>
                <a:spcPct val="50000"/>
              </a:spcBef>
            </a:pPr>
            <a:endParaRPr lang="pt-PT"/>
          </a:p>
        </p:txBody>
      </p:sp>
      <p:sp>
        <p:nvSpPr>
          <p:cNvPr id="19" name="Rectangle 11">
            <a:extLst>
              <a:ext uri="{FF2B5EF4-FFF2-40B4-BE49-F238E27FC236}">
                <a16:creationId xmlns:a16="http://schemas.microsoft.com/office/drawing/2014/main" id="{026362CF-AADA-4087-7F40-EB13EBCE6A75}"/>
              </a:ext>
            </a:extLst>
          </p:cNvPr>
          <p:cNvSpPr>
            <a:spLocks noChangeArrowheads="1"/>
          </p:cNvSpPr>
          <p:nvPr/>
        </p:nvSpPr>
        <p:spPr bwMode="auto">
          <a:xfrm>
            <a:off x="8327571" y="6496091"/>
            <a:ext cx="936625" cy="260350"/>
          </a:xfrm>
          <a:prstGeom prst="rect">
            <a:avLst/>
          </a:prstGeom>
          <a:noFill/>
          <a:ln w="9525">
            <a:noFill/>
            <a:miter lim="800000"/>
            <a:headEnd/>
            <a:tailEnd/>
          </a:ln>
        </p:spPr>
        <p:txBody>
          <a:bodyPr anchor="ctr"/>
          <a:lstStyle/>
          <a:p>
            <a:pPr algn="ctr"/>
            <a:r>
              <a:rPr lang="pt-PT" sz="1000" dirty="0"/>
              <a:t>- </a:t>
            </a:r>
            <a:fld id="{1234D2FF-8FB9-47A1-B8C9-42A5F500BA2F}" type="slidenum">
              <a:rPr lang="pt-PT" sz="1000"/>
              <a:pPr algn="ctr"/>
              <a:t>23</a:t>
            </a:fld>
            <a:r>
              <a:rPr lang="pt-PT" sz="1000" dirty="0"/>
              <a:t> -</a:t>
            </a:r>
          </a:p>
        </p:txBody>
      </p:sp>
      <p:pic>
        <p:nvPicPr>
          <p:cNvPr id="20" name="Imagem 19">
            <a:extLst>
              <a:ext uri="{FF2B5EF4-FFF2-40B4-BE49-F238E27FC236}">
                <a16:creationId xmlns:a16="http://schemas.microsoft.com/office/drawing/2014/main" id="{0FB0AEF1-5E56-AA8E-9B47-CAD09DB28F9F}"/>
              </a:ext>
            </a:extLst>
          </p:cNvPr>
          <p:cNvPicPr>
            <a:picLocks noChangeAspect="1"/>
          </p:cNvPicPr>
          <p:nvPr/>
        </p:nvPicPr>
        <p:blipFill>
          <a:blip r:embed="rId4"/>
          <a:stretch>
            <a:fillRect/>
          </a:stretch>
        </p:blipFill>
        <p:spPr>
          <a:xfrm>
            <a:off x="0" y="6320212"/>
            <a:ext cx="9144000" cy="253252"/>
          </a:xfrm>
          <a:prstGeom prst="rect">
            <a:avLst/>
          </a:prstGeom>
        </p:spPr>
      </p:pic>
      <p:pic>
        <p:nvPicPr>
          <p:cNvPr id="22" name="Imagem 21">
            <a:extLst>
              <a:ext uri="{FF2B5EF4-FFF2-40B4-BE49-F238E27FC236}">
                <a16:creationId xmlns:a16="http://schemas.microsoft.com/office/drawing/2014/main" id="{51614909-1089-85D6-AE40-FF775718F50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8125" y="6488336"/>
            <a:ext cx="545959" cy="199802"/>
          </a:xfrm>
          <a:prstGeom prst="rect">
            <a:avLst/>
          </a:prstGeom>
        </p:spPr>
      </p:pic>
      <p:sp>
        <p:nvSpPr>
          <p:cNvPr id="23" name="Rectângulo 19">
            <a:extLst>
              <a:ext uri="{FF2B5EF4-FFF2-40B4-BE49-F238E27FC236}">
                <a16:creationId xmlns:a16="http://schemas.microsoft.com/office/drawing/2014/main" id="{89B36F63-C657-09EA-3FE7-CE1675101DE3}"/>
              </a:ext>
            </a:extLst>
          </p:cNvPr>
          <p:cNvSpPr/>
          <p:nvPr/>
        </p:nvSpPr>
        <p:spPr>
          <a:xfrm>
            <a:off x="5535613" y="553019"/>
            <a:ext cx="3505200" cy="261610"/>
          </a:xfrm>
          <a:prstGeom prst="rect">
            <a:avLst/>
          </a:prstGeom>
        </p:spPr>
        <p:txBody>
          <a:bodyPr wrap="square">
            <a:spAutoFit/>
          </a:bodyPr>
          <a:lstStyle/>
          <a:p>
            <a:pPr algn="r"/>
            <a:r>
              <a:rPr lang="pt-PT" sz="1100" b="1" cap="all" dirty="0" err="1">
                <a:highlight>
                  <a:srgbClr val="FFFF00"/>
                </a:highlight>
              </a:rPr>
              <a:t>Graduation</a:t>
            </a:r>
            <a:r>
              <a:rPr lang="pt-PT" sz="1100" b="1" cap="all" dirty="0">
                <a:highlight>
                  <a:srgbClr val="FFFF00"/>
                </a:highlight>
              </a:rPr>
              <a:t> in </a:t>
            </a:r>
            <a:r>
              <a:rPr lang="pt-PT" sz="1100" b="1" cap="all" dirty="0" err="1">
                <a:highlight>
                  <a:srgbClr val="FFFF00"/>
                </a:highlight>
              </a:rPr>
              <a:t>Informatics</a:t>
            </a:r>
            <a:r>
              <a:rPr lang="pt-PT" sz="1100" b="1" cap="all" dirty="0">
                <a:highlight>
                  <a:srgbClr val="FFFF00"/>
                </a:highlight>
              </a:rPr>
              <a:t> </a:t>
            </a:r>
            <a:r>
              <a:rPr lang="pt-PT" sz="1100" b="1" cap="all" dirty="0" err="1">
                <a:highlight>
                  <a:srgbClr val="FFFF00"/>
                </a:highlight>
              </a:rPr>
              <a:t>engineering</a:t>
            </a:r>
            <a:endParaRPr lang="pt-PT" sz="1100" dirty="0">
              <a:highlight>
                <a:srgbClr val="FFFF00"/>
              </a:highlight>
            </a:endParaRPr>
          </a:p>
        </p:txBody>
      </p:sp>
      <p:pic>
        <p:nvPicPr>
          <p:cNvPr id="24" name="Imagem 23">
            <a:extLst>
              <a:ext uri="{FF2B5EF4-FFF2-40B4-BE49-F238E27FC236}">
                <a16:creationId xmlns:a16="http://schemas.microsoft.com/office/drawing/2014/main" id="{BDC5709F-DECB-1EF5-18F3-3783882C809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575316" y="9186"/>
            <a:ext cx="2575034" cy="639880"/>
          </a:xfrm>
          <a:prstGeom prst="rect">
            <a:avLst/>
          </a:prstGeom>
        </p:spPr>
      </p:pic>
      <p:sp>
        <p:nvSpPr>
          <p:cNvPr id="2" name="Subtítulo 2">
            <a:extLst>
              <a:ext uri="{FF2B5EF4-FFF2-40B4-BE49-F238E27FC236}">
                <a16:creationId xmlns:a16="http://schemas.microsoft.com/office/drawing/2014/main" id="{5D4BB0BD-5B77-0B32-F1F4-3BE28A4FCE8E}"/>
              </a:ext>
            </a:extLst>
          </p:cNvPr>
          <p:cNvSpPr txBox="1">
            <a:spLocks/>
          </p:cNvSpPr>
          <p:nvPr/>
        </p:nvSpPr>
        <p:spPr>
          <a:xfrm>
            <a:off x="836017" y="6524516"/>
            <a:ext cx="7698382" cy="162409"/>
          </a:xfrm>
          <a:prstGeom prst="rect">
            <a:avLst/>
          </a:prstGeom>
        </p:spPr>
        <p:txBody>
          <a:bodyPr vert="horz" lIns="68580" tIns="34290" rIns="68580" bIns="3429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pt-PT" sz="900" dirty="0">
                <a:latin typeface="Arial" charset="0"/>
                <a:ea typeface="Arial" charset="0"/>
                <a:cs typeface="Arial" charset="0"/>
              </a:rPr>
              <a:t>@Diogo Monteiro - 32428, Gonçalo Teixeira - 31396 | </a:t>
            </a:r>
            <a:r>
              <a:rPr lang="pt-PT" sz="900" b="1" dirty="0">
                <a:solidFill>
                  <a:srgbClr val="C00000"/>
                </a:solidFill>
                <a:latin typeface="Arial" charset="0"/>
                <a:ea typeface="Arial" charset="0"/>
                <a:cs typeface="Arial" charset="0"/>
              </a:rPr>
              <a:t>Unidade Curricular: Projeto III </a:t>
            </a:r>
            <a:r>
              <a:rPr lang="pt-PT" sz="900" dirty="0">
                <a:latin typeface="Arial" charset="0"/>
                <a:ea typeface="Arial" charset="0"/>
                <a:cs typeface="Arial" charset="0"/>
              </a:rPr>
              <a:t>– Ano Letivo 2024/2025 – </a:t>
            </a:r>
            <a:r>
              <a:rPr lang="pt-PT" sz="900" b="1" dirty="0">
                <a:latin typeface="Arial" charset="0"/>
                <a:ea typeface="Arial" charset="0"/>
                <a:cs typeface="Arial" charset="0"/>
              </a:rPr>
              <a:t>MCZ03</a:t>
            </a:r>
          </a:p>
        </p:txBody>
      </p:sp>
    </p:spTree>
    <p:extLst>
      <p:ext uri="{BB962C8B-B14F-4D97-AF65-F5344CB8AC3E}">
        <p14:creationId xmlns:p14="http://schemas.microsoft.com/office/powerpoint/2010/main" val="37942996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BCC9F-9D1C-E1F0-3117-74D417D92AD4}"/>
            </a:ext>
          </a:extLst>
        </p:cNvPr>
        <p:cNvGrpSpPr/>
        <p:nvPr/>
      </p:nvGrpSpPr>
      <p:grpSpPr>
        <a:xfrm>
          <a:off x="0" y="0"/>
          <a:ext cx="0" cy="0"/>
          <a:chOff x="0" y="0"/>
          <a:chExt cx="0" cy="0"/>
        </a:xfrm>
      </p:grpSpPr>
      <p:sp>
        <p:nvSpPr>
          <p:cNvPr id="9229" name="Text Box 13">
            <a:extLst>
              <a:ext uri="{FF2B5EF4-FFF2-40B4-BE49-F238E27FC236}">
                <a16:creationId xmlns:a16="http://schemas.microsoft.com/office/drawing/2014/main" id="{E83FCA51-CE44-12A9-9095-82AF84095B8A}"/>
              </a:ext>
            </a:extLst>
          </p:cNvPr>
          <p:cNvSpPr txBox="1">
            <a:spLocks noChangeArrowheads="1"/>
          </p:cNvSpPr>
          <p:nvPr/>
        </p:nvSpPr>
        <p:spPr bwMode="auto">
          <a:xfrm>
            <a:off x="306388" y="557213"/>
            <a:ext cx="6981825" cy="400110"/>
          </a:xfrm>
          <a:prstGeom prst="rect">
            <a:avLst/>
          </a:prstGeom>
          <a:noFill/>
          <a:ln w="9525">
            <a:noFill/>
            <a:miter lim="800000"/>
            <a:headEnd/>
            <a:tailEnd/>
          </a:ln>
          <a:effectLst/>
        </p:spPr>
        <p:txBody>
          <a:bodyPr>
            <a:spAutoFit/>
          </a:bodyPr>
          <a:lstStyle/>
          <a:p>
            <a:pPr>
              <a:spcBef>
                <a:spcPct val="50000"/>
              </a:spcBef>
              <a:defRPr/>
            </a:pPr>
            <a:r>
              <a:rPr lang="pt-PT" sz="2000" b="1" dirty="0">
                <a:solidFill>
                  <a:srgbClr val="C00000"/>
                </a:solidFill>
                <a:effectLst>
                  <a:outerShdw blurRad="38100" dist="38100" dir="2700000" algn="tl">
                    <a:srgbClr val="C0C0C0"/>
                  </a:outerShdw>
                </a:effectLst>
                <a:latin typeface="Arial"/>
                <a:cs typeface="Arial"/>
              </a:rPr>
              <a:t>■</a:t>
            </a:r>
            <a:r>
              <a:rPr lang="pt-PT" sz="2000" b="1" dirty="0">
                <a:effectLst>
                  <a:outerShdw blurRad="38100" dist="38100" dir="2700000" algn="tl">
                    <a:srgbClr val="C0C0C0"/>
                  </a:outerShdw>
                </a:effectLst>
                <a:latin typeface="Arial"/>
                <a:cs typeface="Arial"/>
              </a:rPr>
              <a:t> </a:t>
            </a:r>
            <a:r>
              <a:rPr lang="en-US" sz="2000" b="1" dirty="0">
                <a:effectLst>
                  <a:outerShdw blurRad="38100" dist="38100" dir="2700000" algn="tl">
                    <a:srgbClr val="C0C0C0"/>
                  </a:outerShdw>
                </a:effectLst>
                <a:latin typeface="Arial" pitchFamily="34" charset="0"/>
                <a:cs typeface="Arial" pitchFamily="34" charset="0"/>
              </a:rPr>
              <a:t>6</a:t>
            </a:r>
            <a:r>
              <a:rPr lang="en-US" sz="2000" b="1" dirty="0">
                <a:latin typeface="Arial" pitchFamily="34" charset="0"/>
                <a:cs typeface="Arial" pitchFamily="34" charset="0"/>
              </a:rPr>
              <a:t>. Bibliography and Web References </a:t>
            </a:r>
          </a:p>
        </p:txBody>
      </p:sp>
      <p:sp>
        <p:nvSpPr>
          <p:cNvPr id="10247" name="Line 15">
            <a:extLst>
              <a:ext uri="{FF2B5EF4-FFF2-40B4-BE49-F238E27FC236}">
                <a16:creationId xmlns:a16="http://schemas.microsoft.com/office/drawing/2014/main" id="{6B9452C1-7FC1-EA9B-3B0C-8D1C0ECA00F9}"/>
              </a:ext>
            </a:extLst>
          </p:cNvPr>
          <p:cNvSpPr>
            <a:spLocks noChangeShapeType="1"/>
          </p:cNvSpPr>
          <p:nvPr/>
        </p:nvSpPr>
        <p:spPr bwMode="auto">
          <a:xfrm>
            <a:off x="250825" y="0"/>
            <a:ext cx="0" cy="765175"/>
          </a:xfrm>
          <a:prstGeom prst="line">
            <a:avLst/>
          </a:prstGeom>
          <a:noFill/>
          <a:ln w="25400">
            <a:solidFill>
              <a:schemeClr val="tx1"/>
            </a:solidFill>
            <a:round/>
            <a:headEnd/>
            <a:tailEnd/>
          </a:ln>
        </p:spPr>
        <p:txBody>
          <a:bodyPr/>
          <a:lstStyle/>
          <a:p>
            <a:endParaRPr lang="pt-PT"/>
          </a:p>
        </p:txBody>
      </p:sp>
      <p:sp>
        <p:nvSpPr>
          <p:cNvPr id="9237" name="Text Box 21">
            <a:extLst>
              <a:ext uri="{FF2B5EF4-FFF2-40B4-BE49-F238E27FC236}">
                <a16:creationId xmlns:a16="http://schemas.microsoft.com/office/drawing/2014/main" id="{B6F125AF-24FA-8397-3915-1FB4711CD222}"/>
              </a:ext>
            </a:extLst>
          </p:cNvPr>
          <p:cNvSpPr txBox="1">
            <a:spLocks noChangeArrowheads="1"/>
          </p:cNvSpPr>
          <p:nvPr/>
        </p:nvSpPr>
        <p:spPr bwMode="auto">
          <a:xfrm>
            <a:off x="260350" y="44450"/>
            <a:ext cx="6981825" cy="304800"/>
          </a:xfrm>
          <a:prstGeom prst="rect">
            <a:avLst/>
          </a:prstGeom>
          <a:noFill/>
          <a:ln w="9525">
            <a:noFill/>
            <a:miter lim="800000"/>
            <a:headEnd/>
            <a:tailEnd/>
          </a:ln>
          <a:effectLst/>
        </p:spPr>
        <p:txBody>
          <a:bodyPr>
            <a:spAutoFit/>
          </a:bodyPr>
          <a:lstStyle/>
          <a:p>
            <a:pPr>
              <a:spcBef>
                <a:spcPct val="50000"/>
              </a:spcBef>
              <a:defRPr/>
            </a:pPr>
            <a:endParaRPr lang="pt-PT" sz="1400" b="1" dirty="0">
              <a:solidFill>
                <a:srgbClr val="FF3300"/>
              </a:solidFill>
              <a:effectLst>
                <a:outerShdw blurRad="38100" dist="38100" dir="2700000" algn="tl">
                  <a:srgbClr val="C0C0C0"/>
                </a:outerShdw>
              </a:effectLst>
              <a:latin typeface="Arial" charset="0"/>
            </a:endParaRPr>
          </a:p>
        </p:txBody>
      </p:sp>
      <p:sp>
        <p:nvSpPr>
          <p:cNvPr id="18" name="Content Placeholder 2">
            <a:extLst>
              <a:ext uri="{FF2B5EF4-FFF2-40B4-BE49-F238E27FC236}">
                <a16:creationId xmlns:a16="http://schemas.microsoft.com/office/drawing/2014/main" id="{D7CBD2B9-9EFA-8EB7-2A60-F7CA27418261}"/>
              </a:ext>
            </a:extLst>
          </p:cNvPr>
          <p:cNvSpPr txBox="1">
            <a:spLocks/>
          </p:cNvSpPr>
          <p:nvPr/>
        </p:nvSpPr>
        <p:spPr>
          <a:xfrm>
            <a:off x="152400" y="1066800"/>
            <a:ext cx="8839200" cy="5257800"/>
          </a:xfrm>
          <a:prstGeom prst="rect">
            <a:avLst/>
          </a:prstGeom>
        </p:spPr>
        <p:txBody>
          <a:bodyPr vert="horz" lIns="91440" tIns="45720" rIns="91440" bIns="45720" rtlCol="0">
            <a:normAutofit/>
          </a:bodyPr>
          <a:lstStyle/>
          <a:p>
            <a:pPr>
              <a:lnSpc>
                <a:spcPct val="200000"/>
              </a:lnSpc>
              <a:spcBef>
                <a:spcPct val="20000"/>
              </a:spcBef>
              <a:defRPr/>
            </a:pPr>
            <a:r>
              <a:rPr lang="en-US" sz="1600" dirty="0">
                <a:solidFill>
                  <a:srgbClr val="FFC000"/>
                </a:solidFill>
                <a:cs typeface="Arial" panose="020B0604020202020204" pitchFamily="34" charset="0"/>
              </a:rPr>
              <a:t>■ </a:t>
            </a:r>
            <a:r>
              <a:rPr lang="en-US" sz="1600" dirty="0">
                <a:cs typeface="Arial" panose="020B0604020202020204" pitchFamily="34" charset="0"/>
              </a:rPr>
              <a:t>Wildfire Prediction Dataset (Satellite Images): </a:t>
            </a:r>
            <a:r>
              <a:rPr lang="pt-PT" sz="1600" dirty="0">
                <a:hlinkClick r:id="rId3"/>
              </a:rPr>
              <a:t>https://www.kaggle.com/datasets/abdelghaniaaba/wildfire-prediction-dataset</a:t>
            </a:r>
            <a:br>
              <a:rPr lang="en-US" sz="1600" dirty="0">
                <a:cs typeface="Arial" panose="020B0604020202020204" pitchFamily="34" charset="0"/>
              </a:rPr>
            </a:br>
            <a:r>
              <a:rPr lang="en-US" sz="1600" dirty="0">
                <a:solidFill>
                  <a:srgbClr val="FFC000"/>
                </a:solidFill>
                <a:cs typeface="Arial" panose="020B0604020202020204" pitchFamily="34" charset="0"/>
              </a:rPr>
              <a:t>■ </a:t>
            </a:r>
            <a:r>
              <a:rPr lang="en-US" sz="1600" dirty="0">
                <a:cs typeface="Arial" panose="020B0604020202020204" pitchFamily="34" charset="0"/>
              </a:rPr>
              <a:t>TensorFlow Documentation: </a:t>
            </a:r>
            <a:r>
              <a:rPr lang="en-US" sz="1600" dirty="0">
                <a:cs typeface="Arial" panose="020B0604020202020204" pitchFamily="34" charset="0"/>
                <a:hlinkClick r:id="rId4"/>
              </a:rPr>
              <a:t>https://www.tensorflow.org/</a:t>
            </a:r>
            <a:endParaRPr lang="en-US" sz="1600" dirty="0">
              <a:cs typeface="Arial" panose="020B0604020202020204" pitchFamily="34" charset="0"/>
            </a:endParaRPr>
          </a:p>
          <a:p>
            <a:pPr>
              <a:lnSpc>
                <a:spcPct val="200000"/>
              </a:lnSpc>
              <a:spcBef>
                <a:spcPct val="20000"/>
              </a:spcBef>
              <a:defRPr/>
            </a:pPr>
            <a:r>
              <a:rPr lang="en-US" sz="1600" dirty="0">
                <a:solidFill>
                  <a:srgbClr val="FFC000"/>
                </a:solidFill>
                <a:cs typeface="Arial" panose="020B0604020202020204" pitchFamily="34" charset="0"/>
              </a:rPr>
              <a:t>■ </a:t>
            </a:r>
            <a:r>
              <a:rPr lang="en-US" sz="1600" dirty="0" err="1">
                <a:cs typeface="Arial" panose="020B0604020202020204" pitchFamily="34" charset="0"/>
              </a:rPr>
              <a:t>Keras</a:t>
            </a:r>
            <a:r>
              <a:rPr lang="en-US" sz="1600" dirty="0">
                <a:cs typeface="Arial" panose="020B0604020202020204" pitchFamily="34" charset="0"/>
              </a:rPr>
              <a:t> Documentation: </a:t>
            </a:r>
            <a:r>
              <a:rPr lang="en-US" sz="1600" dirty="0">
                <a:cs typeface="Arial" panose="020B0604020202020204" pitchFamily="34" charset="0"/>
                <a:hlinkClick r:id="rId5"/>
              </a:rPr>
              <a:t>https://keras.io/</a:t>
            </a:r>
            <a:endParaRPr lang="en-US" sz="1600" dirty="0">
              <a:cs typeface="Arial" panose="020B0604020202020204" pitchFamily="34" charset="0"/>
            </a:endParaRPr>
          </a:p>
          <a:p>
            <a:pPr>
              <a:lnSpc>
                <a:spcPct val="200000"/>
              </a:lnSpc>
              <a:spcBef>
                <a:spcPct val="20000"/>
              </a:spcBef>
              <a:defRPr/>
            </a:pPr>
            <a:br>
              <a:rPr lang="pt-PT" sz="1600" dirty="0"/>
            </a:br>
            <a:endParaRPr kumimoji="0" lang="en-US" sz="2000" b="0" i="1"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pic>
        <p:nvPicPr>
          <p:cNvPr id="15" name="Imagem 14">
            <a:extLst>
              <a:ext uri="{FF2B5EF4-FFF2-40B4-BE49-F238E27FC236}">
                <a16:creationId xmlns:a16="http://schemas.microsoft.com/office/drawing/2014/main" id="{B9B64504-092D-8E1C-6C54-23AAC16A0D1C}"/>
              </a:ext>
            </a:extLst>
          </p:cNvPr>
          <p:cNvPicPr>
            <a:picLocks noChangeAspect="1"/>
          </p:cNvPicPr>
          <p:nvPr/>
        </p:nvPicPr>
        <p:blipFill>
          <a:blip r:embed="rId6"/>
          <a:stretch>
            <a:fillRect/>
          </a:stretch>
        </p:blipFill>
        <p:spPr>
          <a:xfrm>
            <a:off x="101225" y="904241"/>
            <a:ext cx="9014192" cy="266482"/>
          </a:xfrm>
          <a:prstGeom prst="rect">
            <a:avLst/>
          </a:prstGeom>
        </p:spPr>
      </p:pic>
      <p:sp>
        <p:nvSpPr>
          <p:cNvPr id="22" name="Text Box 10">
            <a:extLst>
              <a:ext uri="{FF2B5EF4-FFF2-40B4-BE49-F238E27FC236}">
                <a16:creationId xmlns:a16="http://schemas.microsoft.com/office/drawing/2014/main" id="{BF3FDDF9-CE00-5F4D-47E1-1A4707623424}"/>
              </a:ext>
            </a:extLst>
          </p:cNvPr>
          <p:cNvSpPr txBox="1">
            <a:spLocks noChangeArrowheads="1"/>
          </p:cNvSpPr>
          <p:nvPr/>
        </p:nvSpPr>
        <p:spPr bwMode="auto">
          <a:xfrm>
            <a:off x="8288338" y="6296025"/>
            <a:ext cx="827087" cy="366713"/>
          </a:xfrm>
          <a:prstGeom prst="rect">
            <a:avLst/>
          </a:prstGeom>
          <a:noFill/>
          <a:ln w="9525">
            <a:noFill/>
            <a:miter lim="800000"/>
            <a:headEnd/>
            <a:tailEnd/>
          </a:ln>
        </p:spPr>
        <p:txBody>
          <a:bodyPr>
            <a:spAutoFit/>
          </a:bodyPr>
          <a:lstStyle/>
          <a:p>
            <a:pPr>
              <a:spcBef>
                <a:spcPct val="50000"/>
              </a:spcBef>
            </a:pPr>
            <a:endParaRPr lang="pt-PT"/>
          </a:p>
        </p:txBody>
      </p:sp>
      <p:sp>
        <p:nvSpPr>
          <p:cNvPr id="23" name="Rectangle 11">
            <a:extLst>
              <a:ext uri="{FF2B5EF4-FFF2-40B4-BE49-F238E27FC236}">
                <a16:creationId xmlns:a16="http://schemas.microsoft.com/office/drawing/2014/main" id="{5BB03623-7272-0B3D-3711-0E62106D7F97}"/>
              </a:ext>
            </a:extLst>
          </p:cNvPr>
          <p:cNvSpPr>
            <a:spLocks noChangeArrowheads="1"/>
          </p:cNvSpPr>
          <p:nvPr/>
        </p:nvSpPr>
        <p:spPr bwMode="auto">
          <a:xfrm>
            <a:off x="8327571" y="6496091"/>
            <a:ext cx="936625" cy="260350"/>
          </a:xfrm>
          <a:prstGeom prst="rect">
            <a:avLst/>
          </a:prstGeom>
          <a:noFill/>
          <a:ln w="9525">
            <a:noFill/>
            <a:miter lim="800000"/>
            <a:headEnd/>
            <a:tailEnd/>
          </a:ln>
        </p:spPr>
        <p:txBody>
          <a:bodyPr anchor="ctr"/>
          <a:lstStyle/>
          <a:p>
            <a:pPr algn="ctr"/>
            <a:r>
              <a:rPr lang="pt-PT" sz="1000" dirty="0"/>
              <a:t>- </a:t>
            </a:r>
            <a:fld id="{1234D2FF-8FB9-47A1-B8C9-42A5F500BA2F}" type="slidenum">
              <a:rPr lang="pt-PT" sz="1000"/>
              <a:pPr algn="ctr"/>
              <a:t>24</a:t>
            </a:fld>
            <a:r>
              <a:rPr lang="pt-PT" sz="1000" dirty="0"/>
              <a:t> -</a:t>
            </a:r>
          </a:p>
        </p:txBody>
      </p:sp>
      <p:pic>
        <p:nvPicPr>
          <p:cNvPr id="24" name="Imagem 23">
            <a:extLst>
              <a:ext uri="{FF2B5EF4-FFF2-40B4-BE49-F238E27FC236}">
                <a16:creationId xmlns:a16="http://schemas.microsoft.com/office/drawing/2014/main" id="{9ED4AAEB-E820-F6B1-1E61-6BD7B3D46F5D}"/>
              </a:ext>
            </a:extLst>
          </p:cNvPr>
          <p:cNvPicPr>
            <a:picLocks noChangeAspect="1"/>
          </p:cNvPicPr>
          <p:nvPr/>
        </p:nvPicPr>
        <p:blipFill>
          <a:blip r:embed="rId7"/>
          <a:stretch>
            <a:fillRect/>
          </a:stretch>
        </p:blipFill>
        <p:spPr>
          <a:xfrm>
            <a:off x="0" y="6320212"/>
            <a:ext cx="9144000" cy="253252"/>
          </a:xfrm>
          <a:prstGeom prst="rect">
            <a:avLst/>
          </a:prstGeom>
        </p:spPr>
      </p:pic>
      <p:pic>
        <p:nvPicPr>
          <p:cNvPr id="26" name="Imagem 25">
            <a:extLst>
              <a:ext uri="{FF2B5EF4-FFF2-40B4-BE49-F238E27FC236}">
                <a16:creationId xmlns:a16="http://schemas.microsoft.com/office/drawing/2014/main" id="{3B0BEECF-B8C1-2FF4-06A2-6E6D03F66E1C}"/>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38125" y="6488336"/>
            <a:ext cx="545959" cy="199802"/>
          </a:xfrm>
          <a:prstGeom prst="rect">
            <a:avLst/>
          </a:prstGeom>
        </p:spPr>
      </p:pic>
      <p:sp>
        <p:nvSpPr>
          <p:cNvPr id="27" name="Rectângulo 19">
            <a:extLst>
              <a:ext uri="{FF2B5EF4-FFF2-40B4-BE49-F238E27FC236}">
                <a16:creationId xmlns:a16="http://schemas.microsoft.com/office/drawing/2014/main" id="{AD60FBC9-D1DF-9511-B370-05946A6815C6}"/>
              </a:ext>
            </a:extLst>
          </p:cNvPr>
          <p:cNvSpPr/>
          <p:nvPr/>
        </p:nvSpPr>
        <p:spPr>
          <a:xfrm>
            <a:off x="5535613" y="553019"/>
            <a:ext cx="3505200" cy="261610"/>
          </a:xfrm>
          <a:prstGeom prst="rect">
            <a:avLst/>
          </a:prstGeom>
        </p:spPr>
        <p:txBody>
          <a:bodyPr wrap="square">
            <a:spAutoFit/>
          </a:bodyPr>
          <a:lstStyle/>
          <a:p>
            <a:pPr algn="r"/>
            <a:r>
              <a:rPr lang="pt-PT" sz="1100" b="1" cap="all" dirty="0" err="1">
                <a:highlight>
                  <a:srgbClr val="FFFF00"/>
                </a:highlight>
              </a:rPr>
              <a:t>Graduation</a:t>
            </a:r>
            <a:r>
              <a:rPr lang="pt-PT" sz="1100" b="1" cap="all" dirty="0">
                <a:highlight>
                  <a:srgbClr val="FFFF00"/>
                </a:highlight>
              </a:rPr>
              <a:t> in </a:t>
            </a:r>
            <a:r>
              <a:rPr lang="pt-PT" sz="1100" b="1" cap="all" dirty="0" err="1">
                <a:highlight>
                  <a:srgbClr val="FFFF00"/>
                </a:highlight>
              </a:rPr>
              <a:t>Informatics</a:t>
            </a:r>
            <a:r>
              <a:rPr lang="pt-PT" sz="1100" b="1" cap="all" dirty="0">
                <a:highlight>
                  <a:srgbClr val="FFFF00"/>
                </a:highlight>
              </a:rPr>
              <a:t> </a:t>
            </a:r>
            <a:r>
              <a:rPr lang="pt-PT" sz="1100" b="1" cap="all" dirty="0" err="1">
                <a:highlight>
                  <a:srgbClr val="FFFF00"/>
                </a:highlight>
              </a:rPr>
              <a:t>engineering</a:t>
            </a:r>
            <a:endParaRPr lang="pt-PT" sz="1100" dirty="0">
              <a:highlight>
                <a:srgbClr val="FFFF00"/>
              </a:highlight>
            </a:endParaRPr>
          </a:p>
        </p:txBody>
      </p:sp>
      <p:pic>
        <p:nvPicPr>
          <p:cNvPr id="28" name="Imagem 27">
            <a:extLst>
              <a:ext uri="{FF2B5EF4-FFF2-40B4-BE49-F238E27FC236}">
                <a16:creationId xmlns:a16="http://schemas.microsoft.com/office/drawing/2014/main" id="{DEBDC565-4C5F-BF09-5A9B-805B0677C2E4}"/>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575316" y="9186"/>
            <a:ext cx="2575034" cy="639880"/>
          </a:xfrm>
          <a:prstGeom prst="rect">
            <a:avLst/>
          </a:prstGeom>
        </p:spPr>
      </p:pic>
      <p:sp>
        <p:nvSpPr>
          <p:cNvPr id="2" name="Subtítulo 2">
            <a:extLst>
              <a:ext uri="{FF2B5EF4-FFF2-40B4-BE49-F238E27FC236}">
                <a16:creationId xmlns:a16="http://schemas.microsoft.com/office/drawing/2014/main" id="{8DD16A7E-A219-96B3-30DC-654D2F2DBF23}"/>
              </a:ext>
            </a:extLst>
          </p:cNvPr>
          <p:cNvSpPr txBox="1">
            <a:spLocks/>
          </p:cNvSpPr>
          <p:nvPr/>
        </p:nvSpPr>
        <p:spPr>
          <a:xfrm>
            <a:off x="836017" y="6524516"/>
            <a:ext cx="7698382" cy="162409"/>
          </a:xfrm>
          <a:prstGeom prst="rect">
            <a:avLst/>
          </a:prstGeom>
        </p:spPr>
        <p:txBody>
          <a:bodyPr vert="horz" lIns="68580" tIns="34290" rIns="68580" bIns="3429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pt-PT" sz="900" dirty="0">
                <a:latin typeface="Arial" charset="0"/>
                <a:ea typeface="Arial" charset="0"/>
                <a:cs typeface="Arial" charset="0"/>
              </a:rPr>
              <a:t>@Diogo Monteiro - 32428, Gonçalo Teixeira - 31396 | </a:t>
            </a:r>
            <a:r>
              <a:rPr lang="pt-PT" sz="900" b="1" dirty="0">
                <a:solidFill>
                  <a:srgbClr val="C00000"/>
                </a:solidFill>
                <a:latin typeface="Arial" charset="0"/>
                <a:ea typeface="Arial" charset="0"/>
                <a:cs typeface="Arial" charset="0"/>
              </a:rPr>
              <a:t>Unidade Curricular: Projeto III </a:t>
            </a:r>
            <a:r>
              <a:rPr lang="pt-PT" sz="900" dirty="0">
                <a:latin typeface="Arial" charset="0"/>
                <a:ea typeface="Arial" charset="0"/>
                <a:cs typeface="Arial" charset="0"/>
              </a:rPr>
              <a:t>– Ano Letivo 2024/2025 – </a:t>
            </a:r>
            <a:r>
              <a:rPr lang="pt-PT" sz="900" b="1" dirty="0">
                <a:latin typeface="Arial" charset="0"/>
                <a:ea typeface="Arial" charset="0"/>
                <a:cs typeface="Arial" charset="0"/>
              </a:rPr>
              <a:t>MCZ03</a:t>
            </a:r>
          </a:p>
        </p:txBody>
      </p:sp>
    </p:spTree>
    <p:extLst>
      <p:ext uri="{BB962C8B-B14F-4D97-AF65-F5344CB8AC3E}">
        <p14:creationId xmlns:p14="http://schemas.microsoft.com/office/powerpoint/2010/main" val="5965742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F8166F-B45F-31D4-9531-8FB466AA63F3}"/>
            </a:ext>
          </a:extLst>
        </p:cNvPr>
        <p:cNvGrpSpPr/>
        <p:nvPr/>
      </p:nvGrpSpPr>
      <p:grpSpPr>
        <a:xfrm>
          <a:off x="0" y="0"/>
          <a:ext cx="0" cy="0"/>
          <a:chOff x="0" y="0"/>
          <a:chExt cx="0" cy="0"/>
        </a:xfrm>
      </p:grpSpPr>
      <p:pic>
        <p:nvPicPr>
          <p:cNvPr id="2" name="Imagem 1">
            <a:extLst>
              <a:ext uri="{FF2B5EF4-FFF2-40B4-BE49-F238E27FC236}">
                <a16:creationId xmlns:a16="http://schemas.microsoft.com/office/drawing/2014/main" id="{98C77DE0-0ABC-F2D7-19D7-6FE831EFBB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Subtítulo 2">
            <a:extLst>
              <a:ext uri="{FF2B5EF4-FFF2-40B4-BE49-F238E27FC236}">
                <a16:creationId xmlns:a16="http://schemas.microsoft.com/office/drawing/2014/main" id="{05D1D4F8-CB71-3626-5F0C-B0DA1748C42A}"/>
              </a:ext>
            </a:extLst>
          </p:cNvPr>
          <p:cNvSpPr>
            <a:spLocks noGrp="1"/>
          </p:cNvSpPr>
          <p:nvPr>
            <p:ph type="subTitle" idx="1"/>
          </p:nvPr>
        </p:nvSpPr>
        <p:spPr>
          <a:xfrm>
            <a:off x="2000250" y="5867400"/>
            <a:ext cx="5143500" cy="489738"/>
          </a:xfrm>
        </p:spPr>
        <p:txBody>
          <a:bodyPr>
            <a:normAutofit/>
          </a:bodyPr>
          <a:lstStyle/>
          <a:p>
            <a:r>
              <a:rPr lang="pt-PT" sz="1500" dirty="0" err="1">
                <a:solidFill>
                  <a:schemeClr val="bg1"/>
                </a:solidFill>
                <a:latin typeface="Arial" charset="0"/>
                <a:ea typeface="Arial" charset="0"/>
                <a:cs typeface="Arial" charset="0"/>
              </a:rPr>
              <a:t>www.ipvc.pt</a:t>
            </a:r>
            <a:endParaRPr lang="pt-PT" sz="1500" dirty="0">
              <a:solidFill>
                <a:schemeClr val="bg1"/>
              </a:solidFill>
              <a:latin typeface="Arial" charset="0"/>
              <a:ea typeface="Arial" charset="0"/>
              <a:cs typeface="Arial" charset="0"/>
            </a:endParaRPr>
          </a:p>
        </p:txBody>
      </p:sp>
      <p:sp>
        <p:nvSpPr>
          <p:cNvPr id="5" name="Título 1">
            <a:extLst>
              <a:ext uri="{FF2B5EF4-FFF2-40B4-BE49-F238E27FC236}">
                <a16:creationId xmlns:a16="http://schemas.microsoft.com/office/drawing/2014/main" id="{EFF4C402-3D78-0AC4-61F0-E2E0BF2E66E7}"/>
              </a:ext>
            </a:extLst>
          </p:cNvPr>
          <p:cNvSpPr>
            <a:spLocks noGrp="1"/>
          </p:cNvSpPr>
          <p:nvPr>
            <p:ph type="ctrTitle"/>
          </p:nvPr>
        </p:nvSpPr>
        <p:spPr>
          <a:xfrm>
            <a:off x="1828800" y="3429000"/>
            <a:ext cx="5486400" cy="552329"/>
          </a:xfrm>
        </p:spPr>
        <p:txBody>
          <a:bodyPr>
            <a:normAutofit/>
          </a:bodyPr>
          <a:lstStyle/>
          <a:p>
            <a:r>
              <a:rPr lang="pt-PT" sz="2500" b="1" dirty="0">
                <a:solidFill>
                  <a:schemeClr val="bg1"/>
                </a:solidFill>
                <a:latin typeface="Arial" charset="0"/>
                <a:ea typeface="Arial" charset="0"/>
                <a:cs typeface="Arial" charset="0"/>
              </a:rPr>
              <a:t>Ponto Controlo 2</a:t>
            </a:r>
          </a:p>
        </p:txBody>
      </p:sp>
    </p:spTree>
    <p:extLst>
      <p:ext uri="{BB962C8B-B14F-4D97-AF65-F5344CB8AC3E}">
        <p14:creationId xmlns:p14="http://schemas.microsoft.com/office/powerpoint/2010/main" val="16641197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01BB3-585E-DF5E-A579-261998937562}"/>
            </a:ext>
          </a:extLst>
        </p:cNvPr>
        <p:cNvGrpSpPr/>
        <p:nvPr/>
      </p:nvGrpSpPr>
      <p:grpSpPr>
        <a:xfrm>
          <a:off x="0" y="0"/>
          <a:ext cx="0" cy="0"/>
          <a:chOff x="0" y="0"/>
          <a:chExt cx="0" cy="0"/>
        </a:xfrm>
      </p:grpSpPr>
      <p:sp>
        <p:nvSpPr>
          <p:cNvPr id="10243" name="Text Box 10">
            <a:extLst>
              <a:ext uri="{FF2B5EF4-FFF2-40B4-BE49-F238E27FC236}">
                <a16:creationId xmlns:a16="http://schemas.microsoft.com/office/drawing/2014/main" id="{489CF84F-7F74-F74F-C563-0E5CE1256FF6}"/>
              </a:ext>
            </a:extLst>
          </p:cNvPr>
          <p:cNvSpPr txBox="1">
            <a:spLocks noChangeArrowheads="1"/>
          </p:cNvSpPr>
          <p:nvPr/>
        </p:nvSpPr>
        <p:spPr bwMode="auto">
          <a:xfrm>
            <a:off x="8288338" y="6296025"/>
            <a:ext cx="827087" cy="366713"/>
          </a:xfrm>
          <a:prstGeom prst="rect">
            <a:avLst/>
          </a:prstGeom>
          <a:noFill/>
          <a:ln w="9525">
            <a:noFill/>
            <a:miter lim="800000"/>
            <a:headEnd/>
            <a:tailEnd/>
          </a:ln>
        </p:spPr>
        <p:txBody>
          <a:bodyPr>
            <a:spAutoFit/>
          </a:bodyPr>
          <a:lstStyle/>
          <a:p>
            <a:pPr>
              <a:spcBef>
                <a:spcPct val="50000"/>
              </a:spcBef>
            </a:pPr>
            <a:endParaRPr lang="pt-PT"/>
          </a:p>
        </p:txBody>
      </p:sp>
      <p:sp>
        <p:nvSpPr>
          <p:cNvPr id="10244" name="Rectangle 11">
            <a:extLst>
              <a:ext uri="{FF2B5EF4-FFF2-40B4-BE49-F238E27FC236}">
                <a16:creationId xmlns:a16="http://schemas.microsoft.com/office/drawing/2014/main" id="{3BDD3A06-5A43-B880-F9FD-1E482464671D}"/>
              </a:ext>
            </a:extLst>
          </p:cNvPr>
          <p:cNvSpPr>
            <a:spLocks noChangeArrowheads="1"/>
          </p:cNvSpPr>
          <p:nvPr/>
        </p:nvSpPr>
        <p:spPr bwMode="auto">
          <a:xfrm>
            <a:off x="8327571" y="6496091"/>
            <a:ext cx="936625" cy="260350"/>
          </a:xfrm>
          <a:prstGeom prst="rect">
            <a:avLst/>
          </a:prstGeom>
          <a:noFill/>
          <a:ln w="9525">
            <a:noFill/>
            <a:miter lim="800000"/>
            <a:headEnd/>
            <a:tailEnd/>
          </a:ln>
        </p:spPr>
        <p:txBody>
          <a:bodyPr anchor="ctr"/>
          <a:lstStyle/>
          <a:p>
            <a:pPr algn="ctr"/>
            <a:r>
              <a:rPr lang="pt-PT" sz="1000" dirty="0"/>
              <a:t>- </a:t>
            </a:r>
            <a:fld id="{1234D2FF-8FB9-47A1-B8C9-42A5F500BA2F}" type="slidenum">
              <a:rPr lang="pt-PT" sz="1000"/>
              <a:pPr algn="ctr"/>
              <a:t>26</a:t>
            </a:fld>
            <a:r>
              <a:rPr lang="pt-PT" sz="1000" dirty="0"/>
              <a:t> -</a:t>
            </a:r>
          </a:p>
        </p:txBody>
      </p:sp>
      <p:sp>
        <p:nvSpPr>
          <p:cNvPr id="9229" name="Text Box 13">
            <a:extLst>
              <a:ext uri="{FF2B5EF4-FFF2-40B4-BE49-F238E27FC236}">
                <a16:creationId xmlns:a16="http://schemas.microsoft.com/office/drawing/2014/main" id="{D46FF37E-4027-357A-D9BA-AD12E67102E8}"/>
              </a:ext>
            </a:extLst>
          </p:cNvPr>
          <p:cNvSpPr txBox="1">
            <a:spLocks noChangeArrowheads="1"/>
          </p:cNvSpPr>
          <p:nvPr/>
        </p:nvSpPr>
        <p:spPr bwMode="auto">
          <a:xfrm>
            <a:off x="306388" y="557213"/>
            <a:ext cx="6981825" cy="400050"/>
          </a:xfrm>
          <a:prstGeom prst="rect">
            <a:avLst/>
          </a:prstGeom>
          <a:noFill/>
          <a:ln w="9525">
            <a:noFill/>
            <a:miter lim="800000"/>
            <a:headEnd/>
            <a:tailEnd/>
          </a:ln>
          <a:effectLst/>
        </p:spPr>
        <p:txBody>
          <a:bodyPr>
            <a:spAutoFit/>
          </a:bodyPr>
          <a:lstStyle/>
          <a:p>
            <a:pPr>
              <a:spcBef>
                <a:spcPct val="50000"/>
              </a:spcBef>
              <a:defRPr/>
            </a:pPr>
            <a:r>
              <a:rPr lang="pt-PT" sz="2000" b="1" dirty="0">
                <a:solidFill>
                  <a:srgbClr val="C00000"/>
                </a:solidFill>
                <a:effectLst>
                  <a:outerShdw blurRad="38100" dist="38100" dir="2700000" algn="tl">
                    <a:srgbClr val="C0C0C0"/>
                  </a:outerShdw>
                </a:effectLst>
                <a:latin typeface="Arial"/>
                <a:cs typeface="Arial"/>
              </a:rPr>
              <a:t>■</a:t>
            </a:r>
            <a:r>
              <a:rPr lang="pt-PT" sz="2000" b="1" dirty="0">
                <a:effectLst>
                  <a:outerShdw blurRad="38100" dist="38100" dir="2700000" algn="tl">
                    <a:srgbClr val="C0C0C0"/>
                  </a:outerShdw>
                </a:effectLst>
                <a:latin typeface="Arial"/>
                <a:cs typeface="Arial"/>
              </a:rPr>
              <a:t> Summary</a:t>
            </a:r>
            <a:endParaRPr lang="pt-PT" sz="2000" b="1" dirty="0">
              <a:effectLst>
                <a:outerShdw blurRad="38100" dist="38100" dir="2700000" algn="tl">
                  <a:srgbClr val="C0C0C0"/>
                </a:outerShdw>
              </a:effectLst>
              <a:latin typeface="Arial" charset="0"/>
            </a:endParaRPr>
          </a:p>
        </p:txBody>
      </p:sp>
      <p:sp>
        <p:nvSpPr>
          <p:cNvPr id="10247" name="Line 15">
            <a:extLst>
              <a:ext uri="{FF2B5EF4-FFF2-40B4-BE49-F238E27FC236}">
                <a16:creationId xmlns:a16="http://schemas.microsoft.com/office/drawing/2014/main" id="{5697CA19-E28C-1D1B-BFCA-8C60B4FF5C9E}"/>
              </a:ext>
            </a:extLst>
          </p:cNvPr>
          <p:cNvSpPr>
            <a:spLocks noChangeShapeType="1"/>
          </p:cNvSpPr>
          <p:nvPr/>
        </p:nvSpPr>
        <p:spPr bwMode="auto">
          <a:xfrm>
            <a:off x="250825" y="0"/>
            <a:ext cx="0" cy="765175"/>
          </a:xfrm>
          <a:prstGeom prst="line">
            <a:avLst/>
          </a:prstGeom>
          <a:noFill/>
          <a:ln w="25400">
            <a:solidFill>
              <a:schemeClr val="tx1"/>
            </a:solidFill>
            <a:round/>
            <a:headEnd/>
            <a:tailEnd/>
          </a:ln>
        </p:spPr>
        <p:txBody>
          <a:bodyPr/>
          <a:lstStyle/>
          <a:p>
            <a:endParaRPr lang="pt-PT"/>
          </a:p>
        </p:txBody>
      </p:sp>
      <p:sp>
        <p:nvSpPr>
          <p:cNvPr id="9237" name="Text Box 21">
            <a:extLst>
              <a:ext uri="{FF2B5EF4-FFF2-40B4-BE49-F238E27FC236}">
                <a16:creationId xmlns:a16="http://schemas.microsoft.com/office/drawing/2014/main" id="{50CE6446-FD74-435F-6399-34AC01E561DC}"/>
              </a:ext>
            </a:extLst>
          </p:cNvPr>
          <p:cNvSpPr txBox="1">
            <a:spLocks noChangeArrowheads="1"/>
          </p:cNvSpPr>
          <p:nvPr/>
        </p:nvSpPr>
        <p:spPr bwMode="auto">
          <a:xfrm>
            <a:off x="260350" y="44450"/>
            <a:ext cx="6981825" cy="304800"/>
          </a:xfrm>
          <a:prstGeom prst="rect">
            <a:avLst/>
          </a:prstGeom>
          <a:noFill/>
          <a:ln w="9525">
            <a:noFill/>
            <a:miter lim="800000"/>
            <a:headEnd/>
            <a:tailEnd/>
          </a:ln>
          <a:effectLst/>
        </p:spPr>
        <p:txBody>
          <a:bodyPr>
            <a:spAutoFit/>
          </a:bodyPr>
          <a:lstStyle/>
          <a:p>
            <a:pPr>
              <a:spcBef>
                <a:spcPct val="50000"/>
              </a:spcBef>
              <a:defRPr/>
            </a:pPr>
            <a:endParaRPr lang="pt-PT" sz="1400" b="1" dirty="0">
              <a:solidFill>
                <a:srgbClr val="FF3300"/>
              </a:solidFill>
              <a:effectLst>
                <a:outerShdw blurRad="38100" dist="38100" dir="2700000" algn="tl">
                  <a:srgbClr val="C0C0C0"/>
                </a:outerShdw>
              </a:effectLst>
              <a:latin typeface="Arial" charset="0"/>
            </a:endParaRPr>
          </a:p>
        </p:txBody>
      </p:sp>
      <p:sp>
        <p:nvSpPr>
          <p:cNvPr id="19" name="Marcador de Posição de Conteúdo 2">
            <a:extLst>
              <a:ext uri="{FF2B5EF4-FFF2-40B4-BE49-F238E27FC236}">
                <a16:creationId xmlns:a16="http://schemas.microsoft.com/office/drawing/2014/main" id="{6CC7A7AF-B90D-9EF1-F321-683AAA0C1905}"/>
              </a:ext>
            </a:extLst>
          </p:cNvPr>
          <p:cNvSpPr txBox="1">
            <a:spLocks/>
          </p:cNvSpPr>
          <p:nvPr/>
        </p:nvSpPr>
        <p:spPr>
          <a:xfrm>
            <a:off x="457200" y="1219200"/>
            <a:ext cx="8229600" cy="4937760"/>
          </a:xfrm>
          <a:prstGeom prst="rect">
            <a:avLst/>
          </a:prstGeom>
        </p:spPr>
        <p:txBody>
          <a:bodyPr vert="horz" lIns="91440" tIns="45720" rIns="91440" bIns="45720" rtlCol="0">
            <a:normAutofit/>
          </a:bodyPr>
          <a:lstStyle/>
          <a:p>
            <a:pPr marL="342900" indent="-342900">
              <a:buFont typeface="+mj-lt"/>
              <a:buAutoNum type="arabicPeriod"/>
            </a:pPr>
            <a:r>
              <a:rPr lang="en-US" dirty="0"/>
              <a:t>Introduction and Objectives</a:t>
            </a:r>
          </a:p>
          <a:p>
            <a:pPr marL="342900" indent="-342900">
              <a:buFont typeface="+mj-lt"/>
              <a:buAutoNum type="arabicPeriod"/>
            </a:pPr>
            <a:r>
              <a:rPr lang="en-US" dirty="0"/>
              <a:t>Environment Setup and Dataset Organization</a:t>
            </a:r>
          </a:p>
          <a:p>
            <a:pPr marL="342900" indent="-342900">
              <a:buFont typeface="+mj-lt"/>
              <a:buAutoNum type="arabicPeriod"/>
            </a:pPr>
            <a:r>
              <a:rPr lang="en-US" dirty="0"/>
              <a:t>Data Preparation and Cleaning</a:t>
            </a:r>
          </a:p>
          <a:p>
            <a:pPr marL="342900" indent="-342900">
              <a:buFont typeface="+mj-lt"/>
              <a:buAutoNum type="arabicPeriod"/>
            </a:pPr>
            <a:r>
              <a:rPr lang="en-US" dirty="0"/>
              <a:t>Model Development and Architecture</a:t>
            </a:r>
          </a:p>
          <a:p>
            <a:pPr marL="342900" indent="-342900">
              <a:buFont typeface="+mj-lt"/>
              <a:buAutoNum type="arabicPeriod"/>
            </a:pPr>
            <a:r>
              <a:rPr lang="en-US" dirty="0"/>
              <a:t>Model Summary and Analysis</a:t>
            </a:r>
          </a:p>
          <a:p>
            <a:pPr marL="342900" indent="-342900">
              <a:buFont typeface="+mj-lt"/>
              <a:buAutoNum type="arabicPeriod"/>
            </a:pPr>
            <a:r>
              <a:rPr lang="en-US" dirty="0"/>
              <a:t>Training Configuration</a:t>
            </a:r>
          </a:p>
          <a:p>
            <a:pPr marL="342900" indent="-342900">
              <a:buFont typeface="+mj-lt"/>
              <a:buAutoNum type="arabicPeriod"/>
            </a:pPr>
            <a:r>
              <a:rPr lang="en-US" dirty="0"/>
              <a:t>Training Results</a:t>
            </a:r>
          </a:p>
          <a:p>
            <a:pPr marL="342900" indent="-342900">
              <a:buFont typeface="+mj-lt"/>
              <a:buAutoNum type="arabicPeriod"/>
            </a:pPr>
            <a:r>
              <a:rPr lang="en-US" dirty="0"/>
              <a:t>Model Testing</a:t>
            </a:r>
          </a:p>
          <a:p>
            <a:pPr marL="342900" indent="-342900">
              <a:buFont typeface="+mj-lt"/>
              <a:buAutoNum type="arabicPeriod"/>
            </a:pPr>
            <a:r>
              <a:rPr lang="en-US" dirty="0"/>
              <a:t>Conclusion and Future Work</a:t>
            </a:r>
          </a:p>
          <a:p>
            <a:pPr marL="342900" indent="-342900">
              <a:buFont typeface="+mj-lt"/>
              <a:buAutoNum type="arabicPeriod"/>
            </a:pPr>
            <a:r>
              <a:rPr lang="en-US" dirty="0"/>
              <a:t>Bibliography and Web References</a:t>
            </a:r>
          </a:p>
          <a:p>
            <a:pPr>
              <a:lnSpc>
                <a:spcPct val="200000"/>
              </a:lnSpc>
              <a:spcBef>
                <a:spcPct val="20000"/>
              </a:spcBef>
            </a:pPr>
            <a:endParaRPr lang="pt-PT" sz="2000" dirty="0">
              <a:latin typeface="Arial" pitchFamily="34" charset="0"/>
              <a:cs typeface="Arial" pitchFamily="34" charset="0"/>
            </a:endParaRPr>
          </a:p>
          <a:p>
            <a:pPr lvl="0">
              <a:lnSpc>
                <a:spcPct val="200000"/>
              </a:lnSpc>
              <a:spcBef>
                <a:spcPct val="20000"/>
              </a:spcBef>
            </a:pPr>
            <a:endParaRPr kumimoji="0" lang="pt-PT" sz="2000" b="0" i="0" u="none" strike="noStrike" kern="1200" cap="none" spc="0" normalizeH="0" baseline="0" noProof="0" dirty="0">
              <a:ln>
                <a:noFill/>
              </a:ln>
              <a:effectLst/>
              <a:uLnTx/>
              <a:uFillTx/>
              <a:latin typeface="Arial" pitchFamily="34" charset="0"/>
              <a:cs typeface="Arial" pitchFamily="34" charset="0"/>
            </a:endParaRPr>
          </a:p>
          <a:p>
            <a:pPr marL="457200" marR="0" lvl="1" indent="0" defTabSz="914400" rtl="0" eaLnBrk="1" fontAlgn="auto" latinLnBrk="0" hangingPunct="1">
              <a:lnSpc>
                <a:spcPct val="200000"/>
              </a:lnSpc>
              <a:spcBef>
                <a:spcPct val="20000"/>
              </a:spcBef>
              <a:spcAft>
                <a:spcPts val="0"/>
              </a:spcAft>
              <a:buClrTx/>
              <a:buSzTx/>
              <a:buFont typeface="Arial" pitchFamily="34" charset="0"/>
              <a:buNone/>
              <a:tabLst/>
              <a:defRPr/>
            </a:pPr>
            <a:endParaRPr kumimoji="0" lang="pt-PT" sz="2000" b="0" i="0" u="none" strike="noStrike" kern="1200" cap="none" spc="0" normalizeH="0" baseline="0" noProof="0" dirty="0">
              <a:ln>
                <a:noFill/>
              </a:ln>
              <a:effectLst/>
              <a:uLnTx/>
              <a:uFillTx/>
              <a:latin typeface="Arial" pitchFamily="34" charset="0"/>
              <a:cs typeface="Arial" pitchFamily="34" charset="0"/>
            </a:endParaRPr>
          </a:p>
          <a:p>
            <a:pPr marL="457200" marR="0" lvl="1" indent="0" defTabSz="914400" rtl="0" eaLnBrk="1" fontAlgn="auto" latinLnBrk="0" hangingPunct="1">
              <a:lnSpc>
                <a:spcPct val="200000"/>
              </a:lnSpc>
              <a:spcBef>
                <a:spcPct val="20000"/>
              </a:spcBef>
              <a:spcAft>
                <a:spcPts val="0"/>
              </a:spcAft>
              <a:buClrTx/>
              <a:buSzTx/>
              <a:buFont typeface="Arial" pitchFamily="34" charset="0"/>
              <a:buNone/>
              <a:tabLst/>
              <a:defRPr/>
            </a:pPr>
            <a:endParaRPr kumimoji="0" lang="pt-PT" sz="2000" b="0" i="0" u="none" strike="noStrike" kern="1200" cap="none" spc="0" normalizeH="0" baseline="0" noProof="0" dirty="0">
              <a:ln>
                <a:noFill/>
              </a:ln>
              <a:effectLst/>
              <a:uLnTx/>
              <a:uFillTx/>
              <a:latin typeface="Arial" pitchFamily="34" charset="0"/>
              <a:cs typeface="Arial" pitchFamily="34" charset="0"/>
            </a:endParaRPr>
          </a:p>
          <a:p>
            <a:pPr marL="0" marR="0" lvl="0" indent="0" defTabSz="914400" rtl="0" eaLnBrk="1" fontAlgn="auto" latinLnBrk="0" hangingPunct="1">
              <a:lnSpc>
                <a:spcPct val="200000"/>
              </a:lnSpc>
              <a:spcBef>
                <a:spcPct val="20000"/>
              </a:spcBef>
              <a:spcAft>
                <a:spcPts val="0"/>
              </a:spcAft>
              <a:buClrTx/>
              <a:buSzTx/>
              <a:buFont typeface="Arial" pitchFamily="34" charset="0"/>
              <a:buNone/>
              <a:tabLst/>
              <a:defRPr/>
            </a:pPr>
            <a:endParaRPr kumimoji="0" lang="pt-PT" sz="2000" b="0" i="0" u="none" strike="noStrike" kern="1200" cap="none" spc="0" normalizeH="0" baseline="0" noProof="0" dirty="0">
              <a:ln>
                <a:noFill/>
              </a:ln>
              <a:effectLst/>
              <a:uLnTx/>
              <a:uFillTx/>
              <a:latin typeface="Arial" pitchFamily="34" charset="0"/>
              <a:cs typeface="Arial" pitchFamily="34" charset="0"/>
            </a:endParaRPr>
          </a:p>
          <a:p>
            <a:pPr marL="0" marR="0" lvl="0" indent="0" defTabSz="914400" rtl="0" eaLnBrk="1" fontAlgn="auto" latinLnBrk="0" hangingPunct="1">
              <a:lnSpc>
                <a:spcPct val="200000"/>
              </a:lnSpc>
              <a:spcBef>
                <a:spcPct val="20000"/>
              </a:spcBef>
              <a:spcAft>
                <a:spcPts val="0"/>
              </a:spcAft>
              <a:buClrTx/>
              <a:buSzTx/>
              <a:buFont typeface="Arial" pitchFamily="34" charset="0"/>
              <a:buNone/>
              <a:tabLst/>
              <a:defRPr/>
            </a:pPr>
            <a:endParaRPr kumimoji="0" lang="pt-PT" sz="2000" b="0" i="0" u="none" strike="noStrike" kern="1200" cap="none" spc="0" normalizeH="0" baseline="0" noProof="0" dirty="0">
              <a:ln>
                <a:noFill/>
              </a:ln>
              <a:effectLst/>
              <a:uLnTx/>
              <a:uFillTx/>
              <a:latin typeface="Arial" pitchFamily="34" charset="0"/>
              <a:cs typeface="Arial" pitchFamily="34" charset="0"/>
            </a:endParaRPr>
          </a:p>
          <a:p>
            <a:pPr marL="0" marR="0" lvl="0" indent="0" defTabSz="914400" rtl="0" eaLnBrk="1" fontAlgn="auto" latinLnBrk="0" hangingPunct="1">
              <a:lnSpc>
                <a:spcPct val="200000"/>
              </a:lnSpc>
              <a:spcBef>
                <a:spcPct val="20000"/>
              </a:spcBef>
              <a:spcAft>
                <a:spcPts val="0"/>
              </a:spcAft>
              <a:buClrTx/>
              <a:buSzTx/>
              <a:buFont typeface="Arial" pitchFamily="34" charset="0"/>
              <a:buNone/>
              <a:tabLst/>
              <a:defRPr/>
            </a:pPr>
            <a:endParaRPr kumimoji="0" lang="pt-PT" sz="2000" b="0" i="0" u="none" strike="noStrike" kern="1200" cap="none" spc="0" normalizeH="0" baseline="0" noProof="0" dirty="0">
              <a:ln>
                <a:noFill/>
              </a:ln>
              <a:effectLst/>
              <a:uLnTx/>
              <a:uFillTx/>
              <a:latin typeface="Arial" pitchFamily="34" charset="0"/>
              <a:cs typeface="Arial" pitchFamily="34" charset="0"/>
            </a:endParaRPr>
          </a:p>
        </p:txBody>
      </p:sp>
      <p:pic>
        <p:nvPicPr>
          <p:cNvPr id="7" name="Imagem 6">
            <a:extLst>
              <a:ext uri="{FF2B5EF4-FFF2-40B4-BE49-F238E27FC236}">
                <a16:creationId xmlns:a16="http://schemas.microsoft.com/office/drawing/2014/main" id="{1EA4D854-96FB-B77A-2A5D-AD1402AC3337}"/>
              </a:ext>
            </a:extLst>
          </p:cNvPr>
          <p:cNvPicPr>
            <a:picLocks noChangeAspect="1"/>
          </p:cNvPicPr>
          <p:nvPr/>
        </p:nvPicPr>
        <p:blipFill>
          <a:blip r:embed="rId3"/>
          <a:stretch>
            <a:fillRect/>
          </a:stretch>
        </p:blipFill>
        <p:spPr>
          <a:xfrm>
            <a:off x="101225" y="904241"/>
            <a:ext cx="9014192" cy="266482"/>
          </a:xfrm>
          <a:prstGeom prst="rect">
            <a:avLst/>
          </a:prstGeom>
        </p:spPr>
      </p:pic>
      <p:pic>
        <p:nvPicPr>
          <p:cNvPr id="9" name="Imagem 8">
            <a:extLst>
              <a:ext uri="{FF2B5EF4-FFF2-40B4-BE49-F238E27FC236}">
                <a16:creationId xmlns:a16="http://schemas.microsoft.com/office/drawing/2014/main" id="{A49E80B9-0B38-253F-9FA5-65FF657C23AA}"/>
              </a:ext>
            </a:extLst>
          </p:cNvPr>
          <p:cNvPicPr>
            <a:picLocks noChangeAspect="1"/>
          </p:cNvPicPr>
          <p:nvPr/>
        </p:nvPicPr>
        <p:blipFill>
          <a:blip r:embed="rId4"/>
          <a:stretch>
            <a:fillRect/>
          </a:stretch>
        </p:blipFill>
        <p:spPr>
          <a:xfrm>
            <a:off x="0" y="6320212"/>
            <a:ext cx="9144000" cy="253252"/>
          </a:xfrm>
          <a:prstGeom prst="rect">
            <a:avLst/>
          </a:prstGeom>
        </p:spPr>
      </p:pic>
      <p:sp>
        <p:nvSpPr>
          <p:cNvPr id="22" name="Subtítulo 2">
            <a:extLst>
              <a:ext uri="{FF2B5EF4-FFF2-40B4-BE49-F238E27FC236}">
                <a16:creationId xmlns:a16="http://schemas.microsoft.com/office/drawing/2014/main" id="{D87261C3-8F63-FB27-5A6C-BE39EB9BA49C}"/>
              </a:ext>
            </a:extLst>
          </p:cNvPr>
          <p:cNvSpPr txBox="1">
            <a:spLocks/>
          </p:cNvSpPr>
          <p:nvPr/>
        </p:nvSpPr>
        <p:spPr>
          <a:xfrm>
            <a:off x="836017" y="6524516"/>
            <a:ext cx="7698382" cy="162409"/>
          </a:xfrm>
          <a:prstGeom prst="rect">
            <a:avLst/>
          </a:prstGeom>
        </p:spPr>
        <p:txBody>
          <a:bodyPr vert="horz" lIns="68580" tIns="34290" rIns="68580" bIns="3429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pt-PT" sz="900" dirty="0">
                <a:latin typeface="Arial" charset="0"/>
                <a:ea typeface="Arial" charset="0"/>
                <a:cs typeface="Arial" charset="0"/>
              </a:rPr>
              <a:t>@Diogo Monteiro - 32428, Gonçalo Teixeira - 31396 | </a:t>
            </a:r>
            <a:r>
              <a:rPr lang="pt-PT" sz="900" b="1" dirty="0">
                <a:solidFill>
                  <a:srgbClr val="C00000"/>
                </a:solidFill>
                <a:latin typeface="Arial" charset="0"/>
                <a:ea typeface="Arial" charset="0"/>
                <a:cs typeface="Arial" charset="0"/>
              </a:rPr>
              <a:t>Unidade Curricular: Projeto III </a:t>
            </a:r>
            <a:r>
              <a:rPr lang="pt-PT" sz="900" dirty="0">
                <a:latin typeface="Arial" charset="0"/>
                <a:ea typeface="Arial" charset="0"/>
                <a:cs typeface="Arial" charset="0"/>
              </a:rPr>
              <a:t>– Ano Letivo 2024/2025 – </a:t>
            </a:r>
            <a:r>
              <a:rPr lang="pt-PT" sz="900" b="1" dirty="0">
                <a:latin typeface="Arial" charset="0"/>
                <a:ea typeface="Arial" charset="0"/>
                <a:cs typeface="Arial" charset="0"/>
              </a:rPr>
              <a:t>MCZ03</a:t>
            </a:r>
          </a:p>
        </p:txBody>
      </p:sp>
      <p:pic>
        <p:nvPicPr>
          <p:cNvPr id="13" name="Imagem 12">
            <a:extLst>
              <a:ext uri="{FF2B5EF4-FFF2-40B4-BE49-F238E27FC236}">
                <a16:creationId xmlns:a16="http://schemas.microsoft.com/office/drawing/2014/main" id="{17C42153-89C2-55AC-8E79-87323B59EDB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8125" y="6488336"/>
            <a:ext cx="545959" cy="199802"/>
          </a:xfrm>
          <a:prstGeom prst="rect">
            <a:avLst/>
          </a:prstGeom>
        </p:spPr>
      </p:pic>
      <p:sp>
        <p:nvSpPr>
          <p:cNvPr id="3" name="Rectângulo 19">
            <a:extLst>
              <a:ext uri="{FF2B5EF4-FFF2-40B4-BE49-F238E27FC236}">
                <a16:creationId xmlns:a16="http://schemas.microsoft.com/office/drawing/2014/main" id="{C5D20A36-EC28-7193-00AC-B32D52A1A81C}"/>
              </a:ext>
            </a:extLst>
          </p:cNvPr>
          <p:cNvSpPr/>
          <p:nvPr/>
        </p:nvSpPr>
        <p:spPr>
          <a:xfrm>
            <a:off x="5535613" y="553019"/>
            <a:ext cx="3505200" cy="261610"/>
          </a:xfrm>
          <a:prstGeom prst="rect">
            <a:avLst/>
          </a:prstGeom>
        </p:spPr>
        <p:txBody>
          <a:bodyPr wrap="square">
            <a:spAutoFit/>
          </a:bodyPr>
          <a:lstStyle/>
          <a:p>
            <a:pPr algn="r"/>
            <a:r>
              <a:rPr lang="pt-PT" sz="1100" b="1" cap="all" dirty="0" err="1">
                <a:highlight>
                  <a:srgbClr val="FFFF00"/>
                </a:highlight>
              </a:rPr>
              <a:t>Graduation</a:t>
            </a:r>
            <a:r>
              <a:rPr lang="pt-PT" sz="1100" b="1" cap="all" dirty="0">
                <a:highlight>
                  <a:srgbClr val="FFFF00"/>
                </a:highlight>
              </a:rPr>
              <a:t> in </a:t>
            </a:r>
            <a:r>
              <a:rPr lang="pt-PT" sz="1100" b="1" cap="all" dirty="0" err="1">
                <a:highlight>
                  <a:srgbClr val="FFFF00"/>
                </a:highlight>
              </a:rPr>
              <a:t>Informatics</a:t>
            </a:r>
            <a:r>
              <a:rPr lang="pt-PT" sz="1100" b="1" cap="all" dirty="0">
                <a:highlight>
                  <a:srgbClr val="FFFF00"/>
                </a:highlight>
              </a:rPr>
              <a:t> </a:t>
            </a:r>
            <a:r>
              <a:rPr lang="pt-PT" sz="1100" b="1" cap="all" dirty="0" err="1">
                <a:highlight>
                  <a:srgbClr val="FFFF00"/>
                </a:highlight>
              </a:rPr>
              <a:t>engineering</a:t>
            </a:r>
            <a:endParaRPr lang="pt-PT" sz="1100" dirty="0">
              <a:highlight>
                <a:srgbClr val="FFFF00"/>
              </a:highlight>
            </a:endParaRPr>
          </a:p>
        </p:txBody>
      </p:sp>
      <p:pic>
        <p:nvPicPr>
          <p:cNvPr id="5" name="Imagem 4">
            <a:extLst>
              <a:ext uri="{FF2B5EF4-FFF2-40B4-BE49-F238E27FC236}">
                <a16:creationId xmlns:a16="http://schemas.microsoft.com/office/drawing/2014/main" id="{7CD9F998-6C0C-6245-3DEC-EBF30AA456A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575316" y="9186"/>
            <a:ext cx="2575034" cy="639880"/>
          </a:xfrm>
          <a:prstGeom prst="rect">
            <a:avLst/>
          </a:prstGeom>
        </p:spPr>
      </p:pic>
    </p:spTree>
    <p:extLst>
      <p:ext uri="{BB962C8B-B14F-4D97-AF65-F5344CB8AC3E}">
        <p14:creationId xmlns:p14="http://schemas.microsoft.com/office/powerpoint/2010/main" val="12827850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4F3D8-7A79-BF92-539B-B204CF9DA386}"/>
            </a:ext>
          </a:extLst>
        </p:cNvPr>
        <p:cNvGrpSpPr/>
        <p:nvPr/>
      </p:nvGrpSpPr>
      <p:grpSpPr>
        <a:xfrm>
          <a:off x="0" y="0"/>
          <a:ext cx="0" cy="0"/>
          <a:chOff x="0" y="0"/>
          <a:chExt cx="0" cy="0"/>
        </a:xfrm>
      </p:grpSpPr>
      <p:sp>
        <p:nvSpPr>
          <p:cNvPr id="9229" name="Text Box 13">
            <a:extLst>
              <a:ext uri="{FF2B5EF4-FFF2-40B4-BE49-F238E27FC236}">
                <a16:creationId xmlns:a16="http://schemas.microsoft.com/office/drawing/2014/main" id="{E73403BB-D518-023F-D6A4-D84327E276D9}"/>
              </a:ext>
            </a:extLst>
          </p:cNvPr>
          <p:cNvSpPr txBox="1">
            <a:spLocks noChangeArrowheads="1"/>
          </p:cNvSpPr>
          <p:nvPr/>
        </p:nvSpPr>
        <p:spPr bwMode="auto">
          <a:xfrm>
            <a:off x="306388" y="557213"/>
            <a:ext cx="6981825" cy="400050"/>
          </a:xfrm>
          <a:prstGeom prst="rect">
            <a:avLst/>
          </a:prstGeom>
          <a:noFill/>
          <a:ln w="9525">
            <a:noFill/>
            <a:miter lim="800000"/>
            <a:headEnd/>
            <a:tailEnd/>
          </a:ln>
          <a:effectLst/>
        </p:spPr>
        <p:txBody>
          <a:bodyPr>
            <a:spAutoFit/>
          </a:bodyPr>
          <a:lstStyle/>
          <a:p>
            <a:pPr>
              <a:spcBef>
                <a:spcPct val="50000"/>
              </a:spcBef>
              <a:defRPr/>
            </a:pPr>
            <a:r>
              <a:rPr lang="pt-PT" sz="2000" b="1" dirty="0">
                <a:solidFill>
                  <a:srgbClr val="C00000"/>
                </a:solidFill>
                <a:effectLst>
                  <a:outerShdw blurRad="38100" dist="38100" dir="2700000" algn="tl">
                    <a:srgbClr val="C0C0C0"/>
                  </a:outerShdw>
                </a:effectLst>
                <a:latin typeface="Arial"/>
                <a:cs typeface="Arial"/>
              </a:rPr>
              <a:t>■</a:t>
            </a:r>
            <a:r>
              <a:rPr lang="pt-PT" sz="2000" b="1" dirty="0">
                <a:effectLst>
                  <a:outerShdw blurRad="38100" dist="38100" dir="2700000" algn="tl">
                    <a:srgbClr val="C0C0C0"/>
                  </a:outerShdw>
                </a:effectLst>
                <a:latin typeface="Arial"/>
                <a:cs typeface="Arial"/>
              </a:rPr>
              <a:t> 1. </a:t>
            </a:r>
            <a:r>
              <a:rPr lang="pt-PT" sz="2000" b="1" dirty="0" err="1">
                <a:effectLst>
                  <a:outerShdw blurRad="38100" dist="38100" dir="2700000" algn="tl">
                    <a:srgbClr val="C0C0C0"/>
                  </a:outerShdw>
                </a:effectLst>
                <a:latin typeface="Arial" charset="0"/>
              </a:rPr>
              <a:t>Introduction</a:t>
            </a:r>
            <a:r>
              <a:rPr lang="pt-PT" sz="2000" b="1" dirty="0">
                <a:effectLst>
                  <a:outerShdw blurRad="38100" dist="38100" dir="2700000" algn="tl">
                    <a:srgbClr val="C0C0C0"/>
                  </a:outerShdw>
                </a:effectLst>
                <a:latin typeface="Arial" charset="0"/>
              </a:rPr>
              <a:t> </a:t>
            </a:r>
            <a:r>
              <a:rPr lang="pt-PT" sz="2000" b="1" dirty="0" err="1">
                <a:effectLst>
                  <a:outerShdw blurRad="38100" dist="38100" dir="2700000" algn="tl">
                    <a:srgbClr val="C0C0C0"/>
                  </a:outerShdw>
                </a:effectLst>
                <a:latin typeface="Arial" charset="0"/>
              </a:rPr>
              <a:t>and</a:t>
            </a:r>
            <a:r>
              <a:rPr lang="pt-PT" sz="2000" b="1" dirty="0">
                <a:effectLst>
                  <a:outerShdw blurRad="38100" dist="38100" dir="2700000" algn="tl">
                    <a:srgbClr val="C0C0C0"/>
                  </a:outerShdw>
                </a:effectLst>
                <a:latin typeface="Arial" charset="0"/>
              </a:rPr>
              <a:t> </a:t>
            </a:r>
            <a:r>
              <a:rPr lang="pt-PT" sz="2000" b="1" dirty="0" err="1">
                <a:effectLst>
                  <a:outerShdw blurRad="38100" dist="38100" dir="2700000" algn="tl">
                    <a:srgbClr val="C0C0C0"/>
                  </a:outerShdw>
                </a:effectLst>
                <a:latin typeface="Arial" charset="0"/>
              </a:rPr>
              <a:t>Objectives</a:t>
            </a:r>
            <a:endParaRPr lang="pt-PT" sz="2000" b="1" dirty="0">
              <a:effectLst>
                <a:outerShdw blurRad="38100" dist="38100" dir="2700000" algn="tl">
                  <a:srgbClr val="C0C0C0"/>
                </a:outerShdw>
              </a:effectLst>
              <a:latin typeface="Arial" charset="0"/>
            </a:endParaRPr>
          </a:p>
        </p:txBody>
      </p:sp>
      <p:sp>
        <p:nvSpPr>
          <p:cNvPr id="10247" name="Line 15">
            <a:extLst>
              <a:ext uri="{FF2B5EF4-FFF2-40B4-BE49-F238E27FC236}">
                <a16:creationId xmlns:a16="http://schemas.microsoft.com/office/drawing/2014/main" id="{4FD101E3-0B2E-A336-179A-8C5E8E0B8CD3}"/>
              </a:ext>
            </a:extLst>
          </p:cNvPr>
          <p:cNvSpPr>
            <a:spLocks noChangeShapeType="1"/>
          </p:cNvSpPr>
          <p:nvPr/>
        </p:nvSpPr>
        <p:spPr bwMode="auto">
          <a:xfrm>
            <a:off x="250825" y="0"/>
            <a:ext cx="0" cy="765175"/>
          </a:xfrm>
          <a:prstGeom prst="line">
            <a:avLst/>
          </a:prstGeom>
          <a:noFill/>
          <a:ln w="25400">
            <a:solidFill>
              <a:schemeClr val="tx1"/>
            </a:solidFill>
            <a:round/>
            <a:headEnd/>
            <a:tailEnd/>
          </a:ln>
        </p:spPr>
        <p:txBody>
          <a:bodyPr/>
          <a:lstStyle/>
          <a:p>
            <a:endParaRPr lang="pt-PT"/>
          </a:p>
        </p:txBody>
      </p:sp>
      <p:sp>
        <p:nvSpPr>
          <p:cNvPr id="9237" name="Text Box 21">
            <a:extLst>
              <a:ext uri="{FF2B5EF4-FFF2-40B4-BE49-F238E27FC236}">
                <a16:creationId xmlns:a16="http://schemas.microsoft.com/office/drawing/2014/main" id="{70FA8718-890B-4900-5644-01D3A83A8515}"/>
              </a:ext>
            </a:extLst>
          </p:cNvPr>
          <p:cNvSpPr txBox="1">
            <a:spLocks noChangeArrowheads="1"/>
          </p:cNvSpPr>
          <p:nvPr/>
        </p:nvSpPr>
        <p:spPr bwMode="auto">
          <a:xfrm>
            <a:off x="260350" y="44450"/>
            <a:ext cx="6981825" cy="304800"/>
          </a:xfrm>
          <a:prstGeom prst="rect">
            <a:avLst/>
          </a:prstGeom>
          <a:noFill/>
          <a:ln w="9525">
            <a:noFill/>
            <a:miter lim="800000"/>
            <a:headEnd/>
            <a:tailEnd/>
          </a:ln>
          <a:effectLst/>
        </p:spPr>
        <p:txBody>
          <a:bodyPr>
            <a:spAutoFit/>
          </a:bodyPr>
          <a:lstStyle/>
          <a:p>
            <a:pPr>
              <a:spcBef>
                <a:spcPct val="50000"/>
              </a:spcBef>
              <a:defRPr/>
            </a:pPr>
            <a:endParaRPr lang="pt-PT" sz="1400" b="1" dirty="0">
              <a:solidFill>
                <a:srgbClr val="FF3300"/>
              </a:solidFill>
              <a:effectLst>
                <a:outerShdw blurRad="38100" dist="38100" dir="2700000" algn="tl">
                  <a:srgbClr val="C0C0C0"/>
                </a:outerShdw>
              </a:effectLst>
              <a:latin typeface="Arial" charset="0"/>
            </a:endParaRPr>
          </a:p>
        </p:txBody>
      </p:sp>
      <p:sp>
        <p:nvSpPr>
          <p:cNvPr id="12" name="CaixaDeTexto 11">
            <a:extLst>
              <a:ext uri="{FF2B5EF4-FFF2-40B4-BE49-F238E27FC236}">
                <a16:creationId xmlns:a16="http://schemas.microsoft.com/office/drawing/2014/main" id="{9D559546-457C-FC10-4DA1-59EC77E86A77}"/>
              </a:ext>
            </a:extLst>
          </p:cNvPr>
          <p:cNvSpPr txBox="1"/>
          <p:nvPr/>
        </p:nvSpPr>
        <p:spPr>
          <a:xfrm>
            <a:off x="419100" y="1122339"/>
            <a:ext cx="8305800" cy="4085990"/>
          </a:xfrm>
          <a:prstGeom prst="rect">
            <a:avLst/>
          </a:prstGeom>
          <a:noFill/>
          <a:ln>
            <a:noFill/>
          </a:ln>
        </p:spPr>
        <p:txBody>
          <a:bodyPr wrap="square" rtlCol="0">
            <a:spAutoFit/>
          </a:bodyPr>
          <a:lstStyle/>
          <a:p>
            <a:pPr algn="just">
              <a:lnSpc>
                <a:spcPct val="200000"/>
              </a:lnSpc>
            </a:pPr>
            <a:r>
              <a:rPr lang="en-US" i="1" dirty="0">
                <a:solidFill>
                  <a:srgbClr val="FFC000"/>
                </a:solidFill>
                <a:latin typeface="Arial"/>
                <a:cs typeface="Arial"/>
              </a:rPr>
              <a:t>■</a:t>
            </a:r>
            <a:r>
              <a:rPr lang="pt-PT" dirty="0"/>
              <a:t> </a:t>
            </a:r>
            <a:r>
              <a:rPr lang="en-US" sz="1600" dirty="0"/>
              <a:t>This checkpoint focuses on improving data integrity and refining the wildfire detection model. The main work consists of implementing robust data cleaning processes to remove corrupt files, restructuring the dataset into explicit splits, and training a </a:t>
            </a:r>
            <a:r>
              <a:rPr lang="en-US" sz="1600" b="1" dirty="0"/>
              <a:t>Convolutional</a:t>
            </a:r>
            <a:r>
              <a:rPr lang="en-US" sz="1600" dirty="0"/>
              <a:t> </a:t>
            </a:r>
            <a:r>
              <a:rPr lang="en-US" sz="1600" b="1" dirty="0"/>
              <a:t>Neural</a:t>
            </a:r>
            <a:r>
              <a:rPr lang="en-US" sz="1600" dirty="0"/>
              <a:t> </a:t>
            </a:r>
            <a:r>
              <a:rPr lang="en-US" sz="1600" b="1" dirty="0"/>
              <a:t>Network</a:t>
            </a:r>
            <a:r>
              <a:rPr lang="en-US" sz="1600" dirty="0"/>
              <a:t> (</a:t>
            </a:r>
            <a:r>
              <a:rPr lang="en-US" sz="1600" b="1" dirty="0"/>
              <a:t>CNN</a:t>
            </a:r>
            <a:r>
              <a:rPr lang="en-US" sz="1600" dirty="0"/>
              <a:t>).</a:t>
            </a:r>
          </a:p>
          <a:p>
            <a:pPr algn="just">
              <a:lnSpc>
                <a:spcPct val="200000"/>
              </a:lnSpc>
            </a:pPr>
            <a:r>
              <a:rPr lang="en-US" i="1" dirty="0">
                <a:solidFill>
                  <a:srgbClr val="FFC000"/>
                </a:solidFill>
                <a:latin typeface="Arial"/>
                <a:cs typeface="Arial"/>
              </a:rPr>
              <a:t>■ </a:t>
            </a:r>
            <a:r>
              <a:rPr lang="en-US" sz="1600" b="1" dirty="0"/>
              <a:t>Objectives:</a:t>
            </a:r>
          </a:p>
          <a:p>
            <a:pPr marL="285750" indent="-285750">
              <a:lnSpc>
                <a:spcPct val="200000"/>
              </a:lnSpc>
              <a:buFont typeface="Arial" panose="020B0604020202020204" pitchFamily="34" charset="0"/>
              <a:buChar char="•"/>
            </a:pPr>
            <a:r>
              <a:rPr lang="en-US" sz="1600" dirty="0"/>
              <a:t>Implement data validation scripts to ensure dataset integrity before training.</a:t>
            </a:r>
          </a:p>
          <a:p>
            <a:pPr marL="285750" indent="-285750">
              <a:lnSpc>
                <a:spcPct val="200000"/>
              </a:lnSpc>
              <a:buFont typeface="Arial" panose="020B0604020202020204" pitchFamily="34" charset="0"/>
              <a:buChar char="•"/>
            </a:pPr>
            <a:r>
              <a:rPr lang="en-US" sz="1600" dirty="0"/>
              <a:t>Structure the dataset into clear </a:t>
            </a:r>
            <a:r>
              <a:rPr lang="en-US" sz="1600" b="1" dirty="0"/>
              <a:t>Train</a:t>
            </a:r>
            <a:r>
              <a:rPr lang="en-US" sz="1600" dirty="0"/>
              <a:t>, </a:t>
            </a:r>
            <a:r>
              <a:rPr lang="en-US" sz="1600" b="1" dirty="0"/>
              <a:t>Validation</a:t>
            </a:r>
            <a:r>
              <a:rPr lang="en-US" sz="1600" dirty="0"/>
              <a:t>, and </a:t>
            </a:r>
            <a:r>
              <a:rPr lang="en-US" sz="1600" b="1" dirty="0"/>
              <a:t>Test</a:t>
            </a:r>
            <a:r>
              <a:rPr lang="en-US" sz="1600" dirty="0"/>
              <a:t> directories.</a:t>
            </a:r>
          </a:p>
          <a:p>
            <a:pPr marL="285750" indent="-285750">
              <a:lnSpc>
                <a:spcPct val="200000"/>
              </a:lnSpc>
              <a:buFont typeface="Arial" panose="020B0604020202020204" pitchFamily="34" charset="0"/>
              <a:buChar char="•"/>
            </a:pPr>
            <a:r>
              <a:rPr lang="en-US" sz="1600" b="1" dirty="0"/>
              <a:t>Develop</a:t>
            </a:r>
            <a:r>
              <a:rPr lang="en-US" sz="1600" dirty="0"/>
              <a:t> and </a:t>
            </a:r>
            <a:r>
              <a:rPr lang="en-US" sz="1600" b="1" dirty="0"/>
              <a:t>train</a:t>
            </a:r>
            <a:r>
              <a:rPr lang="en-US" sz="1600" dirty="0"/>
              <a:t> a new </a:t>
            </a:r>
            <a:r>
              <a:rPr lang="en-US" sz="1600" b="1" dirty="0"/>
              <a:t>CNN</a:t>
            </a:r>
            <a:r>
              <a:rPr lang="en-US" sz="1600" dirty="0"/>
              <a:t> architecture with optimized input dimensions (160x160).</a:t>
            </a:r>
          </a:p>
          <a:p>
            <a:pPr marL="285750" indent="-285750">
              <a:lnSpc>
                <a:spcPct val="200000"/>
              </a:lnSpc>
              <a:buFont typeface="Arial" panose="020B0604020202020204" pitchFamily="34" charset="0"/>
              <a:buChar char="•"/>
            </a:pPr>
            <a:r>
              <a:rPr lang="en-US" sz="1600" dirty="0"/>
              <a:t>Evaluate model performance using a dedicated test set.</a:t>
            </a:r>
            <a:endParaRPr lang="pt-PT" sz="1600" dirty="0"/>
          </a:p>
        </p:txBody>
      </p:sp>
      <p:pic>
        <p:nvPicPr>
          <p:cNvPr id="15" name="Imagem 14">
            <a:extLst>
              <a:ext uri="{FF2B5EF4-FFF2-40B4-BE49-F238E27FC236}">
                <a16:creationId xmlns:a16="http://schemas.microsoft.com/office/drawing/2014/main" id="{261B29DA-8CFA-0812-488D-6C984CC97A51}"/>
              </a:ext>
            </a:extLst>
          </p:cNvPr>
          <p:cNvPicPr>
            <a:picLocks noChangeAspect="1"/>
          </p:cNvPicPr>
          <p:nvPr/>
        </p:nvPicPr>
        <p:blipFill>
          <a:blip r:embed="rId3"/>
          <a:stretch>
            <a:fillRect/>
          </a:stretch>
        </p:blipFill>
        <p:spPr>
          <a:xfrm>
            <a:off x="101225" y="904241"/>
            <a:ext cx="9014192" cy="266482"/>
          </a:xfrm>
          <a:prstGeom prst="rect">
            <a:avLst/>
          </a:prstGeom>
        </p:spPr>
      </p:pic>
      <p:sp>
        <p:nvSpPr>
          <p:cNvPr id="16" name="Rectângulo 19">
            <a:extLst>
              <a:ext uri="{FF2B5EF4-FFF2-40B4-BE49-F238E27FC236}">
                <a16:creationId xmlns:a16="http://schemas.microsoft.com/office/drawing/2014/main" id="{76AB4D77-2C30-73E9-881F-71F18CA591FB}"/>
              </a:ext>
            </a:extLst>
          </p:cNvPr>
          <p:cNvSpPr/>
          <p:nvPr/>
        </p:nvSpPr>
        <p:spPr>
          <a:xfrm>
            <a:off x="5535613" y="553019"/>
            <a:ext cx="3505200" cy="261610"/>
          </a:xfrm>
          <a:prstGeom prst="rect">
            <a:avLst/>
          </a:prstGeom>
        </p:spPr>
        <p:txBody>
          <a:bodyPr wrap="square">
            <a:spAutoFit/>
          </a:bodyPr>
          <a:lstStyle/>
          <a:p>
            <a:pPr algn="r"/>
            <a:r>
              <a:rPr lang="pt-PT" sz="1100" b="1" cap="all" dirty="0" err="1">
                <a:highlight>
                  <a:srgbClr val="FFFF00"/>
                </a:highlight>
              </a:rPr>
              <a:t>Graduation</a:t>
            </a:r>
            <a:r>
              <a:rPr lang="pt-PT" sz="1100" b="1" cap="all" dirty="0">
                <a:highlight>
                  <a:srgbClr val="FFFF00"/>
                </a:highlight>
              </a:rPr>
              <a:t> in </a:t>
            </a:r>
            <a:r>
              <a:rPr lang="pt-PT" sz="1100" b="1" cap="all" dirty="0" err="1">
                <a:highlight>
                  <a:srgbClr val="FFFF00"/>
                </a:highlight>
              </a:rPr>
              <a:t>Informatics</a:t>
            </a:r>
            <a:r>
              <a:rPr lang="pt-PT" sz="1100" b="1" cap="all" dirty="0">
                <a:highlight>
                  <a:srgbClr val="FFFF00"/>
                </a:highlight>
              </a:rPr>
              <a:t> </a:t>
            </a:r>
            <a:r>
              <a:rPr lang="pt-PT" sz="1100" b="1" cap="all" dirty="0" err="1">
                <a:highlight>
                  <a:srgbClr val="FFFF00"/>
                </a:highlight>
              </a:rPr>
              <a:t>engineering</a:t>
            </a:r>
            <a:endParaRPr lang="pt-PT" sz="1100" dirty="0">
              <a:highlight>
                <a:srgbClr val="FFFF00"/>
              </a:highlight>
            </a:endParaRPr>
          </a:p>
        </p:txBody>
      </p:sp>
      <p:pic>
        <p:nvPicPr>
          <p:cNvPr id="17" name="Imagem 16">
            <a:extLst>
              <a:ext uri="{FF2B5EF4-FFF2-40B4-BE49-F238E27FC236}">
                <a16:creationId xmlns:a16="http://schemas.microsoft.com/office/drawing/2014/main" id="{9096D0A0-9F32-E5C7-22CB-2B1836F5B17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575316" y="9186"/>
            <a:ext cx="2575034" cy="639880"/>
          </a:xfrm>
          <a:prstGeom prst="rect">
            <a:avLst/>
          </a:prstGeom>
        </p:spPr>
      </p:pic>
      <p:sp>
        <p:nvSpPr>
          <p:cNvPr id="18" name="Text Box 10">
            <a:extLst>
              <a:ext uri="{FF2B5EF4-FFF2-40B4-BE49-F238E27FC236}">
                <a16:creationId xmlns:a16="http://schemas.microsoft.com/office/drawing/2014/main" id="{1C9F5848-F2D0-D23C-A8B3-B8AF6CF7F1E0}"/>
              </a:ext>
            </a:extLst>
          </p:cNvPr>
          <p:cNvSpPr txBox="1">
            <a:spLocks noChangeArrowheads="1"/>
          </p:cNvSpPr>
          <p:nvPr/>
        </p:nvSpPr>
        <p:spPr bwMode="auto">
          <a:xfrm>
            <a:off x="8288338" y="6296025"/>
            <a:ext cx="827087" cy="366713"/>
          </a:xfrm>
          <a:prstGeom prst="rect">
            <a:avLst/>
          </a:prstGeom>
          <a:noFill/>
          <a:ln w="9525">
            <a:noFill/>
            <a:miter lim="800000"/>
            <a:headEnd/>
            <a:tailEnd/>
          </a:ln>
        </p:spPr>
        <p:txBody>
          <a:bodyPr>
            <a:spAutoFit/>
          </a:bodyPr>
          <a:lstStyle/>
          <a:p>
            <a:pPr>
              <a:spcBef>
                <a:spcPct val="50000"/>
              </a:spcBef>
            </a:pPr>
            <a:endParaRPr lang="pt-PT"/>
          </a:p>
        </p:txBody>
      </p:sp>
      <p:sp>
        <p:nvSpPr>
          <p:cNvPr id="19" name="Rectangle 11">
            <a:extLst>
              <a:ext uri="{FF2B5EF4-FFF2-40B4-BE49-F238E27FC236}">
                <a16:creationId xmlns:a16="http://schemas.microsoft.com/office/drawing/2014/main" id="{3EB4D6B4-D4DB-73C5-6E84-F7F8EC8EF9E6}"/>
              </a:ext>
            </a:extLst>
          </p:cNvPr>
          <p:cNvSpPr>
            <a:spLocks noChangeArrowheads="1"/>
          </p:cNvSpPr>
          <p:nvPr/>
        </p:nvSpPr>
        <p:spPr bwMode="auto">
          <a:xfrm>
            <a:off x="8327571" y="6496091"/>
            <a:ext cx="936625" cy="260350"/>
          </a:xfrm>
          <a:prstGeom prst="rect">
            <a:avLst/>
          </a:prstGeom>
          <a:noFill/>
          <a:ln w="9525">
            <a:noFill/>
            <a:miter lim="800000"/>
            <a:headEnd/>
            <a:tailEnd/>
          </a:ln>
        </p:spPr>
        <p:txBody>
          <a:bodyPr anchor="ctr"/>
          <a:lstStyle/>
          <a:p>
            <a:pPr algn="ctr"/>
            <a:r>
              <a:rPr lang="pt-PT" sz="1000" dirty="0"/>
              <a:t>- </a:t>
            </a:r>
            <a:fld id="{1234D2FF-8FB9-47A1-B8C9-42A5F500BA2F}" type="slidenum">
              <a:rPr lang="pt-PT" sz="1000"/>
              <a:pPr algn="ctr"/>
              <a:t>27</a:t>
            </a:fld>
            <a:r>
              <a:rPr lang="pt-PT" sz="1000" dirty="0"/>
              <a:t> -</a:t>
            </a:r>
          </a:p>
        </p:txBody>
      </p:sp>
      <p:pic>
        <p:nvPicPr>
          <p:cNvPr id="20" name="Imagem 19">
            <a:extLst>
              <a:ext uri="{FF2B5EF4-FFF2-40B4-BE49-F238E27FC236}">
                <a16:creationId xmlns:a16="http://schemas.microsoft.com/office/drawing/2014/main" id="{01930C79-4DF1-1978-FCCA-B6C4A93638AC}"/>
              </a:ext>
            </a:extLst>
          </p:cNvPr>
          <p:cNvPicPr>
            <a:picLocks noChangeAspect="1"/>
          </p:cNvPicPr>
          <p:nvPr/>
        </p:nvPicPr>
        <p:blipFill>
          <a:blip r:embed="rId5"/>
          <a:stretch>
            <a:fillRect/>
          </a:stretch>
        </p:blipFill>
        <p:spPr>
          <a:xfrm>
            <a:off x="0" y="6320212"/>
            <a:ext cx="9144000" cy="253252"/>
          </a:xfrm>
          <a:prstGeom prst="rect">
            <a:avLst/>
          </a:prstGeom>
        </p:spPr>
      </p:pic>
      <p:pic>
        <p:nvPicPr>
          <p:cNvPr id="22" name="Imagem 21">
            <a:extLst>
              <a:ext uri="{FF2B5EF4-FFF2-40B4-BE49-F238E27FC236}">
                <a16:creationId xmlns:a16="http://schemas.microsoft.com/office/drawing/2014/main" id="{6ED4B39A-10E0-3202-88C8-90FBA0A6AC8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38125" y="6488336"/>
            <a:ext cx="545959" cy="199802"/>
          </a:xfrm>
          <a:prstGeom prst="rect">
            <a:avLst/>
          </a:prstGeom>
        </p:spPr>
      </p:pic>
      <p:sp>
        <p:nvSpPr>
          <p:cNvPr id="2" name="Subtítulo 2">
            <a:extLst>
              <a:ext uri="{FF2B5EF4-FFF2-40B4-BE49-F238E27FC236}">
                <a16:creationId xmlns:a16="http://schemas.microsoft.com/office/drawing/2014/main" id="{FC0479C5-7D5F-7E22-310F-92C95CA69EC1}"/>
              </a:ext>
            </a:extLst>
          </p:cNvPr>
          <p:cNvSpPr txBox="1">
            <a:spLocks/>
          </p:cNvSpPr>
          <p:nvPr/>
        </p:nvSpPr>
        <p:spPr>
          <a:xfrm>
            <a:off x="836017" y="6524516"/>
            <a:ext cx="7698382" cy="162409"/>
          </a:xfrm>
          <a:prstGeom prst="rect">
            <a:avLst/>
          </a:prstGeom>
        </p:spPr>
        <p:txBody>
          <a:bodyPr vert="horz" lIns="68580" tIns="34290" rIns="68580" bIns="3429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pt-PT" sz="900" dirty="0">
                <a:latin typeface="Arial" charset="0"/>
                <a:ea typeface="Arial" charset="0"/>
                <a:cs typeface="Arial" charset="0"/>
              </a:rPr>
              <a:t>@Diogo Monteiro - 32428, Gonçalo Teixeira - 31396 | </a:t>
            </a:r>
            <a:r>
              <a:rPr lang="pt-PT" sz="900" b="1" dirty="0">
                <a:solidFill>
                  <a:srgbClr val="C00000"/>
                </a:solidFill>
                <a:latin typeface="Arial" charset="0"/>
                <a:ea typeface="Arial" charset="0"/>
                <a:cs typeface="Arial" charset="0"/>
              </a:rPr>
              <a:t>Unidade Curricular: Projeto III </a:t>
            </a:r>
            <a:r>
              <a:rPr lang="pt-PT" sz="900" dirty="0">
                <a:latin typeface="Arial" charset="0"/>
                <a:ea typeface="Arial" charset="0"/>
                <a:cs typeface="Arial" charset="0"/>
              </a:rPr>
              <a:t>– Ano Letivo 2024/2025 – </a:t>
            </a:r>
            <a:r>
              <a:rPr lang="pt-PT" sz="900" b="1" dirty="0">
                <a:latin typeface="Arial" charset="0"/>
                <a:ea typeface="Arial" charset="0"/>
                <a:cs typeface="Arial" charset="0"/>
              </a:rPr>
              <a:t>MCZ03</a:t>
            </a:r>
          </a:p>
        </p:txBody>
      </p:sp>
    </p:spTree>
    <p:extLst>
      <p:ext uri="{BB962C8B-B14F-4D97-AF65-F5344CB8AC3E}">
        <p14:creationId xmlns:p14="http://schemas.microsoft.com/office/powerpoint/2010/main" val="41709519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6DBB7-F66F-0191-EE11-17BEDE5E5A25}"/>
            </a:ext>
          </a:extLst>
        </p:cNvPr>
        <p:cNvGrpSpPr/>
        <p:nvPr/>
      </p:nvGrpSpPr>
      <p:grpSpPr>
        <a:xfrm>
          <a:off x="0" y="0"/>
          <a:ext cx="0" cy="0"/>
          <a:chOff x="0" y="0"/>
          <a:chExt cx="0" cy="0"/>
        </a:xfrm>
      </p:grpSpPr>
      <p:sp>
        <p:nvSpPr>
          <p:cNvPr id="9229" name="Text Box 13">
            <a:extLst>
              <a:ext uri="{FF2B5EF4-FFF2-40B4-BE49-F238E27FC236}">
                <a16:creationId xmlns:a16="http://schemas.microsoft.com/office/drawing/2014/main" id="{234CBBAD-1C83-DD67-719B-228FDDE921DA}"/>
              </a:ext>
            </a:extLst>
          </p:cNvPr>
          <p:cNvSpPr txBox="1">
            <a:spLocks noChangeArrowheads="1"/>
          </p:cNvSpPr>
          <p:nvPr/>
        </p:nvSpPr>
        <p:spPr bwMode="auto">
          <a:xfrm>
            <a:off x="306388" y="557213"/>
            <a:ext cx="6981825" cy="400050"/>
          </a:xfrm>
          <a:prstGeom prst="rect">
            <a:avLst/>
          </a:prstGeom>
          <a:noFill/>
          <a:ln w="9525">
            <a:noFill/>
            <a:miter lim="800000"/>
            <a:headEnd/>
            <a:tailEnd/>
          </a:ln>
          <a:effectLst/>
        </p:spPr>
        <p:txBody>
          <a:bodyPr>
            <a:spAutoFit/>
          </a:bodyPr>
          <a:lstStyle/>
          <a:p>
            <a:pPr>
              <a:spcBef>
                <a:spcPct val="50000"/>
              </a:spcBef>
              <a:defRPr/>
            </a:pPr>
            <a:r>
              <a:rPr lang="pt-PT" sz="2000" b="1" dirty="0">
                <a:solidFill>
                  <a:srgbClr val="C00000"/>
                </a:solidFill>
                <a:effectLst>
                  <a:outerShdw blurRad="38100" dist="38100" dir="2700000" algn="tl">
                    <a:srgbClr val="C0C0C0"/>
                  </a:outerShdw>
                </a:effectLst>
                <a:latin typeface="Arial"/>
                <a:cs typeface="Arial"/>
              </a:rPr>
              <a:t>■</a:t>
            </a:r>
            <a:r>
              <a:rPr lang="pt-PT" sz="2000" b="1" dirty="0">
                <a:effectLst>
                  <a:outerShdw blurRad="38100" dist="38100" dir="2700000" algn="tl">
                    <a:srgbClr val="C0C0C0"/>
                  </a:outerShdw>
                </a:effectLst>
                <a:latin typeface="Arial"/>
                <a:cs typeface="Arial"/>
              </a:rPr>
              <a:t> </a:t>
            </a:r>
            <a:r>
              <a:rPr lang="en-US" sz="2000" b="1" dirty="0">
                <a:effectLst>
                  <a:outerShdw blurRad="38100" dist="38100" dir="2700000" algn="tl">
                    <a:srgbClr val="C0C0C0"/>
                  </a:outerShdw>
                </a:effectLst>
                <a:latin typeface="Arial"/>
                <a:cs typeface="Arial"/>
              </a:rPr>
              <a:t>2. Environment Setup and Dataset Organization</a:t>
            </a:r>
            <a:endParaRPr lang="pt-PT" sz="2000" b="1" dirty="0">
              <a:effectLst>
                <a:outerShdw blurRad="38100" dist="38100" dir="2700000" algn="tl">
                  <a:srgbClr val="C0C0C0"/>
                </a:outerShdw>
              </a:effectLst>
              <a:latin typeface="Arial" charset="0"/>
            </a:endParaRPr>
          </a:p>
        </p:txBody>
      </p:sp>
      <p:sp>
        <p:nvSpPr>
          <p:cNvPr id="10247" name="Line 15">
            <a:extLst>
              <a:ext uri="{FF2B5EF4-FFF2-40B4-BE49-F238E27FC236}">
                <a16:creationId xmlns:a16="http://schemas.microsoft.com/office/drawing/2014/main" id="{3B82812E-9CAC-5FD5-F02D-7A4173FECCB1}"/>
              </a:ext>
            </a:extLst>
          </p:cNvPr>
          <p:cNvSpPr>
            <a:spLocks noChangeShapeType="1"/>
          </p:cNvSpPr>
          <p:nvPr/>
        </p:nvSpPr>
        <p:spPr bwMode="auto">
          <a:xfrm>
            <a:off x="250825" y="0"/>
            <a:ext cx="0" cy="765175"/>
          </a:xfrm>
          <a:prstGeom prst="line">
            <a:avLst/>
          </a:prstGeom>
          <a:noFill/>
          <a:ln w="25400">
            <a:solidFill>
              <a:schemeClr val="tx1"/>
            </a:solidFill>
            <a:round/>
            <a:headEnd/>
            <a:tailEnd/>
          </a:ln>
        </p:spPr>
        <p:txBody>
          <a:bodyPr/>
          <a:lstStyle/>
          <a:p>
            <a:endParaRPr lang="pt-PT"/>
          </a:p>
        </p:txBody>
      </p:sp>
      <p:sp>
        <p:nvSpPr>
          <p:cNvPr id="9237" name="Text Box 21">
            <a:extLst>
              <a:ext uri="{FF2B5EF4-FFF2-40B4-BE49-F238E27FC236}">
                <a16:creationId xmlns:a16="http://schemas.microsoft.com/office/drawing/2014/main" id="{0665AE68-2174-041D-63CD-4B4E2AF34451}"/>
              </a:ext>
            </a:extLst>
          </p:cNvPr>
          <p:cNvSpPr txBox="1">
            <a:spLocks noChangeArrowheads="1"/>
          </p:cNvSpPr>
          <p:nvPr/>
        </p:nvSpPr>
        <p:spPr bwMode="auto">
          <a:xfrm>
            <a:off x="260350" y="44450"/>
            <a:ext cx="6981825" cy="304800"/>
          </a:xfrm>
          <a:prstGeom prst="rect">
            <a:avLst/>
          </a:prstGeom>
          <a:noFill/>
          <a:ln w="9525">
            <a:noFill/>
            <a:miter lim="800000"/>
            <a:headEnd/>
            <a:tailEnd/>
          </a:ln>
          <a:effectLst/>
        </p:spPr>
        <p:txBody>
          <a:bodyPr>
            <a:spAutoFit/>
          </a:bodyPr>
          <a:lstStyle/>
          <a:p>
            <a:pPr>
              <a:spcBef>
                <a:spcPct val="50000"/>
              </a:spcBef>
              <a:defRPr/>
            </a:pPr>
            <a:endParaRPr lang="pt-PT" sz="1400" b="1" dirty="0">
              <a:solidFill>
                <a:srgbClr val="FF3300"/>
              </a:solidFill>
              <a:effectLst>
                <a:outerShdw blurRad="38100" dist="38100" dir="2700000" algn="tl">
                  <a:srgbClr val="C0C0C0"/>
                </a:outerShdw>
              </a:effectLst>
              <a:latin typeface="Arial" charset="0"/>
            </a:endParaRPr>
          </a:p>
        </p:txBody>
      </p:sp>
      <p:pic>
        <p:nvPicPr>
          <p:cNvPr id="18" name="Imagem 17">
            <a:extLst>
              <a:ext uri="{FF2B5EF4-FFF2-40B4-BE49-F238E27FC236}">
                <a16:creationId xmlns:a16="http://schemas.microsoft.com/office/drawing/2014/main" id="{8924472E-A4AC-5656-BEED-3D6D59AE91B0}"/>
              </a:ext>
            </a:extLst>
          </p:cNvPr>
          <p:cNvPicPr>
            <a:picLocks noChangeAspect="1"/>
          </p:cNvPicPr>
          <p:nvPr/>
        </p:nvPicPr>
        <p:blipFill>
          <a:blip r:embed="rId3"/>
          <a:stretch>
            <a:fillRect/>
          </a:stretch>
        </p:blipFill>
        <p:spPr>
          <a:xfrm>
            <a:off x="101225" y="904241"/>
            <a:ext cx="9014192" cy="266482"/>
          </a:xfrm>
          <a:prstGeom prst="rect">
            <a:avLst/>
          </a:prstGeom>
        </p:spPr>
      </p:pic>
      <p:sp>
        <p:nvSpPr>
          <p:cNvPr id="21" name="Text Box 10">
            <a:extLst>
              <a:ext uri="{FF2B5EF4-FFF2-40B4-BE49-F238E27FC236}">
                <a16:creationId xmlns:a16="http://schemas.microsoft.com/office/drawing/2014/main" id="{C89F9CE8-B323-4977-4FB4-F72043E67414}"/>
              </a:ext>
            </a:extLst>
          </p:cNvPr>
          <p:cNvSpPr txBox="1">
            <a:spLocks noChangeArrowheads="1"/>
          </p:cNvSpPr>
          <p:nvPr/>
        </p:nvSpPr>
        <p:spPr bwMode="auto">
          <a:xfrm>
            <a:off x="8288338" y="6296025"/>
            <a:ext cx="827087" cy="366713"/>
          </a:xfrm>
          <a:prstGeom prst="rect">
            <a:avLst/>
          </a:prstGeom>
          <a:noFill/>
          <a:ln w="9525">
            <a:noFill/>
            <a:miter lim="800000"/>
            <a:headEnd/>
            <a:tailEnd/>
          </a:ln>
        </p:spPr>
        <p:txBody>
          <a:bodyPr>
            <a:spAutoFit/>
          </a:bodyPr>
          <a:lstStyle/>
          <a:p>
            <a:pPr>
              <a:spcBef>
                <a:spcPct val="50000"/>
              </a:spcBef>
            </a:pPr>
            <a:endParaRPr lang="pt-PT"/>
          </a:p>
        </p:txBody>
      </p:sp>
      <p:sp>
        <p:nvSpPr>
          <p:cNvPr id="22" name="Rectangle 11">
            <a:extLst>
              <a:ext uri="{FF2B5EF4-FFF2-40B4-BE49-F238E27FC236}">
                <a16:creationId xmlns:a16="http://schemas.microsoft.com/office/drawing/2014/main" id="{AEFCFF70-5263-C5BE-DF77-C7CE390741D1}"/>
              </a:ext>
            </a:extLst>
          </p:cNvPr>
          <p:cNvSpPr>
            <a:spLocks noChangeArrowheads="1"/>
          </p:cNvSpPr>
          <p:nvPr/>
        </p:nvSpPr>
        <p:spPr bwMode="auto">
          <a:xfrm>
            <a:off x="8327571" y="6496091"/>
            <a:ext cx="936625" cy="260350"/>
          </a:xfrm>
          <a:prstGeom prst="rect">
            <a:avLst/>
          </a:prstGeom>
          <a:noFill/>
          <a:ln w="9525">
            <a:noFill/>
            <a:miter lim="800000"/>
            <a:headEnd/>
            <a:tailEnd/>
          </a:ln>
        </p:spPr>
        <p:txBody>
          <a:bodyPr anchor="ctr"/>
          <a:lstStyle/>
          <a:p>
            <a:pPr algn="ctr"/>
            <a:r>
              <a:rPr lang="pt-PT" sz="1000" dirty="0"/>
              <a:t>- </a:t>
            </a:r>
            <a:fld id="{1234D2FF-8FB9-47A1-B8C9-42A5F500BA2F}" type="slidenum">
              <a:rPr lang="pt-PT" sz="1000"/>
              <a:pPr algn="ctr"/>
              <a:t>28</a:t>
            </a:fld>
            <a:r>
              <a:rPr lang="pt-PT" sz="1000" dirty="0"/>
              <a:t> -</a:t>
            </a:r>
          </a:p>
        </p:txBody>
      </p:sp>
      <p:pic>
        <p:nvPicPr>
          <p:cNvPr id="23" name="Imagem 22">
            <a:extLst>
              <a:ext uri="{FF2B5EF4-FFF2-40B4-BE49-F238E27FC236}">
                <a16:creationId xmlns:a16="http://schemas.microsoft.com/office/drawing/2014/main" id="{C66A3A69-765E-C65C-EAEB-861A267DA522}"/>
              </a:ext>
            </a:extLst>
          </p:cNvPr>
          <p:cNvPicPr>
            <a:picLocks noChangeAspect="1"/>
          </p:cNvPicPr>
          <p:nvPr/>
        </p:nvPicPr>
        <p:blipFill>
          <a:blip r:embed="rId4"/>
          <a:stretch>
            <a:fillRect/>
          </a:stretch>
        </p:blipFill>
        <p:spPr>
          <a:xfrm>
            <a:off x="0" y="6320212"/>
            <a:ext cx="9144000" cy="253252"/>
          </a:xfrm>
          <a:prstGeom prst="rect">
            <a:avLst/>
          </a:prstGeom>
        </p:spPr>
      </p:pic>
      <p:pic>
        <p:nvPicPr>
          <p:cNvPr id="25" name="Imagem 24">
            <a:extLst>
              <a:ext uri="{FF2B5EF4-FFF2-40B4-BE49-F238E27FC236}">
                <a16:creationId xmlns:a16="http://schemas.microsoft.com/office/drawing/2014/main" id="{B35696A9-9E34-D8A0-9B30-79B2667770F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8125" y="6488336"/>
            <a:ext cx="545959" cy="199802"/>
          </a:xfrm>
          <a:prstGeom prst="rect">
            <a:avLst/>
          </a:prstGeom>
        </p:spPr>
      </p:pic>
      <p:sp>
        <p:nvSpPr>
          <p:cNvPr id="26" name="Rectângulo 19">
            <a:extLst>
              <a:ext uri="{FF2B5EF4-FFF2-40B4-BE49-F238E27FC236}">
                <a16:creationId xmlns:a16="http://schemas.microsoft.com/office/drawing/2014/main" id="{01282AD9-0E79-FA17-C1B8-44B0EDBCA007}"/>
              </a:ext>
            </a:extLst>
          </p:cNvPr>
          <p:cNvSpPr/>
          <p:nvPr/>
        </p:nvSpPr>
        <p:spPr>
          <a:xfrm>
            <a:off x="5645150" y="561740"/>
            <a:ext cx="3505200" cy="261610"/>
          </a:xfrm>
          <a:prstGeom prst="rect">
            <a:avLst/>
          </a:prstGeom>
        </p:spPr>
        <p:txBody>
          <a:bodyPr wrap="square">
            <a:spAutoFit/>
          </a:bodyPr>
          <a:lstStyle/>
          <a:p>
            <a:pPr algn="r"/>
            <a:r>
              <a:rPr lang="pt-PT" sz="1100" b="1" cap="all" dirty="0" err="1">
                <a:highlight>
                  <a:srgbClr val="FFFF00"/>
                </a:highlight>
              </a:rPr>
              <a:t>Graduation</a:t>
            </a:r>
            <a:r>
              <a:rPr lang="pt-PT" sz="1100" b="1" cap="all" dirty="0">
                <a:highlight>
                  <a:srgbClr val="FFFF00"/>
                </a:highlight>
              </a:rPr>
              <a:t> in </a:t>
            </a:r>
            <a:r>
              <a:rPr lang="pt-PT" sz="1100" b="1" cap="all" dirty="0" err="1">
                <a:highlight>
                  <a:srgbClr val="FFFF00"/>
                </a:highlight>
              </a:rPr>
              <a:t>Informatics</a:t>
            </a:r>
            <a:r>
              <a:rPr lang="pt-PT" sz="1100" b="1" cap="all" dirty="0">
                <a:highlight>
                  <a:srgbClr val="FFFF00"/>
                </a:highlight>
              </a:rPr>
              <a:t> </a:t>
            </a:r>
            <a:r>
              <a:rPr lang="pt-PT" sz="1100" b="1" cap="all" dirty="0" err="1">
                <a:highlight>
                  <a:srgbClr val="FFFF00"/>
                </a:highlight>
              </a:rPr>
              <a:t>engineering</a:t>
            </a:r>
            <a:endParaRPr lang="pt-PT" sz="1100" dirty="0">
              <a:highlight>
                <a:srgbClr val="FFFF00"/>
              </a:highlight>
            </a:endParaRPr>
          </a:p>
        </p:txBody>
      </p:sp>
      <p:pic>
        <p:nvPicPr>
          <p:cNvPr id="27" name="Imagem 26">
            <a:extLst>
              <a:ext uri="{FF2B5EF4-FFF2-40B4-BE49-F238E27FC236}">
                <a16:creationId xmlns:a16="http://schemas.microsoft.com/office/drawing/2014/main" id="{DEDF668B-EC06-E22D-1A2B-C77B83D1C75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575316" y="9186"/>
            <a:ext cx="2575034" cy="639880"/>
          </a:xfrm>
          <a:prstGeom prst="rect">
            <a:avLst/>
          </a:prstGeom>
        </p:spPr>
      </p:pic>
      <p:sp>
        <p:nvSpPr>
          <p:cNvPr id="7" name="TextBox 6">
            <a:extLst>
              <a:ext uri="{FF2B5EF4-FFF2-40B4-BE49-F238E27FC236}">
                <a16:creationId xmlns:a16="http://schemas.microsoft.com/office/drawing/2014/main" id="{CDFD8AC8-D0BD-2A99-C05E-ABC547282CC2}"/>
              </a:ext>
            </a:extLst>
          </p:cNvPr>
          <p:cNvSpPr txBox="1"/>
          <p:nvPr/>
        </p:nvSpPr>
        <p:spPr>
          <a:xfrm>
            <a:off x="334907" y="1170723"/>
            <a:ext cx="3779893" cy="4278094"/>
          </a:xfrm>
          <a:prstGeom prst="rect">
            <a:avLst/>
          </a:prstGeom>
          <a:noFill/>
        </p:spPr>
        <p:txBody>
          <a:bodyPr wrap="square" rtlCol="0">
            <a:spAutoFit/>
          </a:bodyPr>
          <a:lstStyle/>
          <a:p>
            <a:pPr algn="just"/>
            <a:r>
              <a:rPr lang="en-US" sz="1600" b="1" dirty="0"/>
              <a:t>Project Structure:</a:t>
            </a:r>
          </a:p>
          <a:p>
            <a:pPr algn="just"/>
            <a:endParaRPr lang="en-US" sz="1600" b="1" dirty="0"/>
          </a:p>
          <a:p>
            <a:pPr algn="just"/>
            <a:r>
              <a:rPr lang="en-US" sz="1600" dirty="0"/>
              <a:t>Before training, we established a clear reference to the dataset directories. This cell imports necessary libraries (TensorFlow, </a:t>
            </a:r>
            <a:r>
              <a:rPr lang="en-US" sz="1600" dirty="0" err="1"/>
              <a:t>Keras</a:t>
            </a:r>
            <a:r>
              <a:rPr lang="en-US" sz="1600" dirty="0"/>
              <a:t>) and maps the file paths for the three data splits.</a:t>
            </a:r>
          </a:p>
          <a:p>
            <a:pPr algn="just"/>
            <a:endParaRPr lang="en-US" sz="1600" dirty="0"/>
          </a:p>
          <a:p>
            <a:pPr algn="just"/>
            <a:r>
              <a:rPr lang="en-US" sz="1600" b="1" dirty="0"/>
              <a:t>Imports:</a:t>
            </a:r>
            <a:r>
              <a:rPr lang="en-US" sz="1600" dirty="0"/>
              <a:t> Loading essential libraries like </a:t>
            </a:r>
            <a:r>
              <a:rPr lang="en-US" sz="1600" b="1" dirty="0" err="1"/>
              <a:t>os</a:t>
            </a:r>
            <a:r>
              <a:rPr lang="en-US" sz="1600" dirty="0"/>
              <a:t>, </a:t>
            </a:r>
            <a:r>
              <a:rPr lang="en-US" sz="1600" b="1" dirty="0" err="1"/>
              <a:t>numpy</a:t>
            </a:r>
            <a:r>
              <a:rPr lang="en-US" sz="1600" b="1" dirty="0"/>
              <a:t>,</a:t>
            </a:r>
            <a:r>
              <a:rPr lang="en-US" sz="1600" dirty="0"/>
              <a:t> and </a:t>
            </a:r>
            <a:r>
              <a:rPr lang="en-US" sz="1600" b="1" dirty="0" err="1"/>
              <a:t>tensorflow</a:t>
            </a:r>
            <a:r>
              <a:rPr lang="en-US" sz="1600" dirty="0"/>
              <a:t>.</a:t>
            </a:r>
          </a:p>
          <a:p>
            <a:pPr algn="just"/>
            <a:endParaRPr lang="en-US" sz="1600" dirty="0"/>
          </a:p>
          <a:p>
            <a:pPr algn="just"/>
            <a:r>
              <a:rPr lang="en-US" sz="1600" b="1" dirty="0"/>
              <a:t>Path Definition</a:t>
            </a:r>
            <a:r>
              <a:rPr lang="en-US" sz="1600" dirty="0"/>
              <a:t>: Dynamically sets the paths for </a:t>
            </a:r>
            <a:r>
              <a:rPr lang="en-US" sz="1600" b="1" dirty="0"/>
              <a:t>train, valid, and test </a:t>
            </a:r>
            <a:r>
              <a:rPr lang="en-US" sz="1600" dirty="0"/>
              <a:t>directories based on the project root.</a:t>
            </a:r>
          </a:p>
          <a:p>
            <a:pPr algn="just"/>
            <a:endParaRPr lang="en-US" sz="1600" dirty="0"/>
          </a:p>
          <a:p>
            <a:pPr algn="just"/>
            <a:r>
              <a:rPr lang="en-US" sz="1600" b="1" dirty="0"/>
              <a:t>Verification:</a:t>
            </a:r>
            <a:r>
              <a:rPr lang="en-US" sz="1600" dirty="0"/>
              <a:t> Ensures the code is pointing to the correct folders on the disk.</a:t>
            </a:r>
          </a:p>
        </p:txBody>
      </p:sp>
      <p:sp>
        <p:nvSpPr>
          <p:cNvPr id="2" name="Subtítulo 2">
            <a:extLst>
              <a:ext uri="{FF2B5EF4-FFF2-40B4-BE49-F238E27FC236}">
                <a16:creationId xmlns:a16="http://schemas.microsoft.com/office/drawing/2014/main" id="{5B103675-ABDC-BC14-70B2-53B8E61CDE18}"/>
              </a:ext>
            </a:extLst>
          </p:cNvPr>
          <p:cNvSpPr txBox="1">
            <a:spLocks/>
          </p:cNvSpPr>
          <p:nvPr/>
        </p:nvSpPr>
        <p:spPr>
          <a:xfrm>
            <a:off x="836017" y="6524516"/>
            <a:ext cx="7698382" cy="162409"/>
          </a:xfrm>
          <a:prstGeom prst="rect">
            <a:avLst/>
          </a:prstGeom>
        </p:spPr>
        <p:txBody>
          <a:bodyPr vert="horz" lIns="68580" tIns="34290" rIns="68580" bIns="3429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pt-PT" sz="900" dirty="0">
                <a:latin typeface="Arial" charset="0"/>
                <a:ea typeface="Arial" charset="0"/>
                <a:cs typeface="Arial" charset="0"/>
              </a:rPr>
              <a:t>@Diogo Monteiro - 32428, Gonçalo Teixeira - 31396 | </a:t>
            </a:r>
            <a:r>
              <a:rPr lang="pt-PT" sz="900" b="1" dirty="0">
                <a:solidFill>
                  <a:srgbClr val="C00000"/>
                </a:solidFill>
                <a:latin typeface="Arial" charset="0"/>
                <a:ea typeface="Arial" charset="0"/>
                <a:cs typeface="Arial" charset="0"/>
              </a:rPr>
              <a:t>Unidade Curricular: Projeto III </a:t>
            </a:r>
            <a:r>
              <a:rPr lang="pt-PT" sz="900" dirty="0">
                <a:latin typeface="Arial" charset="0"/>
                <a:ea typeface="Arial" charset="0"/>
                <a:cs typeface="Arial" charset="0"/>
              </a:rPr>
              <a:t>– Ano Letivo 2024/2025 – </a:t>
            </a:r>
            <a:r>
              <a:rPr lang="pt-PT" sz="900" b="1" dirty="0">
                <a:latin typeface="Arial" charset="0"/>
                <a:ea typeface="Arial" charset="0"/>
                <a:cs typeface="Arial" charset="0"/>
              </a:rPr>
              <a:t>MCZ03</a:t>
            </a:r>
          </a:p>
        </p:txBody>
      </p:sp>
      <p:pic>
        <p:nvPicPr>
          <p:cNvPr id="6" name="Imagem 5">
            <a:extLst>
              <a:ext uri="{FF2B5EF4-FFF2-40B4-BE49-F238E27FC236}">
                <a16:creationId xmlns:a16="http://schemas.microsoft.com/office/drawing/2014/main" id="{9A2A60D1-F810-3A02-1109-D76ED2C8B4EA}"/>
              </a:ext>
            </a:extLst>
          </p:cNvPr>
          <p:cNvPicPr>
            <a:picLocks noChangeAspect="1"/>
          </p:cNvPicPr>
          <p:nvPr/>
        </p:nvPicPr>
        <p:blipFill>
          <a:blip r:embed="rId7"/>
          <a:stretch>
            <a:fillRect/>
          </a:stretch>
        </p:blipFill>
        <p:spPr>
          <a:xfrm>
            <a:off x="4316733" y="1828658"/>
            <a:ext cx="4517165" cy="3480307"/>
          </a:xfrm>
          <a:prstGeom prst="rect">
            <a:avLst/>
          </a:prstGeom>
        </p:spPr>
      </p:pic>
    </p:spTree>
    <p:extLst>
      <p:ext uri="{BB962C8B-B14F-4D97-AF65-F5344CB8AC3E}">
        <p14:creationId xmlns:p14="http://schemas.microsoft.com/office/powerpoint/2010/main" val="2409054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E0B90-D63E-FA63-F2BC-6CC36FFBEC7F}"/>
            </a:ext>
          </a:extLst>
        </p:cNvPr>
        <p:cNvGrpSpPr/>
        <p:nvPr/>
      </p:nvGrpSpPr>
      <p:grpSpPr>
        <a:xfrm>
          <a:off x="0" y="0"/>
          <a:ext cx="0" cy="0"/>
          <a:chOff x="0" y="0"/>
          <a:chExt cx="0" cy="0"/>
        </a:xfrm>
      </p:grpSpPr>
      <p:sp>
        <p:nvSpPr>
          <p:cNvPr id="9229" name="Text Box 13">
            <a:extLst>
              <a:ext uri="{FF2B5EF4-FFF2-40B4-BE49-F238E27FC236}">
                <a16:creationId xmlns:a16="http://schemas.microsoft.com/office/drawing/2014/main" id="{88647326-A989-DD92-3F91-C4B05621147D}"/>
              </a:ext>
            </a:extLst>
          </p:cNvPr>
          <p:cNvSpPr txBox="1">
            <a:spLocks noChangeArrowheads="1"/>
          </p:cNvSpPr>
          <p:nvPr/>
        </p:nvSpPr>
        <p:spPr bwMode="auto">
          <a:xfrm>
            <a:off x="306388" y="557213"/>
            <a:ext cx="6981825" cy="400050"/>
          </a:xfrm>
          <a:prstGeom prst="rect">
            <a:avLst/>
          </a:prstGeom>
          <a:noFill/>
          <a:ln w="9525">
            <a:noFill/>
            <a:miter lim="800000"/>
            <a:headEnd/>
            <a:tailEnd/>
          </a:ln>
          <a:effectLst/>
        </p:spPr>
        <p:txBody>
          <a:bodyPr>
            <a:spAutoFit/>
          </a:bodyPr>
          <a:lstStyle/>
          <a:p>
            <a:pPr>
              <a:spcBef>
                <a:spcPct val="50000"/>
              </a:spcBef>
              <a:defRPr/>
            </a:pPr>
            <a:r>
              <a:rPr lang="pt-PT" sz="2000" b="1" dirty="0">
                <a:solidFill>
                  <a:srgbClr val="C00000"/>
                </a:solidFill>
                <a:effectLst>
                  <a:outerShdw blurRad="38100" dist="38100" dir="2700000" algn="tl">
                    <a:srgbClr val="C0C0C0"/>
                  </a:outerShdw>
                </a:effectLst>
                <a:latin typeface="Arial"/>
                <a:cs typeface="Arial"/>
              </a:rPr>
              <a:t>■</a:t>
            </a:r>
            <a:r>
              <a:rPr lang="pt-PT" sz="2000" b="1" dirty="0">
                <a:effectLst>
                  <a:outerShdw blurRad="38100" dist="38100" dir="2700000" algn="tl">
                    <a:srgbClr val="C0C0C0"/>
                  </a:outerShdw>
                </a:effectLst>
                <a:latin typeface="Arial"/>
                <a:cs typeface="Arial"/>
              </a:rPr>
              <a:t> </a:t>
            </a:r>
            <a:r>
              <a:rPr lang="en-US" sz="2000" b="1" dirty="0">
                <a:effectLst>
                  <a:outerShdw blurRad="38100" dist="38100" dir="2700000" algn="tl">
                    <a:srgbClr val="C0C0C0"/>
                  </a:outerShdw>
                </a:effectLst>
                <a:latin typeface="Arial"/>
                <a:cs typeface="Arial"/>
              </a:rPr>
              <a:t>2. Data Preparation and Cleaning</a:t>
            </a:r>
            <a:endParaRPr lang="pt-PT" sz="2000" b="1" dirty="0">
              <a:effectLst>
                <a:outerShdw blurRad="38100" dist="38100" dir="2700000" algn="tl">
                  <a:srgbClr val="C0C0C0"/>
                </a:outerShdw>
              </a:effectLst>
              <a:latin typeface="Arial" charset="0"/>
            </a:endParaRPr>
          </a:p>
        </p:txBody>
      </p:sp>
      <p:sp>
        <p:nvSpPr>
          <p:cNvPr id="10247" name="Line 15">
            <a:extLst>
              <a:ext uri="{FF2B5EF4-FFF2-40B4-BE49-F238E27FC236}">
                <a16:creationId xmlns:a16="http://schemas.microsoft.com/office/drawing/2014/main" id="{F01BB2EF-3C7B-D3FD-E0A4-50F385763675}"/>
              </a:ext>
            </a:extLst>
          </p:cNvPr>
          <p:cNvSpPr>
            <a:spLocks noChangeShapeType="1"/>
          </p:cNvSpPr>
          <p:nvPr/>
        </p:nvSpPr>
        <p:spPr bwMode="auto">
          <a:xfrm>
            <a:off x="250825" y="0"/>
            <a:ext cx="0" cy="765175"/>
          </a:xfrm>
          <a:prstGeom prst="line">
            <a:avLst/>
          </a:prstGeom>
          <a:noFill/>
          <a:ln w="25400">
            <a:solidFill>
              <a:schemeClr val="tx1"/>
            </a:solidFill>
            <a:round/>
            <a:headEnd/>
            <a:tailEnd/>
          </a:ln>
        </p:spPr>
        <p:txBody>
          <a:bodyPr/>
          <a:lstStyle/>
          <a:p>
            <a:endParaRPr lang="pt-PT"/>
          </a:p>
        </p:txBody>
      </p:sp>
      <p:sp>
        <p:nvSpPr>
          <p:cNvPr id="9237" name="Text Box 21">
            <a:extLst>
              <a:ext uri="{FF2B5EF4-FFF2-40B4-BE49-F238E27FC236}">
                <a16:creationId xmlns:a16="http://schemas.microsoft.com/office/drawing/2014/main" id="{DF95E287-473C-819C-C191-292186F7954C}"/>
              </a:ext>
            </a:extLst>
          </p:cNvPr>
          <p:cNvSpPr txBox="1">
            <a:spLocks noChangeArrowheads="1"/>
          </p:cNvSpPr>
          <p:nvPr/>
        </p:nvSpPr>
        <p:spPr bwMode="auto">
          <a:xfrm>
            <a:off x="260350" y="44450"/>
            <a:ext cx="6981825" cy="304800"/>
          </a:xfrm>
          <a:prstGeom prst="rect">
            <a:avLst/>
          </a:prstGeom>
          <a:noFill/>
          <a:ln w="9525">
            <a:noFill/>
            <a:miter lim="800000"/>
            <a:headEnd/>
            <a:tailEnd/>
          </a:ln>
          <a:effectLst/>
        </p:spPr>
        <p:txBody>
          <a:bodyPr>
            <a:spAutoFit/>
          </a:bodyPr>
          <a:lstStyle/>
          <a:p>
            <a:pPr>
              <a:spcBef>
                <a:spcPct val="50000"/>
              </a:spcBef>
              <a:defRPr/>
            </a:pPr>
            <a:endParaRPr lang="pt-PT" sz="1400" b="1" dirty="0">
              <a:solidFill>
                <a:srgbClr val="FF3300"/>
              </a:solidFill>
              <a:effectLst>
                <a:outerShdw blurRad="38100" dist="38100" dir="2700000" algn="tl">
                  <a:srgbClr val="C0C0C0"/>
                </a:outerShdw>
              </a:effectLst>
              <a:latin typeface="Arial" charset="0"/>
            </a:endParaRPr>
          </a:p>
        </p:txBody>
      </p:sp>
      <p:pic>
        <p:nvPicPr>
          <p:cNvPr id="18" name="Imagem 17">
            <a:extLst>
              <a:ext uri="{FF2B5EF4-FFF2-40B4-BE49-F238E27FC236}">
                <a16:creationId xmlns:a16="http://schemas.microsoft.com/office/drawing/2014/main" id="{34516E12-C8E5-2623-ED50-86399B02057D}"/>
              </a:ext>
            </a:extLst>
          </p:cNvPr>
          <p:cNvPicPr>
            <a:picLocks noChangeAspect="1"/>
          </p:cNvPicPr>
          <p:nvPr/>
        </p:nvPicPr>
        <p:blipFill>
          <a:blip r:embed="rId3"/>
          <a:stretch>
            <a:fillRect/>
          </a:stretch>
        </p:blipFill>
        <p:spPr>
          <a:xfrm>
            <a:off x="101225" y="904241"/>
            <a:ext cx="9014192" cy="266482"/>
          </a:xfrm>
          <a:prstGeom prst="rect">
            <a:avLst/>
          </a:prstGeom>
        </p:spPr>
      </p:pic>
      <p:sp>
        <p:nvSpPr>
          <p:cNvPr id="21" name="Text Box 10">
            <a:extLst>
              <a:ext uri="{FF2B5EF4-FFF2-40B4-BE49-F238E27FC236}">
                <a16:creationId xmlns:a16="http://schemas.microsoft.com/office/drawing/2014/main" id="{42607261-5E8D-1B03-2170-DC6B23459C72}"/>
              </a:ext>
            </a:extLst>
          </p:cNvPr>
          <p:cNvSpPr txBox="1">
            <a:spLocks noChangeArrowheads="1"/>
          </p:cNvSpPr>
          <p:nvPr/>
        </p:nvSpPr>
        <p:spPr bwMode="auto">
          <a:xfrm>
            <a:off x="8288338" y="6296025"/>
            <a:ext cx="827087" cy="366713"/>
          </a:xfrm>
          <a:prstGeom prst="rect">
            <a:avLst/>
          </a:prstGeom>
          <a:noFill/>
          <a:ln w="9525">
            <a:noFill/>
            <a:miter lim="800000"/>
            <a:headEnd/>
            <a:tailEnd/>
          </a:ln>
        </p:spPr>
        <p:txBody>
          <a:bodyPr>
            <a:spAutoFit/>
          </a:bodyPr>
          <a:lstStyle/>
          <a:p>
            <a:pPr>
              <a:spcBef>
                <a:spcPct val="50000"/>
              </a:spcBef>
            </a:pPr>
            <a:endParaRPr lang="pt-PT"/>
          </a:p>
        </p:txBody>
      </p:sp>
      <p:sp>
        <p:nvSpPr>
          <p:cNvPr id="22" name="Rectangle 11">
            <a:extLst>
              <a:ext uri="{FF2B5EF4-FFF2-40B4-BE49-F238E27FC236}">
                <a16:creationId xmlns:a16="http://schemas.microsoft.com/office/drawing/2014/main" id="{20E0A103-C1F2-4A68-9372-CA06911024FE}"/>
              </a:ext>
            </a:extLst>
          </p:cNvPr>
          <p:cNvSpPr>
            <a:spLocks noChangeArrowheads="1"/>
          </p:cNvSpPr>
          <p:nvPr/>
        </p:nvSpPr>
        <p:spPr bwMode="auto">
          <a:xfrm>
            <a:off x="8327571" y="6496091"/>
            <a:ext cx="936625" cy="260350"/>
          </a:xfrm>
          <a:prstGeom prst="rect">
            <a:avLst/>
          </a:prstGeom>
          <a:noFill/>
          <a:ln w="9525">
            <a:noFill/>
            <a:miter lim="800000"/>
            <a:headEnd/>
            <a:tailEnd/>
          </a:ln>
        </p:spPr>
        <p:txBody>
          <a:bodyPr anchor="ctr"/>
          <a:lstStyle/>
          <a:p>
            <a:pPr algn="ctr"/>
            <a:r>
              <a:rPr lang="pt-PT" sz="1000" dirty="0"/>
              <a:t>- </a:t>
            </a:r>
            <a:fld id="{1234D2FF-8FB9-47A1-B8C9-42A5F500BA2F}" type="slidenum">
              <a:rPr lang="pt-PT" sz="1000"/>
              <a:pPr algn="ctr"/>
              <a:t>29</a:t>
            </a:fld>
            <a:r>
              <a:rPr lang="pt-PT" sz="1000" dirty="0"/>
              <a:t> -</a:t>
            </a:r>
          </a:p>
        </p:txBody>
      </p:sp>
      <p:pic>
        <p:nvPicPr>
          <p:cNvPr id="23" name="Imagem 22">
            <a:extLst>
              <a:ext uri="{FF2B5EF4-FFF2-40B4-BE49-F238E27FC236}">
                <a16:creationId xmlns:a16="http://schemas.microsoft.com/office/drawing/2014/main" id="{E45F9836-8F2C-A083-0437-345BA039C904}"/>
              </a:ext>
            </a:extLst>
          </p:cNvPr>
          <p:cNvPicPr>
            <a:picLocks noChangeAspect="1"/>
          </p:cNvPicPr>
          <p:nvPr/>
        </p:nvPicPr>
        <p:blipFill>
          <a:blip r:embed="rId4"/>
          <a:stretch>
            <a:fillRect/>
          </a:stretch>
        </p:blipFill>
        <p:spPr>
          <a:xfrm>
            <a:off x="0" y="6320212"/>
            <a:ext cx="9144000" cy="253252"/>
          </a:xfrm>
          <a:prstGeom prst="rect">
            <a:avLst/>
          </a:prstGeom>
        </p:spPr>
      </p:pic>
      <p:pic>
        <p:nvPicPr>
          <p:cNvPr id="25" name="Imagem 24">
            <a:extLst>
              <a:ext uri="{FF2B5EF4-FFF2-40B4-BE49-F238E27FC236}">
                <a16:creationId xmlns:a16="http://schemas.microsoft.com/office/drawing/2014/main" id="{17E676B0-F5CC-92F1-C7E0-3E228090A06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8125" y="6488336"/>
            <a:ext cx="545959" cy="199802"/>
          </a:xfrm>
          <a:prstGeom prst="rect">
            <a:avLst/>
          </a:prstGeom>
        </p:spPr>
      </p:pic>
      <p:sp>
        <p:nvSpPr>
          <p:cNvPr id="26" name="Rectângulo 19">
            <a:extLst>
              <a:ext uri="{FF2B5EF4-FFF2-40B4-BE49-F238E27FC236}">
                <a16:creationId xmlns:a16="http://schemas.microsoft.com/office/drawing/2014/main" id="{74E578B8-6E2D-93DE-BF79-22D56835772E}"/>
              </a:ext>
            </a:extLst>
          </p:cNvPr>
          <p:cNvSpPr/>
          <p:nvPr/>
        </p:nvSpPr>
        <p:spPr>
          <a:xfrm>
            <a:off x="5535613" y="553019"/>
            <a:ext cx="3505200" cy="261610"/>
          </a:xfrm>
          <a:prstGeom prst="rect">
            <a:avLst/>
          </a:prstGeom>
        </p:spPr>
        <p:txBody>
          <a:bodyPr wrap="square">
            <a:spAutoFit/>
          </a:bodyPr>
          <a:lstStyle/>
          <a:p>
            <a:pPr algn="r"/>
            <a:r>
              <a:rPr lang="pt-PT" sz="1100" b="1" cap="all" dirty="0" err="1">
                <a:highlight>
                  <a:srgbClr val="FFFF00"/>
                </a:highlight>
              </a:rPr>
              <a:t>Graduation</a:t>
            </a:r>
            <a:r>
              <a:rPr lang="pt-PT" sz="1100" b="1" cap="all" dirty="0">
                <a:highlight>
                  <a:srgbClr val="FFFF00"/>
                </a:highlight>
              </a:rPr>
              <a:t> in </a:t>
            </a:r>
            <a:r>
              <a:rPr lang="pt-PT" sz="1100" b="1" cap="all" dirty="0" err="1">
                <a:highlight>
                  <a:srgbClr val="FFFF00"/>
                </a:highlight>
              </a:rPr>
              <a:t>Informatics</a:t>
            </a:r>
            <a:r>
              <a:rPr lang="pt-PT" sz="1100" b="1" cap="all" dirty="0">
                <a:highlight>
                  <a:srgbClr val="FFFF00"/>
                </a:highlight>
              </a:rPr>
              <a:t> </a:t>
            </a:r>
            <a:r>
              <a:rPr lang="pt-PT" sz="1100" b="1" cap="all" dirty="0" err="1">
                <a:highlight>
                  <a:srgbClr val="FFFF00"/>
                </a:highlight>
              </a:rPr>
              <a:t>engineering</a:t>
            </a:r>
            <a:endParaRPr lang="pt-PT" sz="1100" dirty="0">
              <a:highlight>
                <a:srgbClr val="FFFF00"/>
              </a:highlight>
            </a:endParaRPr>
          </a:p>
        </p:txBody>
      </p:sp>
      <p:pic>
        <p:nvPicPr>
          <p:cNvPr id="27" name="Imagem 26">
            <a:extLst>
              <a:ext uri="{FF2B5EF4-FFF2-40B4-BE49-F238E27FC236}">
                <a16:creationId xmlns:a16="http://schemas.microsoft.com/office/drawing/2014/main" id="{EF6893EE-FAC0-3817-ADB9-B68D5623CBB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575316" y="9186"/>
            <a:ext cx="2575034" cy="639880"/>
          </a:xfrm>
          <a:prstGeom prst="rect">
            <a:avLst/>
          </a:prstGeom>
        </p:spPr>
      </p:pic>
      <p:sp>
        <p:nvSpPr>
          <p:cNvPr id="7" name="TextBox 6">
            <a:extLst>
              <a:ext uri="{FF2B5EF4-FFF2-40B4-BE49-F238E27FC236}">
                <a16:creationId xmlns:a16="http://schemas.microsoft.com/office/drawing/2014/main" id="{EEBEABA8-0611-06AE-54D0-623817AADD12}"/>
              </a:ext>
            </a:extLst>
          </p:cNvPr>
          <p:cNvSpPr txBox="1"/>
          <p:nvPr/>
        </p:nvSpPr>
        <p:spPr>
          <a:xfrm>
            <a:off x="334907" y="1170723"/>
            <a:ext cx="3635579" cy="5170646"/>
          </a:xfrm>
          <a:prstGeom prst="rect">
            <a:avLst/>
          </a:prstGeom>
          <a:noFill/>
        </p:spPr>
        <p:txBody>
          <a:bodyPr wrap="square" rtlCol="0">
            <a:spAutoFit/>
          </a:bodyPr>
          <a:lstStyle/>
          <a:p>
            <a:pPr algn="just"/>
            <a:r>
              <a:rPr lang="en-US" sz="1500" b="1" dirty="0"/>
              <a:t>Data Integrity Check:</a:t>
            </a:r>
          </a:p>
          <a:p>
            <a:pPr algn="just"/>
            <a:endParaRPr lang="en-US" sz="500" b="1" dirty="0"/>
          </a:p>
          <a:p>
            <a:pPr algn="just"/>
            <a:r>
              <a:rPr lang="en-US" sz="1500" dirty="0"/>
              <a:t>A </a:t>
            </a:r>
            <a:r>
              <a:rPr lang="en-US" sz="1500" b="1" dirty="0"/>
              <a:t>validation</a:t>
            </a:r>
            <a:r>
              <a:rPr lang="en-US" sz="1500" dirty="0"/>
              <a:t> </a:t>
            </a:r>
            <a:r>
              <a:rPr lang="en-US" sz="1500" b="1" dirty="0"/>
              <a:t>function</a:t>
            </a:r>
            <a:r>
              <a:rPr lang="en-US" sz="1500" dirty="0"/>
              <a:t> was implemented to scan all dataset directories. This ensures that only valid, readable images are fed into the model, preventing training interruptions caused by corrupt files:</a:t>
            </a:r>
          </a:p>
          <a:p>
            <a:pPr algn="just"/>
            <a:endParaRPr lang="en-US" sz="500" dirty="0"/>
          </a:p>
          <a:p>
            <a:pPr marL="285750" indent="-285750" algn="just">
              <a:buFont typeface="Arial" panose="020B0604020202020204" pitchFamily="34" charset="0"/>
              <a:buChar char="•"/>
            </a:pPr>
            <a:r>
              <a:rPr lang="en-US" sz="1500" dirty="0"/>
              <a:t>Iterates through all subfolders (</a:t>
            </a:r>
            <a:r>
              <a:rPr lang="en-US" sz="1500" b="1" dirty="0"/>
              <a:t>wildfire</a:t>
            </a:r>
            <a:r>
              <a:rPr lang="en-US" sz="1500" dirty="0"/>
              <a:t>/</a:t>
            </a:r>
            <a:r>
              <a:rPr lang="en-US" sz="1500" b="1" dirty="0" err="1"/>
              <a:t>nowildfire</a:t>
            </a:r>
            <a:r>
              <a:rPr lang="en-US" sz="1500" dirty="0"/>
              <a:t>).</a:t>
            </a:r>
          </a:p>
          <a:p>
            <a:pPr marL="285750" indent="-285750" algn="just">
              <a:buFont typeface="Arial" panose="020B0604020202020204" pitchFamily="34" charset="0"/>
              <a:buChar char="•"/>
            </a:pPr>
            <a:r>
              <a:rPr lang="en-US" sz="1500" dirty="0"/>
              <a:t>Uses </a:t>
            </a:r>
            <a:r>
              <a:rPr lang="en-US" sz="1500" b="1" dirty="0" err="1"/>
              <a:t>tf.io.decode_image</a:t>
            </a:r>
            <a:r>
              <a:rPr lang="en-US" sz="1500" b="1" dirty="0"/>
              <a:t> </a:t>
            </a:r>
            <a:r>
              <a:rPr lang="en-US" sz="1500" dirty="0"/>
              <a:t>to verify file structure.</a:t>
            </a:r>
          </a:p>
          <a:p>
            <a:pPr marL="285750" indent="-285750" algn="just">
              <a:buFont typeface="Arial" panose="020B0604020202020204" pitchFamily="34" charset="0"/>
              <a:buChar char="•"/>
            </a:pPr>
            <a:r>
              <a:rPr lang="en-US" sz="1500" dirty="0"/>
              <a:t>Automatically </a:t>
            </a:r>
            <a:r>
              <a:rPr lang="en-US" sz="1500" b="1" dirty="0"/>
              <a:t>identifies</a:t>
            </a:r>
            <a:r>
              <a:rPr lang="en-US" sz="1500" dirty="0"/>
              <a:t> and </a:t>
            </a:r>
            <a:r>
              <a:rPr lang="en-US" sz="1500" b="1" dirty="0"/>
              <a:t>reports</a:t>
            </a:r>
            <a:r>
              <a:rPr lang="en-US" sz="1500" dirty="0"/>
              <a:t> </a:t>
            </a:r>
            <a:r>
              <a:rPr lang="en-US" sz="1500" b="1" dirty="0"/>
              <a:t>problematic</a:t>
            </a:r>
            <a:r>
              <a:rPr lang="en-US" sz="1500" dirty="0"/>
              <a:t> files.</a:t>
            </a:r>
          </a:p>
          <a:p>
            <a:pPr marL="285750" indent="-285750" algn="just">
              <a:buFont typeface="Arial" panose="020B0604020202020204" pitchFamily="34" charset="0"/>
              <a:buChar char="•"/>
            </a:pPr>
            <a:endParaRPr lang="en-US" sz="1500" dirty="0"/>
          </a:p>
          <a:p>
            <a:pPr algn="just"/>
            <a:r>
              <a:rPr lang="en-US" sz="1500" b="1" dirty="0"/>
              <a:t>Dataset Structure:</a:t>
            </a:r>
          </a:p>
          <a:p>
            <a:pPr algn="just"/>
            <a:endParaRPr lang="en-US" sz="500" dirty="0"/>
          </a:p>
          <a:p>
            <a:pPr algn="just"/>
            <a:r>
              <a:rPr lang="en-US" sz="1500" dirty="0"/>
              <a:t>The data was explicitly organized into three distinct sets to ensure proper model evaluation:</a:t>
            </a:r>
          </a:p>
          <a:p>
            <a:pPr algn="just"/>
            <a:endParaRPr lang="en-US" sz="500" dirty="0"/>
          </a:p>
          <a:p>
            <a:pPr marL="285750" indent="-285750" algn="just">
              <a:buFont typeface="Arial" panose="020B0604020202020204" pitchFamily="34" charset="0"/>
              <a:buChar char="•"/>
            </a:pPr>
            <a:r>
              <a:rPr lang="en-US" sz="1500" b="1" dirty="0"/>
              <a:t>Training</a:t>
            </a:r>
            <a:r>
              <a:rPr lang="en-US" sz="1500" dirty="0"/>
              <a:t>: For learning features.</a:t>
            </a:r>
          </a:p>
          <a:p>
            <a:pPr marL="285750" indent="-285750" algn="just">
              <a:buFont typeface="Arial" panose="020B0604020202020204" pitchFamily="34" charset="0"/>
              <a:buChar char="•"/>
            </a:pPr>
            <a:r>
              <a:rPr lang="en-US" sz="1500" b="1" dirty="0"/>
              <a:t>Validation</a:t>
            </a:r>
            <a:r>
              <a:rPr lang="en-US" sz="1500" dirty="0"/>
              <a:t>: For tuning during epochs.</a:t>
            </a:r>
          </a:p>
          <a:p>
            <a:pPr marL="285750" indent="-285750" algn="just">
              <a:buFont typeface="Arial" panose="020B0604020202020204" pitchFamily="34" charset="0"/>
              <a:buChar char="•"/>
            </a:pPr>
            <a:r>
              <a:rPr lang="en-US" sz="1500" b="1" dirty="0"/>
              <a:t>Testing</a:t>
            </a:r>
            <a:r>
              <a:rPr lang="en-US" sz="1500" dirty="0"/>
              <a:t>: For final unbiased evaluation.</a:t>
            </a:r>
          </a:p>
        </p:txBody>
      </p:sp>
      <p:sp>
        <p:nvSpPr>
          <p:cNvPr id="2" name="Subtítulo 2">
            <a:extLst>
              <a:ext uri="{FF2B5EF4-FFF2-40B4-BE49-F238E27FC236}">
                <a16:creationId xmlns:a16="http://schemas.microsoft.com/office/drawing/2014/main" id="{044D7689-F0E8-940F-E2AE-618E251ACA38}"/>
              </a:ext>
            </a:extLst>
          </p:cNvPr>
          <p:cNvSpPr txBox="1">
            <a:spLocks/>
          </p:cNvSpPr>
          <p:nvPr/>
        </p:nvSpPr>
        <p:spPr>
          <a:xfrm>
            <a:off x="836017" y="6524516"/>
            <a:ext cx="7698382" cy="162409"/>
          </a:xfrm>
          <a:prstGeom prst="rect">
            <a:avLst/>
          </a:prstGeom>
        </p:spPr>
        <p:txBody>
          <a:bodyPr vert="horz" lIns="68580" tIns="34290" rIns="68580" bIns="3429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pt-PT" sz="900" dirty="0">
                <a:latin typeface="Arial" charset="0"/>
                <a:ea typeface="Arial" charset="0"/>
                <a:cs typeface="Arial" charset="0"/>
              </a:rPr>
              <a:t>@Diogo Monteiro - 32428, Gonçalo Teixeira - 31396 | </a:t>
            </a:r>
            <a:r>
              <a:rPr lang="pt-PT" sz="900" b="1" dirty="0">
                <a:solidFill>
                  <a:srgbClr val="C00000"/>
                </a:solidFill>
                <a:latin typeface="Arial" charset="0"/>
                <a:ea typeface="Arial" charset="0"/>
                <a:cs typeface="Arial" charset="0"/>
              </a:rPr>
              <a:t>Unidade Curricular: Projeto III </a:t>
            </a:r>
            <a:r>
              <a:rPr lang="pt-PT" sz="900" dirty="0">
                <a:latin typeface="Arial" charset="0"/>
                <a:ea typeface="Arial" charset="0"/>
                <a:cs typeface="Arial" charset="0"/>
              </a:rPr>
              <a:t>– Ano Letivo 2024/2025 – </a:t>
            </a:r>
            <a:r>
              <a:rPr lang="pt-PT" sz="900" b="1" dirty="0">
                <a:latin typeface="Arial" charset="0"/>
                <a:ea typeface="Arial" charset="0"/>
                <a:cs typeface="Arial" charset="0"/>
              </a:rPr>
              <a:t>MCZ03</a:t>
            </a:r>
          </a:p>
        </p:txBody>
      </p:sp>
      <p:pic>
        <p:nvPicPr>
          <p:cNvPr id="4" name="Imagem 3">
            <a:extLst>
              <a:ext uri="{FF2B5EF4-FFF2-40B4-BE49-F238E27FC236}">
                <a16:creationId xmlns:a16="http://schemas.microsoft.com/office/drawing/2014/main" id="{B3F3EB58-C64B-7C7C-8625-3C16695E5FB1}"/>
              </a:ext>
            </a:extLst>
          </p:cNvPr>
          <p:cNvPicPr>
            <a:picLocks noChangeAspect="1"/>
          </p:cNvPicPr>
          <p:nvPr/>
        </p:nvPicPr>
        <p:blipFill>
          <a:blip r:embed="rId7"/>
          <a:stretch>
            <a:fillRect/>
          </a:stretch>
        </p:blipFill>
        <p:spPr>
          <a:xfrm>
            <a:off x="4090682" y="1703564"/>
            <a:ext cx="4950131" cy="3948707"/>
          </a:xfrm>
          <a:prstGeom prst="rect">
            <a:avLst/>
          </a:prstGeom>
        </p:spPr>
      </p:pic>
    </p:spTree>
    <p:extLst>
      <p:ext uri="{BB962C8B-B14F-4D97-AF65-F5344CB8AC3E}">
        <p14:creationId xmlns:p14="http://schemas.microsoft.com/office/powerpoint/2010/main" val="28027473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1A1E6-9A25-6C9A-4885-71238DCE0711}"/>
            </a:ext>
          </a:extLst>
        </p:cNvPr>
        <p:cNvGrpSpPr/>
        <p:nvPr/>
      </p:nvGrpSpPr>
      <p:grpSpPr>
        <a:xfrm>
          <a:off x="0" y="0"/>
          <a:ext cx="0" cy="0"/>
          <a:chOff x="0" y="0"/>
          <a:chExt cx="0" cy="0"/>
        </a:xfrm>
      </p:grpSpPr>
      <p:sp>
        <p:nvSpPr>
          <p:cNvPr id="9229" name="Text Box 13">
            <a:extLst>
              <a:ext uri="{FF2B5EF4-FFF2-40B4-BE49-F238E27FC236}">
                <a16:creationId xmlns:a16="http://schemas.microsoft.com/office/drawing/2014/main" id="{17C52BC9-13C4-9D5C-8460-F6155CC61B3A}"/>
              </a:ext>
            </a:extLst>
          </p:cNvPr>
          <p:cNvSpPr txBox="1">
            <a:spLocks noChangeArrowheads="1"/>
          </p:cNvSpPr>
          <p:nvPr/>
        </p:nvSpPr>
        <p:spPr bwMode="auto">
          <a:xfrm>
            <a:off x="306388" y="557213"/>
            <a:ext cx="6981825" cy="400050"/>
          </a:xfrm>
          <a:prstGeom prst="rect">
            <a:avLst/>
          </a:prstGeom>
          <a:noFill/>
          <a:ln w="9525">
            <a:noFill/>
            <a:miter lim="800000"/>
            <a:headEnd/>
            <a:tailEnd/>
          </a:ln>
          <a:effectLst/>
        </p:spPr>
        <p:txBody>
          <a:bodyPr>
            <a:spAutoFit/>
          </a:bodyPr>
          <a:lstStyle/>
          <a:p>
            <a:pPr>
              <a:spcBef>
                <a:spcPct val="50000"/>
              </a:spcBef>
              <a:defRPr/>
            </a:pPr>
            <a:r>
              <a:rPr lang="pt-PT" sz="2000" b="1" dirty="0">
                <a:solidFill>
                  <a:srgbClr val="C00000"/>
                </a:solidFill>
                <a:effectLst>
                  <a:outerShdw blurRad="38100" dist="38100" dir="2700000" algn="tl">
                    <a:srgbClr val="C0C0C0"/>
                  </a:outerShdw>
                </a:effectLst>
                <a:latin typeface="Arial"/>
                <a:cs typeface="Arial"/>
              </a:rPr>
              <a:t>■</a:t>
            </a:r>
            <a:r>
              <a:rPr lang="pt-PT" sz="2000" b="1" dirty="0">
                <a:effectLst>
                  <a:outerShdw blurRad="38100" dist="38100" dir="2700000" algn="tl">
                    <a:srgbClr val="C0C0C0"/>
                  </a:outerShdw>
                </a:effectLst>
                <a:latin typeface="Arial"/>
                <a:cs typeface="Arial"/>
              </a:rPr>
              <a:t> </a:t>
            </a:r>
            <a:r>
              <a:rPr lang="en-US" sz="2000" b="1" dirty="0">
                <a:effectLst>
                  <a:outerShdw blurRad="38100" dist="38100" dir="2700000" algn="tl">
                    <a:srgbClr val="C0C0C0"/>
                  </a:outerShdw>
                </a:effectLst>
                <a:latin typeface="Arial"/>
                <a:cs typeface="Arial"/>
              </a:rPr>
              <a:t>3. Model Development and Architecture</a:t>
            </a:r>
            <a:endParaRPr lang="pt-PT" sz="2000" b="1" dirty="0">
              <a:effectLst>
                <a:outerShdw blurRad="38100" dist="38100" dir="2700000" algn="tl">
                  <a:srgbClr val="C0C0C0"/>
                </a:outerShdw>
              </a:effectLst>
              <a:latin typeface="Arial" charset="0"/>
            </a:endParaRPr>
          </a:p>
        </p:txBody>
      </p:sp>
      <p:sp>
        <p:nvSpPr>
          <p:cNvPr id="10247" name="Line 15">
            <a:extLst>
              <a:ext uri="{FF2B5EF4-FFF2-40B4-BE49-F238E27FC236}">
                <a16:creationId xmlns:a16="http://schemas.microsoft.com/office/drawing/2014/main" id="{6F83C110-6BC2-B948-354B-838BFD52A732}"/>
              </a:ext>
            </a:extLst>
          </p:cNvPr>
          <p:cNvSpPr>
            <a:spLocks noChangeShapeType="1"/>
          </p:cNvSpPr>
          <p:nvPr/>
        </p:nvSpPr>
        <p:spPr bwMode="auto">
          <a:xfrm>
            <a:off x="250825" y="0"/>
            <a:ext cx="0" cy="765175"/>
          </a:xfrm>
          <a:prstGeom prst="line">
            <a:avLst/>
          </a:prstGeom>
          <a:noFill/>
          <a:ln w="25400">
            <a:solidFill>
              <a:schemeClr val="tx1"/>
            </a:solidFill>
            <a:round/>
            <a:headEnd/>
            <a:tailEnd/>
          </a:ln>
        </p:spPr>
        <p:txBody>
          <a:bodyPr/>
          <a:lstStyle/>
          <a:p>
            <a:endParaRPr lang="pt-PT"/>
          </a:p>
        </p:txBody>
      </p:sp>
      <p:sp>
        <p:nvSpPr>
          <p:cNvPr id="9237" name="Text Box 21">
            <a:extLst>
              <a:ext uri="{FF2B5EF4-FFF2-40B4-BE49-F238E27FC236}">
                <a16:creationId xmlns:a16="http://schemas.microsoft.com/office/drawing/2014/main" id="{BB2EBFA9-65F3-B87F-16D4-60C83CF49148}"/>
              </a:ext>
            </a:extLst>
          </p:cNvPr>
          <p:cNvSpPr txBox="1">
            <a:spLocks noChangeArrowheads="1"/>
          </p:cNvSpPr>
          <p:nvPr/>
        </p:nvSpPr>
        <p:spPr bwMode="auto">
          <a:xfrm>
            <a:off x="260350" y="44450"/>
            <a:ext cx="6981825" cy="304800"/>
          </a:xfrm>
          <a:prstGeom prst="rect">
            <a:avLst/>
          </a:prstGeom>
          <a:noFill/>
          <a:ln w="9525">
            <a:noFill/>
            <a:miter lim="800000"/>
            <a:headEnd/>
            <a:tailEnd/>
          </a:ln>
          <a:effectLst/>
        </p:spPr>
        <p:txBody>
          <a:bodyPr>
            <a:spAutoFit/>
          </a:bodyPr>
          <a:lstStyle/>
          <a:p>
            <a:pPr>
              <a:spcBef>
                <a:spcPct val="50000"/>
              </a:spcBef>
              <a:defRPr/>
            </a:pPr>
            <a:endParaRPr lang="pt-PT" sz="1400" b="1" dirty="0">
              <a:solidFill>
                <a:srgbClr val="FF3300"/>
              </a:solidFill>
              <a:effectLst>
                <a:outerShdw blurRad="38100" dist="38100" dir="2700000" algn="tl">
                  <a:srgbClr val="C0C0C0"/>
                </a:outerShdw>
              </a:effectLst>
              <a:latin typeface="Arial" charset="0"/>
            </a:endParaRPr>
          </a:p>
        </p:txBody>
      </p:sp>
      <p:pic>
        <p:nvPicPr>
          <p:cNvPr id="18" name="Imagem 17">
            <a:extLst>
              <a:ext uri="{FF2B5EF4-FFF2-40B4-BE49-F238E27FC236}">
                <a16:creationId xmlns:a16="http://schemas.microsoft.com/office/drawing/2014/main" id="{16DAD3E2-E374-F1EB-9899-989145D9FB2F}"/>
              </a:ext>
            </a:extLst>
          </p:cNvPr>
          <p:cNvPicPr>
            <a:picLocks noChangeAspect="1"/>
          </p:cNvPicPr>
          <p:nvPr/>
        </p:nvPicPr>
        <p:blipFill>
          <a:blip r:embed="rId3"/>
          <a:stretch>
            <a:fillRect/>
          </a:stretch>
        </p:blipFill>
        <p:spPr>
          <a:xfrm>
            <a:off x="101225" y="904241"/>
            <a:ext cx="9014192" cy="266482"/>
          </a:xfrm>
          <a:prstGeom prst="rect">
            <a:avLst/>
          </a:prstGeom>
        </p:spPr>
      </p:pic>
      <p:sp>
        <p:nvSpPr>
          <p:cNvPr id="21" name="Text Box 10">
            <a:extLst>
              <a:ext uri="{FF2B5EF4-FFF2-40B4-BE49-F238E27FC236}">
                <a16:creationId xmlns:a16="http://schemas.microsoft.com/office/drawing/2014/main" id="{A10FF429-EF5A-FFC9-3CC6-31A7BE2137E2}"/>
              </a:ext>
            </a:extLst>
          </p:cNvPr>
          <p:cNvSpPr txBox="1">
            <a:spLocks noChangeArrowheads="1"/>
          </p:cNvSpPr>
          <p:nvPr/>
        </p:nvSpPr>
        <p:spPr bwMode="auto">
          <a:xfrm>
            <a:off x="8288338" y="6296025"/>
            <a:ext cx="827087" cy="366713"/>
          </a:xfrm>
          <a:prstGeom prst="rect">
            <a:avLst/>
          </a:prstGeom>
          <a:noFill/>
          <a:ln w="9525">
            <a:noFill/>
            <a:miter lim="800000"/>
            <a:headEnd/>
            <a:tailEnd/>
          </a:ln>
        </p:spPr>
        <p:txBody>
          <a:bodyPr>
            <a:spAutoFit/>
          </a:bodyPr>
          <a:lstStyle/>
          <a:p>
            <a:pPr>
              <a:spcBef>
                <a:spcPct val="50000"/>
              </a:spcBef>
            </a:pPr>
            <a:endParaRPr lang="pt-PT"/>
          </a:p>
        </p:txBody>
      </p:sp>
      <p:sp>
        <p:nvSpPr>
          <p:cNvPr id="22" name="Rectangle 11">
            <a:extLst>
              <a:ext uri="{FF2B5EF4-FFF2-40B4-BE49-F238E27FC236}">
                <a16:creationId xmlns:a16="http://schemas.microsoft.com/office/drawing/2014/main" id="{1481EBD3-24E0-B3EC-EB45-04B60639AB25}"/>
              </a:ext>
            </a:extLst>
          </p:cNvPr>
          <p:cNvSpPr>
            <a:spLocks noChangeArrowheads="1"/>
          </p:cNvSpPr>
          <p:nvPr/>
        </p:nvSpPr>
        <p:spPr bwMode="auto">
          <a:xfrm>
            <a:off x="8327571" y="6496091"/>
            <a:ext cx="936625" cy="260350"/>
          </a:xfrm>
          <a:prstGeom prst="rect">
            <a:avLst/>
          </a:prstGeom>
          <a:noFill/>
          <a:ln w="9525">
            <a:noFill/>
            <a:miter lim="800000"/>
            <a:headEnd/>
            <a:tailEnd/>
          </a:ln>
        </p:spPr>
        <p:txBody>
          <a:bodyPr anchor="ctr"/>
          <a:lstStyle/>
          <a:p>
            <a:pPr algn="ctr"/>
            <a:r>
              <a:rPr lang="pt-PT" sz="1000" dirty="0"/>
              <a:t>- </a:t>
            </a:r>
            <a:fld id="{1234D2FF-8FB9-47A1-B8C9-42A5F500BA2F}" type="slidenum">
              <a:rPr lang="pt-PT" sz="1000"/>
              <a:pPr algn="ctr"/>
              <a:t>30</a:t>
            </a:fld>
            <a:r>
              <a:rPr lang="pt-PT" sz="1000" dirty="0"/>
              <a:t> -</a:t>
            </a:r>
          </a:p>
        </p:txBody>
      </p:sp>
      <p:pic>
        <p:nvPicPr>
          <p:cNvPr id="23" name="Imagem 22">
            <a:extLst>
              <a:ext uri="{FF2B5EF4-FFF2-40B4-BE49-F238E27FC236}">
                <a16:creationId xmlns:a16="http://schemas.microsoft.com/office/drawing/2014/main" id="{10A68441-3430-B906-A966-07CCC8DFD0EC}"/>
              </a:ext>
            </a:extLst>
          </p:cNvPr>
          <p:cNvPicPr>
            <a:picLocks noChangeAspect="1"/>
          </p:cNvPicPr>
          <p:nvPr/>
        </p:nvPicPr>
        <p:blipFill>
          <a:blip r:embed="rId4"/>
          <a:stretch>
            <a:fillRect/>
          </a:stretch>
        </p:blipFill>
        <p:spPr>
          <a:xfrm>
            <a:off x="0" y="6320212"/>
            <a:ext cx="9144000" cy="253252"/>
          </a:xfrm>
          <a:prstGeom prst="rect">
            <a:avLst/>
          </a:prstGeom>
        </p:spPr>
      </p:pic>
      <p:pic>
        <p:nvPicPr>
          <p:cNvPr id="25" name="Imagem 24">
            <a:extLst>
              <a:ext uri="{FF2B5EF4-FFF2-40B4-BE49-F238E27FC236}">
                <a16:creationId xmlns:a16="http://schemas.microsoft.com/office/drawing/2014/main" id="{A4CB9633-7E4A-7779-EFE4-CDE53A2C33E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8125" y="6488336"/>
            <a:ext cx="545959" cy="199802"/>
          </a:xfrm>
          <a:prstGeom prst="rect">
            <a:avLst/>
          </a:prstGeom>
        </p:spPr>
      </p:pic>
      <p:sp>
        <p:nvSpPr>
          <p:cNvPr id="26" name="Rectângulo 19">
            <a:extLst>
              <a:ext uri="{FF2B5EF4-FFF2-40B4-BE49-F238E27FC236}">
                <a16:creationId xmlns:a16="http://schemas.microsoft.com/office/drawing/2014/main" id="{3C609A86-8B5D-8E70-ABDE-60A0740F1BDB}"/>
              </a:ext>
            </a:extLst>
          </p:cNvPr>
          <p:cNvSpPr/>
          <p:nvPr/>
        </p:nvSpPr>
        <p:spPr>
          <a:xfrm>
            <a:off x="5535613" y="553019"/>
            <a:ext cx="3505200" cy="261610"/>
          </a:xfrm>
          <a:prstGeom prst="rect">
            <a:avLst/>
          </a:prstGeom>
        </p:spPr>
        <p:txBody>
          <a:bodyPr wrap="square">
            <a:spAutoFit/>
          </a:bodyPr>
          <a:lstStyle/>
          <a:p>
            <a:pPr algn="r"/>
            <a:r>
              <a:rPr lang="pt-PT" sz="1100" b="1" cap="all" dirty="0" err="1">
                <a:highlight>
                  <a:srgbClr val="FFFF00"/>
                </a:highlight>
              </a:rPr>
              <a:t>Graduation</a:t>
            </a:r>
            <a:r>
              <a:rPr lang="pt-PT" sz="1100" b="1" cap="all" dirty="0">
                <a:highlight>
                  <a:srgbClr val="FFFF00"/>
                </a:highlight>
              </a:rPr>
              <a:t> in </a:t>
            </a:r>
            <a:r>
              <a:rPr lang="pt-PT" sz="1100" b="1" cap="all" dirty="0" err="1">
                <a:highlight>
                  <a:srgbClr val="FFFF00"/>
                </a:highlight>
              </a:rPr>
              <a:t>Informatics</a:t>
            </a:r>
            <a:r>
              <a:rPr lang="pt-PT" sz="1100" b="1" cap="all" dirty="0">
                <a:highlight>
                  <a:srgbClr val="FFFF00"/>
                </a:highlight>
              </a:rPr>
              <a:t> </a:t>
            </a:r>
            <a:r>
              <a:rPr lang="pt-PT" sz="1100" b="1" cap="all" dirty="0" err="1">
                <a:highlight>
                  <a:srgbClr val="FFFF00"/>
                </a:highlight>
              </a:rPr>
              <a:t>engineering</a:t>
            </a:r>
            <a:endParaRPr lang="pt-PT" sz="1100" dirty="0">
              <a:highlight>
                <a:srgbClr val="FFFF00"/>
              </a:highlight>
            </a:endParaRPr>
          </a:p>
        </p:txBody>
      </p:sp>
      <p:pic>
        <p:nvPicPr>
          <p:cNvPr id="27" name="Imagem 26">
            <a:extLst>
              <a:ext uri="{FF2B5EF4-FFF2-40B4-BE49-F238E27FC236}">
                <a16:creationId xmlns:a16="http://schemas.microsoft.com/office/drawing/2014/main" id="{EE6B55F5-15EA-058A-16D2-E7BB3DC3365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575316" y="9186"/>
            <a:ext cx="2575034" cy="639880"/>
          </a:xfrm>
          <a:prstGeom prst="rect">
            <a:avLst/>
          </a:prstGeom>
        </p:spPr>
      </p:pic>
      <p:sp>
        <p:nvSpPr>
          <p:cNvPr id="7" name="TextBox 6">
            <a:extLst>
              <a:ext uri="{FF2B5EF4-FFF2-40B4-BE49-F238E27FC236}">
                <a16:creationId xmlns:a16="http://schemas.microsoft.com/office/drawing/2014/main" id="{7B3EFE65-C953-8FFD-D931-052306203AB4}"/>
              </a:ext>
            </a:extLst>
          </p:cNvPr>
          <p:cNvSpPr txBox="1"/>
          <p:nvPr/>
        </p:nvSpPr>
        <p:spPr>
          <a:xfrm>
            <a:off x="334907" y="1170723"/>
            <a:ext cx="4140200" cy="4708981"/>
          </a:xfrm>
          <a:prstGeom prst="rect">
            <a:avLst/>
          </a:prstGeom>
          <a:noFill/>
        </p:spPr>
        <p:txBody>
          <a:bodyPr wrap="square" rtlCol="0">
            <a:spAutoFit/>
          </a:bodyPr>
          <a:lstStyle/>
          <a:p>
            <a:pPr algn="just"/>
            <a:r>
              <a:rPr lang="en-US" sz="1500" b="1" dirty="0"/>
              <a:t>Model Architecture:</a:t>
            </a:r>
            <a:r>
              <a:rPr lang="en-US" sz="1500" dirty="0"/>
              <a:t> </a:t>
            </a:r>
          </a:p>
          <a:p>
            <a:pPr algn="just"/>
            <a:endParaRPr lang="en-US" sz="1500" dirty="0"/>
          </a:p>
          <a:p>
            <a:pPr algn="just"/>
            <a:r>
              <a:rPr lang="en-US" sz="1500" dirty="0"/>
              <a:t>A Sequential CNN was designed to process </a:t>
            </a:r>
            <a:r>
              <a:rPr lang="en-US" sz="1500" b="1" dirty="0"/>
              <a:t>160x160</a:t>
            </a:r>
            <a:r>
              <a:rPr lang="en-US" sz="1500" dirty="0"/>
              <a:t> RGB images. The architecture balances complexity and performance, utilizing approximately 5.9 million parameters.</a:t>
            </a:r>
          </a:p>
          <a:p>
            <a:pPr algn="just"/>
            <a:endParaRPr lang="en-US" sz="1500" dirty="0"/>
          </a:p>
          <a:p>
            <a:pPr algn="just"/>
            <a:r>
              <a:rPr lang="en-US" sz="1500" b="1" dirty="0"/>
              <a:t>Input Layer:</a:t>
            </a:r>
            <a:r>
              <a:rPr lang="en-US" sz="1500" dirty="0"/>
              <a:t> 160x160 pixels (Rescaled 1./255).</a:t>
            </a:r>
          </a:p>
          <a:p>
            <a:pPr algn="just"/>
            <a:endParaRPr lang="en-US" sz="1500" dirty="0"/>
          </a:p>
          <a:p>
            <a:pPr algn="just"/>
            <a:r>
              <a:rPr lang="en-US" sz="1500" b="1" dirty="0"/>
              <a:t>Convolutional Layers:</a:t>
            </a:r>
            <a:r>
              <a:rPr lang="en-US" sz="1500" dirty="0"/>
              <a:t> Two blocks (32 and 64 filters) with </a:t>
            </a:r>
            <a:r>
              <a:rPr lang="en-US" sz="1500" b="1" dirty="0" err="1"/>
              <a:t>MaxPooling</a:t>
            </a:r>
            <a:r>
              <a:rPr lang="en-US" sz="1500" dirty="0"/>
              <a:t> to extract features.</a:t>
            </a:r>
          </a:p>
          <a:p>
            <a:pPr algn="just"/>
            <a:endParaRPr lang="en-US" sz="1500" dirty="0"/>
          </a:p>
          <a:p>
            <a:pPr algn="just"/>
            <a:r>
              <a:rPr lang="en-US" sz="1500" b="1" dirty="0"/>
              <a:t>Dense Layers:</a:t>
            </a:r>
            <a:r>
              <a:rPr lang="en-US" sz="1500" dirty="0"/>
              <a:t> A fully connected layer with </a:t>
            </a:r>
            <a:r>
              <a:rPr lang="en-US" sz="1500" b="1" dirty="0"/>
              <a:t>64</a:t>
            </a:r>
            <a:r>
              <a:rPr lang="en-US" sz="1500" dirty="0"/>
              <a:t> </a:t>
            </a:r>
            <a:r>
              <a:rPr lang="en-US" sz="1500" b="1" dirty="0"/>
              <a:t>neurons</a:t>
            </a:r>
            <a:r>
              <a:rPr lang="en-US" sz="1500" dirty="0"/>
              <a:t> followed by a </a:t>
            </a:r>
            <a:r>
              <a:rPr lang="en-US" sz="1500" b="1" dirty="0"/>
              <a:t>Sigmoid</a:t>
            </a:r>
            <a:r>
              <a:rPr lang="en-US" sz="1500" dirty="0"/>
              <a:t> </a:t>
            </a:r>
            <a:r>
              <a:rPr lang="en-US" sz="1500" b="1" dirty="0"/>
              <a:t>output</a:t>
            </a:r>
            <a:r>
              <a:rPr lang="en-US" sz="1500" dirty="0"/>
              <a:t> layer for binary classification.</a:t>
            </a:r>
          </a:p>
          <a:p>
            <a:pPr algn="just"/>
            <a:endParaRPr lang="en-US" sz="1500" dirty="0"/>
          </a:p>
          <a:p>
            <a:pPr algn="just"/>
            <a:r>
              <a:rPr lang="en-US" sz="1500" b="1" dirty="0"/>
              <a:t>Training Configuration:</a:t>
            </a:r>
            <a:endParaRPr lang="en-US" sz="1500" dirty="0"/>
          </a:p>
          <a:p>
            <a:pPr algn="just"/>
            <a:r>
              <a:rPr lang="en-US" sz="1500" b="1" dirty="0"/>
              <a:t>Batch Size:</a:t>
            </a:r>
            <a:r>
              <a:rPr lang="en-US" sz="1500" dirty="0"/>
              <a:t> 8 (Optimized for memory usage).</a:t>
            </a:r>
          </a:p>
          <a:p>
            <a:pPr algn="just"/>
            <a:r>
              <a:rPr lang="en-US" sz="1500" b="1" dirty="0"/>
              <a:t>Optimizer:</a:t>
            </a:r>
            <a:r>
              <a:rPr lang="en-US" sz="1500" dirty="0"/>
              <a:t> Adam.</a:t>
            </a:r>
          </a:p>
          <a:p>
            <a:pPr algn="just"/>
            <a:r>
              <a:rPr lang="en-US" sz="1500" b="1" dirty="0"/>
              <a:t>Loss Function:</a:t>
            </a:r>
            <a:r>
              <a:rPr lang="en-US" sz="1500" dirty="0"/>
              <a:t> Binary </a:t>
            </a:r>
            <a:r>
              <a:rPr lang="en-US" sz="1500" dirty="0" err="1"/>
              <a:t>Crossentropy</a:t>
            </a:r>
            <a:r>
              <a:rPr lang="en-US" sz="1500" dirty="0"/>
              <a:t>.</a:t>
            </a:r>
          </a:p>
        </p:txBody>
      </p:sp>
      <p:sp>
        <p:nvSpPr>
          <p:cNvPr id="2" name="Subtítulo 2">
            <a:extLst>
              <a:ext uri="{FF2B5EF4-FFF2-40B4-BE49-F238E27FC236}">
                <a16:creationId xmlns:a16="http://schemas.microsoft.com/office/drawing/2014/main" id="{07131076-ECF9-B0EB-5F37-D2917EACB922}"/>
              </a:ext>
            </a:extLst>
          </p:cNvPr>
          <p:cNvSpPr txBox="1">
            <a:spLocks/>
          </p:cNvSpPr>
          <p:nvPr/>
        </p:nvSpPr>
        <p:spPr>
          <a:xfrm>
            <a:off x="836017" y="6524516"/>
            <a:ext cx="7698382" cy="162409"/>
          </a:xfrm>
          <a:prstGeom prst="rect">
            <a:avLst/>
          </a:prstGeom>
        </p:spPr>
        <p:txBody>
          <a:bodyPr vert="horz" lIns="68580" tIns="34290" rIns="68580" bIns="3429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pt-PT" sz="900" dirty="0">
                <a:latin typeface="Arial" charset="0"/>
                <a:ea typeface="Arial" charset="0"/>
                <a:cs typeface="Arial" charset="0"/>
              </a:rPr>
              <a:t>@Diogo Monteiro - 32428, Gonçalo Teixeira - 31396 | </a:t>
            </a:r>
            <a:r>
              <a:rPr lang="pt-PT" sz="900" b="1" dirty="0">
                <a:solidFill>
                  <a:srgbClr val="C00000"/>
                </a:solidFill>
                <a:latin typeface="Arial" charset="0"/>
                <a:ea typeface="Arial" charset="0"/>
                <a:cs typeface="Arial" charset="0"/>
              </a:rPr>
              <a:t>Unidade Curricular: Projeto III </a:t>
            </a:r>
            <a:r>
              <a:rPr lang="pt-PT" sz="900" dirty="0">
                <a:latin typeface="Arial" charset="0"/>
                <a:ea typeface="Arial" charset="0"/>
                <a:cs typeface="Arial" charset="0"/>
              </a:rPr>
              <a:t>– Ano Letivo 2024/2025 – </a:t>
            </a:r>
            <a:r>
              <a:rPr lang="pt-PT" sz="900" b="1" dirty="0">
                <a:latin typeface="Arial" charset="0"/>
                <a:ea typeface="Arial" charset="0"/>
                <a:cs typeface="Arial" charset="0"/>
              </a:rPr>
              <a:t>MCZ03</a:t>
            </a:r>
          </a:p>
        </p:txBody>
      </p:sp>
      <p:pic>
        <p:nvPicPr>
          <p:cNvPr id="5" name="Imagem 4">
            <a:extLst>
              <a:ext uri="{FF2B5EF4-FFF2-40B4-BE49-F238E27FC236}">
                <a16:creationId xmlns:a16="http://schemas.microsoft.com/office/drawing/2014/main" id="{C45F1FB8-D9CD-6973-4A5E-27EBAB2D598A}"/>
              </a:ext>
            </a:extLst>
          </p:cNvPr>
          <p:cNvPicPr>
            <a:picLocks noChangeAspect="1"/>
          </p:cNvPicPr>
          <p:nvPr/>
        </p:nvPicPr>
        <p:blipFill>
          <a:blip r:embed="rId7"/>
          <a:stretch>
            <a:fillRect/>
          </a:stretch>
        </p:blipFill>
        <p:spPr>
          <a:xfrm>
            <a:off x="4623878" y="1125432"/>
            <a:ext cx="3758121" cy="5211332"/>
          </a:xfrm>
          <a:prstGeom prst="rect">
            <a:avLst/>
          </a:prstGeom>
        </p:spPr>
      </p:pic>
    </p:spTree>
    <p:extLst>
      <p:ext uri="{BB962C8B-B14F-4D97-AF65-F5344CB8AC3E}">
        <p14:creationId xmlns:p14="http://schemas.microsoft.com/office/powerpoint/2010/main" val="35752277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3E700-7D61-4423-5ED2-3374705040C0}"/>
            </a:ext>
          </a:extLst>
        </p:cNvPr>
        <p:cNvGrpSpPr/>
        <p:nvPr/>
      </p:nvGrpSpPr>
      <p:grpSpPr>
        <a:xfrm>
          <a:off x="0" y="0"/>
          <a:ext cx="0" cy="0"/>
          <a:chOff x="0" y="0"/>
          <a:chExt cx="0" cy="0"/>
        </a:xfrm>
      </p:grpSpPr>
      <p:sp>
        <p:nvSpPr>
          <p:cNvPr id="9229" name="Text Box 13">
            <a:extLst>
              <a:ext uri="{FF2B5EF4-FFF2-40B4-BE49-F238E27FC236}">
                <a16:creationId xmlns:a16="http://schemas.microsoft.com/office/drawing/2014/main" id="{3A5BEF8F-F3A5-4128-4056-6B2F1CDFDE7F}"/>
              </a:ext>
            </a:extLst>
          </p:cNvPr>
          <p:cNvSpPr txBox="1">
            <a:spLocks noChangeArrowheads="1"/>
          </p:cNvSpPr>
          <p:nvPr/>
        </p:nvSpPr>
        <p:spPr bwMode="auto">
          <a:xfrm>
            <a:off x="306388" y="557213"/>
            <a:ext cx="6981825" cy="400050"/>
          </a:xfrm>
          <a:prstGeom prst="rect">
            <a:avLst/>
          </a:prstGeom>
          <a:noFill/>
          <a:ln w="9525">
            <a:noFill/>
            <a:miter lim="800000"/>
            <a:headEnd/>
            <a:tailEnd/>
          </a:ln>
          <a:effectLst/>
        </p:spPr>
        <p:txBody>
          <a:bodyPr>
            <a:spAutoFit/>
          </a:bodyPr>
          <a:lstStyle/>
          <a:p>
            <a:pPr>
              <a:spcBef>
                <a:spcPct val="50000"/>
              </a:spcBef>
              <a:defRPr/>
            </a:pPr>
            <a:r>
              <a:rPr lang="pt-PT" sz="2000" b="1" dirty="0">
                <a:solidFill>
                  <a:srgbClr val="C00000"/>
                </a:solidFill>
                <a:effectLst>
                  <a:outerShdw blurRad="38100" dist="38100" dir="2700000" algn="tl">
                    <a:srgbClr val="C0C0C0"/>
                  </a:outerShdw>
                </a:effectLst>
                <a:latin typeface="Arial"/>
                <a:cs typeface="Arial"/>
              </a:rPr>
              <a:t>■</a:t>
            </a:r>
            <a:r>
              <a:rPr lang="pt-PT" sz="2000" b="1" dirty="0">
                <a:effectLst>
                  <a:outerShdw blurRad="38100" dist="38100" dir="2700000" algn="tl">
                    <a:srgbClr val="C0C0C0"/>
                  </a:outerShdw>
                </a:effectLst>
                <a:latin typeface="Arial"/>
                <a:cs typeface="Arial"/>
              </a:rPr>
              <a:t> </a:t>
            </a:r>
            <a:r>
              <a:rPr lang="en-US" sz="2000" b="1" dirty="0">
                <a:effectLst>
                  <a:outerShdw blurRad="38100" dist="38100" dir="2700000" algn="tl">
                    <a:srgbClr val="C0C0C0"/>
                  </a:outerShdw>
                </a:effectLst>
                <a:latin typeface="Arial"/>
                <a:cs typeface="Arial"/>
              </a:rPr>
              <a:t>3.1. Model Summary and Analysis</a:t>
            </a:r>
            <a:endParaRPr lang="pt-PT" sz="2000" b="1" dirty="0">
              <a:effectLst>
                <a:outerShdw blurRad="38100" dist="38100" dir="2700000" algn="tl">
                  <a:srgbClr val="C0C0C0"/>
                </a:outerShdw>
              </a:effectLst>
              <a:latin typeface="Arial" charset="0"/>
            </a:endParaRPr>
          </a:p>
        </p:txBody>
      </p:sp>
      <p:sp>
        <p:nvSpPr>
          <p:cNvPr id="10247" name="Line 15">
            <a:extLst>
              <a:ext uri="{FF2B5EF4-FFF2-40B4-BE49-F238E27FC236}">
                <a16:creationId xmlns:a16="http://schemas.microsoft.com/office/drawing/2014/main" id="{B68D9113-D5F0-3322-C58E-F12C4FB4B588}"/>
              </a:ext>
            </a:extLst>
          </p:cNvPr>
          <p:cNvSpPr>
            <a:spLocks noChangeShapeType="1"/>
          </p:cNvSpPr>
          <p:nvPr/>
        </p:nvSpPr>
        <p:spPr bwMode="auto">
          <a:xfrm>
            <a:off x="250825" y="0"/>
            <a:ext cx="0" cy="765175"/>
          </a:xfrm>
          <a:prstGeom prst="line">
            <a:avLst/>
          </a:prstGeom>
          <a:noFill/>
          <a:ln w="25400">
            <a:solidFill>
              <a:schemeClr val="tx1"/>
            </a:solidFill>
            <a:round/>
            <a:headEnd/>
            <a:tailEnd/>
          </a:ln>
        </p:spPr>
        <p:txBody>
          <a:bodyPr/>
          <a:lstStyle/>
          <a:p>
            <a:endParaRPr lang="pt-PT"/>
          </a:p>
        </p:txBody>
      </p:sp>
      <p:sp>
        <p:nvSpPr>
          <p:cNvPr id="9237" name="Text Box 21">
            <a:extLst>
              <a:ext uri="{FF2B5EF4-FFF2-40B4-BE49-F238E27FC236}">
                <a16:creationId xmlns:a16="http://schemas.microsoft.com/office/drawing/2014/main" id="{C11BE1F2-33B7-ED3D-DBAC-6871418757EC}"/>
              </a:ext>
            </a:extLst>
          </p:cNvPr>
          <p:cNvSpPr txBox="1">
            <a:spLocks noChangeArrowheads="1"/>
          </p:cNvSpPr>
          <p:nvPr/>
        </p:nvSpPr>
        <p:spPr bwMode="auto">
          <a:xfrm>
            <a:off x="260350" y="44450"/>
            <a:ext cx="6981825" cy="304800"/>
          </a:xfrm>
          <a:prstGeom prst="rect">
            <a:avLst/>
          </a:prstGeom>
          <a:noFill/>
          <a:ln w="9525">
            <a:noFill/>
            <a:miter lim="800000"/>
            <a:headEnd/>
            <a:tailEnd/>
          </a:ln>
          <a:effectLst/>
        </p:spPr>
        <p:txBody>
          <a:bodyPr>
            <a:spAutoFit/>
          </a:bodyPr>
          <a:lstStyle/>
          <a:p>
            <a:pPr>
              <a:spcBef>
                <a:spcPct val="50000"/>
              </a:spcBef>
              <a:defRPr/>
            </a:pPr>
            <a:endParaRPr lang="pt-PT" sz="1400" b="1" dirty="0">
              <a:solidFill>
                <a:srgbClr val="FF3300"/>
              </a:solidFill>
              <a:effectLst>
                <a:outerShdw blurRad="38100" dist="38100" dir="2700000" algn="tl">
                  <a:srgbClr val="C0C0C0"/>
                </a:outerShdw>
              </a:effectLst>
              <a:latin typeface="Arial" charset="0"/>
            </a:endParaRPr>
          </a:p>
        </p:txBody>
      </p:sp>
      <p:pic>
        <p:nvPicPr>
          <p:cNvPr id="18" name="Imagem 17">
            <a:extLst>
              <a:ext uri="{FF2B5EF4-FFF2-40B4-BE49-F238E27FC236}">
                <a16:creationId xmlns:a16="http://schemas.microsoft.com/office/drawing/2014/main" id="{6D91AE44-CB7F-B8AB-FA30-943890D05CAB}"/>
              </a:ext>
            </a:extLst>
          </p:cNvPr>
          <p:cNvPicPr>
            <a:picLocks noChangeAspect="1"/>
          </p:cNvPicPr>
          <p:nvPr/>
        </p:nvPicPr>
        <p:blipFill>
          <a:blip r:embed="rId3"/>
          <a:stretch>
            <a:fillRect/>
          </a:stretch>
        </p:blipFill>
        <p:spPr>
          <a:xfrm>
            <a:off x="101225" y="904241"/>
            <a:ext cx="9014192" cy="266482"/>
          </a:xfrm>
          <a:prstGeom prst="rect">
            <a:avLst/>
          </a:prstGeom>
        </p:spPr>
      </p:pic>
      <p:sp>
        <p:nvSpPr>
          <p:cNvPr id="21" name="Text Box 10">
            <a:extLst>
              <a:ext uri="{FF2B5EF4-FFF2-40B4-BE49-F238E27FC236}">
                <a16:creationId xmlns:a16="http://schemas.microsoft.com/office/drawing/2014/main" id="{334F8EAF-8393-A093-F874-C63137945B21}"/>
              </a:ext>
            </a:extLst>
          </p:cNvPr>
          <p:cNvSpPr txBox="1">
            <a:spLocks noChangeArrowheads="1"/>
          </p:cNvSpPr>
          <p:nvPr/>
        </p:nvSpPr>
        <p:spPr bwMode="auto">
          <a:xfrm>
            <a:off x="8288338" y="6296025"/>
            <a:ext cx="827087" cy="366713"/>
          </a:xfrm>
          <a:prstGeom prst="rect">
            <a:avLst/>
          </a:prstGeom>
          <a:noFill/>
          <a:ln w="9525">
            <a:noFill/>
            <a:miter lim="800000"/>
            <a:headEnd/>
            <a:tailEnd/>
          </a:ln>
        </p:spPr>
        <p:txBody>
          <a:bodyPr>
            <a:spAutoFit/>
          </a:bodyPr>
          <a:lstStyle/>
          <a:p>
            <a:pPr>
              <a:spcBef>
                <a:spcPct val="50000"/>
              </a:spcBef>
            </a:pPr>
            <a:endParaRPr lang="pt-PT"/>
          </a:p>
        </p:txBody>
      </p:sp>
      <p:sp>
        <p:nvSpPr>
          <p:cNvPr id="22" name="Rectangle 11">
            <a:extLst>
              <a:ext uri="{FF2B5EF4-FFF2-40B4-BE49-F238E27FC236}">
                <a16:creationId xmlns:a16="http://schemas.microsoft.com/office/drawing/2014/main" id="{BE82EF58-DA44-993C-2B93-02BED36E9BA5}"/>
              </a:ext>
            </a:extLst>
          </p:cNvPr>
          <p:cNvSpPr>
            <a:spLocks noChangeArrowheads="1"/>
          </p:cNvSpPr>
          <p:nvPr/>
        </p:nvSpPr>
        <p:spPr bwMode="auto">
          <a:xfrm>
            <a:off x="8327571" y="6496091"/>
            <a:ext cx="936625" cy="260350"/>
          </a:xfrm>
          <a:prstGeom prst="rect">
            <a:avLst/>
          </a:prstGeom>
          <a:noFill/>
          <a:ln w="9525">
            <a:noFill/>
            <a:miter lim="800000"/>
            <a:headEnd/>
            <a:tailEnd/>
          </a:ln>
        </p:spPr>
        <p:txBody>
          <a:bodyPr anchor="ctr"/>
          <a:lstStyle/>
          <a:p>
            <a:pPr algn="ctr"/>
            <a:r>
              <a:rPr lang="pt-PT" sz="1000" dirty="0"/>
              <a:t>- </a:t>
            </a:r>
            <a:fld id="{1234D2FF-8FB9-47A1-B8C9-42A5F500BA2F}" type="slidenum">
              <a:rPr lang="pt-PT" sz="1000"/>
              <a:pPr algn="ctr"/>
              <a:t>31</a:t>
            </a:fld>
            <a:r>
              <a:rPr lang="pt-PT" sz="1000" dirty="0"/>
              <a:t> -</a:t>
            </a:r>
          </a:p>
        </p:txBody>
      </p:sp>
      <p:pic>
        <p:nvPicPr>
          <p:cNvPr id="23" name="Imagem 22">
            <a:extLst>
              <a:ext uri="{FF2B5EF4-FFF2-40B4-BE49-F238E27FC236}">
                <a16:creationId xmlns:a16="http://schemas.microsoft.com/office/drawing/2014/main" id="{7051CB34-E1D2-A6AD-5596-0C2A41418578}"/>
              </a:ext>
            </a:extLst>
          </p:cNvPr>
          <p:cNvPicPr>
            <a:picLocks noChangeAspect="1"/>
          </p:cNvPicPr>
          <p:nvPr/>
        </p:nvPicPr>
        <p:blipFill>
          <a:blip r:embed="rId4"/>
          <a:stretch>
            <a:fillRect/>
          </a:stretch>
        </p:blipFill>
        <p:spPr>
          <a:xfrm>
            <a:off x="0" y="6320212"/>
            <a:ext cx="9144000" cy="253252"/>
          </a:xfrm>
          <a:prstGeom prst="rect">
            <a:avLst/>
          </a:prstGeom>
        </p:spPr>
      </p:pic>
      <p:pic>
        <p:nvPicPr>
          <p:cNvPr id="25" name="Imagem 24">
            <a:extLst>
              <a:ext uri="{FF2B5EF4-FFF2-40B4-BE49-F238E27FC236}">
                <a16:creationId xmlns:a16="http://schemas.microsoft.com/office/drawing/2014/main" id="{ABCDDCE9-CE38-DFFE-294B-8204133CC71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8125" y="6488336"/>
            <a:ext cx="545959" cy="199802"/>
          </a:xfrm>
          <a:prstGeom prst="rect">
            <a:avLst/>
          </a:prstGeom>
        </p:spPr>
      </p:pic>
      <p:sp>
        <p:nvSpPr>
          <p:cNvPr id="26" name="Rectângulo 19">
            <a:extLst>
              <a:ext uri="{FF2B5EF4-FFF2-40B4-BE49-F238E27FC236}">
                <a16:creationId xmlns:a16="http://schemas.microsoft.com/office/drawing/2014/main" id="{A2E7B398-FBB4-DE07-DA10-7041DDA5884E}"/>
              </a:ext>
            </a:extLst>
          </p:cNvPr>
          <p:cNvSpPr/>
          <p:nvPr/>
        </p:nvSpPr>
        <p:spPr>
          <a:xfrm>
            <a:off x="5535613" y="553019"/>
            <a:ext cx="3505200" cy="261610"/>
          </a:xfrm>
          <a:prstGeom prst="rect">
            <a:avLst/>
          </a:prstGeom>
        </p:spPr>
        <p:txBody>
          <a:bodyPr wrap="square">
            <a:spAutoFit/>
          </a:bodyPr>
          <a:lstStyle/>
          <a:p>
            <a:pPr algn="r"/>
            <a:r>
              <a:rPr lang="pt-PT" sz="1100" b="1" cap="all" dirty="0" err="1">
                <a:highlight>
                  <a:srgbClr val="FFFF00"/>
                </a:highlight>
              </a:rPr>
              <a:t>Graduation</a:t>
            </a:r>
            <a:r>
              <a:rPr lang="pt-PT" sz="1100" b="1" cap="all" dirty="0">
                <a:highlight>
                  <a:srgbClr val="FFFF00"/>
                </a:highlight>
              </a:rPr>
              <a:t> in </a:t>
            </a:r>
            <a:r>
              <a:rPr lang="pt-PT" sz="1100" b="1" cap="all" dirty="0" err="1">
                <a:highlight>
                  <a:srgbClr val="FFFF00"/>
                </a:highlight>
              </a:rPr>
              <a:t>Informatics</a:t>
            </a:r>
            <a:r>
              <a:rPr lang="pt-PT" sz="1100" b="1" cap="all" dirty="0">
                <a:highlight>
                  <a:srgbClr val="FFFF00"/>
                </a:highlight>
              </a:rPr>
              <a:t> </a:t>
            </a:r>
            <a:r>
              <a:rPr lang="pt-PT" sz="1100" b="1" cap="all" dirty="0" err="1">
                <a:highlight>
                  <a:srgbClr val="FFFF00"/>
                </a:highlight>
              </a:rPr>
              <a:t>engineering</a:t>
            </a:r>
            <a:endParaRPr lang="pt-PT" sz="1100" dirty="0">
              <a:highlight>
                <a:srgbClr val="FFFF00"/>
              </a:highlight>
            </a:endParaRPr>
          </a:p>
        </p:txBody>
      </p:sp>
      <p:pic>
        <p:nvPicPr>
          <p:cNvPr id="27" name="Imagem 26">
            <a:extLst>
              <a:ext uri="{FF2B5EF4-FFF2-40B4-BE49-F238E27FC236}">
                <a16:creationId xmlns:a16="http://schemas.microsoft.com/office/drawing/2014/main" id="{0A947288-F610-7323-38B9-D78633BD182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575316" y="9186"/>
            <a:ext cx="2575034" cy="639880"/>
          </a:xfrm>
          <a:prstGeom prst="rect">
            <a:avLst/>
          </a:prstGeom>
        </p:spPr>
      </p:pic>
      <p:sp>
        <p:nvSpPr>
          <p:cNvPr id="7" name="TextBox 6">
            <a:extLst>
              <a:ext uri="{FF2B5EF4-FFF2-40B4-BE49-F238E27FC236}">
                <a16:creationId xmlns:a16="http://schemas.microsoft.com/office/drawing/2014/main" id="{4AE9B694-790B-0EBA-CA46-D98CA98DBA8D}"/>
              </a:ext>
            </a:extLst>
          </p:cNvPr>
          <p:cNvSpPr txBox="1"/>
          <p:nvPr/>
        </p:nvSpPr>
        <p:spPr>
          <a:xfrm>
            <a:off x="334907" y="1170723"/>
            <a:ext cx="4237093" cy="4478149"/>
          </a:xfrm>
          <a:prstGeom prst="rect">
            <a:avLst/>
          </a:prstGeom>
          <a:noFill/>
        </p:spPr>
        <p:txBody>
          <a:bodyPr wrap="square" rtlCol="0">
            <a:spAutoFit/>
          </a:bodyPr>
          <a:lstStyle/>
          <a:p>
            <a:pPr algn="just"/>
            <a:r>
              <a:rPr lang="en-US" sz="1500" b="1" dirty="0"/>
              <a:t>Layer Details:</a:t>
            </a:r>
            <a:r>
              <a:rPr lang="en-US" sz="1500" dirty="0"/>
              <a:t> </a:t>
            </a:r>
          </a:p>
          <a:p>
            <a:pPr algn="just"/>
            <a:endParaRPr lang="en-US" sz="1500" dirty="0"/>
          </a:p>
          <a:p>
            <a:pPr algn="just"/>
            <a:r>
              <a:rPr lang="en-US" sz="1500" dirty="0"/>
              <a:t>The model summary confirms the sequential data transformation. As the image passes through the layers, its spatial dimensions decrease (from 158x158 to 38x38), while the depth (number of feature maps) increases.</a:t>
            </a:r>
          </a:p>
          <a:p>
            <a:pPr algn="just"/>
            <a:endParaRPr lang="en-US" sz="1500" dirty="0"/>
          </a:p>
          <a:p>
            <a:pPr algn="just"/>
            <a:r>
              <a:rPr lang="en-US" sz="1500" b="1" dirty="0"/>
              <a:t>Parameter Distribution:</a:t>
            </a:r>
            <a:endParaRPr lang="en-US" sz="1500" dirty="0"/>
          </a:p>
          <a:p>
            <a:pPr algn="just"/>
            <a:r>
              <a:rPr lang="en-US" sz="1500" b="1" dirty="0"/>
              <a:t>Total Parameters:</a:t>
            </a:r>
            <a:r>
              <a:rPr lang="en-US" sz="1500" dirty="0"/>
              <a:t> 5,934,145 (approx. 5.9 million).</a:t>
            </a:r>
          </a:p>
          <a:p>
            <a:pPr algn="just"/>
            <a:endParaRPr lang="en-US" sz="1500" dirty="0"/>
          </a:p>
          <a:p>
            <a:pPr algn="just"/>
            <a:r>
              <a:rPr lang="en-US" sz="1500" b="1" dirty="0"/>
              <a:t>Dense Layer Impact:</a:t>
            </a:r>
            <a:r>
              <a:rPr lang="en-US" sz="1500" dirty="0"/>
              <a:t> The vast majority of these parameters are located in the first dense layer </a:t>
            </a:r>
            <a:r>
              <a:rPr lang="en-US" sz="1500" b="1" dirty="0"/>
              <a:t>(dense), </a:t>
            </a:r>
            <a:r>
              <a:rPr lang="en-US" sz="1500" dirty="0"/>
              <a:t>where the flattened features are connected to the 64 neurons.</a:t>
            </a:r>
          </a:p>
          <a:p>
            <a:pPr algn="just"/>
            <a:endParaRPr lang="en-US" sz="1500" dirty="0"/>
          </a:p>
          <a:p>
            <a:pPr algn="just"/>
            <a:r>
              <a:rPr lang="en-US" sz="1500" b="1" dirty="0"/>
              <a:t>Trainable:</a:t>
            </a:r>
            <a:r>
              <a:rPr lang="en-US" sz="1500" dirty="0"/>
              <a:t> All parameters are set to be trainable, allowing the model to fully adapt to the specific features of the wildfire dataset.</a:t>
            </a:r>
          </a:p>
        </p:txBody>
      </p:sp>
      <p:sp>
        <p:nvSpPr>
          <p:cNvPr id="2" name="Subtítulo 2">
            <a:extLst>
              <a:ext uri="{FF2B5EF4-FFF2-40B4-BE49-F238E27FC236}">
                <a16:creationId xmlns:a16="http://schemas.microsoft.com/office/drawing/2014/main" id="{B0A70907-E106-40A8-F764-BC5ACF1E904B}"/>
              </a:ext>
            </a:extLst>
          </p:cNvPr>
          <p:cNvSpPr txBox="1">
            <a:spLocks/>
          </p:cNvSpPr>
          <p:nvPr/>
        </p:nvSpPr>
        <p:spPr>
          <a:xfrm>
            <a:off x="836017" y="6524516"/>
            <a:ext cx="7698382" cy="162409"/>
          </a:xfrm>
          <a:prstGeom prst="rect">
            <a:avLst/>
          </a:prstGeom>
        </p:spPr>
        <p:txBody>
          <a:bodyPr vert="horz" lIns="68580" tIns="34290" rIns="68580" bIns="3429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pt-PT" sz="900" dirty="0">
                <a:latin typeface="Arial" charset="0"/>
                <a:ea typeface="Arial" charset="0"/>
                <a:cs typeface="Arial" charset="0"/>
              </a:rPr>
              <a:t>@Diogo Monteiro - 32428, Gonçalo Teixeira - 31396 | </a:t>
            </a:r>
            <a:r>
              <a:rPr lang="pt-PT" sz="900" b="1" dirty="0">
                <a:solidFill>
                  <a:srgbClr val="C00000"/>
                </a:solidFill>
                <a:latin typeface="Arial" charset="0"/>
                <a:ea typeface="Arial" charset="0"/>
                <a:cs typeface="Arial" charset="0"/>
              </a:rPr>
              <a:t>Unidade Curricular: Projeto III </a:t>
            </a:r>
            <a:r>
              <a:rPr lang="pt-PT" sz="900" dirty="0">
                <a:latin typeface="Arial" charset="0"/>
                <a:ea typeface="Arial" charset="0"/>
                <a:cs typeface="Arial" charset="0"/>
              </a:rPr>
              <a:t>– Ano Letivo 2024/2025 – </a:t>
            </a:r>
            <a:r>
              <a:rPr lang="pt-PT" sz="900" b="1" dirty="0">
                <a:latin typeface="Arial" charset="0"/>
                <a:ea typeface="Arial" charset="0"/>
                <a:cs typeface="Arial" charset="0"/>
              </a:rPr>
              <a:t>MCZ03</a:t>
            </a:r>
          </a:p>
        </p:txBody>
      </p:sp>
      <p:pic>
        <p:nvPicPr>
          <p:cNvPr id="4" name="Imagem 3">
            <a:extLst>
              <a:ext uri="{FF2B5EF4-FFF2-40B4-BE49-F238E27FC236}">
                <a16:creationId xmlns:a16="http://schemas.microsoft.com/office/drawing/2014/main" id="{91C3622C-F599-C795-F3B7-1FDC5C545DA1}"/>
              </a:ext>
            </a:extLst>
          </p:cNvPr>
          <p:cNvPicPr>
            <a:picLocks noChangeAspect="1"/>
          </p:cNvPicPr>
          <p:nvPr/>
        </p:nvPicPr>
        <p:blipFill>
          <a:blip r:embed="rId7"/>
          <a:stretch>
            <a:fillRect/>
          </a:stretch>
        </p:blipFill>
        <p:spPr>
          <a:xfrm>
            <a:off x="4878050" y="1859768"/>
            <a:ext cx="3692763" cy="3383745"/>
          </a:xfrm>
          <a:prstGeom prst="rect">
            <a:avLst/>
          </a:prstGeom>
        </p:spPr>
      </p:pic>
    </p:spTree>
    <p:extLst>
      <p:ext uri="{BB962C8B-B14F-4D97-AF65-F5344CB8AC3E}">
        <p14:creationId xmlns:p14="http://schemas.microsoft.com/office/powerpoint/2010/main" val="35886279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48790-321D-EFE5-B115-80D26059C608}"/>
            </a:ext>
          </a:extLst>
        </p:cNvPr>
        <p:cNvGrpSpPr/>
        <p:nvPr/>
      </p:nvGrpSpPr>
      <p:grpSpPr>
        <a:xfrm>
          <a:off x="0" y="0"/>
          <a:ext cx="0" cy="0"/>
          <a:chOff x="0" y="0"/>
          <a:chExt cx="0" cy="0"/>
        </a:xfrm>
      </p:grpSpPr>
      <p:sp>
        <p:nvSpPr>
          <p:cNvPr id="9229" name="Text Box 13">
            <a:extLst>
              <a:ext uri="{FF2B5EF4-FFF2-40B4-BE49-F238E27FC236}">
                <a16:creationId xmlns:a16="http://schemas.microsoft.com/office/drawing/2014/main" id="{12BB3DF5-3753-43A7-E62F-318788BBAD14}"/>
              </a:ext>
            </a:extLst>
          </p:cNvPr>
          <p:cNvSpPr txBox="1">
            <a:spLocks noChangeArrowheads="1"/>
          </p:cNvSpPr>
          <p:nvPr/>
        </p:nvSpPr>
        <p:spPr bwMode="auto">
          <a:xfrm>
            <a:off x="306388" y="557213"/>
            <a:ext cx="6981825" cy="400050"/>
          </a:xfrm>
          <a:prstGeom prst="rect">
            <a:avLst/>
          </a:prstGeom>
          <a:noFill/>
          <a:ln w="9525">
            <a:noFill/>
            <a:miter lim="800000"/>
            <a:headEnd/>
            <a:tailEnd/>
          </a:ln>
          <a:effectLst/>
        </p:spPr>
        <p:txBody>
          <a:bodyPr>
            <a:spAutoFit/>
          </a:bodyPr>
          <a:lstStyle/>
          <a:p>
            <a:pPr>
              <a:spcBef>
                <a:spcPct val="50000"/>
              </a:spcBef>
              <a:defRPr/>
            </a:pPr>
            <a:r>
              <a:rPr lang="pt-PT" sz="2000" b="1" dirty="0">
                <a:solidFill>
                  <a:srgbClr val="C00000"/>
                </a:solidFill>
                <a:effectLst>
                  <a:outerShdw blurRad="38100" dist="38100" dir="2700000" algn="tl">
                    <a:srgbClr val="C0C0C0"/>
                  </a:outerShdw>
                </a:effectLst>
                <a:latin typeface="Arial"/>
                <a:cs typeface="Arial"/>
              </a:rPr>
              <a:t>■</a:t>
            </a:r>
            <a:r>
              <a:rPr lang="pt-PT" sz="2000" b="1" dirty="0">
                <a:effectLst>
                  <a:outerShdw blurRad="38100" dist="38100" dir="2700000" algn="tl">
                    <a:srgbClr val="C0C0C0"/>
                  </a:outerShdw>
                </a:effectLst>
                <a:latin typeface="Arial"/>
                <a:cs typeface="Arial"/>
              </a:rPr>
              <a:t> </a:t>
            </a:r>
            <a:r>
              <a:rPr lang="en-US" sz="2000" b="1" dirty="0">
                <a:effectLst>
                  <a:outerShdw blurRad="38100" dist="38100" dir="2700000" algn="tl">
                    <a:srgbClr val="C0C0C0"/>
                  </a:outerShdw>
                </a:effectLst>
                <a:latin typeface="Arial"/>
                <a:cs typeface="Arial"/>
              </a:rPr>
              <a:t>4. Training Configuration</a:t>
            </a:r>
            <a:endParaRPr lang="pt-PT" sz="2000" b="1" dirty="0">
              <a:effectLst>
                <a:outerShdw blurRad="38100" dist="38100" dir="2700000" algn="tl">
                  <a:srgbClr val="C0C0C0"/>
                </a:outerShdw>
              </a:effectLst>
              <a:latin typeface="Arial" charset="0"/>
            </a:endParaRPr>
          </a:p>
        </p:txBody>
      </p:sp>
      <p:sp>
        <p:nvSpPr>
          <p:cNvPr id="10247" name="Line 15">
            <a:extLst>
              <a:ext uri="{FF2B5EF4-FFF2-40B4-BE49-F238E27FC236}">
                <a16:creationId xmlns:a16="http://schemas.microsoft.com/office/drawing/2014/main" id="{278F3EF5-3A44-331A-43E4-BF6571967E5B}"/>
              </a:ext>
            </a:extLst>
          </p:cNvPr>
          <p:cNvSpPr>
            <a:spLocks noChangeShapeType="1"/>
          </p:cNvSpPr>
          <p:nvPr/>
        </p:nvSpPr>
        <p:spPr bwMode="auto">
          <a:xfrm>
            <a:off x="250825" y="0"/>
            <a:ext cx="0" cy="765175"/>
          </a:xfrm>
          <a:prstGeom prst="line">
            <a:avLst/>
          </a:prstGeom>
          <a:noFill/>
          <a:ln w="25400">
            <a:solidFill>
              <a:schemeClr val="tx1"/>
            </a:solidFill>
            <a:round/>
            <a:headEnd/>
            <a:tailEnd/>
          </a:ln>
        </p:spPr>
        <p:txBody>
          <a:bodyPr/>
          <a:lstStyle/>
          <a:p>
            <a:endParaRPr lang="pt-PT"/>
          </a:p>
        </p:txBody>
      </p:sp>
      <p:sp>
        <p:nvSpPr>
          <p:cNvPr id="9237" name="Text Box 21">
            <a:extLst>
              <a:ext uri="{FF2B5EF4-FFF2-40B4-BE49-F238E27FC236}">
                <a16:creationId xmlns:a16="http://schemas.microsoft.com/office/drawing/2014/main" id="{CFE64190-9E0B-1759-E469-265D932007BF}"/>
              </a:ext>
            </a:extLst>
          </p:cNvPr>
          <p:cNvSpPr txBox="1">
            <a:spLocks noChangeArrowheads="1"/>
          </p:cNvSpPr>
          <p:nvPr/>
        </p:nvSpPr>
        <p:spPr bwMode="auto">
          <a:xfrm>
            <a:off x="260350" y="44450"/>
            <a:ext cx="6981825" cy="304800"/>
          </a:xfrm>
          <a:prstGeom prst="rect">
            <a:avLst/>
          </a:prstGeom>
          <a:noFill/>
          <a:ln w="9525">
            <a:noFill/>
            <a:miter lim="800000"/>
            <a:headEnd/>
            <a:tailEnd/>
          </a:ln>
          <a:effectLst/>
        </p:spPr>
        <p:txBody>
          <a:bodyPr>
            <a:spAutoFit/>
          </a:bodyPr>
          <a:lstStyle/>
          <a:p>
            <a:pPr>
              <a:spcBef>
                <a:spcPct val="50000"/>
              </a:spcBef>
              <a:defRPr/>
            </a:pPr>
            <a:endParaRPr lang="pt-PT" sz="1400" b="1" dirty="0">
              <a:solidFill>
                <a:srgbClr val="FF3300"/>
              </a:solidFill>
              <a:effectLst>
                <a:outerShdw blurRad="38100" dist="38100" dir="2700000" algn="tl">
                  <a:srgbClr val="C0C0C0"/>
                </a:outerShdw>
              </a:effectLst>
              <a:latin typeface="Arial" charset="0"/>
            </a:endParaRPr>
          </a:p>
        </p:txBody>
      </p:sp>
      <p:pic>
        <p:nvPicPr>
          <p:cNvPr id="18" name="Imagem 17">
            <a:extLst>
              <a:ext uri="{FF2B5EF4-FFF2-40B4-BE49-F238E27FC236}">
                <a16:creationId xmlns:a16="http://schemas.microsoft.com/office/drawing/2014/main" id="{D21D1C87-9F2F-FBFD-238F-29BBF248375E}"/>
              </a:ext>
            </a:extLst>
          </p:cNvPr>
          <p:cNvPicPr>
            <a:picLocks noChangeAspect="1"/>
          </p:cNvPicPr>
          <p:nvPr/>
        </p:nvPicPr>
        <p:blipFill>
          <a:blip r:embed="rId3"/>
          <a:stretch>
            <a:fillRect/>
          </a:stretch>
        </p:blipFill>
        <p:spPr>
          <a:xfrm>
            <a:off x="101225" y="904241"/>
            <a:ext cx="9014192" cy="266482"/>
          </a:xfrm>
          <a:prstGeom prst="rect">
            <a:avLst/>
          </a:prstGeom>
        </p:spPr>
      </p:pic>
      <p:sp>
        <p:nvSpPr>
          <p:cNvPr id="21" name="Text Box 10">
            <a:extLst>
              <a:ext uri="{FF2B5EF4-FFF2-40B4-BE49-F238E27FC236}">
                <a16:creationId xmlns:a16="http://schemas.microsoft.com/office/drawing/2014/main" id="{B8638689-6A25-AAE9-FDB9-7D1747AA7A91}"/>
              </a:ext>
            </a:extLst>
          </p:cNvPr>
          <p:cNvSpPr txBox="1">
            <a:spLocks noChangeArrowheads="1"/>
          </p:cNvSpPr>
          <p:nvPr/>
        </p:nvSpPr>
        <p:spPr bwMode="auto">
          <a:xfrm>
            <a:off x="8288338" y="6296025"/>
            <a:ext cx="827087" cy="366713"/>
          </a:xfrm>
          <a:prstGeom prst="rect">
            <a:avLst/>
          </a:prstGeom>
          <a:noFill/>
          <a:ln w="9525">
            <a:noFill/>
            <a:miter lim="800000"/>
            <a:headEnd/>
            <a:tailEnd/>
          </a:ln>
        </p:spPr>
        <p:txBody>
          <a:bodyPr>
            <a:spAutoFit/>
          </a:bodyPr>
          <a:lstStyle/>
          <a:p>
            <a:pPr>
              <a:spcBef>
                <a:spcPct val="50000"/>
              </a:spcBef>
            </a:pPr>
            <a:endParaRPr lang="pt-PT"/>
          </a:p>
        </p:txBody>
      </p:sp>
      <p:sp>
        <p:nvSpPr>
          <p:cNvPr id="22" name="Rectangle 11">
            <a:extLst>
              <a:ext uri="{FF2B5EF4-FFF2-40B4-BE49-F238E27FC236}">
                <a16:creationId xmlns:a16="http://schemas.microsoft.com/office/drawing/2014/main" id="{FFC90020-9019-EB9F-F757-33EA86282D4E}"/>
              </a:ext>
            </a:extLst>
          </p:cNvPr>
          <p:cNvSpPr>
            <a:spLocks noChangeArrowheads="1"/>
          </p:cNvSpPr>
          <p:nvPr/>
        </p:nvSpPr>
        <p:spPr bwMode="auto">
          <a:xfrm>
            <a:off x="8327571" y="6496091"/>
            <a:ext cx="936625" cy="260350"/>
          </a:xfrm>
          <a:prstGeom prst="rect">
            <a:avLst/>
          </a:prstGeom>
          <a:noFill/>
          <a:ln w="9525">
            <a:noFill/>
            <a:miter lim="800000"/>
            <a:headEnd/>
            <a:tailEnd/>
          </a:ln>
        </p:spPr>
        <p:txBody>
          <a:bodyPr anchor="ctr"/>
          <a:lstStyle/>
          <a:p>
            <a:pPr algn="ctr"/>
            <a:r>
              <a:rPr lang="pt-PT" sz="1000" dirty="0"/>
              <a:t>- </a:t>
            </a:r>
            <a:fld id="{1234D2FF-8FB9-47A1-B8C9-42A5F500BA2F}" type="slidenum">
              <a:rPr lang="pt-PT" sz="1000"/>
              <a:pPr algn="ctr"/>
              <a:t>32</a:t>
            </a:fld>
            <a:r>
              <a:rPr lang="pt-PT" sz="1000" dirty="0"/>
              <a:t> -</a:t>
            </a:r>
          </a:p>
        </p:txBody>
      </p:sp>
      <p:pic>
        <p:nvPicPr>
          <p:cNvPr id="23" name="Imagem 22">
            <a:extLst>
              <a:ext uri="{FF2B5EF4-FFF2-40B4-BE49-F238E27FC236}">
                <a16:creationId xmlns:a16="http://schemas.microsoft.com/office/drawing/2014/main" id="{2D334895-131A-47B7-8A4D-4D59B9F7B450}"/>
              </a:ext>
            </a:extLst>
          </p:cNvPr>
          <p:cNvPicPr>
            <a:picLocks noChangeAspect="1"/>
          </p:cNvPicPr>
          <p:nvPr/>
        </p:nvPicPr>
        <p:blipFill>
          <a:blip r:embed="rId4"/>
          <a:stretch>
            <a:fillRect/>
          </a:stretch>
        </p:blipFill>
        <p:spPr>
          <a:xfrm>
            <a:off x="0" y="6320212"/>
            <a:ext cx="9144000" cy="253252"/>
          </a:xfrm>
          <a:prstGeom prst="rect">
            <a:avLst/>
          </a:prstGeom>
        </p:spPr>
      </p:pic>
      <p:pic>
        <p:nvPicPr>
          <p:cNvPr id="25" name="Imagem 24">
            <a:extLst>
              <a:ext uri="{FF2B5EF4-FFF2-40B4-BE49-F238E27FC236}">
                <a16:creationId xmlns:a16="http://schemas.microsoft.com/office/drawing/2014/main" id="{3FB7EFFD-7ABF-7353-53BD-7AD3BE7ECEE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8125" y="6488336"/>
            <a:ext cx="545959" cy="199802"/>
          </a:xfrm>
          <a:prstGeom prst="rect">
            <a:avLst/>
          </a:prstGeom>
        </p:spPr>
      </p:pic>
      <p:sp>
        <p:nvSpPr>
          <p:cNvPr id="26" name="Rectângulo 19">
            <a:extLst>
              <a:ext uri="{FF2B5EF4-FFF2-40B4-BE49-F238E27FC236}">
                <a16:creationId xmlns:a16="http://schemas.microsoft.com/office/drawing/2014/main" id="{B783A917-2701-F87F-A834-8F9D68D322F3}"/>
              </a:ext>
            </a:extLst>
          </p:cNvPr>
          <p:cNvSpPr/>
          <p:nvPr/>
        </p:nvSpPr>
        <p:spPr>
          <a:xfrm>
            <a:off x="5535613" y="553019"/>
            <a:ext cx="3505200" cy="261610"/>
          </a:xfrm>
          <a:prstGeom prst="rect">
            <a:avLst/>
          </a:prstGeom>
        </p:spPr>
        <p:txBody>
          <a:bodyPr wrap="square">
            <a:spAutoFit/>
          </a:bodyPr>
          <a:lstStyle/>
          <a:p>
            <a:pPr algn="r"/>
            <a:r>
              <a:rPr lang="pt-PT" sz="1100" b="1" cap="all" dirty="0" err="1">
                <a:highlight>
                  <a:srgbClr val="FFFF00"/>
                </a:highlight>
              </a:rPr>
              <a:t>Graduation</a:t>
            </a:r>
            <a:r>
              <a:rPr lang="pt-PT" sz="1100" b="1" cap="all" dirty="0">
                <a:highlight>
                  <a:srgbClr val="FFFF00"/>
                </a:highlight>
              </a:rPr>
              <a:t> in </a:t>
            </a:r>
            <a:r>
              <a:rPr lang="pt-PT" sz="1100" b="1" cap="all" dirty="0" err="1">
                <a:highlight>
                  <a:srgbClr val="FFFF00"/>
                </a:highlight>
              </a:rPr>
              <a:t>Informatics</a:t>
            </a:r>
            <a:r>
              <a:rPr lang="pt-PT" sz="1100" b="1" cap="all" dirty="0">
                <a:highlight>
                  <a:srgbClr val="FFFF00"/>
                </a:highlight>
              </a:rPr>
              <a:t> </a:t>
            </a:r>
            <a:r>
              <a:rPr lang="pt-PT" sz="1100" b="1" cap="all" dirty="0" err="1">
                <a:highlight>
                  <a:srgbClr val="FFFF00"/>
                </a:highlight>
              </a:rPr>
              <a:t>engineering</a:t>
            </a:r>
            <a:endParaRPr lang="pt-PT" sz="1100" dirty="0">
              <a:highlight>
                <a:srgbClr val="FFFF00"/>
              </a:highlight>
            </a:endParaRPr>
          </a:p>
        </p:txBody>
      </p:sp>
      <p:pic>
        <p:nvPicPr>
          <p:cNvPr id="27" name="Imagem 26">
            <a:extLst>
              <a:ext uri="{FF2B5EF4-FFF2-40B4-BE49-F238E27FC236}">
                <a16:creationId xmlns:a16="http://schemas.microsoft.com/office/drawing/2014/main" id="{503E89F3-DC2E-C4FA-4C17-991CD5F00DB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575316" y="9186"/>
            <a:ext cx="2575034" cy="639880"/>
          </a:xfrm>
          <a:prstGeom prst="rect">
            <a:avLst/>
          </a:prstGeom>
        </p:spPr>
      </p:pic>
      <p:sp>
        <p:nvSpPr>
          <p:cNvPr id="7" name="TextBox 6">
            <a:extLst>
              <a:ext uri="{FF2B5EF4-FFF2-40B4-BE49-F238E27FC236}">
                <a16:creationId xmlns:a16="http://schemas.microsoft.com/office/drawing/2014/main" id="{4864C13F-DCF3-0A69-EA32-CE22793475C0}"/>
              </a:ext>
            </a:extLst>
          </p:cNvPr>
          <p:cNvSpPr txBox="1"/>
          <p:nvPr/>
        </p:nvSpPr>
        <p:spPr>
          <a:xfrm>
            <a:off x="334907" y="1170723"/>
            <a:ext cx="4313293" cy="4031873"/>
          </a:xfrm>
          <a:prstGeom prst="rect">
            <a:avLst/>
          </a:prstGeom>
          <a:noFill/>
        </p:spPr>
        <p:txBody>
          <a:bodyPr wrap="square" rtlCol="0">
            <a:spAutoFit/>
          </a:bodyPr>
          <a:lstStyle/>
          <a:p>
            <a:pPr algn="just"/>
            <a:r>
              <a:rPr lang="en-US" sz="1600" b="1" dirty="0"/>
              <a:t>Code Implementation:</a:t>
            </a:r>
            <a:r>
              <a:rPr lang="en-US" sz="1600" dirty="0"/>
              <a:t> </a:t>
            </a:r>
          </a:p>
          <a:p>
            <a:pPr algn="just"/>
            <a:endParaRPr lang="en-US" sz="1600" dirty="0"/>
          </a:p>
          <a:p>
            <a:pPr algn="just"/>
            <a:r>
              <a:rPr lang="en-US" sz="1600" dirty="0"/>
              <a:t>The training process was configured using the </a:t>
            </a:r>
            <a:r>
              <a:rPr lang="en-US" sz="1600" b="1" dirty="0" err="1"/>
              <a:t>model.fit</a:t>
            </a:r>
            <a:r>
              <a:rPr lang="en-US" sz="1600" b="1" dirty="0"/>
              <a:t>() </a:t>
            </a:r>
            <a:r>
              <a:rPr lang="en-US" sz="1600" dirty="0"/>
              <a:t>method with specific parameters to ensure stable learning and avoid overfitting.</a:t>
            </a:r>
          </a:p>
          <a:p>
            <a:pPr algn="just"/>
            <a:endParaRPr lang="en-US" sz="1600" dirty="0"/>
          </a:p>
          <a:p>
            <a:pPr algn="just"/>
            <a:r>
              <a:rPr lang="en-US" sz="1600" b="1" dirty="0"/>
              <a:t>Epochs:</a:t>
            </a:r>
            <a:r>
              <a:rPr lang="en-US" sz="1600" dirty="0"/>
              <a:t> Set to 3 to prevent overfitting while allowing sufficient learning time for the initial baseline.</a:t>
            </a:r>
          </a:p>
          <a:p>
            <a:pPr algn="just"/>
            <a:endParaRPr lang="en-US" sz="1600" dirty="0"/>
          </a:p>
          <a:p>
            <a:pPr algn="just"/>
            <a:r>
              <a:rPr lang="en-US" sz="1600" b="1" dirty="0"/>
              <a:t>Steps per Epoch:</a:t>
            </a:r>
            <a:r>
              <a:rPr lang="en-US" sz="1600" dirty="0"/>
              <a:t> Fixed at 200 to control the exact number of batches processed per cycle.</a:t>
            </a:r>
          </a:p>
          <a:p>
            <a:pPr algn="just"/>
            <a:endParaRPr lang="en-US" sz="1600" dirty="0"/>
          </a:p>
          <a:p>
            <a:pPr algn="just"/>
            <a:r>
              <a:rPr lang="en-US" sz="1600" b="1" dirty="0"/>
              <a:t>Validation Steps:</a:t>
            </a:r>
            <a:r>
              <a:rPr lang="en-US" sz="1600" dirty="0"/>
              <a:t> Set to 50, ensuring a consistent evaluation of the model's progress during training.</a:t>
            </a:r>
          </a:p>
        </p:txBody>
      </p:sp>
      <p:sp>
        <p:nvSpPr>
          <p:cNvPr id="2" name="Subtítulo 2">
            <a:extLst>
              <a:ext uri="{FF2B5EF4-FFF2-40B4-BE49-F238E27FC236}">
                <a16:creationId xmlns:a16="http://schemas.microsoft.com/office/drawing/2014/main" id="{2DF89528-9FA6-E34C-642D-322615A016E5}"/>
              </a:ext>
            </a:extLst>
          </p:cNvPr>
          <p:cNvSpPr txBox="1">
            <a:spLocks/>
          </p:cNvSpPr>
          <p:nvPr/>
        </p:nvSpPr>
        <p:spPr>
          <a:xfrm>
            <a:off x="836017" y="6524516"/>
            <a:ext cx="7698382" cy="162409"/>
          </a:xfrm>
          <a:prstGeom prst="rect">
            <a:avLst/>
          </a:prstGeom>
        </p:spPr>
        <p:txBody>
          <a:bodyPr vert="horz" lIns="68580" tIns="34290" rIns="68580" bIns="3429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pt-PT" sz="900" dirty="0">
                <a:latin typeface="Arial" charset="0"/>
                <a:ea typeface="Arial" charset="0"/>
                <a:cs typeface="Arial" charset="0"/>
              </a:rPr>
              <a:t>@Diogo Monteiro - 32428, Gonçalo Teixeira - 31396 | </a:t>
            </a:r>
            <a:r>
              <a:rPr lang="pt-PT" sz="900" b="1" dirty="0">
                <a:solidFill>
                  <a:srgbClr val="C00000"/>
                </a:solidFill>
                <a:latin typeface="Arial" charset="0"/>
                <a:ea typeface="Arial" charset="0"/>
                <a:cs typeface="Arial" charset="0"/>
              </a:rPr>
              <a:t>Unidade Curricular: Projeto III </a:t>
            </a:r>
            <a:r>
              <a:rPr lang="pt-PT" sz="900" dirty="0">
                <a:latin typeface="Arial" charset="0"/>
                <a:ea typeface="Arial" charset="0"/>
                <a:cs typeface="Arial" charset="0"/>
              </a:rPr>
              <a:t>– Ano Letivo 2024/2025 – </a:t>
            </a:r>
            <a:r>
              <a:rPr lang="pt-PT" sz="900" b="1" dirty="0">
                <a:latin typeface="Arial" charset="0"/>
                <a:ea typeface="Arial" charset="0"/>
                <a:cs typeface="Arial" charset="0"/>
              </a:rPr>
              <a:t>MCZ03</a:t>
            </a:r>
          </a:p>
        </p:txBody>
      </p:sp>
      <p:pic>
        <p:nvPicPr>
          <p:cNvPr id="5" name="Imagem 4">
            <a:extLst>
              <a:ext uri="{FF2B5EF4-FFF2-40B4-BE49-F238E27FC236}">
                <a16:creationId xmlns:a16="http://schemas.microsoft.com/office/drawing/2014/main" id="{8510F420-4326-2AAC-5B78-A9A8C4B95F41}"/>
              </a:ext>
            </a:extLst>
          </p:cNvPr>
          <p:cNvPicPr>
            <a:picLocks noChangeAspect="1"/>
          </p:cNvPicPr>
          <p:nvPr/>
        </p:nvPicPr>
        <p:blipFill>
          <a:blip r:embed="rId7"/>
          <a:stretch>
            <a:fillRect/>
          </a:stretch>
        </p:blipFill>
        <p:spPr>
          <a:xfrm>
            <a:off x="4800600" y="1233765"/>
            <a:ext cx="3211784" cy="5107774"/>
          </a:xfrm>
          <a:prstGeom prst="rect">
            <a:avLst/>
          </a:prstGeom>
        </p:spPr>
      </p:pic>
    </p:spTree>
    <p:extLst>
      <p:ext uri="{BB962C8B-B14F-4D97-AF65-F5344CB8AC3E}">
        <p14:creationId xmlns:p14="http://schemas.microsoft.com/office/powerpoint/2010/main" val="42775897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9177A-2694-8D13-9C36-6B925D60C536}"/>
            </a:ext>
          </a:extLst>
        </p:cNvPr>
        <p:cNvGrpSpPr/>
        <p:nvPr/>
      </p:nvGrpSpPr>
      <p:grpSpPr>
        <a:xfrm>
          <a:off x="0" y="0"/>
          <a:ext cx="0" cy="0"/>
          <a:chOff x="0" y="0"/>
          <a:chExt cx="0" cy="0"/>
        </a:xfrm>
      </p:grpSpPr>
      <p:sp>
        <p:nvSpPr>
          <p:cNvPr id="9229" name="Text Box 13">
            <a:extLst>
              <a:ext uri="{FF2B5EF4-FFF2-40B4-BE49-F238E27FC236}">
                <a16:creationId xmlns:a16="http://schemas.microsoft.com/office/drawing/2014/main" id="{7D98F01F-8266-5266-94B8-1C1451C1CF29}"/>
              </a:ext>
            </a:extLst>
          </p:cNvPr>
          <p:cNvSpPr txBox="1">
            <a:spLocks noChangeArrowheads="1"/>
          </p:cNvSpPr>
          <p:nvPr/>
        </p:nvSpPr>
        <p:spPr bwMode="auto">
          <a:xfrm>
            <a:off x="306388" y="557213"/>
            <a:ext cx="6981825" cy="400050"/>
          </a:xfrm>
          <a:prstGeom prst="rect">
            <a:avLst/>
          </a:prstGeom>
          <a:noFill/>
          <a:ln w="9525">
            <a:noFill/>
            <a:miter lim="800000"/>
            <a:headEnd/>
            <a:tailEnd/>
          </a:ln>
          <a:effectLst/>
        </p:spPr>
        <p:txBody>
          <a:bodyPr>
            <a:spAutoFit/>
          </a:bodyPr>
          <a:lstStyle/>
          <a:p>
            <a:pPr>
              <a:spcBef>
                <a:spcPct val="50000"/>
              </a:spcBef>
              <a:defRPr/>
            </a:pPr>
            <a:r>
              <a:rPr lang="pt-PT" sz="2000" b="1" dirty="0">
                <a:solidFill>
                  <a:srgbClr val="C00000"/>
                </a:solidFill>
                <a:effectLst>
                  <a:outerShdw blurRad="38100" dist="38100" dir="2700000" algn="tl">
                    <a:srgbClr val="C0C0C0"/>
                  </a:outerShdw>
                </a:effectLst>
                <a:latin typeface="Arial"/>
                <a:cs typeface="Arial"/>
              </a:rPr>
              <a:t>■</a:t>
            </a:r>
            <a:r>
              <a:rPr lang="pt-PT" sz="2000" b="1" dirty="0">
                <a:effectLst>
                  <a:outerShdw blurRad="38100" dist="38100" dir="2700000" algn="tl">
                    <a:srgbClr val="C0C0C0"/>
                  </a:outerShdw>
                </a:effectLst>
                <a:latin typeface="Arial"/>
                <a:cs typeface="Arial"/>
              </a:rPr>
              <a:t> </a:t>
            </a:r>
            <a:r>
              <a:rPr lang="en-US" sz="2000" b="1" dirty="0">
                <a:effectLst>
                  <a:outerShdw blurRad="38100" dist="38100" dir="2700000" algn="tl">
                    <a:srgbClr val="C0C0C0"/>
                  </a:outerShdw>
                </a:effectLst>
                <a:latin typeface="Arial"/>
                <a:cs typeface="Arial"/>
              </a:rPr>
              <a:t>5. Training Results</a:t>
            </a:r>
            <a:endParaRPr lang="pt-PT" sz="2000" b="1" dirty="0">
              <a:effectLst>
                <a:outerShdw blurRad="38100" dist="38100" dir="2700000" algn="tl">
                  <a:srgbClr val="C0C0C0"/>
                </a:outerShdw>
              </a:effectLst>
              <a:latin typeface="Arial" charset="0"/>
            </a:endParaRPr>
          </a:p>
        </p:txBody>
      </p:sp>
      <p:sp>
        <p:nvSpPr>
          <p:cNvPr id="10247" name="Line 15">
            <a:extLst>
              <a:ext uri="{FF2B5EF4-FFF2-40B4-BE49-F238E27FC236}">
                <a16:creationId xmlns:a16="http://schemas.microsoft.com/office/drawing/2014/main" id="{F8F641A3-B271-7187-E10C-D6E0C1FA43CE}"/>
              </a:ext>
            </a:extLst>
          </p:cNvPr>
          <p:cNvSpPr>
            <a:spLocks noChangeShapeType="1"/>
          </p:cNvSpPr>
          <p:nvPr/>
        </p:nvSpPr>
        <p:spPr bwMode="auto">
          <a:xfrm>
            <a:off x="250825" y="0"/>
            <a:ext cx="0" cy="765175"/>
          </a:xfrm>
          <a:prstGeom prst="line">
            <a:avLst/>
          </a:prstGeom>
          <a:noFill/>
          <a:ln w="25400">
            <a:solidFill>
              <a:schemeClr val="tx1"/>
            </a:solidFill>
            <a:round/>
            <a:headEnd/>
            <a:tailEnd/>
          </a:ln>
        </p:spPr>
        <p:txBody>
          <a:bodyPr/>
          <a:lstStyle/>
          <a:p>
            <a:endParaRPr lang="pt-PT"/>
          </a:p>
        </p:txBody>
      </p:sp>
      <p:sp>
        <p:nvSpPr>
          <p:cNvPr id="9237" name="Text Box 21">
            <a:extLst>
              <a:ext uri="{FF2B5EF4-FFF2-40B4-BE49-F238E27FC236}">
                <a16:creationId xmlns:a16="http://schemas.microsoft.com/office/drawing/2014/main" id="{89CB3A0D-C555-DEC6-B35A-5D1085838991}"/>
              </a:ext>
            </a:extLst>
          </p:cNvPr>
          <p:cNvSpPr txBox="1">
            <a:spLocks noChangeArrowheads="1"/>
          </p:cNvSpPr>
          <p:nvPr/>
        </p:nvSpPr>
        <p:spPr bwMode="auto">
          <a:xfrm>
            <a:off x="260350" y="44450"/>
            <a:ext cx="6981825" cy="304800"/>
          </a:xfrm>
          <a:prstGeom prst="rect">
            <a:avLst/>
          </a:prstGeom>
          <a:noFill/>
          <a:ln w="9525">
            <a:noFill/>
            <a:miter lim="800000"/>
            <a:headEnd/>
            <a:tailEnd/>
          </a:ln>
          <a:effectLst/>
        </p:spPr>
        <p:txBody>
          <a:bodyPr>
            <a:spAutoFit/>
          </a:bodyPr>
          <a:lstStyle/>
          <a:p>
            <a:pPr>
              <a:spcBef>
                <a:spcPct val="50000"/>
              </a:spcBef>
              <a:defRPr/>
            </a:pPr>
            <a:endParaRPr lang="pt-PT" sz="1400" b="1" dirty="0">
              <a:solidFill>
                <a:srgbClr val="FF3300"/>
              </a:solidFill>
              <a:effectLst>
                <a:outerShdw blurRad="38100" dist="38100" dir="2700000" algn="tl">
                  <a:srgbClr val="C0C0C0"/>
                </a:outerShdw>
              </a:effectLst>
              <a:latin typeface="Arial" charset="0"/>
            </a:endParaRPr>
          </a:p>
        </p:txBody>
      </p:sp>
      <p:pic>
        <p:nvPicPr>
          <p:cNvPr id="18" name="Imagem 17">
            <a:extLst>
              <a:ext uri="{FF2B5EF4-FFF2-40B4-BE49-F238E27FC236}">
                <a16:creationId xmlns:a16="http://schemas.microsoft.com/office/drawing/2014/main" id="{9CABE0A9-10CC-7DC6-4230-FCF27C656363}"/>
              </a:ext>
            </a:extLst>
          </p:cNvPr>
          <p:cNvPicPr>
            <a:picLocks noChangeAspect="1"/>
          </p:cNvPicPr>
          <p:nvPr/>
        </p:nvPicPr>
        <p:blipFill>
          <a:blip r:embed="rId3"/>
          <a:stretch>
            <a:fillRect/>
          </a:stretch>
        </p:blipFill>
        <p:spPr>
          <a:xfrm>
            <a:off x="101225" y="904241"/>
            <a:ext cx="9014192" cy="266482"/>
          </a:xfrm>
          <a:prstGeom prst="rect">
            <a:avLst/>
          </a:prstGeom>
        </p:spPr>
      </p:pic>
      <p:sp>
        <p:nvSpPr>
          <p:cNvPr id="21" name="Text Box 10">
            <a:extLst>
              <a:ext uri="{FF2B5EF4-FFF2-40B4-BE49-F238E27FC236}">
                <a16:creationId xmlns:a16="http://schemas.microsoft.com/office/drawing/2014/main" id="{BC3267F5-1CCF-B544-6392-E142ACD51F3F}"/>
              </a:ext>
            </a:extLst>
          </p:cNvPr>
          <p:cNvSpPr txBox="1">
            <a:spLocks noChangeArrowheads="1"/>
          </p:cNvSpPr>
          <p:nvPr/>
        </p:nvSpPr>
        <p:spPr bwMode="auto">
          <a:xfrm>
            <a:off x="8288338" y="6296025"/>
            <a:ext cx="827087" cy="366713"/>
          </a:xfrm>
          <a:prstGeom prst="rect">
            <a:avLst/>
          </a:prstGeom>
          <a:noFill/>
          <a:ln w="9525">
            <a:noFill/>
            <a:miter lim="800000"/>
            <a:headEnd/>
            <a:tailEnd/>
          </a:ln>
        </p:spPr>
        <p:txBody>
          <a:bodyPr>
            <a:spAutoFit/>
          </a:bodyPr>
          <a:lstStyle/>
          <a:p>
            <a:pPr>
              <a:spcBef>
                <a:spcPct val="50000"/>
              </a:spcBef>
            </a:pPr>
            <a:endParaRPr lang="pt-PT"/>
          </a:p>
        </p:txBody>
      </p:sp>
      <p:sp>
        <p:nvSpPr>
          <p:cNvPr id="22" name="Rectangle 11">
            <a:extLst>
              <a:ext uri="{FF2B5EF4-FFF2-40B4-BE49-F238E27FC236}">
                <a16:creationId xmlns:a16="http://schemas.microsoft.com/office/drawing/2014/main" id="{98A3A9EF-E33D-AF11-7CA9-5BB78D3401EB}"/>
              </a:ext>
            </a:extLst>
          </p:cNvPr>
          <p:cNvSpPr>
            <a:spLocks noChangeArrowheads="1"/>
          </p:cNvSpPr>
          <p:nvPr/>
        </p:nvSpPr>
        <p:spPr bwMode="auto">
          <a:xfrm>
            <a:off x="8327571" y="6496091"/>
            <a:ext cx="936625" cy="260350"/>
          </a:xfrm>
          <a:prstGeom prst="rect">
            <a:avLst/>
          </a:prstGeom>
          <a:noFill/>
          <a:ln w="9525">
            <a:noFill/>
            <a:miter lim="800000"/>
            <a:headEnd/>
            <a:tailEnd/>
          </a:ln>
        </p:spPr>
        <p:txBody>
          <a:bodyPr anchor="ctr"/>
          <a:lstStyle/>
          <a:p>
            <a:pPr algn="ctr"/>
            <a:r>
              <a:rPr lang="pt-PT" sz="1000" dirty="0"/>
              <a:t>- </a:t>
            </a:r>
            <a:fld id="{1234D2FF-8FB9-47A1-B8C9-42A5F500BA2F}" type="slidenum">
              <a:rPr lang="pt-PT" sz="1000"/>
              <a:pPr algn="ctr"/>
              <a:t>33</a:t>
            </a:fld>
            <a:r>
              <a:rPr lang="pt-PT" sz="1000" dirty="0"/>
              <a:t> -</a:t>
            </a:r>
          </a:p>
        </p:txBody>
      </p:sp>
      <p:pic>
        <p:nvPicPr>
          <p:cNvPr id="23" name="Imagem 22">
            <a:extLst>
              <a:ext uri="{FF2B5EF4-FFF2-40B4-BE49-F238E27FC236}">
                <a16:creationId xmlns:a16="http://schemas.microsoft.com/office/drawing/2014/main" id="{C924B689-3C4C-FC66-2DD2-4B09913B350E}"/>
              </a:ext>
            </a:extLst>
          </p:cNvPr>
          <p:cNvPicPr>
            <a:picLocks noChangeAspect="1"/>
          </p:cNvPicPr>
          <p:nvPr/>
        </p:nvPicPr>
        <p:blipFill>
          <a:blip r:embed="rId4"/>
          <a:stretch>
            <a:fillRect/>
          </a:stretch>
        </p:blipFill>
        <p:spPr>
          <a:xfrm>
            <a:off x="0" y="6320212"/>
            <a:ext cx="9144000" cy="253252"/>
          </a:xfrm>
          <a:prstGeom prst="rect">
            <a:avLst/>
          </a:prstGeom>
        </p:spPr>
      </p:pic>
      <p:pic>
        <p:nvPicPr>
          <p:cNvPr id="25" name="Imagem 24">
            <a:extLst>
              <a:ext uri="{FF2B5EF4-FFF2-40B4-BE49-F238E27FC236}">
                <a16:creationId xmlns:a16="http://schemas.microsoft.com/office/drawing/2014/main" id="{DEA6CD0E-76C2-41A9-676E-3D6BEF71E91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8125" y="6488336"/>
            <a:ext cx="545959" cy="199802"/>
          </a:xfrm>
          <a:prstGeom prst="rect">
            <a:avLst/>
          </a:prstGeom>
        </p:spPr>
      </p:pic>
      <p:sp>
        <p:nvSpPr>
          <p:cNvPr id="26" name="Rectângulo 19">
            <a:extLst>
              <a:ext uri="{FF2B5EF4-FFF2-40B4-BE49-F238E27FC236}">
                <a16:creationId xmlns:a16="http://schemas.microsoft.com/office/drawing/2014/main" id="{4BA0699F-3F2B-D92E-D855-9490AC413203}"/>
              </a:ext>
            </a:extLst>
          </p:cNvPr>
          <p:cNvSpPr/>
          <p:nvPr/>
        </p:nvSpPr>
        <p:spPr>
          <a:xfrm>
            <a:off x="5535613" y="553019"/>
            <a:ext cx="3505200" cy="261610"/>
          </a:xfrm>
          <a:prstGeom prst="rect">
            <a:avLst/>
          </a:prstGeom>
        </p:spPr>
        <p:txBody>
          <a:bodyPr wrap="square">
            <a:spAutoFit/>
          </a:bodyPr>
          <a:lstStyle/>
          <a:p>
            <a:pPr algn="r"/>
            <a:r>
              <a:rPr lang="pt-PT" sz="1100" b="1" cap="all" dirty="0" err="1">
                <a:highlight>
                  <a:srgbClr val="FFFF00"/>
                </a:highlight>
              </a:rPr>
              <a:t>Graduation</a:t>
            </a:r>
            <a:r>
              <a:rPr lang="pt-PT" sz="1100" b="1" cap="all" dirty="0">
                <a:highlight>
                  <a:srgbClr val="FFFF00"/>
                </a:highlight>
              </a:rPr>
              <a:t> in </a:t>
            </a:r>
            <a:r>
              <a:rPr lang="pt-PT" sz="1100" b="1" cap="all" dirty="0" err="1">
                <a:highlight>
                  <a:srgbClr val="FFFF00"/>
                </a:highlight>
              </a:rPr>
              <a:t>Informatics</a:t>
            </a:r>
            <a:r>
              <a:rPr lang="pt-PT" sz="1100" b="1" cap="all" dirty="0">
                <a:highlight>
                  <a:srgbClr val="FFFF00"/>
                </a:highlight>
              </a:rPr>
              <a:t> </a:t>
            </a:r>
            <a:r>
              <a:rPr lang="pt-PT" sz="1100" b="1" cap="all" dirty="0" err="1">
                <a:highlight>
                  <a:srgbClr val="FFFF00"/>
                </a:highlight>
              </a:rPr>
              <a:t>engineering</a:t>
            </a:r>
            <a:endParaRPr lang="pt-PT" sz="1100" dirty="0">
              <a:highlight>
                <a:srgbClr val="FFFF00"/>
              </a:highlight>
            </a:endParaRPr>
          </a:p>
        </p:txBody>
      </p:sp>
      <p:pic>
        <p:nvPicPr>
          <p:cNvPr id="27" name="Imagem 26">
            <a:extLst>
              <a:ext uri="{FF2B5EF4-FFF2-40B4-BE49-F238E27FC236}">
                <a16:creationId xmlns:a16="http://schemas.microsoft.com/office/drawing/2014/main" id="{48DE12C4-2AB8-ABD2-858B-8B505C608A6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575316" y="9186"/>
            <a:ext cx="2575034" cy="639880"/>
          </a:xfrm>
          <a:prstGeom prst="rect">
            <a:avLst/>
          </a:prstGeom>
        </p:spPr>
      </p:pic>
      <p:sp>
        <p:nvSpPr>
          <p:cNvPr id="7" name="TextBox 6">
            <a:extLst>
              <a:ext uri="{FF2B5EF4-FFF2-40B4-BE49-F238E27FC236}">
                <a16:creationId xmlns:a16="http://schemas.microsoft.com/office/drawing/2014/main" id="{DB49828C-3F17-87A2-24CE-879079DDEA9F}"/>
              </a:ext>
            </a:extLst>
          </p:cNvPr>
          <p:cNvSpPr txBox="1"/>
          <p:nvPr/>
        </p:nvSpPr>
        <p:spPr>
          <a:xfrm>
            <a:off x="334907" y="1170723"/>
            <a:ext cx="7953431" cy="2800767"/>
          </a:xfrm>
          <a:prstGeom prst="rect">
            <a:avLst/>
          </a:prstGeom>
          <a:noFill/>
        </p:spPr>
        <p:txBody>
          <a:bodyPr wrap="square" rtlCol="0">
            <a:spAutoFit/>
          </a:bodyPr>
          <a:lstStyle/>
          <a:p>
            <a:r>
              <a:rPr lang="en-US" sz="1600" b="1" dirty="0"/>
              <a:t>Performance Outcomes:</a:t>
            </a:r>
            <a:r>
              <a:rPr lang="en-US" sz="1600" dirty="0"/>
              <a:t> </a:t>
            </a:r>
          </a:p>
          <a:p>
            <a:endParaRPr lang="en-US" sz="1600" dirty="0"/>
          </a:p>
          <a:p>
            <a:r>
              <a:rPr lang="en-US" sz="1600" dirty="0"/>
              <a:t>The execution output shows rapid model convergence. By the final epoch, the metrics indicated strong performance:</a:t>
            </a:r>
          </a:p>
          <a:p>
            <a:endParaRPr lang="en-US" sz="1600" dirty="0"/>
          </a:p>
          <a:p>
            <a:r>
              <a:rPr lang="en-US" sz="1600" b="1" dirty="0"/>
              <a:t>Final Training Accuracy:</a:t>
            </a:r>
            <a:r>
              <a:rPr lang="en-US" sz="1600" dirty="0"/>
              <a:t> ~95.9% (High accuracy on training data).</a:t>
            </a:r>
          </a:p>
          <a:p>
            <a:endParaRPr lang="en-US" sz="1600" dirty="0"/>
          </a:p>
          <a:p>
            <a:r>
              <a:rPr lang="en-US" sz="1600" b="1" dirty="0"/>
              <a:t>Final Validation Accuracy:</a:t>
            </a:r>
            <a:r>
              <a:rPr lang="en-US" sz="1600" dirty="0"/>
              <a:t> ~96.7% (Excellent generalization on unseen validation data).</a:t>
            </a:r>
          </a:p>
          <a:p>
            <a:endParaRPr lang="en-US" sz="1600" dirty="0"/>
          </a:p>
          <a:p>
            <a:r>
              <a:rPr lang="en-US" sz="1600" b="1" dirty="0"/>
              <a:t>Loss Trend:</a:t>
            </a:r>
            <a:r>
              <a:rPr lang="en-US" sz="1600" dirty="0"/>
              <a:t> Both training and validation loss decreased consistently, validating the effectiveness of the architecture.</a:t>
            </a:r>
          </a:p>
        </p:txBody>
      </p:sp>
      <p:sp>
        <p:nvSpPr>
          <p:cNvPr id="2" name="Subtítulo 2">
            <a:extLst>
              <a:ext uri="{FF2B5EF4-FFF2-40B4-BE49-F238E27FC236}">
                <a16:creationId xmlns:a16="http://schemas.microsoft.com/office/drawing/2014/main" id="{8B637C3F-D6A0-D9D2-A95D-CEB889559611}"/>
              </a:ext>
            </a:extLst>
          </p:cNvPr>
          <p:cNvSpPr txBox="1">
            <a:spLocks/>
          </p:cNvSpPr>
          <p:nvPr/>
        </p:nvSpPr>
        <p:spPr>
          <a:xfrm>
            <a:off x="836017" y="6524516"/>
            <a:ext cx="7698382" cy="162409"/>
          </a:xfrm>
          <a:prstGeom prst="rect">
            <a:avLst/>
          </a:prstGeom>
        </p:spPr>
        <p:txBody>
          <a:bodyPr vert="horz" lIns="68580" tIns="34290" rIns="68580" bIns="3429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pt-PT" sz="900" dirty="0">
                <a:latin typeface="Arial" charset="0"/>
                <a:ea typeface="Arial" charset="0"/>
                <a:cs typeface="Arial" charset="0"/>
              </a:rPr>
              <a:t>@Diogo Monteiro - 32428, Gonçalo Teixeira - 31396 | </a:t>
            </a:r>
            <a:r>
              <a:rPr lang="pt-PT" sz="900" b="1" dirty="0">
                <a:solidFill>
                  <a:srgbClr val="C00000"/>
                </a:solidFill>
                <a:latin typeface="Arial" charset="0"/>
                <a:ea typeface="Arial" charset="0"/>
                <a:cs typeface="Arial" charset="0"/>
              </a:rPr>
              <a:t>Unidade Curricular: Projeto III </a:t>
            </a:r>
            <a:r>
              <a:rPr lang="pt-PT" sz="900" dirty="0">
                <a:latin typeface="Arial" charset="0"/>
                <a:ea typeface="Arial" charset="0"/>
                <a:cs typeface="Arial" charset="0"/>
              </a:rPr>
              <a:t>– Ano Letivo 2024/2025 – </a:t>
            </a:r>
            <a:r>
              <a:rPr lang="pt-PT" sz="900" b="1" dirty="0">
                <a:latin typeface="Arial" charset="0"/>
                <a:ea typeface="Arial" charset="0"/>
                <a:cs typeface="Arial" charset="0"/>
              </a:rPr>
              <a:t>MCZ03</a:t>
            </a:r>
          </a:p>
        </p:txBody>
      </p:sp>
      <p:pic>
        <p:nvPicPr>
          <p:cNvPr id="4" name="Imagem 3">
            <a:extLst>
              <a:ext uri="{FF2B5EF4-FFF2-40B4-BE49-F238E27FC236}">
                <a16:creationId xmlns:a16="http://schemas.microsoft.com/office/drawing/2014/main" id="{E8DB7F6C-052F-D3CE-9C6C-EB4C02D346FB}"/>
              </a:ext>
            </a:extLst>
          </p:cNvPr>
          <p:cNvPicPr>
            <a:picLocks noChangeAspect="1"/>
          </p:cNvPicPr>
          <p:nvPr/>
        </p:nvPicPr>
        <p:blipFill>
          <a:blip r:embed="rId7"/>
          <a:srcRect b="35019"/>
          <a:stretch>
            <a:fillRect/>
          </a:stretch>
        </p:blipFill>
        <p:spPr>
          <a:xfrm>
            <a:off x="784758" y="4136414"/>
            <a:ext cx="7085901" cy="1197586"/>
          </a:xfrm>
          <a:prstGeom prst="rect">
            <a:avLst/>
          </a:prstGeom>
        </p:spPr>
      </p:pic>
    </p:spTree>
    <p:extLst>
      <p:ext uri="{BB962C8B-B14F-4D97-AF65-F5344CB8AC3E}">
        <p14:creationId xmlns:p14="http://schemas.microsoft.com/office/powerpoint/2010/main" val="42514809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31936-2E89-1F8C-8A17-8636C4A94303}"/>
            </a:ext>
          </a:extLst>
        </p:cNvPr>
        <p:cNvGrpSpPr/>
        <p:nvPr/>
      </p:nvGrpSpPr>
      <p:grpSpPr>
        <a:xfrm>
          <a:off x="0" y="0"/>
          <a:ext cx="0" cy="0"/>
          <a:chOff x="0" y="0"/>
          <a:chExt cx="0" cy="0"/>
        </a:xfrm>
      </p:grpSpPr>
      <p:sp>
        <p:nvSpPr>
          <p:cNvPr id="9229" name="Text Box 13">
            <a:extLst>
              <a:ext uri="{FF2B5EF4-FFF2-40B4-BE49-F238E27FC236}">
                <a16:creationId xmlns:a16="http://schemas.microsoft.com/office/drawing/2014/main" id="{A259E579-C899-B48F-F825-13AB2A3DAF84}"/>
              </a:ext>
            </a:extLst>
          </p:cNvPr>
          <p:cNvSpPr txBox="1">
            <a:spLocks noChangeArrowheads="1"/>
          </p:cNvSpPr>
          <p:nvPr/>
        </p:nvSpPr>
        <p:spPr bwMode="auto">
          <a:xfrm>
            <a:off x="306388" y="557213"/>
            <a:ext cx="6981825" cy="400050"/>
          </a:xfrm>
          <a:prstGeom prst="rect">
            <a:avLst/>
          </a:prstGeom>
          <a:noFill/>
          <a:ln w="9525">
            <a:noFill/>
            <a:miter lim="800000"/>
            <a:headEnd/>
            <a:tailEnd/>
          </a:ln>
          <a:effectLst/>
        </p:spPr>
        <p:txBody>
          <a:bodyPr>
            <a:spAutoFit/>
          </a:bodyPr>
          <a:lstStyle/>
          <a:p>
            <a:pPr>
              <a:spcBef>
                <a:spcPct val="50000"/>
              </a:spcBef>
              <a:defRPr/>
            </a:pPr>
            <a:r>
              <a:rPr lang="pt-PT" sz="2000" b="1" dirty="0">
                <a:solidFill>
                  <a:srgbClr val="C00000"/>
                </a:solidFill>
                <a:effectLst>
                  <a:outerShdw blurRad="38100" dist="38100" dir="2700000" algn="tl">
                    <a:srgbClr val="C0C0C0"/>
                  </a:outerShdw>
                </a:effectLst>
                <a:latin typeface="Arial"/>
                <a:cs typeface="Arial"/>
              </a:rPr>
              <a:t>■</a:t>
            </a:r>
            <a:r>
              <a:rPr lang="pt-PT" sz="2000" b="1" dirty="0">
                <a:effectLst>
                  <a:outerShdw blurRad="38100" dist="38100" dir="2700000" algn="tl">
                    <a:srgbClr val="C0C0C0"/>
                  </a:outerShdw>
                </a:effectLst>
                <a:latin typeface="Arial"/>
                <a:cs typeface="Arial"/>
              </a:rPr>
              <a:t> </a:t>
            </a:r>
            <a:r>
              <a:rPr lang="en-US" sz="2000" b="1" dirty="0">
                <a:effectLst>
                  <a:outerShdw blurRad="38100" dist="38100" dir="2700000" algn="tl">
                    <a:srgbClr val="C0C0C0"/>
                  </a:outerShdw>
                </a:effectLst>
                <a:latin typeface="Arial"/>
                <a:cs typeface="Arial"/>
              </a:rPr>
              <a:t>6. Model Testing</a:t>
            </a:r>
            <a:endParaRPr lang="pt-PT" sz="2000" b="1" dirty="0">
              <a:effectLst>
                <a:outerShdw blurRad="38100" dist="38100" dir="2700000" algn="tl">
                  <a:srgbClr val="C0C0C0"/>
                </a:outerShdw>
              </a:effectLst>
              <a:latin typeface="Arial" charset="0"/>
            </a:endParaRPr>
          </a:p>
        </p:txBody>
      </p:sp>
      <p:sp>
        <p:nvSpPr>
          <p:cNvPr id="10247" name="Line 15">
            <a:extLst>
              <a:ext uri="{FF2B5EF4-FFF2-40B4-BE49-F238E27FC236}">
                <a16:creationId xmlns:a16="http://schemas.microsoft.com/office/drawing/2014/main" id="{74942C3E-8AB8-6289-248D-5D6245C08714}"/>
              </a:ext>
            </a:extLst>
          </p:cNvPr>
          <p:cNvSpPr>
            <a:spLocks noChangeShapeType="1"/>
          </p:cNvSpPr>
          <p:nvPr/>
        </p:nvSpPr>
        <p:spPr bwMode="auto">
          <a:xfrm>
            <a:off x="250825" y="0"/>
            <a:ext cx="0" cy="765175"/>
          </a:xfrm>
          <a:prstGeom prst="line">
            <a:avLst/>
          </a:prstGeom>
          <a:noFill/>
          <a:ln w="25400">
            <a:solidFill>
              <a:schemeClr val="tx1"/>
            </a:solidFill>
            <a:round/>
            <a:headEnd/>
            <a:tailEnd/>
          </a:ln>
        </p:spPr>
        <p:txBody>
          <a:bodyPr/>
          <a:lstStyle/>
          <a:p>
            <a:endParaRPr lang="pt-PT"/>
          </a:p>
        </p:txBody>
      </p:sp>
      <p:sp>
        <p:nvSpPr>
          <p:cNvPr id="9237" name="Text Box 21">
            <a:extLst>
              <a:ext uri="{FF2B5EF4-FFF2-40B4-BE49-F238E27FC236}">
                <a16:creationId xmlns:a16="http://schemas.microsoft.com/office/drawing/2014/main" id="{15DEE8E1-6C3F-8B3F-238D-6FF682BAA932}"/>
              </a:ext>
            </a:extLst>
          </p:cNvPr>
          <p:cNvSpPr txBox="1">
            <a:spLocks noChangeArrowheads="1"/>
          </p:cNvSpPr>
          <p:nvPr/>
        </p:nvSpPr>
        <p:spPr bwMode="auto">
          <a:xfrm>
            <a:off x="260350" y="44450"/>
            <a:ext cx="6981825" cy="304800"/>
          </a:xfrm>
          <a:prstGeom prst="rect">
            <a:avLst/>
          </a:prstGeom>
          <a:noFill/>
          <a:ln w="9525">
            <a:noFill/>
            <a:miter lim="800000"/>
            <a:headEnd/>
            <a:tailEnd/>
          </a:ln>
          <a:effectLst/>
        </p:spPr>
        <p:txBody>
          <a:bodyPr>
            <a:spAutoFit/>
          </a:bodyPr>
          <a:lstStyle/>
          <a:p>
            <a:pPr>
              <a:spcBef>
                <a:spcPct val="50000"/>
              </a:spcBef>
              <a:defRPr/>
            </a:pPr>
            <a:endParaRPr lang="pt-PT" sz="1400" b="1" dirty="0">
              <a:solidFill>
                <a:srgbClr val="FF3300"/>
              </a:solidFill>
              <a:effectLst>
                <a:outerShdw blurRad="38100" dist="38100" dir="2700000" algn="tl">
                  <a:srgbClr val="C0C0C0"/>
                </a:outerShdw>
              </a:effectLst>
              <a:latin typeface="Arial" charset="0"/>
            </a:endParaRPr>
          </a:p>
        </p:txBody>
      </p:sp>
      <p:pic>
        <p:nvPicPr>
          <p:cNvPr id="18" name="Imagem 17">
            <a:extLst>
              <a:ext uri="{FF2B5EF4-FFF2-40B4-BE49-F238E27FC236}">
                <a16:creationId xmlns:a16="http://schemas.microsoft.com/office/drawing/2014/main" id="{01E90ED7-DD22-4DAA-39B9-51F51854E99E}"/>
              </a:ext>
            </a:extLst>
          </p:cNvPr>
          <p:cNvPicPr>
            <a:picLocks noChangeAspect="1"/>
          </p:cNvPicPr>
          <p:nvPr/>
        </p:nvPicPr>
        <p:blipFill>
          <a:blip r:embed="rId3"/>
          <a:stretch>
            <a:fillRect/>
          </a:stretch>
        </p:blipFill>
        <p:spPr>
          <a:xfrm>
            <a:off x="101225" y="904241"/>
            <a:ext cx="9014192" cy="266482"/>
          </a:xfrm>
          <a:prstGeom prst="rect">
            <a:avLst/>
          </a:prstGeom>
        </p:spPr>
      </p:pic>
      <p:sp>
        <p:nvSpPr>
          <p:cNvPr id="21" name="Text Box 10">
            <a:extLst>
              <a:ext uri="{FF2B5EF4-FFF2-40B4-BE49-F238E27FC236}">
                <a16:creationId xmlns:a16="http://schemas.microsoft.com/office/drawing/2014/main" id="{D535E3A4-25AA-CC5B-12C6-1773935D4706}"/>
              </a:ext>
            </a:extLst>
          </p:cNvPr>
          <p:cNvSpPr txBox="1">
            <a:spLocks noChangeArrowheads="1"/>
          </p:cNvSpPr>
          <p:nvPr/>
        </p:nvSpPr>
        <p:spPr bwMode="auto">
          <a:xfrm>
            <a:off x="8288338" y="6296025"/>
            <a:ext cx="827087" cy="366713"/>
          </a:xfrm>
          <a:prstGeom prst="rect">
            <a:avLst/>
          </a:prstGeom>
          <a:noFill/>
          <a:ln w="9525">
            <a:noFill/>
            <a:miter lim="800000"/>
            <a:headEnd/>
            <a:tailEnd/>
          </a:ln>
        </p:spPr>
        <p:txBody>
          <a:bodyPr>
            <a:spAutoFit/>
          </a:bodyPr>
          <a:lstStyle/>
          <a:p>
            <a:pPr>
              <a:spcBef>
                <a:spcPct val="50000"/>
              </a:spcBef>
            </a:pPr>
            <a:endParaRPr lang="pt-PT"/>
          </a:p>
        </p:txBody>
      </p:sp>
      <p:sp>
        <p:nvSpPr>
          <p:cNvPr id="22" name="Rectangle 11">
            <a:extLst>
              <a:ext uri="{FF2B5EF4-FFF2-40B4-BE49-F238E27FC236}">
                <a16:creationId xmlns:a16="http://schemas.microsoft.com/office/drawing/2014/main" id="{E5FC43D1-5A75-D185-3FFB-367E3F19517E}"/>
              </a:ext>
            </a:extLst>
          </p:cNvPr>
          <p:cNvSpPr>
            <a:spLocks noChangeArrowheads="1"/>
          </p:cNvSpPr>
          <p:nvPr/>
        </p:nvSpPr>
        <p:spPr bwMode="auto">
          <a:xfrm>
            <a:off x="8327571" y="6496091"/>
            <a:ext cx="936625" cy="260350"/>
          </a:xfrm>
          <a:prstGeom prst="rect">
            <a:avLst/>
          </a:prstGeom>
          <a:noFill/>
          <a:ln w="9525">
            <a:noFill/>
            <a:miter lim="800000"/>
            <a:headEnd/>
            <a:tailEnd/>
          </a:ln>
        </p:spPr>
        <p:txBody>
          <a:bodyPr anchor="ctr"/>
          <a:lstStyle/>
          <a:p>
            <a:pPr algn="ctr"/>
            <a:r>
              <a:rPr lang="pt-PT" sz="1000" dirty="0"/>
              <a:t>- </a:t>
            </a:r>
            <a:fld id="{1234D2FF-8FB9-47A1-B8C9-42A5F500BA2F}" type="slidenum">
              <a:rPr lang="pt-PT" sz="1000"/>
              <a:pPr algn="ctr"/>
              <a:t>34</a:t>
            </a:fld>
            <a:r>
              <a:rPr lang="pt-PT" sz="1000" dirty="0"/>
              <a:t> -</a:t>
            </a:r>
          </a:p>
        </p:txBody>
      </p:sp>
      <p:pic>
        <p:nvPicPr>
          <p:cNvPr id="23" name="Imagem 22">
            <a:extLst>
              <a:ext uri="{FF2B5EF4-FFF2-40B4-BE49-F238E27FC236}">
                <a16:creationId xmlns:a16="http://schemas.microsoft.com/office/drawing/2014/main" id="{EFFF11F5-5F1F-F8E1-0EC7-A57F265746B8}"/>
              </a:ext>
            </a:extLst>
          </p:cNvPr>
          <p:cNvPicPr>
            <a:picLocks noChangeAspect="1"/>
          </p:cNvPicPr>
          <p:nvPr/>
        </p:nvPicPr>
        <p:blipFill>
          <a:blip r:embed="rId4"/>
          <a:stretch>
            <a:fillRect/>
          </a:stretch>
        </p:blipFill>
        <p:spPr>
          <a:xfrm>
            <a:off x="0" y="6320212"/>
            <a:ext cx="9144000" cy="253252"/>
          </a:xfrm>
          <a:prstGeom prst="rect">
            <a:avLst/>
          </a:prstGeom>
        </p:spPr>
      </p:pic>
      <p:pic>
        <p:nvPicPr>
          <p:cNvPr id="25" name="Imagem 24">
            <a:extLst>
              <a:ext uri="{FF2B5EF4-FFF2-40B4-BE49-F238E27FC236}">
                <a16:creationId xmlns:a16="http://schemas.microsoft.com/office/drawing/2014/main" id="{D9F46EF9-4838-1243-DEFC-133E7AAC414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8125" y="6488336"/>
            <a:ext cx="545959" cy="199802"/>
          </a:xfrm>
          <a:prstGeom prst="rect">
            <a:avLst/>
          </a:prstGeom>
        </p:spPr>
      </p:pic>
      <p:sp>
        <p:nvSpPr>
          <p:cNvPr id="26" name="Rectângulo 19">
            <a:extLst>
              <a:ext uri="{FF2B5EF4-FFF2-40B4-BE49-F238E27FC236}">
                <a16:creationId xmlns:a16="http://schemas.microsoft.com/office/drawing/2014/main" id="{3482C3FA-2526-9692-7C8E-A824A788856F}"/>
              </a:ext>
            </a:extLst>
          </p:cNvPr>
          <p:cNvSpPr/>
          <p:nvPr/>
        </p:nvSpPr>
        <p:spPr>
          <a:xfrm>
            <a:off x="5535613" y="553019"/>
            <a:ext cx="3505200" cy="261610"/>
          </a:xfrm>
          <a:prstGeom prst="rect">
            <a:avLst/>
          </a:prstGeom>
        </p:spPr>
        <p:txBody>
          <a:bodyPr wrap="square">
            <a:spAutoFit/>
          </a:bodyPr>
          <a:lstStyle/>
          <a:p>
            <a:pPr algn="r"/>
            <a:r>
              <a:rPr lang="pt-PT" sz="1100" b="1" cap="all" dirty="0" err="1">
                <a:highlight>
                  <a:srgbClr val="FFFF00"/>
                </a:highlight>
              </a:rPr>
              <a:t>Graduation</a:t>
            </a:r>
            <a:r>
              <a:rPr lang="pt-PT" sz="1100" b="1" cap="all" dirty="0">
                <a:highlight>
                  <a:srgbClr val="FFFF00"/>
                </a:highlight>
              </a:rPr>
              <a:t> in </a:t>
            </a:r>
            <a:r>
              <a:rPr lang="pt-PT" sz="1100" b="1" cap="all" dirty="0" err="1">
                <a:highlight>
                  <a:srgbClr val="FFFF00"/>
                </a:highlight>
              </a:rPr>
              <a:t>Informatics</a:t>
            </a:r>
            <a:r>
              <a:rPr lang="pt-PT" sz="1100" b="1" cap="all" dirty="0">
                <a:highlight>
                  <a:srgbClr val="FFFF00"/>
                </a:highlight>
              </a:rPr>
              <a:t> </a:t>
            </a:r>
            <a:r>
              <a:rPr lang="pt-PT" sz="1100" b="1" cap="all" dirty="0" err="1">
                <a:highlight>
                  <a:srgbClr val="FFFF00"/>
                </a:highlight>
              </a:rPr>
              <a:t>engineering</a:t>
            </a:r>
            <a:endParaRPr lang="pt-PT" sz="1100" dirty="0">
              <a:highlight>
                <a:srgbClr val="FFFF00"/>
              </a:highlight>
            </a:endParaRPr>
          </a:p>
        </p:txBody>
      </p:sp>
      <p:pic>
        <p:nvPicPr>
          <p:cNvPr id="27" name="Imagem 26">
            <a:extLst>
              <a:ext uri="{FF2B5EF4-FFF2-40B4-BE49-F238E27FC236}">
                <a16:creationId xmlns:a16="http://schemas.microsoft.com/office/drawing/2014/main" id="{C73F3A9E-AD97-2995-AC95-74C7980CE70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575316" y="9186"/>
            <a:ext cx="2575034" cy="639880"/>
          </a:xfrm>
          <a:prstGeom prst="rect">
            <a:avLst/>
          </a:prstGeom>
        </p:spPr>
      </p:pic>
      <p:sp>
        <p:nvSpPr>
          <p:cNvPr id="7" name="TextBox 6">
            <a:extLst>
              <a:ext uri="{FF2B5EF4-FFF2-40B4-BE49-F238E27FC236}">
                <a16:creationId xmlns:a16="http://schemas.microsoft.com/office/drawing/2014/main" id="{2890973C-8108-3CB5-C248-AACD213AA3C6}"/>
              </a:ext>
            </a:extLst>
          </p:cNvPr>
          <p:cNvSpPr txBox="1"/>
          <p:nvPr/>
        </p:nvSpPr>
        <p:spPr>
          <a:xfrm>
            <a:off x="334907" y="1170723"/>
            <a:ext cx="3627493" cy="5016758"/>
          </a:xfrm>
          <a:prstGeom prst="rect">
            <a:avLst/>
          </a:prstGeom>
          <a:noFill/>
        </p:spPr>
        <p:txBody>
          <a:bodyPr wrap="square" rtlCol="0">
            <a:spAutoFit/>
          </a:bodyPr>
          <a:lstStyle/>
          <a:p>
            <a:pPr algn="just"/>
            <a:r>
              <a:rPr lang="en-US" sz="1600" b="1" dirty="0"/>
              <a:t>Global Evaluation:</a:t>
            </a:r>
            <a:r>
              <a:rPr lang="en-US" sz="1600" dirty="0"/>
              <a:t> </a:t>
            </a:r>
          </a:p>
          <a:p>
            <a:pPr algn="just"/>
            <a:r>
              <a:rPr lang="en-US" sz="1600" dirty="0"/>
              <a:t>The model achieved strong generalization capabilities on the full test dataset, with a </a:t>
            </a:r>
            <a:r>
              <a:rPr lang="en-US" sz="1600" b="1" dirty="0"/>
              <a:t>Test Accuracy of 94.1%</a:t>
            </a:r>
            <a:r>
              <a:rPr lang="en-US" sz="1600" dirty="0"/>
              <a:t> and a low </a:t>
            </a:r>
            <a:r>
              <a:rPr lang="en-US" sz="1600" b="1" dirty="0"/>
              <a:t>Loss of 0.176</a:t>
            </a:r>
            <a:r>
              <a:rPr lang="en-US" sz="1600" dirty="0"/>
              <a:t>.</a:t>
            </a:r>
          </a:p>
          <a:p>
            <a:pPr algn="just"/>
            <a:endParaRPr lang="en-US" sz="1600" dirty="0"/>
          </a:p>
          <a:p>
            <a:pPr algn="just"/>
            <a:r>
              <a:rPr lang="en-US" sz="1600" b="1" dirty="0"/>
              <a:t>Single Image Validation:</a:t>
            </a:r>
            <a:r>
              <a:rPr lang="en-US" sz="1600" dirty="0"/>
              <a:t> To demonstrate practical application, we tested the model with a specific standalone satellite image ("</a:t>
            </a:r>
            <a:r>
              <a:rPr lang="en-US" sz="1600" b="1" dirty="0"/>
              <a:t>teste.jpg</a:t>
            </a:r>
            <a:r>
              <a:rPr lang="en-US" sz="1600" dirty="0"/>
              <a:t>").</a:t>
            </a:r>
          </a:p>
          <a:p>
            <a:pPr algn="just"/>
            <a:endParaRPr lang="en-US" sz="1600" dirty="0"/>
          </a:p>
          <a:p>
            <a:pPr algn="just"/>
            <a:r>
              <a:rPr lang="en-US" sz="1600" b="1" dirty="0"/>
              <a:t>Method:</a:t>
            </a:r>
            <a:r>
              <a:rPr lang="en-US" sz="1600" dirty="0"/>
              <a:t> The image was loaded, resized to 160x160, and processed by the model.</a:t>
            </a:r>
          </a:p>
          <a:p>
            <a:pPr algn="just"/>
            <a:endParaRPr lang="en-US" sz="1600" dirty="0"/>
          </a:p>
          <a:p>
            <a:pPr algn="just"/>
            <a:r>
              <a:rPr lang="en-US" sz="1600" b="1" dirty="0"/>
              <a:t>Result:</a:t>
            </a:r>
            <a:r>
              <a:rPr lang="en-US" sz="1600" dirty="0"/>
              <a:t> The model successfully classified the image (e.g., "No Wildfire") with high confidence (100%), demonstrating its ability to handle individual real-world inputs outside the dataset batch structure.</a:t>
            </a:r>
          </a:p>
        </p:txBody>
      </p:sp>
      <p:sp>
        <p:nvSpPr>
          <p:cNvPr id="2" name="Subtítulo 2">
            <a:extLst>
              <a:ext uri="{FF2B5EF4-FFF2-40B4-BE49-F238E27FC236}">
                <a16:creationId xmlns:a16="http://schemas.microsoft.com/office/drawing/2014/main" id="{ECBA8332-C90E-B43B-C127-61F2C0CB0EF1}"/>
              </a:ext>
            </a:extLst>
          </p:cNvPr>
          <p:cNvSpPr txBox="1">
            <a:spLocks/>
          </p:cNvSpPr>
          <p:nvPr/>
        </p:nvSpPr>
        <p:spPr>
          <a:xfrm>
            <a:off x="836017" y="6524516"/>
            <a:ext cx="7698382" cy="162409"/>
          </a:xfrm>
          <a:prstGeom prst="rect">
            <a:avLst/>
          </a:prstGeom>
        </p:spPr>
        <p:txBody>
          <a:bodyPr vert="horz" lIns="68580" tIns="34290" rIns="68580" bIns="3429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pt-PT" sz="900" dirty="0">
                <a:latin typeface="Arial" charset="0"/>
                <a:ea typeface="Arial" charset="0"/>
                <a:cs typeface="Arial" charset="0"/>
              </a:rPr>
              <a:t>@Diogo Monteiro - 32428, Gonçalo Teixeira - 31396 | </a:t>
            </a:r>
            <a:r>
              <a:rPr lang="pt-PT" sz="900" b="1" dirty="0">
                <a:solidFill>
                  <a:srgbClr val="C00000"/>
                </a:solidFill>
                <a:latin typeface="Arial" charset="0"/>
                <a:ea typeface="Arial" charset="0"/>
                <a:cs typeface="Arial" charset="0"/>
              </a:rPr>
              <a:t>Unidade Curricular: Projeto III </a:t>
            </a:r>
            <a:r>
              <a:rPr lang="pt-PT" sz="900" dirty="0">
                <a:latin typeface="Arial" charset="0"/>
                <a:ea typeface="Arial" charset="0"/>
                <a:cs typeface="Arial" charset="0"/>
              </a:rPr>
              <a:t>– Ano Letivo 2024/2025 – </a:t>
            </a:r>
            <a:r>
              <a:rPr lang="pt-PT" sz="900" b="1" dirty="0">
                <a:latin typeface="Arial" charset="0"/>
                <a:ea typeface="Arial" charset="0"/>
                <a:cs typeface="Arial" charset="0"/>
              </a:rPr>
              <a:t>MCZ03</a:t>
            </a:r>
          </a:p>
        </p:txBody>
      </p:sp>
      <p:pic>
        <p:nvPicPr>
          <p:cNvPr id="5" name="Imagem 4">
            <a:extLst>
              <a:ext uri="{FF2B5EF4-FFF2-40B4-BE49-F238E27FC236}">
                <a16:creationId xmlns:a16="http://schemas.microsoft.com/office/drawing/2014/main" id="{AE3300A5-9CC8-4AB9-9D10-23558228494A}"/>
              </a:ext>
            </a:extLst>
          </p:cNvPr>
          <p:cNvPicPr>
            <a:picLocks noChangeAspect="1"/>
          </p:cNvPicPr>
          <p:nvPr/>
        </p:nvPicPr>
        <p:blipFill>
          <a:blip r:embed="rId7"/>
          <a:stretch>
            <a:fillRect/>
          </a:stretch>
        </p:blipFill>
        <p:spPr>
          <a:xfrm>
            <a:off x="4751387" y="5155432"/>
            <a:ext cx="3543816" cy="686614"/>
          </a:xfrm>
          <a:prstGeom prst="rect">
            <a:avLst/>
          </a:prstGeom>
        </p:spPr>
      </p:pic>
      <p:pic>
        <p:nvPicPr>
          <p:cNvPr id="10" name="Imagem 9">
            <a:extLst>
              <a:ext uri="{FF2B5EF4-FFF2-40B4-BE49-F238E27FC236}">
                <a16:creationId xmlns:a16="http://schemas.microsoft.com/office/drawing/2014/main" id="{41DE9D2B-759E-2488-7B0F-5C37FBE3E1C0}"/>
              </a:ext>
            </a:extLst>
          </p:cNvPr>
          <p:cNvPicPr>
            <a:picLocks noChangeAspect="1"/>
          </p:cNvPicPr>
          <p:nvPr/>
        </p:nvPicPr>
        <p:blipFill>
          <a:blip r:embed="rId8"/>
          <a:stretch>
            <a:fillRect/>
          </a:stretch>
        </p:blipFill>
        <p:spPr>
          <a:xfrm>
            <a:off x="4114800" y="1564510"/>
            <a:ext cx="4811146" cy="2975966"/>
          </a:xfrm>
          <a:prstGeom prst="rect">
            <a:avLst/>
          </a:prstGeom>
        </p:spPr>
      </p:pic>
      <p:sp>
        <p:nvSpPr>
          <p:cNvPr id="12" name="CaixaDeTexto 11">
            <a:extLst>
              <a:ext uri="{FF2B5EF4-FFF2-40B4-BE49-F238E27FC236}">
                <a16:creationId xmlns:a16="http://schemas.microsoft.com/office/drawing/2014/main" id="{A4F2AE3E-C75B-C704-9F5B-C00C3D3131CF}"/>
              </a:ext>
            </a:extLst>
          </p:cNvPr>
          <p:cNvSpPr txBox="1"/>
          <p:nvPr/>
        </p:nvSpPr>
        <p:spPr>
          <a:xfrm>
            <a:off x="6063173" y="4490130"/>
            <a:ext cx="914400" cy="307777"/>
          </a:xfrm>
          <a:prstGeom prst="rect">
            <a:avLst/>
          </a:prstGeom>
          <a:noFill/>
        </p:spPr>
        <p:txBody>
          <a:bodyPr wrap="square">
            <a:spAutoFit/>
          </a:bodyPr>
          <a:lstStyle/>
          <a:p>
            <a:r>
              <a:rPr lang="en-US" sz="1400" b="1" dirty="0"/>
              <a:t>teste.jpg</a:t>
            </a:r>
            <a:endParaRPr lang="pt-PT" sz="1400" b="1" dirty="0"/>
          </a:p>
        </p:txBody>
      </p:sp>
    </p:spTree>
    <p:extLst>
      <p:ext uri="{BB962C8B-B14F-4D97-AF65-F5344CB8AC3E}">
        <p14:creationId xmlns:p14="http://schemas.microsoft.com/office/powerpoint/2010/main" val="12668182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07D74-03AA-2F24-8979-F50D7A61649E}"/>
            </a:ext>
          </a:extLst>
        </p:cNvPr>
        <p:cNvGrpSpPr/>
        <p:nvPr/>
      </p:nvGrpSpPr>
      <p:grpSpPr>
        <a:xfrm>
          <a:off x="0" y="0"/>
          <a:ext cx="0" cy="0"/>
          <a:chOff x="0" y="0"/>
          <a:chExt cx="0" cy="0"/>
        </a:xfrm>
      </p:grpSpPr>
      <p:sp>
        <p:nvSpPr>
          <p:cNvPr id="9229" name="Text Box 13">
            <a:extLst>
              <a:ext uri="{FF2B5EF4-FFF2-40B4-BE49-F238E27FC236}">
                <a16:creationId xmlns:a16="http://schemas.microsoft.com/office/drawing/2014/main" id="{B5EDEA08-A169-08B5-547A-882A84660A19}"/>
              </a:ext>
            </a:extLst>
          </p:cNvPr>
          <p:cNvSpPr txBox="1">
            <a:spLocks noChangeArrowheads="1"/>
          </p:cNvSpPr>
          <p:nvPr/>
        </p:nvSpPr>
        <p:spPr bwMode="auto">
          <a:xfrm>
            <a:off x="306388" y="545068"/>
            <a:ext cx="6981825" cy="369332"/>
          </a:xfrm>
          <a:prstGeom prst="rect">
            <a:avLst/>
          </a:prstGeom>
          <a:noFill/>
          <a:ln w="9525">
            <a:noFill/>
            <a:miter lim="800000"/>
            <a:headEnd/>
            <a:tailEnd/>
          </a:ln>
          <a:effectLst/>
        </p:spPr>
        <p:txBody>
          <a:bodyPr>
            <a:spAutoFit/>
          </a:bodyPr>
          <a:lstStyle/>
          <a:p>
            <a:pPr>
              <a:spcBef>
                <a:spcPct val="50000"/>
              </a:spcBef>
              <a:defRPr/>
            </a:pPr>
            <a:r>
              <a:rPr lang="pt-PT" b="1" dirty="0">
                <a:solidFill>
                  <a:srgbClr val="C00000"/>
                </a:solidFill>
                <a:effectLst>
                  <a:outerShdw blurRad="38100" dist="38100" dir="2700000" algn="tl">
                    <a:srgbClr val="C0C0C0"/>
                  </a:outerShdw>
                </a:effectLst>
                <a:latin typeface="Arial"/>
                <a:cs typeface="Arial"/>
              </a:rPr>
              <a:t>■</a:t>
            </a:r>
            <a:r>
              <a:rPr lang="pt-PT" b="1" dirty="0">
                <a:effectLst>
                  <a:outerShdw blurRad="38100" dist="38100" dir="2700000" algn="tl">
                    <a:srgbClr val="C0C0C0"/>
                  </a:outerShdw>
                </a:effectLst>
                <a:latin typeface="Arial"/>
                <a:cs typeface="Arial"/>
              </a:rPr>
              <a:t> 7. </a:t>
            </a:r>
            <a:r>
              <a:rPr lang="pt-PT" b="1" dirty="0" err="1">
                <a:effectLst>
                  <a:outerShdw blurRad="38100" dist="38100" dir="2700000" algn="tl">
                    <a:srgbClr val="C0C0C0"/>
                  </a:outerShdw>
                </a:effectLst>
                <a:latin typeface="Arial"/>
                <a:cs typeface="Arial"/>
              </a:rPr>
              <a:t>Conclusion</a:t>
            </a:r>
            <a:r>
              <a:rPr lang="pt-PT" b="1" dirty="0">
                <a:effectLst>
                  <a:outerShdw blurRad="38100" dist="38100" dir="2700000" algn="tl">
                    <a:srgbClr val="C0C0C0"/>
                  </a:outerShdw>
                </a:effectLst>
                <a:latin typeface="Arial"/>
                <a:cs typeface="Arial"/>
              </a:rPr>
              <a:t> </a:t>
            </a:r>
            <a:r>
              <a:rPr lang="pt-PT" b="1" dirty="0" err="1">
                <a:effectLst>
                  <a:outerShdw blurRad="38100" dist="38100" dir="2700000" algn="tl">
                    <a:srgbClr val="C0C0C0"/>
                  </a:outerShdw>
                </a:effectLst>
                <a:latin typeface="Arial"/>
                <a:cs typeface="Arial"/>
              </a:rPr>
              <a:t>and</a:t>
            </a:r>
            <a:r>
              <a:rPr lang="pt-PT" b="1" dirty="0">
                <a:effectLst>
                  <a:outerShdw blurRad="38100" dist="38100" dir="2700000" algn="tl">
                    <a:srgbClr val="C0C0C0"/>
                  </a:outerShdw>
                </a:effectLst>
                <a:latin typeface="Arial"/>
                <a:cs typeface="Arial"/>
              </a:rPr>
              <a:t> Future </a:t>
            </a:r>
            <a:r>
              <a:rPr lang="pt-PT" b="1" dirty="0" err="1">
                <a:effectLst>
                  <a:outerShdw blurRad="38100" dist="38100" dir="2700000" algn="tl">
                    <a:srgbClr val="C0C0C0"/>
                  </a:outerShdw>
                </a:effectLst>
                <a:latin typeface="Arial"/>
                <a:cs typeface="Arial"/>
              </a:rPr>
              <a:t>Work</a:t>
            </a:r>
            <a:endParaRPr lang="pt-PT" b="1" dirty="0">
              <a:effectLst>
                <a:outerShdw blurRad="38100" dist="38100" dir="2700000" algn="tl">
                  <a:srgbClr val="C0C0C0"/>
                </a:outerShdw>
              </a:effectLst>
              <a:latin typeface="Arial" charset="0"/>
            </a:endParaRPr>
          </a:p>
        </p:txBody>
      </p:sp>
      <p:sp>
        <p:nvSpPr>
          <p:cNvPr id="10247" name="Line 15">
            <a:extLst>
              <a:ext uri="{FF2B5EF4-FFF2-40B4-BE49-F238E27FC236}">
                <a16:creationId xmlns:a16="http://schemas.microsoft.com/office/drawing/2014/main" id="{443C5CD7-ABE6-7704-56B0-30C7980CE858}"/>
              </a:ext>
            </a:extLst>
          </p:cNvPr>
          <p:cNvSpPr>
            <a:spLocks noChangeShapeType="1"/>
          </p:cNvSpPr>
          <p:nvPr/>
        </p:nvSpPr>
        <p:spPr bwMode="auto">
          <a:xfrm>
            <a:off x="250825" y="0"/>
            <a:ext cx="0" cy="765175"/>
          </a:xfrm>
          <a:prstGeom prst="line">
            <a:avLst/>
          </a:prstGeom>
          <a:noFill/>
          <a:ln w="25400">
            <a:solidFill>
              <a:schemeClr val="tx1"/>
            </a:solidFill>
            <a:round/>
            <a:headEnd/>
            <a:tailEnd/>
          </a:ln>
        </p:spPr>
        <p:txBody>
          <a:bodyPr/>
          <a:lstStyle/>
          <a:p>
            <a:endParaRPr lang="pt-PT"/>
          </a:p>
        </p:txBody>
      </p:sp>
      <p:sp>
        <p:nvSpPr>
          <p:cNvPr id="9237" name="Text Box 21">
            <a:extLst>
              <a:ext uri="{FF2B5EF4-FFF2-40B4-BE49-F238E27FC236}">
                <a16:creationId xmlns:a16="http://schemas.microsoft.com/office/drawing/2014/main" id="{BF29753D-80DB-9C80-85DC-706EB166C133}"/>
              </a:ext>
            </a:extLst>
          </p:cNvPr>
          <p:cNvSpPr txBox="1">
            <a:spLocks noChangeArrowheads="1"/>
          </p:cNvSpPr>
          <p:nvPr/>
        </p:nvSpPr>
        <p:spPr bwMode="auto">
          <a:xfrm>
            <a:off x="260350" y="44450"/>
            <a:ext cx="6981825" cy="304800"/>
          </a:xfrm>
          <a:prstGeom prst="rect">
            <a:avLst/>
          </a:prstGeom>
          <a:noFill/>
          <a:ln w="9525">
            <a:noFill/>
            <a:miter lim="800000"/>
            <a:headEnd/>
            <a:tailEnd/>
          </a:ln>
          <a:effectLst/>
        </p:spPr>
        <p:txBody>
          <a:bodyPr>
            <a:spAutoFit/>
          </a:bodyPr>
          <a:lstStyle/>
          <a:p>
            <a:pPr>
              <a:spcBef>
                <a:spcPct val="50000"/>
              </a:spcBef>
              <a:defRPr/>
            </a:pPr>
            <a:endParaRPr lang="pt-PT" sz="1400" b="1" dirty="0">
              <a:solidFill>
                <a:srgbClr val="FF3300"/>
              </a:solidFill>
              <a:effectLst>
                <a:outerShdw blurRad="38100" dist="38100" dir="2700000" algn="tl">
                  <a:srgbClr val="C0C0C0"/>
                </a:outerShdw>
              </a:effectLst>
              <a:latin typeface="Arial" charset="0"/>
            </a:endParaRPr>
          </a:p>
        </p:txBody>
      </p:sp>
      <p:sp>
        <p:nvSpPr>
          <p:cNvPr id="12" name="CaixaDeTexto 11">
            <a:extLst>
              <a:ext uri="{FF2B5EF4-FFF2-40B4-BE49-F238E27FC236}">
                <a16:creationId xmlns:a16="http://schemas.microsoft.com/office/drawing/2014/main" id="{798CA8D2-E8E8-EBDC-1265-524CCF36D216}"/>
              </a:ext>
            </a:extLst>
          </p:cNvPr>
          <p:cNvSpPr txBox="1"/>
          <p:nvPr/>
        </p:nvSpPr>
        <p:spPr>
          <a:xfrm>
            <a:off x="419100" y="1087714"/>
            <a:ext cx="8305800" cy="4292842"/>
          </a:xfrm>
          <a:prstGeom prst="rect">
            <a:avLst/>
          </a:prstGeom>
          <a:noFill/>
          <a:ln>
            <a:noFill/>
          </a:ln>
        </p:spPr>
        <p:txBody>
          <a:bodyPr wrap="square" rtlCol="0">
            <a:spAutoFit/>
          </a:bodyPr>
          <a:lstStyle/>
          <a:p>
            <a:r>
              <a:rPr lang="en-US" i="1" dirty="0">
                <a:solidFill>
                  <a:srgbClr val="FFC000"/>
                </a:solidFill>
                <a:latin typeface="Arial"/>
                <a:cs typeface="Arial"/>
              </a:rPr>
              <a:t>■</a:t>
            </a:r>
            <a:r>
              <a:rPr lang="pt-PT" dirty="0"/>
              <a:t> </a:t>
            </a:r>
            <a:r>
              <a:rPr lang="en-US" sz="1600" dirty="0"/>
              <a:t>In this checkpoint, we successfully established a clean data pipeline and trained a highly accurate CNN (94.1% test accuracy). The implementation of data validation scripts significantly improved the stability of the training process.</a:t>
            </a:r>
          </a:p>
          <a:p>
            <a:endParaRPr lang="en-US" sz="1600" dirty="0"/>
          </a:p>
          <a:p>
            <a:endParaRPr lang="en-US" sz="1600" dirty="0"/>
          </a:p>
          <a:p>
            <a:r>
              <a:rPr lang="en-US" sz="1600" b="1" dirty="0"/>
              <a:t>Future Work:</a:t>
            </a:r>
          </a:p>
          <a:p>
            <a:endParaRPr lang="en-US" sz="1600" dirty="0"/>
          </a:p>
          <a:p>
            <a:r>
              <a:rPr lang="en-US" sz="1600" b="1" dirty="0"/>
              <a:t>Model Diversification:</a:t>
            </a:r>
            <a:r>
              <a:rPr lang="en-US" sz="1600" dirty="0"/>
              <a:t> Develop and train additional model architectures to compare performance against the current baseline.</a:t>
            </a:r>
          </a:p>
          <a:p>
            <a:endParaRPr lang="en-US" sz="1600" dirty="0"/>
          </a:p>
          <a:p>
            <a:r>
              <a:rPr lang="en-US" sz="1600" b="1" dirty="0"/>
              <a:t>Dataset Expansion:</a:t>
            </a:r>
            <a:r>
              <a:rPr lang="en-US" sz="1600" dirty="0"/>
              <a:t> Actively research and integrate new high-quality datasets (if found) to test the model's adaptability to different terrains and conditions.</a:t>
            </a:r>
          </a:p>
          <a:p>
            <a:endParaRPr lang="en-US" sz="1600" dirty="0"/>
          </a:p>
          <a:p>
            <a:r>
              <a:rPr lang="en-US" sz="1600" b="1" dirty="0"/>
              <a:t>Environmental Integration:</a:t>
            </a:r>
            <a:r>
              <a:rPr lang="en-US" sz="1600" dirty="0"/>
              <a:t> Begin exploring methods to integrate non-image data (temperature, wind) if feasible.</a:t>
            </a:r>
          </a:p>
          <a:p>
            <a:pPr algn="just">
              <a:lnSpc>
                <a:spcPct val="200000"/>
              </a:lnSpc>
            </a:pPr>
            <a:endParaRPr lang="pt-PT" dirty="0"/>
          </a:p>
        </p:txBody>
      </p:sp>
      <p:pic>
        <p:nvPicPr>
          <p:cNvPr id="15" name="Imagem 14">
            <a:extLst>
              <a:ext uri="{FF2B5EF4-FFF2-40B4-BE49-F238E27FC236}">
                <a16:creationId xmlns:a16="http://schemas.microsoft.com/office/drawing/2014/main" id="{B51F3868-8172-6B0A-193C-19C0C1B89800}"/>
              </a:ext>
            </a:extLst>
          </p:cNvPr>
          <p:cNvPicPr>
            <a:picLocks noChangeAspect="1"/>
          </p:cNvPicPr>
          <p:nvPr/>
        </p:nvPicPr>
        <p:blipFill>
          <a:blip r:embed="rId3"/>
          <a:stretch>
            <a:fillRect/>
          </a:stretch>
        </p:blipFill>
        <p:spPr>
          <a:xfrm>
            <a:off x="101225" y="904241"/>
            <a:ext cx="9014192" cy="266482"/>
          </a:xfrm>
          <a:prstGeom prst="rect">
            <a:avLst/>
          </a:prstGeom>
        </p:spPr>
      </p:pic>
      <p:sp>
        <p:nvSpPr>
          <p:cNvPr id="18" name="Text Box 10">
            <a:extLst>
              <a:ext uri="{FF2B5EF4-FFF2-40B4-BE49-F238E27FC236}">
                <a16:creationId xmlns:a16="http://schemas.microsoft.com/office/drawing/2014/main" id="{6C6F5231-264C-1EEC-BDB5-DAD5AAC39854}"/>
              </a:ext>
            </a:extLst>
          </p:cNvPr>
          <p:cNvSpPr txBox="1">
            <a:spLocks noChangeArrowheads="1"/>
          </p:cNvSpPr>
          <p:nvPr/>
        </p:nvSpPr>
        <p:spPr bwMode="auto">
          <a:xfrm>
            <a:off x="8288338" y="6296025"/>
            <a:ext cx="827087" cy="366713"/>
          </a:xfrm>
          <a:prstGeom prst="rect">
            <a:avLst/>
          </a:prstGeom>
          <a:noFill/>
          <a:ln w="9525">
            <a:noFill/>
            <a:miter lim="800000"/>
            <a:headEnd/>
            <a:tailEnd/>
          </a:ln>
        </p:spPr>
        <p:txBody>
          <a:bodyPr>
            <a:spAutoFit/>
          </a:bodyPr>
          <a:lstStyle/>
          <a:p>
            <a:pPr>
              <a:spcBef>
                <a:spcPct val="50000"/>
              </a:spcBef>
            </a:pPr>
            <a:endParaRPr lang="pt-PT"/>
          </a:p>
        </p:txBody>
      </p:sp>
      <p:sp>
        <p:nvSpPr>
          <p:cNvPr id="19" name="Rectangle 11">
            <a:extLst>
              <a:ext uri="{FF2B5EF4-FFF2-40B4-BE49-F238E27FC236}">
                <a16:creationId xmlns:a16="http://schemas.microsoft.com/office/drawing/2014/main" id="{6C3160A3-04DD-0A9D-77F7-CF0D9AE1ED63}"/>
              </a:ext>
            </a:extLst>
          </p:cNvPr>
          <p:cNvSpPr>
            <a:spLocks noChangeArrowheads="1"/>
          </p:cNvSpPr>
          <p:nvPr/>
        </p:nvSpPr>
        <p:spPr bwMode="auto">
          <a:xfrm>
            <a:off x="8327571" y="6496091"/>
            <a:ext cx="936625" cy="260350"/>
          </a:xfrm>
          <a:prstGeom prst="rect">
            <a:avLst/>
          </a:prstGeom>
          <a:noFill/>
          <a:ln w="9525">
            <a:noFill/>
            <a:miter lim="800000"/>
            <a:headEnd/>
            <a:tailEnd/>
          </a:ln>
        </p:spPr>
        <p:txBody>
          <a:bodyPr anchor="ctr"/>
          <a:lstStyle/>
          <a:p>
            <a:pPr algn="ctr"/>
            <a:r>
              <a:rPr lang="pt-PT" sz="1000" dirty="0"/>
              <a:t>- </a:t>
            </a:r>
            <a:fld id="{1234D2FF-8FB9-47A1-B8C9-42A5F500BA2F}" type="slidenum">
              <a:rPr lang="pt-PT" sz="1000"/>
              <a:pPr algn="ctr"/>
              <a:t>35</a:t>
            </a:fld>
            <a:r>
              <a:rPr lang="pt-PT" sz="1000" dirty="0"/>
              <a:t> -</a:t>
            </a:r>
          </a:p>
        </p:txBody>
      </p:sp>
      <p:pic>
        <p:nvPicPr>
          <p:cNvPr id="20" name="Imagem 19">
            <a:extLst>
              <a:ext uri="{FF2B5EF4-FFF2-40B4-BE49-F238E27FC236}">
                <a16:creationId xmlns:a16="http://schemas.microsoft.com/office/drawing/2014/main" id="{5AD25603-2467-CD62-1BC5-C7F7DE9ED485}"/>
              </a:ext>
            </a:extLst>
          </p:cNvPr>
          <p:cNvPicPr>
            <a:picLocks noChangeAspect="1"/>
          </p:cNvPicPr>
          <p:nvPr/>
        </p:nvPicPr>
        <p:blipFill>
          <a:blip r:embed="rId4"/>
          <a:stretch>
            <a:fillRect/>
          </a:stretch>
        </p:blipFill>
        <p:spPr>
          <a:xfrm>
            <a:off x="0" y="6320212"/>
            <a:ext cx="9144000" cy="253252"/>
          </a:xfrm>
          <a:prstGeom prst="rect">
            <a:avLst/>
          </a:prstGeom>
        </p:spPr>
      </p:pic>
      <p:pic>
        <p:nvPicPr>
          <p:cNvPr id="22" name="Imagem 21">
            <a:extLst>
              <a:ext uri="{FF2B5EF4-FFF2-40B4-BE49-F238E27FC236}">
                <a16:creationId xmlns:a16="http://schemas.microsoft.com/office/drawing/2014/main" id="{AA17B356-281A-782B-9E3C-C2694F48D26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8125" y="6488336"/>
            <a:ext cx="545959" cy="199802"/>
          </a:xfrm>
          <a:prstGeom prst="rect">
            <a:avLst/>
          </a:prstGeom>
        </p:spPr>
      </p:pic>
      <p:sp>
        <p:nvSpPr>
          <p:cNvPr id="23" name="Rectângulo 19">
            <a:extLst>
              <a:ext uri="{FF2B5EF4-FFF2-40B4-BE49-F238E27FC236}">
                <a16:creationId xmlns:a16="http://schemas.microsoft.com/office/drawing/2014/main" id="{E9EB7768-6A10-3D3E-3B9C-CEF08BF9A4EB}"/>
              </a:ext>
            </a:extLst>
          </p:cNvPr>
          <p:cNvSpPr/>
          <p:nvPr/>
        </p:nvSpPr>
        <p:spPr>
          <a:xfrm>
            <a:off x="5535613" y="553019"/>
            <a:ext cx="3505200" cy="261610"/>
          </a:xfrm>
          <a:prstGeom prst="rect">
            <a:avLst/>
          </a:prstGeom>
        </p:spPr>
        <p:txBody>
          <a:bodyPr wrap="square">
            <a:spAutoFit/>
          </a:bodyPr>
          <a:lstStyle/>
          <a:p>
            <a:pPr algn="r"/>
            <a:r>
              <a:rPr lang="pt-PT" sz="1100" b="1" cap="all" dirty="0" err="1">
                <a:highlight>
                  <a:srgbClr val="FFFF00"/>
                </a:highlight>
              </a:rPr>
              <a:t>Graduation</a:t>
            </a:r>
            <a:r>
              <a:rPr lang="pt-PT" sz="1100" b="1" cap="all" dirty="0">
                <a:highlight>
                  <a:srgbClr val="FFFF00"/>
                </a:highlight>
              </a:rPr>
              <a:t> in </a:t>
            </a:r>
            <a:r>
              <a:rPr lang="pt-PT" sz="1100" b="1" cap="all" dirty="0" err="1">
                <a:highlight>
                  <a:srgbClr val="FFFF00"/>
                </a:highlight>
              </a:rPr>
              <a:t>Informatics</a:t>
            </a:r>
            <a:r>
              <a:rPr lang="pt-PT" sz="1100" b="1" cap="all" dirty="0">
                <a:highlight>
                  <a:srgbClr val="FFFF00"/>
                </a:highlight>
              </a:rPr>
              <a:t> </a:t>
            </a:r>
            <a:r>
              <a:rPr lang="pt-PT" sz="1100" b="1" cap="all" dirty="0" err="1">
                <a:highlight>
                  <a:srgbClr val="FFFF00"/>
                </a:highlight>
              </a:rPr>
              <a:t>engineering</a:t>
            </a:r>
            <a:endParaRPr lang="pt-PT" sz="1100" dirty="0">
              <a:highlight>
                <a:srgbClr val="FFFF00"/>
              </a:highlight>
            </a:endParaRPr>
          </a:p>
        </p:txBody>
      </p:sp>
      <p:pic>
        <p:nvPicPr>
          <p:cNvPr id="24" name="Imagem 23">
            <a:extLst>
              <a:ext uri="{FF2B5EF4-FFF2-40B4-BE49-F238E27FC236}">
                <a16:creationId xmlns:a16="http://schemas.microsoft.com/office/drawing/2014/main" id="{D8616FE9-C754-8DB1-E3C3-1BB6DE37F23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575316" y="9186"/>
            <a:ext cx="2575034" cy="639880"/>
          </a:xfrm>
          <a:prstGeom prst="rect">
            <a:avLst/>
          </a:prstGeom>
        </p:spPr>
      </p:pic>
      <p:sp>
        <p:nvSpPr>
          <p:cNvPr id="2" name="Subtítulo 2">
            <a:extLst>
              <a:ext uri="{FF2B5EF4-FFF2-40B4-BE49-F238E27FC236}">
                <a16:creationId xmlns:a16="http://schemas.microsoft.com/office/drawing/2014/main" id="{89923706-1D14-EECA-C35B-35D13DD960E8}"/>
              </a:ext>
            </a:extLst>
          </p:cNvPr>
          <p:cNvSpPr txBox="1">
            <a:spLocks/>
          </p:cNvSpPr>
          <p:nvPr/>
        </p:nvSpPr>
        <p:spPr>
          <a:xfrm>
            <a:off x="836017" y="6524516"/>
            <a:ext cx="7698382" cy="162409"/>
          </a:xfrm>
          <a:prstGeom prst="rect">
            <a:avLst/>
          </a:prstGeom>
        </p:spPr>
        <p:txBody>
          <a:bodyPr vert="horz" lIns="68580" tIns="34290" rIns="68580" bIns="3429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pt-PT" sz="900" dirty="0">
                <a:latin typeface="Arial" charset="0"/>
                <a:ea typeface="Arial" charset="0"/>
                <a:cs typeface="Arial" charset="0"/>
              </a:rPr>
              <a:t>@Diogo Monteiro - 32428, Gonçalo Teixeira - 31396 | </a:t>
            </a:r>
            <a:r>
              <a:rPr lang="pt-PT" sz="900" b="1" dirty="0">
                <a:solidFill>
                  <a:srgbClr val="C00000"/>
                </a:solidFill>
                <a:latin typeface="Arial" charset="0"/>
                <a:ea typeface="Arial" charset="0"/>
                <a:cs typeface="Arial" charset="0"/>
              </a:rPr>
              <a:t>Unidade Curricular: Projeto III </a:t>
            </a:r>
            <a:r>
              <a:rPr lang="pt-PT" sz="900" dirty="0">
                <a:latin typeface="Arial" charset="0"/>
                <a:ea typeface="Arial" charset="0"/>
                <a:cs typeface="Arial" charset="0"/>
              </a:rPr>
              <a:t>– Ano Letivo 2024/2025 – </a:t>
            </a:r>
            <a:r>
              <a:rPr lang="pt-PT" sz="900" b="1" dirty="0">
                <a:latin typeface="Arial" charset="0"/>
                <a:ea typeface="Arial" charset="0"/>
                <a:cs typeface="Arial" charset="0"/>
              </a:rPr>
              <a:t>MCZ03</a:t>
            </a:r>
          </a:p>
        </p:txBody>
      </p:sp>
    </p:spTree>
    <p:extLst>
      <p:ext uri="{BB962C8B-B14F-4D97-AF65-F5344CB8AC3E}">
        <p14:creationId xmlns:p14="http://schemas.microsoft.com/office/powerpoint/2010/main" val="10785166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3908E-A950-9CBD-F461-E67969046457}"/>
            </a:ext>
          </a:extLst>
        </p:cNvPr>
        <p:cNvGrpSpPr/>
        <p:nvPr/>
      </p:nvGrpSpPr>
      <p:grpSpPr>
        <a:xfrm>
          <a:off x="0" y="0"/>
          <a:ext cx="0" cy="0"/>
          <a:chOff x="0" y="0"/>
          <a:chExt cx="0" cy="0"/>
        </a:xfrm>
      </p:grpSpPr>
      <p:sp>
        <p:nvSpPr>
          <p:cNvPr id="9229" name="Text Box 13">
            <a:extLst>
              <a:ext uri="{FF2B5EF4-FFF2-40B4-BE49-F238E27FC236}">
                <a16:creationId xmlns:a16="http://schemas.microsoft.com/office/drawing/2014/main" id="{0C66457D-CD9A-3B94-927B-6ECBF72BDC50}"/>
              </a:ext>
            </a:extLst>
          </p:cNvPr>
          <p:cNvSpPr txBox="1">
            <a:spLocks noChangeArrowheads="1"/>
          </p:cNvSpPr>
          <p:nvPr/>
        </p:nvSpPr>
        <p:spPr bwMode="auto">
          <a:xfrm>
            <a:off x="306388" y="557213"/>
            <a:ext cx="6981825" cy="400110"/>
          </a:xfrm>
          <a:prstGeom prst="rect">
            <a:avLst/>
          </a:prstGeom>
          <a:noFill/>
          <a:ln w="9525">
            <a:noFill/>
            <a:miter lim="800000"/>
            <a:headEnd/>
            <a:tailEnd/>
          </a:ln>
          <a:effectLst/>
        </p:spPr>
        <p:txBody>
          <a:bodyPr>
            <a:spAutoFit/>
          </a:bodyPr>
          <a:lstStyle/>
          <a:p>
            <a:pPr>
              <a:spcBef>
                <a:spcPct val="50000"/>
              </a:spcBef>
              <a:defRPr/>
            </a:pPr>
            <a:r>
              <a:rPr lang="pt-PT" sz="2000" b="1" dirty="0">
                <a:solidFill>
                  <a:srgbClr val="C00000"/>
                </a:solidFill>
                <a:effectLst>
                  <a:outerShdw blurRad="38100" dist="38100" dir="2700000" algn="tl">
                    <a:srgbClr val="C0C0C0"/>
                  </a:outerShdw>
                </a:effectLst>
                <a:latin typeface="Arial"/>
                <a:cs typeface="Arial"/>
              </a:rPr>
              <a:t>■</a:t>
            </a:r>
            <a:r>
              <a:rPr lang="pt-PT" sz="2000" b="1" dirty="0">
                <a:effectLst>
                  <a:outerShdw blurRad="38100" dist="38100" dir="2700000" algn="tl">
                    <a:srgbClr val="C0C0C0"/>
                  </a:outerShdw>
                </a:effectLst>
                <a:latin typeface="Arial"/>
                <a:cs typeface="Arial"/>
              </a:rPr>
              <a:t> </a:t>
            </a:r>
            <a:r>
              <a:rPr lang="en-US" sz="2000" b="1" dirty="0">
                <a:effectLst>
                  <a:outerShdw blurRad="38100" dist="38100" dir="2700000" algn="tl">
                    <a:srgbClr val="C0C0C0"/>
                  </a:outerShdw>
                </a:effectLst>
                <a:latin typeface="Arial" pitchFamily="34" charset="0"/>
                <a:cs typeface="Arial" pitchFamily="34" charset="0"/>
              </a:rPr>
              <a:t>8</a:t>
            </a:r>
            <a:r>
              <a:rPr lang="en-US" sz="2000" b="1" dirty="0">
                <a:latin typeface="Arial" pitchFamily="34" charset="0"/>
                <a:cs typeface="Arial" pitchFamily="34" charset="0"/>
              </a:rPr>
              <a:t>. Bibliography and Web References </a:t>
            </a:r>
          </a:p>
        </p:txBody>
      </p:sp>
      <p:sp>
        <p:nvSpPr>
          <p:cNvPr id="10247" name="Line 15">
            <a:extLst>
              <a:ext uri="{FF2B5EF4-FFF2-40B4-BE49-F238E27FC236}">
                <a16:creationId xmlns:a16="http://schemas.microsoft.com/office/drawing/2014/main" id="{4A3F1AD0-0C41-C44A-7F7A-2851833798CC}"/>
              </a:ext>
            </a:extLst>
          </p:cNvPr>
          <p:cNvSpPr>
            <a:spLocks noChangeShapeType="1"/>
          </p:cNvSpPr>
          <p:nvPr/>
        </p:nvSpPr>
        <p:spPr bwMode="auto">
          <a:xfrm>
            <a:off x="250825" y="0"/>
            <a:ext cx="0" cy="765175"/>
          </a:xfrm>
          <a:prstGeom prst="line">
            <a:avLst/>
          </a:prstGeom>
          <a:noFill/>
          <a:ln w="25400">
            <a:solidFill>
              <a:schemeClr val="tx1"/>
            </a:solidFill>
            <a:round/>
            <a:headEnd/>
            <a:tailEnd/>
          </a:ln>
        </p:spPr>
        <p:txBody>
          <a:bodyPr/>
          <a:lstStyle/>
          <a:p>
            <a:endParaRPr lang="pt-PT"/>
          </a:p>
        </p:txBody>
      </p:sp>
      <p:sp>
        <p:nvSpPr>
          <p:cNvPr id="9237" name="Text Box 21">
            <a:extLst>
              <a:ext uri="{FF2B5EF4-FFF2-40B4-BE49-F238E27FC236}">
                <a16:creationId xmlns:a16="http://schemas.microsoft.com/office/drawing/2014/main" id="{C15EEB9D-5D8B-013E-AAF1-2124E7F93AFA}"/>
              </a:ext>
            </a:extLst>
          </p:cNvPr>
          <p:cNvSpPr txBox="1">
            <a:spLocks noChangeArrowheads="1"/>
          </p:cNvSpPr>
          <p:nvPr/>
        </p:nvSpPr>
        <p:spPr bwMode="auto">
          <a:xfrm>
            <a:off x="260350" y="44450"/>
            <a:ext cx="6981825" cy="304800"/>
          </a:xfrm>
          <a:prstGeom prst="rect">
            <a:avLst/>
          </a:prstGeom>
          <a:noFill/>
          <a:ln w="9525">
            <a:noFill/>
            <a:miter lim="800000"/>
            <a:headEnd/>
            <a:tailEnd/>
          </a:ln>
          <a:effectLst/>
        </p:spPr>
        <p:txBody>
          <a:bodyPr>
            <a:spAutoFit/>
          </a:bodyPr>
          <a:lstStyle/>
          <a:p>
            <a:pPr>
              <a:spcBef>
                <a:spcPct val="50000"/>
              </a:spcBef>
              <a:defRPr/>
            </a:pPr>
            <a:endParaRPr lang="pt-PT" sz="1400" b="1" dirty="0">
              <a:solidFill>
                <a:srgbClr val="FF3300"/>
              </a:solidFill>
              <a:effectLst>
                <a:outerShdw blurRad="38100" dist="38100" dir="2700000" algn="tl">
                  <a:srgbClr val="C0C0C0"/>
                </a:outerShdw>
              </a:effectLst>
              <a:latin typeface="Arial" charset="0"/>
            </a:endParaRPr>
          </a:p>
        </p:txBody>
      </p:sp>
      <p:sp>
        <p:nvSpPr>
          <p:cNvPr id="18" name="Content Placeholder 2">
            <a:extLst>
              <a:ext uri="{FF2B5EF4-FFF2-40B4-BE49-F238E27FC236}">
                <a16:creationId xmlns:a16="http://schemas.microsoft.com/office/drawing/2014/main" id="{078FECF8-0EFE-CE08-AB12-917785D3F09B}"/>
              </a:ext>
            </a:extLst>
          </p:cNvPr>
          <p:cNvSpPr txBox="1">
            <a:spLocks/>
          </p:cNvSpPr>
          <p:nvPr/>
        </p:nvSpPr>
        <p:spPr>
          <a:xfrm>
            <a:off x="152400" y="1066800"/>
            <a:ext cx="8839200" cy="5257800"/>
          </a:xfrm>
          <a:prstGeom prst="rect">
            <a:avLst/>
          </a:prstGeom>
        </p:spPr>
        <p:txBody>
          <a:bodyPr vert="horz" lIns="91440" tIns="45720" rIns="91440" bIns="45720" rtlCol="0">
            <a:normAutofit/>
          </a:bodyPr>
          <a:lstStyle/>
          <a:p>
            <a:pPr>
              <a:lnSpc>
                <a:spcPct val="200000"/>
              </a:lnSpc>
              <a:spcBef>
                <a:spcPct val="20000"/>
              </a:spcBef>
              <a:defRPr/>
            </a:pPr>
            <a:r>
              <a:rPr lang="en-US" sz="1600" dirty="0">
                <a:solidFill>
                  <a:srgbClr val="FFC000"/>
                </a:solidFill>
                <a:cs typeface="Arial" panose="020B0604020202020204" pitchFamily="34" charset="0"/>
              </a:rPr>
              <a:t>■ </a:t>
            </a:r>
            <a:r>
              <a:rPr lang="en-US" sz="1600" dirty="0">
                <a:cs typeface="Arial" panose="020B0604020202020204" pitchFamily="34" charset="0"/>
              </a:rPr>
              <a:t>Wildfire Prediction Dataset (Satellite Images): </a:t>
            </a:r>
            <a:r>
              <a:rPr lang="pt-PT" sz="1600" dirty="0">
                <a:hlinkClick r:id="rId3"/>
              </a:rPr>
              <a:t>https://www.kaggle.com/datasets/abdelghaniaaba/wildfire-prediction-dataset</a:t>
            </a:r>
            <a:br>
              <a:rPr lang="en-US" sz="1600" dirty="0">
                <a:cs typeface="Arial" panose="020B0604020202020204" pitchFamily="34" charset="0"/>
              </a:rPr>
            </a:br>
            <a:r>
              <a:rPr lang="en-US" sz="1600" dirty="0">
                <a:solidFill>
                  <a:srgbClr val="FFC000"/>
                </a:solidFill>
                <a:cs typeface="Arial" panose="020B0604020202020204" pitchFamily="34" charset="0"/>
              </a:rPr>
              <a:t>■ </a:t>
            </a:r>
            <a:r>
              <a:rPr lang="en-US" sz="1600" dirty="0">
                <a:cs typeface="Arial" panose="020B0604020202020204" pitchFamily="34" charset="0"/>
              </a:rPr>
              <a:t>TensorFlow Documentation: </a:t>
            </a:r>
            <a:r>
              <a:rPr lang="en-US" sz="1600" dirty="0">
                <a:cs typeface="Arial" panose="020B0604020202020204" pitchFamily="34" charset="0"/>
                <a:hlinkClick r:id="rId4"/>
              </a:rPr>
              <a:t>https://www.tensorflow.org/</a:t>
            </a:r>
            <a:endParaRPr lang="en-US" sz="1600" dirty="0">
              <a:cs typeface="Arial" panose="020B0604020202020204" pitchFamily="34" charset="0"/>
            </a:endParaRPr>
          </a:p>
          <a:p>
            <a:pPr>
              <a:lnSpc>
                <a:spcPct val="200000"/>
              </a:lnSpc>
              <a:spcBef>
                <a:spcPct val="20000"/>
              </a:spcBef>
              <a:defRPr/>
            </a:pPr>
            <a:r>
              <a:rPr lang="en-US" sz="1600" dirty="0">
                <a:solidFill>
                  <a:srgbClr val="FFC000"/>
                </a:solidFill>
                <a:cs typeface="Arial" panose="020B0604020202020204" pitchFamily="34" charset="0"/>
              </a:rPr>
              <a:t>■ </a:t>
            </a:r>
            <a:r>
              <a:rPr lang="en-US" sz="1600" dirty="0" err="1">
                <a:cs typeface="Arial" panose="020B0604020202020204" pitchFamily="34" charset="0"/>
              </a:rPr>
              <a:t>Keras</a:t>
            </a:r>
            <a:r>
              <a:rPr lang="en-US" sz="1600" dirty="0">
                <a:cs typeface="Arial" panose="020B0604020202020204" pitchFamily="34" charset="0"/>
              </a:rPr>
              <a:t> Documentation: </a:t>
            </a:r>
            <a:r>
              <a:rPr lang="en-US" sz="1600" dirty="0">
                <a:cs typeface="Arial" panose="020B0604020202020204" pitchFamily="34" charset="0"/>
                <a:hlinkClick r:id="rId5"/>
              </a:rPr>
              <a:t>https://keras.io/</a:t>
            </a:r>
            <a:endParaRPr lang="en-US" sz="1600" dirty="0">
              <a:cs typeface="Arial" panose="020B0604020202020204" pitchFamily="34" charset="0"/>
            </a:endParaRPr>
          </a:p>
          <a:p>
            <a:pPr>
              <a:lnSpc>
                <a:spcPct val="200000"/>
              </a:lnSpc>
              <a:spcBef>
                <a:spcPct val="20000"/>
              </a:spcBef>
              <a:defRPr/>
            </a:pPr>
            <a:br>
              <a:rPr lang="pt-PT" sz="1600" dirty="0"/>
            </a:br>
            <a:endParaRPr kumimoji="0" lang="en-US" sz="2000" b="0" i="1"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pic>
        <p:nvPicPr>
          <p:cNvPr id="15" name="Imagem 14">
            <a:extLst>
              <a:ext uri="{FF2B5EF4-FFF2-40B4-BE49-F238E27FC236}">
                <a16:creationId xmlns:a16="http://schemas.microsoft.com/office/drawing/2014/main" id="{15D19B9D-7904-4B11-7B47-4163D4BAD0EB}"/>
              </a:ext>
            </a:extLst>
          </p:cNvPr>
          <p:cNvPicPr>
            <a:picLocks noChangeAspect="1"/>
          </p:cNvPicPr>
          <p:nvPr/>
        </p:nvPicPr>
        <p:blipFill>
          <a:blip r:embed="rId6"/>
          <a:stretch>
            <a:fillRect/>
          </a:stretch>
        </p:blipFill>
        <p:spPr>
          <a:xfrm>
            <a:off x="101225" y="904241"/>
            <a:ext cx="9014192" cy="266482"/>
          </a:xfrm>
          <a:prstGeom prst="rect">
            <a:avLst/>
          </a:prstGeom>
        </p:spPr>
      </p:pic>
      <p:sp>
        <p:nvSpPr>
          <p:cNvPr id="22" name="Text Box 10">
            <a:extLst>
              <a:ext uri="{FF2B5EF4-FFF2-40B4-BE49-F238E27FC236}">
                <a16:creationId xmlns:a16="http://schemas.microsoft.com/office/drawing/2014/main" id="{EC48BCFD-AE68-552B-FF51-2C3AE8B9729D}"/>
              </a:ext>
            </a:extLst>
          </p:cNvPr>
          <p:cNvSpPr txBox="1">
            <a:spLocks noChangeArrowheads="1"/>
          </p:cNvSpPr>
          <p:nvPr/>
        </p:nvSpPr>
        <p:spPr bwMode="auto">
          <a:xfrm>
            <a:off x="8288338" y="6296025"/>
            <a:ext cx="827087" cy="366713"/>
          </a:xfrm>
          <a:prstGeom prst="rect">
            <a:avLst/>
          </a:prstGeom>
          <a:noFill/>
          <a:ln w="9525">
            <a:noFill/>
            <a:miter lim="800000"/>
            <a:headEnd/>
            <a:tailEnd/>
          </a:ln>
        </p:spPr>
        <p:txBody>
          <a:bodyPr>
            <a:spAutoFit/>
          </a:bodyPr>
          <a:lstStyle/>
          <a:p>
            <a:pPr>
              <a:spcBef>
                <a:spcPct val="50000"/>
              </a:spcBef>
            </a:pPr>
            <a:endParaRPr lang="pt-PT"/>
          </a:p>
        </p:txBody>
      </p:sp>
      <p:sp>
        <p:nvSpPr>
          <p:cNvPr id="23" name="Rectangle 11">
            <a:extLst>
              <a:ext uri="{FF2B5EF4-FFF2-40B4-BE49-F238E27FC236}">
                <a16:creationId xmlns:a16="http://schemas.microsoft.com/office/drawing/2014/main" id="{45F097E6-77FC-46F4-56E9-6F87F0FB9454}"/>
              </a:ext>
            </a:extLst>
          </p:cNvPr>
          <p:cNvSpPr>
            <a:spLocks noChangeArrowheads="1"/>
          </p:cNvSpPr>
          <p:nvPr/>
        </p:nvSpPr>
        <p:spPr bwMode="auto">
          <a:xfrm>
            <a:off x="8327571" y="6496091"/>
            <a:ext cx="936625" cy="260350"/>
          </a:xfrm>
          <a:prstGeom prst="rect">
            <a:avLst/>
          </a:prstGeom>
          <a:noFill/>
          <a:ln w="9525">
            <a:noFill/>
            <a:miter lim="800000"/>
            <a:headEnd/>
            <a:tailEnd/>
          </a:ln>
        </p:spPr>
        <p:txBody>
          <a:bodyPr anchor="ctr"/>
          <a:lstStyle/>
          <a:p>
            <a:pPr algn="ctr"/>
            <a:r>
              <a:rPr lang="pt-PT" sz="1000" dirty="0"/>
              <a:t>- </a:t>
            </a:r>
            <a:fld id="{1234D2FF-8FB9-47A1-B8C9-42A5F500BA2F}" type="slidenum">
              <a:rPr lang="pt-PT" sz="1000"/>
              <a:pPr algn="ctr"/>
              <a:t>36</a:t>
            </a:fld>
            <a:r>
              <a:rPr lang="pt-PT" sz="1000" dirty="0"/>
              <a:t> -</a:t>
            </a:r>
          </a:p>
        </p:txBody>
      </p:sp>
      <p:pic>
        <p:nvPicPr>
          <p:cNvPr id="24" name="Imagem 23">
            <a:extLst>
              <a:ext uri="{FF2B5EF4-FFF2-40B4-BE49-F238E27FC236}">
                <a16:creationId xmlns:a16="http://schemas.microsoft.com/office/drawing/2014/main" id="{430B12F0-AB2B-3B09-0ABB-35297FE64651}"/>
              </a:ext>
            </a:extLst>
          </p:cNvPr>
          <p:cNvPicPr>
            <a:picLocks noChangeAspect="1"/>
          </p:cNvPicPr>
          <p:nvPr/>
        </p:nvPicPr>
        <p:blipFill>
          <a:blip r:embed="rId7"/>
          <a:stretch>
            <a:fillRect/>
          </a:stretch>
        </p:blipFill>
        <p:spPr>
          <a:xfrm>
            <a:off x="0" y="6320212"/>
            <a:ext cx="9144000" cy="253252"/>
          </a:xfrm>
          <a:prstGeom prst="rect">
            <a:avLst/>
          </a:prstGeom>
        </p:spPr>
      </p:pic>
      <p:pic>
        <p:nvPicPr>
          <p:cNvPr id="26" name="Imagem 25">
            <a:extLst>
              <a:ext uri="{FF2B5EF4-FFF2-40B4-BE49-F238E27FC236}">
                <a16:creationId xmlns:a16="http://schemas.microsoft.com/office/drawing/2014/main" id="{14B076D6-68EA-8B4A-5EF3-712835E22644}"/>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38125" y="6488336"/>
            <a:ext cx="545959" cy="199802"/>
          </a:xfrm>
          <a:prstGeom prst="rect">
            <a:avLst/>
          </a:prstGeom>
        </p:spPr>
      </p:pic>
      <p:sp>
        <p:nvSpPr>
          <p:cNvPr id="27" name="Rectângulo 19">
            <a:extLst>
              <a:ext uri="{FF2B5EF4-FFF2-40B4-BE49-F238E27FC236}">
                <a16:creationId xmlns:a16="http://schemas.microsoft.com/office/drawing/2014/main" id="{4DF7CCA5-F8BA-A840-7D16-535D98661951}"/>
              </a:ext>
            </a:extLst>
          </p:cNvPr>
          <p:cNvSpPr/>
          <p:nvPr/>
        </p:nvSpPr>
        <p:spPr>
          <a:xfrm>
            <a:off x="5535613" y="553019"/>
            <a:ext cx="3505200" cy="261610"/>
          </a:xfrm>
          <a:prstGeom prst="rect">
            <a:avLst/>
          </a:prstGeom>
        </p:spPr>
        <p:txBody>
          <a:bodyPr wrap="square">
            <a:spAutoFit/>
          </a:bodyPr>
          <a:lstStyle/>
          <a:p>
            <a:pPr algn="r"/>
            <a:r>
              <a:rPr lang="pt-PT" sz="1100" b="1" cap="all" dirty="0" err="1">
                <a:highlight>
                  <a:srgbClr val="FFFF00"/>
                </a:highlight>
              </a:rPr>
              <a:t>Graduation</a:t>
            </a:r>
            <a:r>
              <a:rPr lang="pt-PT" sz="1100" b="1" cap="all" dirty="0">
                <a:highlight>
                  <a:srgbClr val="FFFF00"/>
                </a:highlight>
              </a:rPr>
              <a:t> in </a:t>
            </a:r>
            <a:r>
              <a:rPr lang="pt-PT" sz="1100" b="1" cap="all" dirty="0" err="1">
                <a:highlight>
                  <a:srgbClr val="FFFF00"/>
                </a:highlight>
              </a:rPr>
              <a:t>Informatics</a:t>
            </a:r>
            <a:r>
              <a:rPr lang="pt-PT" sz="1100" b="1" cap="all" dirty="0">
                <a:highlight>
                  <a:srgbClr val="FFFF00"/>
                </a:highlight>
              </a:rPr>
              <a:t> </a:t>
            </a:r>
            <a:r>
              <a:rPr lang="pt-PT" sz="1100" b="1" cap="all" dirty="0" err="1">
                <a:highlight>
                  <a:srgbClr val="FFFF00"/>
                </a:highlight>
              </a:rPr>
              <a:t>engineering</a:t>
            </a:r>
            <a:endParaRPr lang="pt-PT" sz="1100" dirty="0">
              <a:highlight>
                <a:srgbClr val="FFFF00"/>
              </a:highlight>
            </a:endParaRPr>
          </a:p>
        </p:txBody>
      </p:sp>
      <p:pic>
        <p:nvPicPr>
          <p:cNvPr id="28" name="Imagem 27">
            <a:extLst>
              <a:ext uri="{FF2B5EF4-FFF2-40B4-BE49-F238E27FC236}">
                <a16:creationId xmlns:a16="http://schemas.microsoft.com/office/drawing/2014/main" id="{C75ABA15-FF29-D6E6-78DB-68FA8293F23D}"/>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575316" y="9186"/>
            <a:ext cx="2575034" cy="639880"/>
          </a:xfrm>
          <a:prstGeom prst="rect">
            <a:avLst/>
          </a:prstGeom>
        </p:spPr>
      </p:pic>
      <p:sp>
        <p:nvSpPr>
          <p:cNvPr id="2" name="Subtítulo 2">
            <a:extLst>
              <a:ext uri="{FF2B5EF4-FFF2-40B4-BE49-F238E27FC236}">
                <a16:creationId xmlns:a16="http://schemas.microsoft.com/office/drawing/2014/main" id="{ED084118-308B-A471-DCF8-63205201F4B2}"/>
              </a:ext>
            </a:extLst>
          </p:cNvPr>
          <p:cNvSpPr txBox="1">
            <a:spLocks/>
          </p:cNvSpPr>
          <p:nvPr/>
        </p:nvSpPr>
        <p:spPr>
          <a:xfrm>
            <a:off x="836017" y="6524516"/>
            <a:ext cx="7698382" cy="162409"/>
          </a:xfrm>
          <a:prstGeom prst="rect">
            <a:avLst/>
          </a:prstGeom>
        </p:spPr>
        <p:txBody>
          <a:bodyPr vert="horz" lIns="68580" tIns="34290" rIns="68580" bIns="3429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pt-PT" sz="900" dirty="0">
                <a:latin typeface="Arial" charset="0"/>
                <a:ea typeface="Arial" charset="0"/>
                <a:cs typeface="Arial" charset="0"/>
              </a:rPr>
              <a:t>@Diogo Monteiro - 32428, Gonçalo Teixeira - 31396 | </a:t>
            </a:r>
            <a:r>
              <a:rPr lang="pt-PT" sz="900" b="1" dirty="0">
                <a:solidFill>
                  <a:srgbClr val="C00000"/>
                </a:solidFill>
                <a:latin typeface="Arial" charset="0"/>
                <a:ea typeface="Arial" charset="0"/>
                <a:cs typeface="Arial" charset="0"/>
              </a:rPr>
              <a:t>Unidade Curricular: Projeto III </a:t>
            </a:r>
            <a:r>
              <a:rPr lang="pt-PT" sz="900" dirty="0">
                <a:latin typeface="Arial" charset="0"/>
                <a:ea typeface="Arial" charset="0"/>
                <a:cs typeface="Arial" charset="0"/>
              </a:rPr>
              <a:t>– Ano Letivo 2024/2025 – </a:t>
            </a:r>
            <a:r>
              <a:rPr lang="pt-PT" sz="900" b="1" dirty="0">
                <a:latin typeface="Arial" charset="0"/>
                <a:ea typeface="Arial" charset="0"/>
                <a:cs typeface="Arial" charset="0"/>
              </a:rPr>
              <a:t>MCZ03</a:t>
            </a:r>
          </a:p>
        </p:txBody>
      </p:sp>
    </p:spTree>
    <p:extLst>
      <p:ext uri="{BB962C8B-B14F-4D97-AF65-F5344CB8AC3E}">
        <p14:creationId xmlns:p14="http://schemas.microsoft.com/office/powerpoint/2010/main" val="23065719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F0585-16C4-6448-24E5-A26F29CAF747}"/>
            </a:ext>
          </a:extLst>
        </p:cNvPr>
        <p:cNvGrpSpPr/>
        <p:nvPr/>
      </p:nvGrpSpPr>
      <p:grpSpPr>
        <a:xfrm>
          <a:off x="0" y="0"/>
          <a:ext cx="0" cy="0"/>
          <a:chOff x="0" y="0"/>
          <a:chExt cx="0" cy="0"/>
        </a:xfrm>
      </p:grpSpPr>
      <p:pic>
        <p:nvPicPr>
          <p:cNvPr id="2" name="Imagem 1">
            <a:extLst>
              <a:ext uri="{FF2B5EF4-FFF2-40B4-BE49-F238E27FC236}">
                <a16:creationId xmlns:a16="http://schemas.microsoft.com/office/drawing/2014/main" id="{5AA55E72-93CD-FF87-EAC1-85D4030C39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Subtítulo 2">
            <a:extLst>
              <a:ext uri="{FF2B5EF4-FFF2-40B4-BE49-F238E27FC236}">
                <a16:creationId xmlns:a16="http://schemas.microsoft.com/office/drawing/2014/main" id="{57DF629C-CE48-49F5-56EF-60CE51B88C49}"/>
              </a:ext>
            </a:extLst>
          </p:cNvPr>
          <p:cNvSpPr>
            <a:spLocks noGrp="1"/>
          </p:cNvSpPr>
          <p:nvPr>
            <p:ph type="subTitle" idx="1"/>
          </p:nvPr>
        </p:nvSpPr>
        <p:spPr>
          <a:xfrm>
            <a:off x="2000250" y="5867400"/>
            <a:ext cx="5143500" cy="489738"/>
          </a:xfrm>
        </p:spPr>
        <p:txBody>
          <a:bodyPr>
            <a:normAutofit/>
          </a:bodyPr>
          <a:lstStyle/>
          <a:p>
            <a:r>
              <a:rPr lang="pt-PT" sz="1500" dirty="0" err="1">
                <a:solidFill>
                  <a:schemeClr val="bg1"/>
                </a:solidFill>
                <a:latin typeface="Arial" charset="0"/>
                <a:ea typeface="Arial" charset="0"/>
                <a:cs typeface="Arial" charset="0"/>
              </a:rPr>
              <a:t>www.ipvc.pt</a:t>
            </a:r>
            <a:endParaRPr lang="pt-PT" sz="1500" dirty="0">
              <a:solidFill>
                <a:schemeClr val="bg1"/>
              </a:solidFill>
              <a:latin typeface="Arial" charset="0"/>
              <a:ea typeface="Arial" charset="0"/>
              <a:cs typeface="Arial" charset="0"/>
            </a:endParaRPr>
          </a:p>
        </p:txBody>
      </p:sp>
      <p:sp>
        <p:nvSpPr>
          <p:cNvPr id="5" name="Título 1">
            <a:extLst>
              <a:ext uri="{FF2B5EF4-FFF2-40B4-BE49-F238E27FC236}">
                <a16:creationId xmlns:a16="http://schemas.microsoft.com/office/drawing/2014/main" id="{BD2D8255-B045-3F8F-1092-541D988D6111}"/>
              </a:ext>
            </a:extLst>
          </p:cNvPr>
          <p:cNvSpPr>
            <a:spLocks noGrp="1"/>
          </p:cNvSpPr>
          <p:nvPr>
            <p:ph type="ctrTitle"/>
          </p:nvPr>
        </p:nvSpPr>
        <p:spPr>
          <a:xfrm>
            <a:off x="1828800" y="3429000"/>
            <a:ext cx="5486400" cy="552329"/>
          </a:xfrm>
        </p:spPr>
        <p:txBody>
          <a:bodyPr>
            <a:normAutofit/>
          </a:bodyPr>
          <a:lstStyle/>
          <a:p>
            <a:r>
              <a:rPr lang="pt-PT" sz="2500" b="1" dirty="0">
                <a:solidFill>
                  <a:schemeClr val="bg1"/>
                </a:solidFill>
                <a:latin typeface="Arial" charset="0"/>
                <a:ea typeface="Arial" charset="0"/>
                <a:cs typeface="Arial" charset="0"/>
              </a:rPr>
              <a:t>Ponto Controlo 2</a:t>
            </a:r>
          </a:p>
        </p:txBody>
      </p:sp>
    </p:spTree>
    <p:extLst>
      <p:ext uri="{BB962C8B-B14F-4D97-AF65-F5344CB8AC3E}">
        <p14:creationId xmlns:p14="http://schemas.microsoft.com/office/powerpoint/2010/main" val="19016734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DCF03-D948-D165-B95A-D76F34470F0A}"/>
            </a:ext>
          </a:extLst>
        </p:cNvPr>
        <p:cNvGrpSpPr/>
        <p:nvPr/>
      </p:nvGrpSpPr>
      <p:grpSpPr>
        <a:xfrm>
          <a:off x="0" y="0"/>
          <a:ext cx="0" cy="0"/>
          <a:chOff x="0" y="0"/>
          <a:chExt cx="0" cy="0"/>
        </a:xfrm>
      </p:grpSpPr>
      <p:sp>
        <p:nvSpPr>
          <p:cNvPr id="10243" name="Text Box 10">
            <a:extLst>
              <a:ext uri="{FF2B5EF4-FFF2-40B4-BE49-F238E27FC236}">
                <a16:creationId xmlns:a16="http://schemas.microsoft.com/office/drawing/2014/main" id="{E160A702-9AC2-77B9-3CE6-B531B362782C}"/>
              </a:ext>
            </a:extLst>
          </p:cNvPr>
          <p:cNvSpPr txBox="1">
            <a:spLocks noChangeArrowheads="1"/>
          </p:cNvSpPr>
          <p:nvPr/>
        </p:nvSpPr>
        <p:spPr bwMode="auto">
          <a:xfrm>
            <a:off x="8288338" y="6296025"/>
            <a:ext cx="827087" cy="366713"/>
          </a:xfrm>
          <a:prstGeom prst="rect">
            <a:avLst/>
          </a:prstGeom>
          <a:noFill/>
          <a:ln w="9525">
            <a:noFill/>
            <a:miter lim="800000"/>
            <a:headEnd/>
            <a:tailEnd/>
          </a:ln>
        </p:spPr>
        <p:txBody>
          <a:bodyPr>
            <a:spAutoFit/>
          </a:bodyPr>
          <a:lstStyle/>
          <a:p>
            <a:pPr>
              <a:spcBef>
                <a:spcPct val="50000"/>
              </a:spcBef>
            </a:pPr>
            <a:endParaRPr lang="pt-PT"/>
          </a:p>
        </p:txBody>
      </p:sp>
      <p:sp>
        <p:nvSpPr>
          <p:cNvPr id="10244" name="Rectangle 11">
            <a:extLst>
              <a:ext uri="{FF2B5EF4-FFF2-40B4-BE49-F238E27FC236}">
                <a16:creationId xmlns:a16="http://schemas.microsoft.com/office/drawing/2014/main" id="{606238DE-472C-8F05-CB99-A4FC3F144E7F}"/>
              </a:ext>
            </a:extLst>
          </p:cNvPr>
          <p:cNvSpPr>
            <a:spLocks noChangeArrowheads="1"/>
          </p:cNvSpPr>
          <p:nvPr/>
        </p:nvSpPr>
        <p:spPr bwMode="auto">
          <a:xfrm>
            <a:off x="8327571" y="6496091"/>
            <a:ext cx="936625" cy="260350"/>
          </a:xfrm>
          <a:prstGeom prst="rect">
            <a:avLst/>
          </a:prstGeom>
          <a:noFill/>
          <a:ln w="9525">
            <a:noFill/>
            <a:miter lim="800000"/>
            <a:headEnd/>
            <a:tailEnd/>
          </a:ln>
        </p:spPr>
        <p:txBody>
          <a:bodyPr anchor="ctr"/>
          <a:lstStyle/>
          <a:p>
            <a:pPr algn="ctr"/>
            <a:r>
              <a:rPr lang="pt-PT" sz="1000" dirty="0"/>
              <a:t>- </a:t>
            </a:r>
            <a:fld id="{1234D2FF-8FB9-47A1-B8C9-42A5F500BA2F}" type="slidenum">
              <a:rPr lang="pt-PT" sz="1000"/>
              <a:pPr algn="ctr"/>
              <a:t>38</a:t>
            </a:fld>
            <a:r>
              <a:rPr lang="pt-PT" sz="1000" dirty="0"/>
              <a:t> -</a:t>
            </a:r>
          </a:p>
        </p:txBody>
      </p:sp>
      <p:sp>
        <p:nvSpPr>
          <p:cNvPr id="9229" name="Text Box 13">
            <a:extLst>
              <a:ext uri="{FF2B5EF4-FFF2-40B4-BE49-F238E27FC236}">
                <a16:creationId xmlns:a16="http://schemas.microsoft.com/office/drawing/2014/main" id="{624AF9F5-1204-798A-F502-1132C0A176FF}"/>
              </a:ext>
            </a:extLst>
          </p:cNvPr>
          <p:cNvSpPr txBox="1">
            <a:spLocks noChangeArrowheads="1"/>
          </p:cNvSpPr>
          <p:nvPr/>
        </p:nvSpPr>
        <p:spPr bwMode="auto">
          <a:xfrm>
            <a:off x="306388" y="557213"/>
            <a:ext cx="6981825" cy="400050"/>
          </a:xfrm>
          <a:prstGeom prst="rect">
            <a:avLst/>
          </a:prstGeom>
          <a:noFill/>
          <a:ln w="9525">
            <a:noFill/>
            <a:miter lim="800000"/>
            <a:headEnd/>
            <a:tailEnd/>
          </a:ln>
          <a:effectLst/>
        </p:spPr>
        <p:txBody>
          <a:bodyPr>
            <a:spAutoFit/>
          </a:bodyPr>
          <a:lstStyle/>
          <a:p>
            <a:pPr>
              <a:spcBef>
                <a:spcPct val="50000"/>
              </a:spcBef>
              <a:defRPr/>
            </a:pPr>
            <a:r>
              <a:rPr lang="pt-PT" sz="2000" b="1" dirty="0">
                <a:solidFill>
                  <a:srgbClr val="C00000"/>
                </a:solidFill>
                <a:effectLst>
                  <a:outerShdw blurRad="38100" dist="38100" dir="2700000" algn="tl">
                    <a:srgbClr val="C0C0C0"/>
                  </a:outerShdw>
                </a:effectLst>
                <a:latin typeface="Arial"/>
                <a:cs typeface="Arial"/>
              </a:rPr>
              <a:t>■</a:t>
            </a:r>
            <a:r>
              <a:rPr lang="pt-PT" sz="2000" b="1" dirty="0">
                <a:effectLst>
                  <a:outerShdw blurRad="38100" dist="38100" dir="2700000" algn="tl">
                    <a:srgbClr val="C0C0C0"/>
                  </a:outerShdw>
                </a:effectLst>
                <a:latin typeface="Arial"/>
                <a:cs typeface="Arial"/>
              </a:rPr>
              <a:t> Summary</a:t>
            </a:r>
            <a:endParaRPr lang="pt-PT" sz="2000" b="1" dirty="0">
              <a:effectLst>
                <a:outerShdw blurRad="38100" dist="38100" dir="2700000" algn="tl">
                  <a:srgbClr val="C0C0C0"/>
                </a:outerShdw>
              </a:effectLst>
              <a:latin typeface="Arial" charset="0"/>
            </a:endParaRPr>
          </a:p>
        </p:txBody>
      </p:sp>
      <p:sp>
        <p:nvSpPr>
          <p:cNvPr id="10247" name="Line 15">
            <a:extLst>
              <a:ext uri="{FF2B5EF4-FFF2-40B4-BE49-F238E27FC236}">
                <a16:creationId xmlns:a16="http://schemas.microsoft.com/office/drawing/2014/main" id="{2D1EC797-A469-1781-FE9E-AAD9AE402004}"/>
              </a:ext>
            </a:extLst>
          </p:cNvPr>
          <p:cNvSpPr>
            <a:spLocks noChangeShapeType="1"/>
          </p:cNvSpPr>
          <p:nvPr/>
        </p:nvSpPr>
        <p:spPr bwMode="auto">
          <a:xfrm>
            <a:off x="250825" y="0"/>
            <a:ext cx="0" cy="765175"/>
          </a:xfrm>
          <a:prstGeom prst="line">
            <a:avLst/>
          </a:prstGeom>
          <a:noFill/>
          <a:ln w="25400">
            <a:solidFill>
              <a:schemeClr val="tx1"/>
            </a:solidFill>
            <a:round/>
            <a:headEnd/>
            <a:tailEnd/>
          </a:ln>
        </p:spPr>
        <p:txBody>
          <a:bodyPr/>
          <a:lstStyle/>
          <a:p>
            <a:endParaRPr lang="pt-PT"/>
          </a:p>
        </p:txBody>
      </p:sp>
      <p:sp>
        <p:nvSpPr>
          <p:cNvPr id="9237" name="Text Box 21">
            <a:extLst>
              <a:ext uri="{FF2B5EF4-FFF2-40B4-BE49-F238E27FC236}">
                <a16:creationId xmlns:a16="http://schemas.microsoft.com/office/drawing/2014/main" id="{8A354DD6-84C7-BED4-3625-C73875F3B827}"/>
              </a:ext>
            </a:extLst>
          </p:cNvPr>
          <p:cNvSpPr txBox="1">
            <a:spLocks noChangeArrowheads="1"/>
          </p:cNvSpPr>
          <p:nvPr/>
        </p:nvSpPr>
        <p:spPr bwMode="auto">
          <a:xfrm>
            <a:off x="260350" y="44450"/>
            <a:ext cx="6981825" cy="304800"/>
          </a:xfrm>
          <a:prstGeom prst="rect">
            <a:avLst/>
          </a:prstGeom>
          <a:noFill/>
          <a:ln w="9525">
            <a:noFill/>
            <a:miter lim="800000"/>
            <a:headEnd/>
            <a:tailEnd/>
          </a:ln>
          <a:effectLst/>
        </p:spPr>
        <p:txBody>
          <a:bodyPr>
            <a:spAutoFit/>
          </a:bodyPr>
          <a:lstStyle/>
          <a:p>
            <a:pPr>
              <a:spcBef>
                <a:spcPct val="50000"/>
              </a:spcBef>
              <a:defRPr/>
            </a:pPr>
            <a:endParaRPr lang="pt-PT" sz="1400" b="1" dirty="0">
              <a:solidFill>
                <a:srgbClr val="FF3300"/>
              </a:solidFill>
              <a:effectLst>
                <a:outerShdw blurRad="38100" dist="38100" dir="2700000" algn="tl">
                  <a:srgbClr val="C0C0C0"/>
                </a:outerShdw>
              </a:effectLst>
              <a:latin typeface="Arial" charset="0"/>
            </a:endParaRPr>
          </a:p>
        </p:txBody>
      </p:sp>
      <p:sp>
        <p:nvSpPr>
          <p:cNvPr id="19" name="Marcador de Posição de Conteúdo 2">
            <a:extLst>
              <a:ext uri="{FF2B5EF4-FFF2-40B4-BE49-F238E27FC236}">
                <a16:creationId xmlns:a16="http://schemas.microsoft.com/office/drawing/2014/main" id="{3C650C7D-9DD8-A8EE-0178-B3B133DD7F03}"/>
              </a:ext>
            </a:extLst>
          </p:cNvPr>
          <p:cNvSpPr txBox="1">
            <a:spLocks/>
          </p:cNvSpPr>
          <p:nvPr/>
        </p:nvSpPr>
        <p:spPr>
          <a:xfrm>
            <a:off x="457200" y="1219200"/>
            <a:ext cx="8229600" cy="4937760"/>
          </a:xfrm>
          <a:prstGeom prst="rect">
            <a:avLst/>
          </a:prstGeom>
        </p:spPr>
        <p:txBody>
          <a:bodyPr vert="horz" lIns="91440" tIns="45720" rIns="91440" bIns="45720" rtlCol="0">
            <a:normAutofit/>
          </a:bodyPr>
          <a:lstStyle/>
          <a:p>
            <a:pPr marL="342900" indent="-342900">
              <a:buFont typeface="+mj-lt"/>
              <a:buAutoNum type="arabicPeriod"/>
            </a:pPr>
            <a:r>
              <a:rPr lang="en-US" dirty="0"/>
              <a:t>Introduction and Objectives  </a:t>
            </a:r>
          </a:p>
          <a:p>
            <a:pPr marL="342900" indent="-342900">
              <a:buFont typeface="+mj-lt"/>
              <a:buAutoNum type="arabicPeriod"/>
            </a:pPr>
            <a:r>
              <a:rPr lang="en-US" dirty="0"/>
              <a:t>Dataset Contextualization (FlameVision)  </a:t>
            </a:r>
          </a:p>
          <a:p>
            <a:pPr marL="342900" indent="-342900">
              <a:buFont typeface="+mj-lt"/>
              <a:buAutoNum type="arabicPeriod"/>
            </a:pPr>
            <a:r>
              <a:rPr lang="en-US" dirty="0"/>
              <a:t>Model Architecture and Implementation  </a:t>
            </a:r>
          </a:p>
          <a:p>
            <a:pPr marL="342900" indent="-342900">
              <a:buFont typeface="+mj-lt"/>
              <a:buAutoNum type="arabicPeriod"/>
            </a:pPr>
            <a:r>
              <a:rPr lang="en-US" dirty="0"/>
              <a:t>Training Configuration and Results  </a:t>
            </a:r>
          </a:p>
          <a:p>
            <a:pPr marL="342900" indent="-342900">
              <a:buFont typeface="+mj-lt"/>
              <a:buAutoNum type="arabicPeriod"/>
            </a:pPr>
            <a:r>
              <a:rPr lang="en-US" dirty="0"/>
              <a:t>Conclusion and Future Work  </a:t>
            </a:r>
          </a:p>
          <a:p>
            <a:pPr marL="342900" indent="-342900">
              <a:buFont typeface="+mj-lt"/>
              <a:buAutoNum type="arabicPeriod"/>
            </a:pPr>
            <a:r>
              <a:rPr lang="en-US"/>
              <a:t>Bibliography </a:t>
            </a:r>
            <a:r>
              <a:rPr lang="en-US" dirty="0"/>
              <a:t>and Web References</a:t>
            </a:r>
            <a:endParaRPr lang="pt-PT" sz="2000" dirty="0">
              <a:latin typeface="Arial" pitchFamily="34" charset="0"/>
              <a:cs typeface="Arial" pitchFamily="34" charset="0"/>
            </a:endParaRPr>
          </a:p>
          <a:p>
            <a:pPr lvl="0">
              <a:lnSpc>
                <a:spcPct val="200000"/>
              </a:lnSpc>
              <a:spcBef>
                <a:spcPct val="20000"/>
              </a:spcBef>
            </a:pPr>
            <a:endParaRPr kumimoji="0" lang="pt-PT" sz="2000" b="0" i="0" u="none" strike="noStrike" kern="1200" cap="none" spc="0" normalizeH="0" baseline="0" noProof="0" dirty="0">
              <a:ln>
                <a:noFill/>
              </a:ln>
              <a:effectLst/>
              <a:uLnTx/>
              <a:uFillTx/>
              <a:latin typeface="Arial" pitchFamily="34" charset="0"/>
              <a:cs typeface="Arial" pitchFamily="34" charset="0"/>
            </a:endParaRPr>
          </a:p>
          <a:p>
            <a:pPr marL="457200" marR="0" lvl="1" indent="0" defTabSz="914400" rtl="0" eaLnBrk="1" fontAlgn="auto" latinLnBrk="0" hangingPunct="1">
              <a:lnSpc>
                <a:spcPct val="200000"/>
              </a:lnSpc>
              <a:spcBef>
                <a:spcPct val="20000"/>
              </a:spcBef>
              <a:spcAft>
                <a:spcPts val="0"/>
              </a:spcAft>
              <a:buClrTx/>
              <a:buSzTx/>
              <a:buFont typeface="Arial" pitchFamily="34" charset="0"/>
              <a:buNone/>
              <a:tabLst/>
              <a:defRPr/>
            </a:pPr>
            <a:endParaRPr kumimoji="0" lang="pt-PT" sz="2000" b="0" i="0" u="none" strike="noStrike" kern="1200" cap="none" spc="0" normalizeH="0" baseline="0" noProof="0" dirty="0">
              <a:ln>
                <a:noFill/>
              </a:ln>
              <a:effectLst/>
              <a:uLnTx/>
              <a:uFillTx/>
              <a:latin typeface="Arial" pitchFamily="34" charset="0"/>
              <a:cs typeface="Arial" pitchFamily="34" charset="0"/>
            </a:endParaRPr>
          </a:p>
          <a:p>
            <a:pPr marL="457200" marR="0" lvl="1" indent="0" defTabSz="914400" rtl="0" eaLnBrk="1" fontAlgn="auto" latinLnBrk="0" hangingPunct="1">
              <a:lnSpc>
                <a:spcPct val="200000"/>
              </a:lnSpc>
              <a:spcBef>
                <a:spcPct val="20000"/>
              </a:spcBef>
              <a:spcAft>
                <a:spcPts val="0"/>
              </a:spcAft>
              <a:buClrTx/>
              <a:buSzTx/>
              <a:buFont typeface="Arial" pitchFamily="34" charset="0"/>
              <a:buNone/>
              <a:tabLst/>
              <a:defRPr/>
            </a:pPr>
            <a:endParaRPr kumimoji="0" lang="pt-PT" sz="2000" b="0" i="0" u="none" strike="noStrike" kern="1200" cap="none" spc="0" normalizeH="0" baseline="0" noProof="0" dirty="0">
              <a:ln>
                <a:noFill/>
              </a:ln>
              <a:effectLst/>
              <a:uLnTx/>
              <a:uFillTx/>
              <a:latin typeface="Arial" pitchFamily="34" charset="0"/>
              <a:cs typeface="Arial" pitchFamily="34" charset="0"/>
            </a:endParaRPr>
          </a:p>
          <a:p>
            <a:pPr marL="0" marR="0" lvl="0" indent="0" defTabSz="914400" rtl="0" eaLnBrk="1" fontAlgn="auto" latinLnBrk="0" hangingPunct="1">
              <a:lnSpc>
                <a:spcPct val="200000"/>
              </a:lnSpc>
              <a:spcBef>
                <a:spcPct val="20000"/>
              </a:spcBef>
              <a:spcAft>
                <a:spcPts val="0"/>
              </a:spcAft>
              <a:buClrTx/>
              <a:buSzTx/>
              <a:buFont typeface="Arial" pitchFamily="34" charset="0"/>
              <a:buNone/>
              <a:tabLst/>
              <a:defRPr/>
            </a:pPr>
            <a:endParaRPr kumimoji="0" lang="pt-PT" sz="2000" b="0" i="0" u="none" strike="noStrike" kern="1200" cap="none" spc="0" normalizeH="0" baseline="0" noProof="0" dirty="0">
              <a:ln>
                <a:noFill/>
              </a:ln>
              <a:effectLst/>
              <a:uLnTx/>
              <a:uFillTx/>
              <a:latin typeface="Arial" pitchFamily="34" charset="0"/>
              <a:cs typeface="Arial" pitchFamily="34" charset="0"/>
            </a:endParaRPr>
          </a:p>
          <a:p>
            <a:pPr marL="0" marR="0" lvl="0" indent="0" defTabSz="914400" rtl="0" eaLnBrk="1" fontAlgn="auto" latinLnBrk="0" hangingPunct="1">
              <a:lnSpc>
                <a:spcPct val="200000"/>
              </a:lnSpc>
              <a:spcBef>
                <a:spcPct val="20000"/>
              </a:spcBef>
              <a:spcAft>
                <a:spcPts val="0"/>
              </a:spcAft>
              <a:buClrTx/>
              <a:buSzTx/>
              <a:buFont typeface="Arial" pitchFamily="34" charset="0"/>
              <a:buNone/>
              <a:tabLst/>
              <a:defRPr/>
            </a:pPr>
            <a:endParaRPr kumimoji="0" lang="pt-PT" sz="2000" b="0" i="0" u="none" strike="noStrike" kern="1200" cap="none" spc="0" normalizeH="0" baseline="0" noProof="0" dirty="0">
              <a:ln>
                <a:noFill/>
              </a:ln>
              <a:effectLst/>
              <a:uLnTx/>
              <a:uFillTx/>
              <a:latin typeface="Arial" pitchFamily="34" charset="0"/>
              <a:cs typeface="Arial" pitchFamily="34" charset="0"/>
            </a:endParaRPr>
          </a:p>
          <a:p>
            <a:pPr marL="0" marR="0" lvl="0" indent="0" defTabSz="914400" rtl="0" eaLnBrk="1" fontAlgn="auto" latinLnBrk="0" hangingPunct="1">
              <a:lnSpc>
                <a:spcPct val="200000"/>
              </a:lnSpc>
              <a:spcBef>
                <a:spcPct val="20000"/>
              </a:spcBef>
              <a:spcAft>
                <a:spcPts val="0"/>
              </a:spcAft>
              <a:buClrTx/>
              <a:buSzTx/>
              <a:buFont typeface="Arial" pitchFamily="34" charset="0"/>
              <a:buNone/>
              <a:tabLst/>
              <a:defRPr/>
            </a:pPr>
            <a:endParaRPr kumimoji="0" lang="pt-PT" sz="2000" b="0" i="0" u="none" strike="noStrike" kern="1200" cap="none" spc="0" normalizeH="0" baseline="0" noProof="0" dirty="0">
              <a:ln>
                <a:noFill/>
              </a:ln>
              <a:effectLst/>
              <a:uLnTx/>
              <a:uFillTx/>
              <a:latin typeface="Arial" pitchFamily="34" charset="0"/>
              <a:cs typeface="Arial" pitchFamily="34" charset="0"/>
            </a:endParaRPr>
          </a:p>
        </p:txBody>
      </p:sp>
      <p:pic>
        <p:nvPicPr>
          <p:cNvPr id="7" name="Imagem 6">
            <a:extLst>
              <a:ext uri="{FF2B5EF4-FFF2-40B4-BE49-F238E27FC236}">
                <a16:creationId xmlns:a16="http://schemas.microsoft.com/office/drawing/2014/main" id="{675546D6-579E-350A-9D85-E0F3B847BC7A}"/>
              </a:ext>
            </a:extLst>
          </p:cNvPr>
          <p:cNvPicPr>
            <a:picLocks noChangeAspect="1"/>
          </p:cNvPicPr>
          <p:nvPr/>
        </p:nvPicPr>
        <p:blipFill>
          <a:blip r:embed="rId3"/>
          <a:stretch>
            <a:fillRect/>
          </a:stretch>
        </p:blipFill>
        <p:spPr>
          <a:xfrm>
            <a:off x="101225" y="904241"/>
            <a:ext cx="9014192" cy="266482"/>
          </a:xfrm>
          <a:prstGeom prst="rect">
            <a:avLst/>
          </a:prstGeom>
        </p:spPr>
      </p:pic>
      <p:pic>
        <p:nvPicPr>
          <p:cNvPr id="9" name="Imagem 8">
            <a:extLst>
              <a:ext uri="{FF2B5EF4-FFF2-40B4-BE49-F238E27FC236}">
                <a16:creationId xmlns:a16="http://schemas.microsoft.com/office/drawing/2014/main" id="{FE223EA0-791E-F317-ACB5-86A6B7441283}"/>
              </a:ext>
            </a:extLst>
          </p:cNvPr>
          <p:cNvPicPr>
            <a:picLocks noChangeAspect="1"/>
          </p:cNvPicPr>
          <p:nvPr/>
        </p:nvPicPr>
        <p:blipFill>
          <a:blip r:embed="rId4"/>
          <a:stretch>
            <a:fillRect/>
          </a:stretch>
        </p:blipFill>
        <p:spPr>
          <a:xfrm>
            <a:off x="0" y="6320212"/>
            <a:ext cx="9144000" cy="253252"/>
          </a:xfrm>
          <a:prstGeom prst="rect">
            <a:avLst/>
          </a:prstGeom>
        </p:spPr>
      </p:pic>
      <p:sp>
        <p:nvSpPr>
          <p:cNvPr id="22" name="Subtítulo 2">
            <a:extLst>
              <a:ext uri="{FF2B5EF4-FFF2-40B4-BE49-F238E27FC236}">
                <a16:creationId xmlns:a16="http://schemas.microsoft.com/office/drawing/2014/main" id="{0286C4D1-E69E-8ADF-47E3-60872C899CCE}"/>
              </a:ext>
            </a:extLst>
          </p:cNvPr>
          <p:cNvSpPr txBox="1">
            <a:spLocks/>
          </p:cNvSpPr>
          <p:nvPr/>
        </p:nvSpPr>
        <p:spPr>
          <a:xfrm>
            <a:off x="836017" y="6524516"/>
            <a:ext cx="7698382" cy="162409"/>
          </a:xfrm>
          <a:prstGeom prst="rect">
            <a:avLst/>
          </a:prstGeom>
        </p:spPr>
        <p:txBody>
          <a:bodyPr vert="horz" lIns="68580" tIns="34290" rIns="68580" bIns="3429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pt-PT" sz="900" dirty="0">
                <a:latin typeface="Arial" charset="0"/>
                <a:ea typeface="Arial" charset="0"/>
                <a:cs typeface="Arial" charset="0"/>
              </a:rPr>
              <a:t>@Diogo Monteiro - 32428, Gonçalo Teixeira - 31396 | </a:t>
            </a:r>
            <a:r>
              <a:rPr lang="pt-PT" sz="900" b="1" dirty="0">
                <a:solidFill>
                  <a:srgbClr val="C00000"/>
                </a:solidFill>
                <a:latin typeface="Arial" charset="0"/>
                <a:ea typeface="Arial" charset="0"/>
                <a:cs typeface="Arial" charset="0"/>
              </a:rPr>
              <a:t>Unidade Curricular: Projeto III </a:t>
            </a:r>
            <a:r>
              <a:rPr lang="pt-PT" sz="900" dirty="0">
                <a:latin typeface="Arial" charset="0"/>
                <a:ea typeface="Arial" charset="0"/>
                <a:cs typeface="Arial" charset="0"/>
              </a:rPr>
              <a:t>– Ano Letivo 2024/2025 – </a:t>
            </a:r>
            <a:r>
              <a:rPr lang="pt-PT" sz="900" b="1" dirty="0">
                <a:latin typeface="Arial" charset="0"/>
                <a:ea typeface="Arial" charset="0"/>
                <a:cs typeface="Arial" charset="0"/>
              </a:rPr>
              <a:t>MCZ03</a:t>
            </a:r>
          </a:p>
        </p:txBody>
      </p:sp>
      <p:pic>
        <p:nvPicPr>
          <p:cNvPr id="13" name="Imagem 12">
            <a:extLst>
              <a:ext uri="{FF2B5EF4-FFF2-40B4-BE49-F238E27FC236}">
                <a16:creationId xmlns:a16="http://schemas.microsoft.com/office/drawing/2014/main" id="{63DC899E-E139-52DC-FDEA-DE564BF60D7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8125" y="6488336"/>
            <a:ext cx="545959" cy="199802"/>
          </a:xfrm>
          <a:prstGeom prst="rect">
            <a:avLst/>
          </a:prstGeom>
        </p:spPr>
      </p:pic>
      <p:sp>
        <p:nvSpPr>
          <p:cNvPr id="3" name="Rectângulo 19">
            <a:extLst>
              <a:ext uri="{FF2B5EF4-FFF2-40B4-BE49-F238E27FC236}">
                <a16:creationId xmlns:a16="http://schemas.microsoft.com/office/drawing/2014/main" id="{8E88F21F-4489-854F-9544-8F2889B2741F}"/>
              </a:ext>
            </a:extLst>
          </p:cNvPr>
          <p:cNvSpPr/>
          <p:nvPr/>
        </p:nvSpPr>
        <p:spPr>
          <a:xfrm>
            <a:off x="5535613" y="553019"/>
            <a:ext cx="3505200" cy="261610"/>
          </a:xfrm>
          <a:prstGeom prst="rect">
            <a:avLst/>
          </a:prstGeom>
        </p:spPr>
        <p:txBody>
          <a:bodyPr wrap="square">
            <a:spAutoFit/>
          </a:bodyPr>
          <a:lstStyle/>
          <a:p>
            <a:pPr algn="r"/>
            <a:r>
              <a:rPr lang="pt-PT" sz="1100" b="1" cap="all" dirty="0" err="1">
                <a:highlight>
                  <a:srgbClr val="FFFF00"/>
                </a:highlight>
              </a:rPr>
              <a:t>Graduation</a:t>
            </a:r>
            <a:r>
              <a:rPr lang="pt-PT" sz="1100" b="1" cap="all" dirty="0">
                <a:highlight>
                  <a:srgbClr val="FFFF00"/>
                </a:highlight>
              </a:rPr>
              <a:t> in </a:t>
            </a:r>
            <a:r>
              <a:rPr lang="pt-PT" sz="1100" b="1" cap="all" dirty="0" err="1">
                <a:highlight>
                  <a:srgbClr val="FFFF00"/>
                </a:highlight>
              </a:rPr>
              <a:t>Informatics</a:t>
            </a:r>
            <a:r>
              <a:rPr lang="pt-PT" sz="1100" b="1" cap="all" dirty="0">
                <a:highlight>
                  <a:srgbClr val="FFFF00"/>
                </a:highlight>
              </a:rPr>
              <a:t> </a:t>
            </a:r>
            <a:r>
              <a:rPr lang="pt-PT" sz="1100" b="1" cap="all" dirty="0" err="1">
                <a:highlight>
                  <a:srgbClr val="FFFF00"/>
                </a:highlight>
              </a:rPr>
              <a:t>engineering</a:t>
            </a:r>
            <a:endParaRPr lang="pt-PT" sz="1100" dirty="0">
              <a:highlight>
                <a:srgbClr val="FFFF00"/>
              </a:highlight>
            </a:endParaRPr>
          </a:p>
        </p:txBody>
      </p:sp>
      <p:pic>
        <p:nvPicPr>
          <p:cNvPr id="5" name="Imagem 4">
            <a:extLst>
              <a:ext uri="{FF2B5EF4-FFF2-40B4-BE49-F238E27FC236}">
                <a16:creationId xmlns:a16="http://schemas.microsoft.com/office/drawing/2014/main" id="{89987F94-8002-C7D8-2A5F-DD967DAE149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575316" y="9186"/>
            <a:ext cx="2575034" cy="639880"/>
          </a:xfrm>
          <a:prstGeom prst="rect">
            <a:avLst/>
          </a:prstGeom>
        </p:spPr>
      </p:pic>
    </p:spTree>
    <p:extLst>
      <p:ext uri="{BB962C8B-B14F-4D97-AF65-F5344CB8AC3E}">
        <p14:creationId xmlns:p14="http://schemas.microsoft.com/office/powerpoint/2010/main" val="33596481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2641F-49EC-8A5C-B4C1-85B7CBC4D40E}"/>
            </a:ext>
          </a:extLst>
        </p:cNvPr>
        <p:cNvGrpSpPr/>
        <p:nvPr/>
      </p:nvGrpSpPr>
      <p:grpSpPr>
        <a:xfrm>
          <a:off x="0" y="0"/>
          <a:ext cx="0" cy="0"/>
          <a:chOff x="0" y="0"/>
          <a:chExt cx="0" cy="0"/>
        </a:xfrm>
      </p:grpSpPr>
      <p:sp>
        <p:nvSpPr>
          <p:cNvPr id="9229" name="Text Box 13">
            <a:extLst>
              <a:ext uri="{FF2B5EF4-FFF2-40B4-BE49-F238E27FC236}">
                <a16:creationId xmlns:a16="http://schemas.microsoft.com/office/drawing/2014/main" id="{EDF10111-956A-A4D5-F4F2-8D9A6DD15B6C}"/>
              </a:ext>
            </a:extLst>
          </p:cNvPr>
          <p:cNvSpPr txBox="1">
            <a:spLocks noChangeArrowheads="1"/>
          </p:cNvSpPr>
          <p:nvPr/>
        </p:nvSpPr>
        <p:spPr bwMode="auto">
          <a:xfrm>
            <a:off x="306388" y="557213"/>
            <a:ext cx="6981825" cy="400050"/>
          </a:xfrm>
          <a:prstGeom prst="rect">
            <a:avLst/>
          </a:prstGeom>
          <a:noFill/>
          <a:ln w="9525">
            <a:noFill/>
            <a:miter lim="800000"/>
            <a:headEnd/>
            <a:tailEnd/>
          </a:ln>
          <a:effectLst/>
        </p:spPr>
        <p:txBody>
          <a:bodyPr>
            <a:spAutoFit/>
          </a:bodyPr>
          <a:lstStyle/>
          <a:p>
            <a:pPr>
              <a:spcBef>
                <a:spcPct val="50000"/>
              </a:spcBef>
              <a:defRPr/>
            </a:pPr>
            <a:r>
              <a:rPr lang="pt-PT" sz="2000" b="1" dirty="0">
                <a:solidFill>
                  <a:srgbClr val="C00000"/>
                </a:solidFill>
                <a:effectLst>
                  <a:outerShdw blurRad="38100" dist="38100" dir="2700000" algn="tl">
                    <a:srgbClr val="C0C0C0"/>
                  </a:outerShdw>
                </a:effectLst>
                <a:latin typeface="Arial"/>
                <a:cs typeface="Arial"/>
              </a:rPr>
              <a:t>■</a:t>
            </a:r>
            <a:r>
              <a:rPr lang="pt-PT" sz="2000" b="1" dirty="0">
                <a:effectLst>
                  <a:outerShdw blurRad="38100" dist="38100" dir="2700000" algn="tl">
                    <a:srgbClr val="C0C0C0"/>
                  </a:outerShdw>
                </a:effectLst>
                <a:latin typeface="Arial"/>
                <a:cs typeface="Arial"/>
              </a:rPr>
              <a:t> 1. </a:t>
            </a:r>
            <a:r>
              <a:rPr lang="pt-PT" sz="2000" b="1" dirty="0" err="1">
                <a:effectLst>
                  <a:outerShdw blurRad="38100" dist="38100" dir="2700000" algn="tl">
                    <a:srgbClr val="C0C0C0"/>
                  </a:outerShdw>
                </a:effectLst>
                <a:latin typeface="Arial" charset="0"/>
              </a:rPr>
              <a:t>Introduction</a:t>
            </a:r>
            <a:r>
              <a:rPr lang="pt-PT" sz="2000" b="1" dirty="0">
                <a:effectLst>
                  <a:outerShdw blurRad="38100" dist="38100" dir="2700000" algn="tl">
                    <a:srgbClr val="C0C0C0"/>
                  </a:outerShdw>
                </a:effectLst>
                <a:latin typeface="Arial" charset="0"/>
              </a:rPr>
              <a:t> </a:t>
            </a:r>
            <a:r>
              <a:rPr lang="pt-PT" sz="2000" b="1" dirty="0" err="1">
                <a:effectLst>
                  <a:outerShdw blurRad="38100" dist="38100" dir="2700000" algn="tl">
                    <a:srgbClr val="C0C0C0"/>
                  </a:outerShdw>
                </a:effectLst>
                <a:latin typeface="Arial" charset="0"/>
              </a:rPr>
              <a:t>and</a:t>
            </a:r>
            <a:r>
              <a:rPr lang="pt-PT" sz="2000" b="1" dirty="0">
                <a:effectLst>
                  <a:outerShdw blurRad="38100" dist="38100" dir="2700000" algn="tl">
                    <a:srgbClr val="C0C0C0"/>
                  </a:outerShdw>
                </a:effectLst>
                <a:latin typeface="Arial" charset="0"/>
              </a:rPr>
              <a:t> </a:t>
            </a:r>
            <a:r>
              <a:rPr lang="pt-PT" sz="2000" b="1" dirty="0" err="1">
                <a:effectLst>
                  <a:outerShdw blurRad="38100" dist="38100" dir="2700000" algn="tl">
                    <a:srgbClr val="C0C0C0"/>
                  </a:outerShdw>
                </a:effectLst>
                <a:latin typeface="Arial" charset="0"/>
              </a:rPr>
              <a:t>Objectives</a:t>
            </a:r>
            <a:endParaRPr lang="pt-PT" sz="2000" b="1" dirty="0">
              <a:effectLst>
                <a:outerShdw blurRad="38100" dist="38100" dir="2700000" algn="tl">
                  <a:srgbClr val="C0C0C0"/>
                </a:outerShdw>
              </a:effectLst>
              <a:latin typeface="Arial" charset="0"/>
            </a:endParaRPr>
          </a:p>
        </p:txBody>
      </p:sp>
      <p:sp>
        <p:nvSpPr>
          <p:cNvPr id="10247" name="Line 15">
            <a:extLst>
              <a:ext uri="{FF2B5EF4-FFF2-40B4-BE49-F238E27FC236}">
                <a16:creationId xmlns:a16="http://schemas.microsoft.com/office/drawing/2014/main" id="{551EEC3A-7B60-DBF6-EDC5-2990A2896422}"/>
              </a:ext>
            </a:extLst>
          </p:cNvPr>
          <p:cNvSpPr>
            <a:spLocks noChangeShapeType="1"/>
          </p:cNvSpPr>
          <p:nvPr/>
        </p:nvSpPr>
        <p:spPr bwMode="auto">
          <a:xfrm>
            <a:off x="250825" y="0"/>
            <a:ext cx="0" cy="765175"/>
          </a:xfrm>
          <a:prstGeom prst="line">
            <a:avLst/>
          </a:prstGeom>
          <a:noFill/>
          <a:ln w="25400">
            <a:solidFill>
              <a:schemeClr val="tx1"/>
            </a:solidFill>
            <a:round/>
            <a:headEnd/>
            <a:tailEnd/>
          </a:ln>
        </p:spPr>
        <p:txBody>
          <a:bodyPr/>
          <a:lstStyle/>
          <a:p>
            <a:endParaRPr lang="pt-PT"/>
          </a:p>
        </p:txBody>
      </p:sp>
      <p:sp>
        <p:nvSpPr>
          <p:cNvPr id="9237" name="Text Box 21">
            <a:extLst>
              <a:ext uri="{FF2B5EF4-FFF2-40B4-BE49-F238E27FC236}">
                <a16:creationId xmlns:a16="http://schemas.microsoft.com/office/drawing/2014/main" id="{CB1288B8-BA5D-18E0-D281-0091B87CB5C1}"/>
              </a:ext>
            </a:extLst>
          </p:cNvPr>
          <p:cNvSpPr txBox="1">
            <a:spLocks noChangeArrowheads="1"/>
          </p:cNvSpPr>
          <p:nvPr/>
        </p:nvSpPr>
        <p:spPr bwMode="auto">
          <a:xfrm>
            <a:off x="260350" y="44450"/>
            <a:ext cx="6981825" cy="304800"/>
          </a:xfrm>
          <a:prstGeom prst="rect">
            <a:avLst/>
          </a:prstGeom>
          <a:noFill/>
          <a:ln w="9525">
            <a:noFill/>
            <a:miter lim="800000"/>
            <a:headEnd/>
            <a:tailEnd/>
          </a:ln>
          <a:effectLst/>
        </p:spPr>
        <p:txBody>
          <a:bodyPr>
            <a:spAutoFit/>
          </a:bodyPr>
          <a:lstStyle/>
          <a:p>
            <a:pPr>
              <a:spcBef>
                <a:spcPct val="50000"/>
              </a:spcBef>
              <a:defRPr/>
            </a:pPr>
            <a:endParaRPr lang="pt-PT" sz="1400" b="1" dirty="0">
              <a:solidFill>
                <a:srgbClr val="FF3300"/>
              </a:solidFill>
              <a:effectLst>
                <a:outerShdw blurRad="38100" dist="38100" dir="2700000" algn="tl">
                  <a:srgbClr val="C0C0C0"/>
                </a:outerShdw>
              </a:effectLst>
              <a:latin typeface="Arial" charset="0"/>
            </a:endParaRPr>
          </a:p>
        </p:txBody>
      </p:sp>
      <p:sp>
        <p:nvSpPr>
          <p:cNvPr id="12" name="CaixaDeTexto 11">
            <a:extLst>
              <a:ext uri="{FF2B5EF4-FFF2-40B4-BE49-F238E27FC236}">
                <a16:creationId xmlns:a16="http://schemas.microsoft.com/office/drawing/2014/main" id="{5531F096-C317-3474-95C6-93E047BC05F4}"/>
              </a:ext>
            </a:extLst>
          </p:cNvPr>
          <p:cNvSpPr txBox="1"/>
          <p:nvPr/>
        </p:nvSpPr>
        <p:spPr>
          <a:xfrm>
            <a:off x="419100" y="1122339"/>
            <a:ext cx="8305800" cy="4578433"/>
          </a:xfrm>
          <a:prstGeom prst="rect">
            <a:avLst/>
          </a:prstGeom>
          <a:noFill/>
          <a:ln>
            <a:noFill/>
          </a:ln>
        </p:spPr>
        <p:txBody>
          <a:bodyPr wrap="square" rtlCol="0">
            <a:spAutoFit/>
          </a:bodyPr>
          <a:lstStyle/>
          <a:p>
            <a:pPr algn="just">
              <a:lnSpc>
                <a:spcPct val="200000"/>
              </a:lnSpc>
            </a:pPr>
            <a:r>
              <a:rPr lang="en-US" i="1" dirty="0">
                <a:solidFill>
                  <a:srgbClr val="FFC000"/>
                </a:solidFill>
                <a:latin typeface="Arial"/>
                <a:cs typeface="Arial"/>
              </a:rPr>
              <a:t>■</a:t>
            </a:r>
            <a:r>
              <a:rPr lang="pt-PT" dirty="0"/>
              <a:t> </a:t>
            </a:r>
            <a:r>
              <a:rPr lang="en-US" sz="1600" dirty="0"/>
              <a:t>This checkpoint focuses on developing a wildfire detection model using the FlameVision aerial imagery dataset and preparing it for web platform integration through preprocessing, model training, and validation.</a:t>
            </a:r>
          </a:p>
          <a:p>
            <a:pPr algn="just">
              <a:lnSpc>
                <a:spcPct val="200000"/>
              </a:lnSpc>
            </a:pPr>
            <a:r>
              <a:rPr lang="en-US" i="1" dirty="0">
                <a:solidFill>
                  <a:srgbClr val="FFC000"/>
                </a:solidFill>
                <a:latin typeface="Arial"/>
                <a:cs typeface="Arial"/>
              </a:rPr>
              <a:t>■ </a:t>
            </a:r>
            <a:r>
              <a:rPr lang="en-US" sz="1600" b="1" dirty="0"/>
              <a:t>Objectives:</a:t>
            </a:r>
          </a:p>
          <a:p>
            <a:pPr marL="285750" indent="-285750">
              <a:lnSpc>
                <a:spcPct val="200000"/>
              </a:lnSpc>
              <a:buFont typeface="Arial" panose="020B0604020202020204" pitchFamily="34" charset="0"/>
              <a:buChar char="•"/>
            </a:pPr>
            <a:r>
              <a:rPr lang="en-US" sz="1600" dirty="0"/>
              <a:t>Validate and structure the FlameVision dataset into Train, Validation, and Test splits.</a:t>
            </a:r>
          </a:p>
          <a:p>
            <a:pPr marL="285750" indent="-285750">
              <a:lnSpc>
                <a:spcPct val="200000"/>
              </a:lnSpc>
              <a:buFont typeface="Arial" panose="020B0604020202020204" pitchFamily="34" charset="0"/>
              <a:buChar char="•"/>
            </a:pPr>
            <a:r>
              <a:rPr lang="en-US" sz="1600" dirty="0"/>
              <a:t>Implement data preprocessing and augmentation for aerial wildfire image classification.</a:t>
            </a:r>
          </a:p>
          <a:p>
            <a:pPr marL="285750" indent="-285750">
              <a:lnSpc>
                <a:spcPct val="200000"/>
              </a:lnSpc>
              <a:buFont typeface="Arial" panose="020B0604020202020204" pitchFamily="34" charset="0"/>
              <a:buChar char="•"/>
            </a:pPr>
            <a:r>
              <a:rPr lang="en-US" sz="1600" dirty="0"/>
              <a:t>Develop and train a CNN classifier (EfficientNet-B0) for fire/no-fire binary detection.</a:t>
            </a:r>
          </a:p>
          <a:p>
            <a:pPr marL="285750" indent="-285750">
              <a:lnSpc>
                <a:spcPct val="200000"/>
              </a:lnSpc>
              <a:buFont typeface="Arial" panose="020B0604020202020204" pitchFamily="34" charset="0"/>
              <a:buChar char="•"/>
            </a:pPr>
            <a:r>
              <a:rPr lang="en-US" sz="1600" dirty="0"/>
              <a:t>Evaluate model performance on validation and test sets.</a:t>
            </a:r>
          </a:p>
          <a:p>
            <a:pPr marL="285750" indent="-285750">
              <a:lnSpc>
                <a:spcPct val="200000"/>
              </a:lnSpc>
              <a:buFont typeface="Arial" panose="020B0604020202020204" pitchFamily="34" charset="0"/>
              <a:buChar char="•"/>
            </a:pPr>
            <a:r>
              <a:rPr lang="en-US" sz="1600" dirty="0"/>
              <a:t>Export trained model for </a:t>
            </a:r>
            <a:r>
              <a:rPr lang="en-US" sz="1600" dirty="0" err="1"/>
              <a:t>FastAPI</a:t>
            </a:r>
            <a:r>
              <a:rPr lang="en-US" sz="1600" dirty="0"/>
              <a:t> backend integration.</a:t>
            </a:r>
          </a:p>
        </p:txBody>
      </p:sp>
      <p:pic>
        <p:nvPicPr>
          <p:cNvPr id="15" name="Imagem 14">
            <a:extLst>
              <a:ext uri="{FF2B5EF4-FFF2-40B4-BE49-F238E27FC236}">
                <a16:creationId xmlns:a16="http://schemas.microsoft.com/office/drawing/2014/main" id="{17AA7FAD-DD62-3ACC-3E99-168E38ECC4CF}"/>
              </a:ext>
            </a:extLst>
          </p:cNvPr>
          <p:cNvPicPr>
            <a:picLocks noChangeAspect="1"/>
          </p:cNvPicPr>
          <p:nvPr/>
        </p:nvPicPr>
        <p:blipFill>
          <a:blip r:embed="rId3"/>
          <a:stretch>
            <a:fillRect/>
          </a:stretch>
        </p:blipFill>
        <p:spPr>
          <a:xfrm>
            <a:off x="101225" y="904241"/>
            <a:ext cx="9014192" cy="266482"/>
          </a:xfrm>
          <a:prstGeom prst="rect">
            <a:avLst/>
          </a:prstGeom>
        </p:spPr>
      </p:pic>
      <p:sp>
        <p:nvSpPr>
          <p:cNvPr id="16" name="Rectângulo 19">
            <a:extLst>
              <a:ext uri="{FF2B5EF4-FFF2-40B4-BE49-F238E27FC236}">
                <a16:creationId xmlns:a16="http://schemas.microsoft.com/office/drawing/2014/main" id="{77CBDF8E-388D-6CC3-0A89-EF9643E881ED}"/>
              </a:ext>
            </a:extLst>
          </p:cNvPr>
          <p:cNvSpPr/>
          <p:nvPr/>
        </p:nvSpPr>
        <p:spPr>
          <a:xfrm>
            <a:off x="5535613" y="553019"/>
            <a:ext cx="3505200" cy="261610"/>
          </a:xfrm>
          <a:prstGeom prst="rect">
            <a:avLst/>
          </a:prstGeom>
        </p:spPr>
        <p:txBody>
          <a:bodyPr wrap="square">
            <a:spAutoFit/>
          </a:bodyPr>
          <a:lstStyle/>
          <a:p>
            <a:pPr algn="r"/>
            <a:r>
              <a:rPr lang="pt-PT" sz="1100" b="1" cap="all" dirty="0" err="1">
                <a:highlight>
                  <a:srgbClr val="FFFF00"/>
                </a:highlight>
              </a:rPr>
              <a:t>Graduation</a:t>
            </a:r>
            <a:r>
              <a:rPr lang="pt-PT" sz="1100" b="1" cap="all" dirty="0">
                <a:highlight>
                  <a:srgbClr val="FFFF00"/>
                </a:highlight>
              </a:rPr>
              <a:t> in </a:t>
            </a:r>
            <a:r>
              <a:rPr lang="pt-PT" sz="1100" b="1" cap="all" dirty="0" err="1">
                <a:highlight>
                  <a:srgbClr val="FFFF00"/>
                </a:highlight>
              </a:rPr>
              <a:t>Informatics</a:t>
            </a:r>
            <a:r>
              <a:rPr lang="pt-PT" sz="1100" b="1" cap="all" dirty="0">
                <a:highlight>
                  <a:srgbClr val="FFFF00"/>
                </a:highlight>
              </a:rPr>
              <a:t> </a:t>
            </a:r>
            <a:r>
              <a:rPr lang="pt-PT" sz="1100" b="1" cap="all" dirty="0" err="1">
                <a:highlight>
                  <a:srgbClr val="FFFF00"/>
                </a:highlight>
              </a:rPr>
              <a:t>engineering</a:t>
            </a:r>
            <a:endParaRPr lang="pt-PT" sz="1100" dirty="0">
              <a:highlight>
                <a:srgbClr val="FFFF00"/>
              </a:highlight>
            </a:endParaRPr>
          </a:p>
        </p:txBody>
      </p:sp>
      <p:pic>
        <p:nvPicPr>
          <p:cNvPr id="17" name="Imagem 16">
            <a:extLst>
              <a:ext uri="{FF2B5EF4-FFF2-40B4-BE49-F238E27FC236}">
                <a16:creationId xmlns:a16="http://schemas.microsoft.com/office/drawing/2014/main" id="{4A2389EE-FB8E-707F-6324-9F571D4C4DA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575316" y="9186"/>
            <a:ext cx="2575034" cy="639880"/>
          </a:xfrm>
          <a:prstGeom prst="rect">
            <a:avLst/>
          </a:prstGeom>
        </p:spPr>
      </p:pic>
      <p:sp>
        <p:nvSpPr>
          <p:cNvPr id="18" name="Text Box 10">
            <a:extLst>
              <a:ext uri="{FF2B5EF4-FFF2-40B4-BE49-F238E27FC236}">
                <a16:creationId xmlns:a16="http://schemas.microsoft.com/office/drawing/2014/main" id="{E71D6EA4-7FE0-4A9B-E53D-32FF426B7901}"/>
              </a:ext>
            </a:extLst>
          </p:cNvPr>
          <p:cNvSpPr txBox="1">
            <a:spLocks noChangeArrowheads="1"/>
          </p:cNvSpPr>
          <p:nvPr/>
        </p:nvSpPr>
        <p:spPr bwMode="auto">
          <a:xfrm>
            <a:off x="8288338" y="6296025"/>
            <a:ext cx="827087" cy="366713"/>
          </a:xfrm>
          <a:prstGeom prst="rect">
            <a:avLst/>
          </a:prstGeom>
          <a:noFill/>
          <a:ln w="9525">
            <a:noFill/>
            <a:miter lim="800000"/>
            <a:headEnd/>
            <a:tailEnd/>
          </a:ln>
        </p:spPr>
        <p:txBody>
          <a:bodyPr>
            <a:spAutoFit/>
          </a:bodyPr>
          <a:lstStyle/>
          <a:p>
            <a:pPr>
              <a:spcBef>
                <a:spcPct val="50000"/>
              </a:spcBef>
            </a:pPr>
            <a:endParaRPr lang="pt-PT"/>
          </a:p>
        </p:txBody>
      </p:sp>
      <p:sp>
        <p:nvSpPr>
          <p:cNvPr id="19" name="Rectangle 11">
            <a:extLst>
              <a:ext uri="{FF2B5EF4-FFF2-40B4-BE49-F238E27FC236}">
                <a16:creationId xmlns:a16="http://schemas.microsoft.com/office/drawing/2014/main" id="{29A0B82B-6181-0926-09DB-5EEFBC018A79}"/>
              </a:ext>
            </a:extLst>
          </p:cNvPr>
          <p:cNvSpPr>
            <a:spLocks noChangeArrowheads="1"/>
          </p:cNvSpPr>
          <p:nvPr/>
        </p:nvSpPr>
        <p:spPr bwMode="auto">
          <a:xfrm>
            <a:off x="8327571" y="6496091"/>
            <a:ext cx="936625" cy="260350"/>
          </a:xfrm>
          <a:prstGeom prst="rect">
            <a:avLst/>
          </a:prstGeom>
          <a:noFill/>
          <a:ln w="9525">
            <a:noFill/>
            <a:miter lim="800000"/>
            <a:headEnd/>
            <a:tailEnd/>
          </a:ln>
        </p:spPr>
        <p:txBody>
          <a:bodyPr anchor="ctr"/>
          <a:lstStyle/>
          <a:p>
            <a:pPr algn="ctr"/>
            <a:r>
              <a:rPr lang="pt-PT" sz="1000" dirty="0"/>
              <a:t>- </a:t>
            </a:r>
            <a:fld id="{1234D2FF-8FB9-47A1-B8C9-42A5F500BA2F}" type="slidenum">
              <a:rPr lang="pt-PT" sz="1000"/>
              <a:pPr algn="ctr"/>
              <a:t>39</a:t>
            </a:fld>
            <a:r>
              <a:rPr lang="pt-PT" sz="1000" dirty="0"/>
              <a:t> -</a:t>
            </a:r>
          </a:p>
        </p:txBody>
      </p:sp>
      <p:pic>
        <p:nvPicPr>
          <p:cNvPr id="20" name="Imagem 19">
            <a:extLst>
              <a:ext uri="{FF2B5EF4-FFF2-40B4-BE49-F238E27FC236}">
                <a16:creationId xmlns:a16="http://schemas.microsoft.com/office/drawing/2014/main" id="{898899EC-3685-6127-8FF6-36CCEEAC78EA}"/>
              </a:ext>
            </a:extLst>
          </p:cNvPr>
          <p:cNvPicPr>
            <a:picLocks noChangeAspect="1"/>
          </p:cNvPicPr>
          <p:nvPr/>
        </p:nvPicPr>
        <p:blipFill>
          <a:blip r:embed="rId5"/>
          <a:stretch>
            <a:fillRect/>
          </a:stretch>
        </p:blipFill>
        <p:spPr>
          <a:xfrm>
            <a:off x="0" y="6320212"/>
            <a:ext cx="9144000" cy="253252"/>
          </a:xfrm>
          <a:prstGeom prst="rect">
            <a:avLst/>
          </a:prstGeom>
        </p:spPr>
      </p:pic>
      <p:pic>
        <p:nvPicPr>
          <p:cNvPr id="22" name="Imagem 21">
            <a:extLst>
              <a:ext uri="{FF2B5EF4-FFF2-40B4-BE49-F238E27FC236}">
                <a16:creationId xmlns:a16="http://schemas.microsoft.com/office/drawing/2014/main" id="{AF017298-8CDC-3BA7-E91E-5331BD53FCA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38125" y="6488336"/>
            <a:ext cx="545959" cy="199802"/>
          </a:xfrm>
          <a:prstGeom prst="rect">
            <a:avLst/>
          </a:prstGeom>
        </p:spPr>
      </p:pic>
      <p:sp>
        <p:nvSpPr>
          <p:cNvPr id="2" name="Subtítulo 2">
            <a:extLst>
              <a:ext uri="{FF2B5EF4-FFF2-40B4-BE49-F238E27FC236}">
                <a16:creationId xmlns:a16="http://schemas.microsoft.com/office/drawing/2014/main" id="{864CC3AC-9427-557A-A042-BE930F598F9D}"/>
              </a:ext>
            </a:extLst>
          </p:cNvPr>
          <p:cNvSpPr txBox="1">
            <a:spLocks/>
          </p:cNvSpPr>
          <p:nvPr/>
        </p:nvSpPr>
        <p:spPr>
          <a:xfrm>
            <a:off x="836017" y="6524516"/>
            <a:ext cx="7698382" cy="162409"/>
          </a:xfrm>
          <a:prstGeom prst="rect">
            <a:avLst/>
          </a:prstGeom>
        </p:spPr>
        <p:txBody>
          <a:bodyPr vert="horz" lIns="68580" tIns="34290" rIns="68580" bIns="3429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pt-PT" sz="900" dirty="0">
                <a:latin typeface="Arial" charset="0"/>
                <a:ea typeface="Arial" charset="0"/>
                <a:cs typeface="Arial" charset="0"/>
              </a:rPr>
              <a:t>@Diogo Monteiro - 32428, Gonçalo Teixeira - 31396 | </a:t>
            </a:r>
            <a:r>
              <a:rPr lang="pt-PT" sz="900" b="1" dirty="0">
                <a:solidFill>
                  <a:srgbClr val="C00000"/>
                </a:solidFill>
                <a:latin typeface="Arial" charset="0"/>
                <a:ea typeface="Arial" charset="0"/>
                <a:cs typeface="Arial" charset="0"/>
              </a:rPr>
              <a:t>Unidade Curricular: Projeto III </a:t>
            </a:r>
            <a:r>
              <a:rPr lang="pt-PT" sz="900" dirty="0">
                <a:latin typeface="Arial" charset="0"/>
                <a:ea typeface="Arial" charset="0"/>
                <a:cs typeface="Arial" charset="0"/>
              </a:rPr>
              <a:t>– Ano Letivo 2024/2025 – </a:t>
            </a:r>
            <a:r>
              <a:rPr lang="pt-PT" sz="900" b="1" dirty="0">
                <a:latin typeface="Arial" charset="0"/>
                <a:ea typeface="Arial" charset="0"/>
                <a:cs typeface="Arial" charset="0"/>
              </a:rPr>
              <a:t>MCZ03</a:t>
            </a:r>
          </a:p>
        </p:txBody>
      </p:sp>
    </p:spTree>
    <p:extLst>
      <p:ext uri="{BB962C8B-B14F-4D97-AF65-F5344CB8AC3E}">
        <p14:creationId xmlns:p14="http://schemas.microsoft.com/office/powerpoint/2010/main" val="1459427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D0DD7-EDF7-087A-FA9F-2384043ED3E8}"/>
            </a:ext>
          </a:extLst>
        </p:cNvPr>
        <p:cNvGrpSpPr/>
        <p:nvPr/>
      </p:nvGrpSpPr>
      <p:grpSpPr>
        <a:xfrm>
          <a:off x="0" y="0"/>
          <a:ext cx="0" cy="0"/>
          <a:chOff x="0" y="0"/>
          <a:chExt cx="0" cy="0"/>
        </a:xfrm>
      </p:grpSpPr>
      <p:sp>
        <p:nvSpPr>
          <p:cNvPr id="9229" name="Text Box 13">
            <a:extLst>
              <a:ext uri="{FF2B5EF4-FFF2-40B4-BE49-F238E27FC236}">
                <a16:creationId xmlns:a16="http://schemas.microsoft.com/office/drawing/2014/main" id="{22A15511-FCED-1AC5-F132-A9B37847195D}"/>
              </a:ext>
            </a:extLst>
          </p:cNvPr>
          <p:cNvSpPr txBox="1">
            <a:spLocks noChangeArrowheads="1"/>
          </p:cNvSpPr>
          <p:nvPr/>
        </p:nvSpPr>
        <p:spPr bwMode="auto">
          <a:xfrm>
            <a:off x="306388" y="557213"/>
            <a:ext cx="6981825" cy="400050"/>
          </a:xfrm>
          <a:prstGeom prst="rect">
            <a:avLst/>
          </a:prstGeom>
          <a:noFill/>
          <a:ln w="9525">
            <a:noFill/>
            <a:miter lim="800000"/>
            <a:headEnd/>
            <a:tailEnd/>
          </a:ln>
          <a:effectLst/>
        </p:spPr>
        <p:txBody>
          <a:bodyPr>
            <a:spAutoFit/>
          </a:bodyPr>
          <a:lstStyle/>
          <a:p>
            <a:pPr>
              <a:spcBef>
                <a:spcPct val="50000"/>
              </a:spcBef>
              <a:defRPr/>
            </a:pPr>
            <a:r>
              <a:rPr lang="pt-PT" sz="2000" b="1" dirty="0">
                <a:solidFill>
                  <a:srgbClr val="C00000"/>
                </a:solidFill>
                <a:effectLst>
                  <a:outerShdw blurRad="38100" dist="38100" dir="2700000" algn="tl">
                    <a:srgbClr val="C0C0C0"/>
                  </a:outerShdw>
                </a:effectLst>
                <a:latin typeface="Arial"/>
                <a:cs typeface="Arial"/>
              </a:rPr>
              <a:t>■</a:t>
            </a:r>
            <a:r>
              <a:rPr lang="pt-PT" sz="2000" b="1" dirty="0">
                <a:effectLst>
                  <a:outerShdw blurRad="38100" dist="38100" dir="2700000" algn="tl">
                    <a:srgbClr val="C0C0C0"/>
                  </a:outerShdw>
                </a:effectLst>
                <a:latin typeface="Arial"/>
                <a:cs typeface="Arial"/>
              </a:rPr>
              <a:t> </a:t>
            </a:r>
            <a:r>
              <a:rPr lang="en-US" sz="2000" b="1" dirty="0">
                <a:effectLst>
                  <a:outerShdw blurRad="38100" dist="38100" dir="2700000" algn="tl">
                    <a:srgbClr val="C0C0C0"/>
                  </a:outerShdw>
                </a:effectLst>
                <a:latin typeface="Arial"/>
                <a:cs typeface="Arial"/>
              </a:rPr>
              <a:t>2. Model Architecture Implementation</a:t>
            </a:r>
            <a:endParaRPr lang="pt-PT" sz="2000" b="1" dirty="0">
              <a:effectLst>
                <a:outerShdw blurRad="38100" dist="38100" dir="2700000" algn="tl">
                  <a:srgbClr val="C0C0C0"/>
                </a:outerShdw>
              </a:effectLst>
              <a:latin typeface="Arial" charset="0"/>
            </a:endParaRPr>
          </a:p>
        </p:txBody>
      </p:sp>
      <p:sp>
        <p:nvSpPr>
          <p:cNvPr id="10247" name="Line 15">
            <a:extLst>
              <a:ext uri="{FF2B5EF4-FFF2-40B4-BE49-F238E27FC236}">
                <a16:creationId xmlns:a16="http://schemas.microsoft.com/office/drawing/2014/main" id="{D5AD6CD0-8091-550C-6376-6C72BCFA2C72}"/>
              </a:ext>
            </a:extLst>
          </p:cNvPr>
          <p:cNvSpPr>
            <a:spLocks noChangeShapeType="1"/>
          </p:cNvSpPr>
          <p:nvPr/>
        </p:nvSpPr>
        <p:spPr bwMode="auto">
          <a:xfrm>
            <a:off x="250825" y="0"/>
            <a:ext cx="0" cy="765175"/>
          </a:xfrm>
          <a:prstGeom prst="line">
            <a:avLst/>
          </a:prstGeom>
          <a:noFill/>
          <a:ln w="25400">
            <a:solidFill>
              <a:schemeClr val="tx1"/>
            </a:solidFill>
            <a:round/>
            <a:headEnd/>
            <a:tailEnd/>
          </a:ln>
        </p:spPr>
        <p:txBody>
          <a:bodyPr/>
          <a:lstStyle/>
          <a:p>
            <a:endParaRPr lang="pt-PT"/>
          </a:p>
        </p:txBody>
      </p:sp>
      <p:sp>
        <p:nvSpPr>
          <p:cNvPr id="9237" name="Text Box 21">
            <a:extLst>
              <a:ext uri="{FF2B5EF4-FFF2-40B4-BE49-F238E27FC236}">
                <a16:creationId xmlns:a16="http://schemas.microsoft.com/office/drawing/2014/main" id="{14357798-476A-DDE6-2EE0-999B2CD13399}"/>
              </a:ext>
            </a:extLst>
          </p:cNvPr>
          <p:cNvSpPr txBox="1">
            <a:spLocks noChangeArrowheads="1"/>
          </p:cNvSpPr>
          <p:nvPr/>
        </p:nvSpPr>
        <p:spPr bwMode="auto">
          <a:xfrm>
            <a:off x="260350" y="44450"/>
            <a:ext cx="6981825" cy="304800"/>
          </a:xfrm>
          <a:prstGeom prst="rect">
            <a:avLst/>
          </a:prstGeom>
          <a:noFill/>
          <a:ln w="9525">
            <a:noFill/>
            <a:miter lim="800000"/>
            <a:headEnd/>
            <a:tailEnd/>
          </a:ln>
          <a:effectLst/>
        </p:spPr>
        <p:txBody>
          <a:bodyPr>
            <a:spAutoFit/>
          </a:bodyPr>
          <a:lstStyle/>
          <a:p>
            <a:pPr>
              <a:spcBef>
                <a:spcPct val="50000"/>
              </a:spcBef>
              <a:defRPr/>
            </a:pPr>
            <a:endParaRPr lang="pt-PT" sz="1400" b="1" dirty="0">
              <a:solidFill>
                <a:srgbClr val="FF3300"/>
              </a:solidFill>
              <a:effectLst>
                <a:outerShdw blurRad="38100" dist="38100" dir="2700000" algn="tl">
                  <a:srgbClr val="C0C0C0"/>
                </a:outerShdw>
              </a:effectLst>
              <a:latin typeface="Arial" charset="0"/>
            </a:endParaRPr>
          </a:p>
        </p:txBody>
      </p:sp>
      <p:pic>
        <p:nvPicPr>
          <p:cNvPr id="18" name="Imagem 17">
            <a:extLst>
              <a:ext uri="{FF2B5EF4-FFF2-40B4-BE49-F238E27FC236}">
                <a16:creationId xmlns:a16="http://schemas.microsoft.com/office/drawing/2014/main" id="{C96606E8-3699-C628-4CC8-BFFA45503D77}"/>
              </a:ext>
            </a:extLst>
          </p:cNvPr>
          <p:cNvPicPr>
            <a:picLocks noChangeAspect="1"/>
          </p:cNvPicPr>
          <p:nvPr/>
        </p:nvPicPr>
        <p:blipFill>
          <a:blip r:embed="rId3"/>
          <a:stretch>
            <a:fillRect/>
          </a:stretch>
        </p:blipFill>
        <p:spPr>
          <a:xfrm>
            <a:off x="101225" y="904241"/>
            <a:ext cx="9014192" cy="266482"/>
          </a:xfrm>
          <a:prstGeom prst="rect">
            <a:avLst/>
          </a:prstGeom>
        </p:spPr>
      </p:pic>
      <p:sp>
        <p:nvSpPr>
          <p:cNvPr id="21" name="Text Box 10">
            <a:extLst>
              <a:ext uri="{FF2B5EF4-FFF2-40B4-BE49-F238E27FC236}">
                <a16:creationId xmlns:a16="http://schemas.microsoft.com/office/drawing/2014/main" id="{3DF1E56B-CA63-7816-8FFA-4C3FA863E817}"/>
              </a:ext>
            </a:extLst>
          </p:cNvPr>
          <p:cNvSpPr txBox="1">
            <a:spLocks noChangeArrowheads="1"/>
          </p:cNvSpPr>
          <p:nvPr/>
        </p:nvSpPr>
        <p:spPr bwMode="auto">
          <a:xfrm>
            <a:off x="8288338" y="6296025"/>
            <a:ext cx="827087" cy="366713"/>
          </a:xfrm>
          <a:prstGeom prst="rect">
            <a:avLst/>
          </a:prstGeom>
          <a:noFill/>
          <a:ln w="9525">
            <a:noFill/>
            <a:miter lim="800000"/>
            <a:headEnd/>
            <a:tailEnd/>
          </a:ln>
        </p:spPr>
        <p:txBody>
          <a:bodyPr>
            <a:spAutoFit/>
          </a:bodyPr>
          <a:lstStyle/>
          <a:p>
            <a:pPr>
              <a:spcBef>
                <a:spcPct val="50000"/>
              </a:spcBef>
            </a:pPr>
            <a:endParaRPr lang="pt-PT"/>
          </a:p>
        </p:txBody>
      </p:sp>
      <p:sp>
        <p:nvSpPr>
          <p:cNvPr id="22" name="Rectangle 11">
            <a:extLst>
              <a:ext uri="{FF2B5EF4-FFF2-40B4-BE49-F238E27FC236}">
                <a16:creationId xmlns:a16="http://schemas.microsoft.com/office/drawing/2014/main" id="{03C93F49-BF54-F225-5A66-4EC2C95642C3}"/>
              </a:ext>
            </a:extLst>
          </p:cNvPr>
          <p:cNvSpPr>
            <a:spLocks noChangeArrowheads="1"/>
          </p:cNvSpPr>
          <p:nvPr/>
        </p:nvSpPr>
        <p:spPr bwMode="auto">
          <a:xfrm>
            <a:off x="8327571" y="6496091"/>
            <a:ext cx="936625" cy="260350"/>
          </a:xfrm>
          <a:prstGeom prst="rect">
            <a:avLst/>
          </a:prstGeom>
          <a:noFill/>
          <a:ln w="9525">
            <a:noFill/>
            <a:miter lim="800000"/>
            <a:headEnd/>
            <a:tailEnd/>
          </a:ln>
        </p:spPr>
        <p:txBody>
          <a:bodyPr anchor="ctr"/>
          <a:lstStyle/>
          <a:p>
            <a:pPr algn="ctr"/>
            <a:r>
              <a:rPr lang="pt-PT" sz="1000" dirty="0"/>
              <a:t>- </a:t>
            </a:r>
            <a:fld id="{1234D2FF-8FB9-47A1-B8C9-42A5F500BA2F}" type="slidenum">
              <a:rPr lang="pt-PT" sz="1000"/>
              <a:pPr algn="ctr"/>
              <a:t>40</a:t>
            </a:fld>
            <a:r>
              <a:rPr lang="pt-PT" sz="1000" dirty="0"/>
              <a:t> -</a:t>
            </a:r>
          </a:p>
        </p:txBody>
      </p:sp>
      <p:pic>
        <p:nvPicPr>
          <p:cNvPr id="23" name="Imagem 22">
            <a:extLst>
              <a:ext uri="{FF2B5EF4-FFF2-40B4-BE49-F238E27FC236}">
                <a16:creationId xmlns:a16="http://schemas.microsoft.com/office/drawing/2014/main" id="{C9AFACCE-B01B-A2B8-3A04-16667731731D}"/>
              </a:ext>
            </a:extLst>
          </p:cNvPr>
          <p:cNvPicPr>
            <a:picLocks noChangeAspect="1"/>
          </p:cNvPicPr>
          <p:nvPr/>
        </p:nvPicPr>
        <p:blipFill>
          <a:blip r:embed="rId4"/>
          <a:stretch>
            <a:fillRect/>
          </a:stretch>
        </p:blipFill>
        <p:spPr>
          <a:xfrm>
            <a:off x="0" y="6320212"/>
            <a:ext cx="9144000" cy="253252"/>
          </a:xfrm>
          <a:prstGeom prst="rect">
            <a:avLst/>
          </a:prstGeom>
        </p:spPr>
      </p:pic>
      <p:pic>
        <p:nvPicPr>
          <p:cNvPr id="25" name="Imagem 24">
            <a:extLst>
              <a:ext uri="{FF2B5EF4-FFF2-40B4-BE49-F238E27FC236}">
                <a16:creationId xmlns:a16="http://schemas.microsoft.com/office/drawing/2014/main" id="{85A072A8-E3D5-3D66-A6E6-BB1D07C00C9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8125" y="6488336"/>
            <a:ext cx="545959" cy="199802"/>
          </a:xfrm>
          <a:prstGeom prst="rect">
            <a:avLst/>
          </a:prstGeom>
        </p:spPr>
      </p:pic>
      <p:sp>
        <p:nvSpPr>
          <p:cNvPr id="26" name="Rectângulo 19">
            <a:extLst>
              <a:ext uri="{FF2B5EF4-FFF2-40B4-BE49-F238E27FC236}">
                <a16:creationId xmlns:a16="http://schemas.microsoft.com/office/drawing/2014/main" id="{8EB3C736-125F-3DDB-E8DA-28F99DE4EDD2}"/>
              </a:ext>
            </a:extLst>
          </p:cNvPr>
          <p:cNvSpPr/>
          <p:nvPr/>
        </p:nvSpPr>
        <p:spPr>
          <a:xfrm>
            <a:off x="5645150" y="561740"/>
            <a:ext cx="3505200" cy="261610"/>
          </a:xfrm>
          <a:prstGeom prst="rect">
            <a:avLst/>
          </a:prstGeom>
        </p:spPr>
        <p:txBody>
          <a:bodyPr wrap="square">
            <a:spAutoFit/>
          </a:bodyPr>
          <a:lstStyle/>
          <a:p>
            <a:pPr algn="r"/>
            <a:r>
              <a:rPr lang="pt-PT" sz="1100" b="1" cap="all" dirty="0" err="1">
                <a:highlight>
                  <a:srgbClr val="FFFF00"/>
                </a:highlight>
              </a:rPr>
              <a:t>Graduation</a:t>
            </a:r>
            <a:r>
              <a:rPr lang="pt-PT" sz="1100" b="1" cap="all" dirty="0">
                <a:highlight>
                  <a:srgbClr val="FFFF00"/>
                </a:highlight>
              </a:rPr>
              <a:t> in </a:t>
            </a:r>
            <a:r>
              <a:rPr lang="pt-PT" sz="1100" b="1" cap="all" dirty="0" err="1">
                <a:highlight>
                  <a:srgbClr val="FFFF00"/>
                </a:highlight>
              </a:rPr>
              <a:t>Informatics</a:t>
            </a:r>
            <a:r>
              <a:rPr lang="pt-PT" sz="1100" b="1" cap="all" dirty="0">
                <a:highlight>
                  <a:srgbClr val="FFFF00"/>
                </a:highlight>
              </a:rPr>
              <a:t> </a:t>
            </a:r>
            <a:r>
              <a:rPr lang="pt-PT" sz="1100" b="1" cap="all" dirty="0" err="1">
                <a:highlight>
                  <a:srgbClr val="FFFF00"/>
                </a:highlight>
              </a:rPr>
              <a:t>engineering</a:t>
            </a:r>
            <a:endParaRPr lang="pt-PT" sz="1100" dirty="0">
              <a:highlight>
                <a:srgbClr val="FFFF00"/>
              </a:highlight>
            </a:endParaRPr>
          </a:p>
        </p:txBody>
      </p:sp>
      <p:pic>
        <p:nvPicPr>
          <p:cNvPr id="27" name="Imagem 26">
            <a:extLst>
              <a:ext uri="{FF2B5EF4-FFF2-40B4-BE49-F238E27FC236}">
                <a16:creationId xmlns:a16="http://schemas.microsoft.com/office/drawing/2014/main" id="{75E9A991-4706-8897-ABC0-D7E4D735070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575316" y="9186"/>
            <a:ext cx="2575034" cy="639880"/>
          </a:xfrm>
          <a:prstGeom prst="rect">
            <a:avLst/>
          </a:prstGeom>
        </p:spPr>
      </p:pic>
      <p:sp>
        <p:nvSpPr>
          <p:cNvPr id="7" name="TextBox 6">
            <a:extLst>
              <a:ext uri="{FF2B5EF4-FFF2-40B4-BE49-F238E27FC236}">
                <a16:creationId xmlns:a16="http://schemas.microsoft.com/office/drawing/2014/main" id="{EBDFB995-68D5-035E-6CF3-696D91C90724}"/>
              </a:ext>
            </a:extLst>
          </p:cNvPr>
          <p:cNvSpPr txBox="1"/>
          <p:nvPr/>
        </p:nvSpPr>
        <p:spPr>
          <a:xfrm>
            <a:off x="334907" y="1170723"/>
            <a:ext cx="3779893" cy="5401479"/>
          </a:xfrm>
          <a:prstGeom prst="rect">
            <a:avLst/>
          </a:prstGeom>
          <a:noFill/>
        </p:spPr>
        <p:txBody>
          <a:bodyPr wrap="square" rtlCol="0">
            <a:spAutoFit/>
          </a:bodyPr>
          <a:lstStyle/>
          <a:p>
            <a:pPr algn="just"/>
            <a:r>
              <a:rPr lang="en-US" sz="1600" dirty="0">
                <a:latin typeface="Calibri (Body)"/>
                <a:cs typeface="Arial" panose="020B0604020202020204" pitchFamily="34" charset="0"/>
              </a:rPr>
              <a:t>The FlameVision dataset was selected to replace the previous wildfire prediction model. It provides labeled aerial imagery optimized for fire detection classification tasks rather than temporal prediction. </a:t>
            </a:r>
          </a:p>
          <a:p>
            <a:pPr algn="just"/>
            <a:endParaRPr lang="en-US" sz="1600" dirty="0">
              <a:latin typeface="Calibri (Body)"/>
              <a:cs typeface="Arial" panose="020B0604020202020204" pitchFamily="34" charset="0"/>
            </a:endParaRPr>
          </a:p>
          <a:p>
            <a:pPr algn="just"/>
            <a:r>
              <a:rPr lang="en-US" sz="1600" dirty="0">
                <a:latin typeface="Calibri (Body)"/>
                <a:cs typeface="Arial" panose="020B0604020202020204" pitchFamily="34" charset="0"/>
              </a:rPr>
              <a:t>FlameVision Dataset Overview:</a:t>
            </a:r>
          </a:p>
          <a:p>
            <a:pPr algn="just"/>
            <a:endParaRPr lang="en-US" sz="500" dirty="0">
              <a:latin typeface="Calibri (Body)"/>
              <a:cs typeface="Arial" panose="020B0604020202020204" pitchFamily="34" charset="0"/>
            </a:endParaRPr>
          </a:p>
          <a:p>
            <a:pPr marL="285750" indent="-285750" algn="just">
              <a:buFont typeface="Arial" panose="020B0604020202020204" pitchFamily="34" charset="0"/>
              <a:buChar char="•"/>
            </a:pPr>
            <a:r>
              <a:rPr lang="en-US" sz="1600" b="1" dirty="0">
                <a:latin typeface="Calibri (Body)"/>
                <a:cs typeface="Arial" panose="020B0604020202020204" pitchFamily="34" charset="0"/>
              </a:rPr>
              <a:t>Dataset</a:t>
            </a:r>
            <a:r>
              <a:rPr lang="en-US" sz="1600" dirty="0">
                <a:latin typeface="Calibri (Body)"/>
                <a:cs typeface="Arial" panose="020B0604020202020204" pitchFamily="34" charset="0"/>
              </a:rPr>
              <a:t>: 8,600 high-resolution aerial images captured by UAVs</a:t>
            </a:r>
          </a:p>
          <a:p>
            <a:pPr marL="285750" indent="-285750" algn="just">
              <a:buFont typeface="Arial" panose="020B0604020202020204" pitchFamily="34" charset="0"/>
              <a:buChar char="•"/>
            </a:pPr>
            <a:endParaRPr lang="en-US" sz="500" dirty="0">
              <a:latin typeface="Calibri (Body)"/>
              <a:cs typeface="Arial" panose="020B0604020202020204" pitchFamily="34" charset="0"/>
            </a:endParaRPr>
          </a:p>
          <a:p>
            <a:pPr marL="285750" indent="-285750" algn="just">
              <a:buFont typeface="Arial" panose="020B0604020202020204" pitchFamily="34" charset="0"/>
              <a:buChar char="•"/>
            </a:pPr>
            <a:r>
              <a:rPr lang="en-US" sz="1600" b="1" dirty="0">
                <a:latin typeface="Calibri (Body)"/>
                <a:cs typeface="Arial" panose="020B0604020202020204" pitchFamily="34" charset="0"/>
              </a:rPr>
              <a:t>Classes</a:t>
            </a:r>
            <a:r>
              <a:rPr lang="en-US" sz="1600" dirty="0">
                <a:latin typeface="Calibri (Body)"/>
                <a:cs typeface="Arial" panose="020B0604020202020204" pitchFamily="34" charset="0"/>
              </a:rPr>
              <a:t>: </a:t>
            </a:r>
            <a:r>
              <a:rPr lang="en-US" sz="1600" b="1" dirty="0">
                <a:latin typeface="Calibri (Body)"/>
                <a:cs typeface="Arial" panose="020B0604020202020204" pitchFamily="34" charset="0"/>
              </a:rPr>
              <a:t>fire</a:t>
            </a:r>
            <a:r>
              <a:rPr lang="en-US" sz="1600" dirty="0">
                <a:latin typeface="Calibri (Body)"/>
                <a:cs typeface="Arial" panose="020B0604020202020204" pitchFamily="34" charset="0"/>
              </a:rPr>
              <a:t> (5,000 images) and </a:t>
            </a:r>
            <a:r>
              <a:rPr lang="en-US" sz="1600" b="1" dirty="0">
                <a:latin typeface="Calibri (Body)"/>
                <a:cs typeface="Arial" panose="020B0604020202020204" pitchFamily="34" charset="0"/>
              </a:rPr>
              <a:t>no-fire</a:t>
            </a:r>
            <a:r>
              <a:rPr lang="en-US" sz="1600" dirty="0">
                <a:latin typeface="Calibri (Body)"/>
                <a:cs typeface="Arial" panose="020B0604020202020204" pitchFamily="34" charset="0"/>
              </a:rPr>
              <a:t> (3,600 images)</a:t>
            </a:r>
          </a:p>
          <a:p>
            <a:pPr marL="285750" indent="-285750" algn="just">
              <a:buFont typeface="Arial" panose="020B0604020202020204" pitchFamily="34" charset="0"/>
              <a:buChar char="•"/>
            </a:pPr>
            <a:endParaRPr lang="en-US" sz="500" dirty="0">
              <a:latin typeface="Calibri (Body)"/>
              <a:cs typeface="Arial" panose="020B0604020202020204" pitchFamily="34" charset="0"/>
            </a:endParaRPr>
          </a:p>
          <a:p>
            <a:pPr marL="285750" indent="-285750" algn="just">
              <a:buFont typeface="Arial" panose="020B0604020202020204" pitchFamily="34" charset="0"/>
              <a:buChar char="•"/>
            </a:pPr>
            <a:r>
              <a:rPr lang="en-US" sz="1600" b="1" dirty="0">
                <a:latin typeface="Calibri (Body)"/>
                <a:cs typeface="Arial" panose="020B0604020202020204" pitchFamily="34" charset="0"/>
              </a:rPr>
              <a:t>Image</a:t>
            </a:r>
            <a:r>
              <a:rPr lang="en-US" sz="1600" dirty="0">
                <a:latin typeface="Calibri (Body)"/>
                <a:cs typeface="Arial" panose="020B0604020202020204" pitchFamily="34" charset="0"/>
              </a:rPr>
              <a:t> </a:t>
            </a:r>
            <a:r>
              <a:rPr lang="en-US" sz="1600" b="1" dirty="0">
                <a:latin typeface="Calibri (Body)"/>
                <a:cs typeface="Arial" panose="020B0604020202020204" pitchFamily="34" charset="0"/>
              </a:rPr>
              <a:t>Format</a:t>
            </a:r>
            <a:r>
              <a:rPr lang="en-US" sz="1600" dirty="0">
                <a:latin typeface="Calibri (Body)"/>
                <a:cs typeface="Arial" panose="020B0604020202020204" pitchFamily="34" charset="0"/>
              </a:rPr>
              <a:t>: PNG for classification tasks</a:t>
            </a:r>
          </a:p>
          <a:p>
            <a:pPr marL="285750" indent="-285750" algn="just">
              <a:buFont typeface="Arial" panose="020B0604020202020204" pitchFamily="34" charset="0"/>
              <a:buChar char="•"/>
            </a:pPr>
            <a:endParaRPr lang="en-US" sz="500" dirty="0">
              <a:latin typeface="Calibri (Body)"/>
              <a:cs typeface="Arial" panose="020B0604020202020204" pitchFamily="34" charset="0"/>
            </a:endParaRPr>
          </a:p>
          <a:p>
            <a:pPr marL="285750" indent="-285750" algn="just">
              <a:buFont typeface="Arial" panose="020B0604020202020204" pitchFamily="34" charset="0"/>
              <a:buChar char="•"/>
            </a:pPr>
            <a:r>
              <a:rPr lang="en-US" sz="1600" b="1" dirty="0">
                <a:latin typeface="Calibri (Body)"/>
                <a:cs typeface="Arial" panose="020B0604020202020204" pitchFamily="34" charset="0"/>
              </a:rPr>
              <a:t>Data</a:t>
            </a:r>
            <a:r>
              <a:rPr lang="en-US" sz="1600" dirty="0">
                <a:latin typeface="Calibri (Body)"/>
                <a:cs typeface="Arial" panose="020B0604020202020204" pitchFamily="34" charset="0"/>
              </a:rPr>
              <a:t> </a:t>
            </a:r>
            <a:r>
              <a:rPr lang="en-US" sz="1600" b="1" dirty="0">
                <a:latin typeface="Calibri (Body)"/>
                <a:cs typeface="Arial" panose="020B0604020202020204" pitchFamily="34" charset="0"/>
              </a:rPr>
              <a:t>Split</a:t>
            </a:r>
            <a:r>
              <a:rPr lang="en-US" sz="1600" dirty="0">
                <a:latin typeface="Calibri (Body)"/>
                <a:cs typeface="Arial" panose="020B0604020202020204" pitchFamily="34" charset="0"/>
              </a:rPr>
              <a:t>: 6,800 training | 900 validation | 900 test images</a:t>
            </a:r>
          </a:p>
          <a:p>
            <a:pPr marL="285750" indent="-285750" algn="just">
              <a:buFont typeface="Arial" panose="020B0604020202020204" pitchFamily="34" charset="0"/>
              <a:buChar char="•"/>
            </a:pPr>
            <a:endParaRPr lang="en-US" sz="500" dirty="0">
              <a:latin typeface="Calibri (Body)"/>
              <a:cs typeface="Arial" panose="020B0604020202020204" pitchFamily="34" charset="0"/>
            </a:endParaRPr>
          </a:p>
          <a:p>
            <a:pPr marL="285750" indent="-285750" algn="just">
              <a:buFont typeface="Arial" panose="020B0604020202020204" pitchFamily="34" charset="0"/>
              <a:buChar char="•"/>
            </a:pPr>
            <a:r>
              <a:rPr lang="en-US" sz="1600" b="1" dirty="0">
                <a:latin typeface="Calibri (Body)"/>
                <a:cs typeface="Arial" panose="020B0604020202020204" pitchFamily="34" charset="0"/>
              </a:rPr>
              <a:t>Source</a:t>
            </a:r>
            <a:r>
              <a:rPr lang="en-US" sz="1600" dirty="0">
                <a:latin typeface="Calibri (Body)"/>
                <a:cs typeface="Arial" panose="020B0604020202020204" pitchFamily="34" charset="0"/>
              </a:rPr>
              <a:t>: Mendeley Data (</a:t>
            </a:r>
            <a:r>
              <a:rPr lang="en-US" sz="1600" dirty="0" err="1">
                <a:latin typeface="Calibri (Body)"/>
                <a:cs typeface="Arial" panose="020B0604020202020204" pitchFamily="34" charset="0"/>
              </a:rPr>
              <a:t>fgvscdjsmt</a:t>
            </a:r>
            <a:r>
              <a:rPr lang="en-US" sz="1600" dirty="0">
                <a:latin typeface="Calibri (Body)"/>
                <a:cs typeface="Arial" panose="020B0604020202020204" pitchFamily="34" charset="0"/>
              </a:rPr>
              <a:t>)</a:t>
            </a:r>
          </a:p>
          <a:p>
            <a:pPr marL="285750" indent="-285750" algn="just">
              <a:buFont typeface="Arial" panose="020B0604020202020204" pitchFamily="34" charset="0"/>
              <a:buChar char="•"/>
            </a:pPr>
            <a:endParaRPr lang="en-US" sz="500" dirty="0">
              <a:latin typeface="Calibri (Body)"/>
              <a:cs typeface="Arial" panose="020B0604020202020204" pitchFamily="34" charset="0"/>
            </a:endParaRPr>
          </a:p>
          <a:p>
            <a:pPr marL="285750" indent="-285750" algn="just">
              <a:buFont typeface="Arial" panose="020B0604020202020204" pitchFamily="34" charset="0"/>
              <a:buChar char="•"/>
            </a:pPr>
            <a:r>
              <a:rPr lang="en-US" sz="1600" b="1" dirty="0">
                <a:latin typeface="Calibri (Body)"/>
                <a:cs typeface="Arial" panose="020B0604020202020204" pitchFamily="34" charset="0"/>
              </a:rPr>
              <a:t>Application</a:t>
            </a:r>
            <a:r>
              <a:rPr lang="en-US" sz="1600" dirty="0">
                <a:latin typeface="Calibri (Body)"/>
                <a:cs typeface="Arial" panose="020B0604020202020204" pitchFamily="34" charset="0"/>
              </a:rPr>
              <a:t> </a:t>
            </a:r>
            <a:r>
              <a:rPr lang="en-US" sz="1600" b="1" dirty="0">
                <a:latin typeface="Calibri (Body)"/>
                <a:cs typeface="Arial" panose="020B0604020202020204" pitchFamily="34" charset="0"/>
              </a:rPr>
              <a:t>Domain</a:t>
            </a:r>
            <a:r>
              <a:rPr lang="en-US" sz="1600" dirty="0">
                <a:latin typeface="Calibri (Body)"/>
                <a:cs typeface="Arial" panose="020B0604020202020204" pitchFamily="34" charset="0"/>
              </a:rPr>
              <a:t>: Aerial wildfire detection and monitoring from drone imagery</a:t>
            </a:r>
          </a:p>
        </p:txBody>
      </p:sp>
      <p:sp>
        <p:nvSpPr>
          <p:cNvPr id="2" name="Subtítulo 2">
            <a:extLst>
              <a:ext uri="{FF2B5EF4-FFF2-40B4-BE49-F238E27FC236}">
                <a16:creationId xmlns:a16="http://schemas.microsoft.com/office/drawing/2014/main" id="{B3BBA08F-8BC8-71F7-896A-C7B6A2D8038F}"/>
              </a:ext>
            </a:extLst>
          </p:cNvPr>
          <p:cNvSpPr txBox="1">
            <a:spLocks/>
          </p:cNvSpPr>
          <p:nvPr/>
        </p:nvSpPr>
        <p:spPr>
          <a:xfrm>
            <a:off x="836017" y="6524516"/>
            <a:ext cx="7698382" cy="162409"/>
          </a:xfrm>
          <a:prstGeom prst="rect">
            <a:avLst/>
          </a:prstGeom>
        </p:spPr>
        <p:txBody>
          <a:bodyPr vert="horz" lIns="68580" tIns="34290" rIns="68580" bIns="3429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pt-PT" sz="900" dirty="0">
                <a:latin typeface="Arial" charset="0"/>
                <a:ea typeface="Arial" charset="0"/>
                <a:cs typeface="Arial" charset="0"/>
              </a:rPr>
              <a:t>@Diogo Monteiro - 32428, Gonçalo Teixeira - 31396 | </a:t>
            </a:r>
            <a:r>
              <a:rPr lang="pt-PT" sz="900" b="1" dirty="0">
                <a:solidFill>
                  <a:srgbClr val="C00000"/>
                </a:solidFill>
                <a:latin typeface="Arial" charset="0"/>
                <a:ea typeface="Arial" charset="0"/>
                <a:cs typeface="Arial" charset="0"/>
              </a:rPr>
              <a:t>Unidade Curricular: Projeto III </a:t>
            </a:r>
            <a:r>
              <a:rPr lang="pt-PT" sz="900" dirty="0">
                <a:latin typeface="Arial" charset="0"/>
                <a:ea typeface="Arial" charset="0"/>
                <a:cs typeface="Arial" charset="0"/>
              </a:rPr>
              <a:t>– Ano Letivo 2024/2025 – </a:t>
            </a:r>
            <a:r>
              <a:rPr lang="pt-PT" sz="900" b="1" dirty="0">
                <a:latin typeface="Arial" charset="0"/>
                <a:ea typeface="Arial" charset="0"/>
                <a:cs typeface="Arial" charset="0"/>
              </a:rPr>
              <a:t>MCZ03</a:t>
            </a:r>
          </a:p>
        </p:txBody>
      </p:sp>
      <p:sp>
        <p:nvSpPr>
          <p:cNvPr id="11" name="TextBox 10">
            <a:extLst>
              <a:ext uri="{FF2B5EF4-FFF2-40B4-BE49-F238E27FC236}">
                <a16:creationId xmlns:a16="http://schemas.microsoft.com/office/drawing/2014/main" id="{896C90EB-496E-1146-F446-7F83F24996D1}"/>
              </a:ext>
            </a:extLst>
          </p:cNvPr>
          <p:cNvSpPr txBox="1"/>
          <p:nvPr/>
        </p:nvSpPr>
        <p:spPr>
          <a:xfrm>
            <a:off x="6197075" y="6168068"/>
            <a:ext cx="2953275" cy="261610"/>
          </a:xfrm>
          <a:prstGeom prst="rect">
            <a:avLst/>
          </a:prstGeom>
          <a:noFill/>
        </p:spPr>
        <p:txBody>
          <a:bodyPr wrap="square" rtlCol="0">
            <a:spAutoFit/>
          </a:bodyPr>
          <a:lstStyle/>
          <a:p>
            <a:r>
              <a:rPr lang="pt-PT" sz="1100" dirty="0">
                <a:hlinkClick r:id="rId7"/>
              </a:rPr>
              <a:t>Mendeley Data, V4, doi: 10.17632/fgvscdjsmt.4</a:t>
            </a:r>
            <a:endParaRPr lang="pt-PT" sz="1100" dirty="0"/>
          </a:p>
        </p:txBody>
      </p:sp>
      <p:pic>
        <p:nvPicPr>
          <p:cNvPr id="13" name="Picture 12" descr="A collage of images of a volcano&#10;&#10;AI-generated content may be incorrect.">
            <a:extLst>
              <a:ext uri="{FF2B5EF4-FFF2-40B4-BE49-F238E27FC236}">
                <a16:creationId xmlns:a16="http://schemas.microsoft.com/office/drawing/2014/main" id="{4A59D239-F89B-58C6-BCF0-1EF1E48307C3}"/>
              </a:ext>
            </a:extLst>
          </p:cNvPr>
          <p:cNvPicPr>
            <a:picLocks noChangeAspect="1"/>
          </p:cNvPicPr>
          <p:nvPr/>
        </p:nvPicPr>
        <p:blipFill>
          <a:blip r:embed="rId8"/>
          <a:stretch>
            <a:fillRect/>
          </a:stretch>
        </p:blipFill>
        <p:spPr>
          <a:xfrm>
            <a:off x="4449707" y="1215535"/>
            <a:ext cx="4491308" cy="4837859"/>
          </a:xfrm>
          <a:prstGeom prst="rect">
            <a:avLst/>
          </a:prstGeom>
        </p:spPr>
      </p:pic>
    </p:spTree>
    <p:extLst>
      <p:ext uri="{BB962C8B-B14F-4D97-AF65-F5344CB8AC3E}">
        <p14:creationId xmlns:p14="http://schemas.microsoft.com/office/powerpoint/2010/main" val="33310629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30045-7F02-FE3E-701A-C44B2349BF8B}"/>
            </a:ext>
          </a:extLst>
        </p:cNvPr>
        <p:cNvGrpSpPr/>
        <p:nvPr/>
      </p:nvGrpSpPr>
      <p:grpSpPr>
        <a:xfrm>
          <a:off x="0" y="0"/>
          <a:ext cx="0" cy="0"/>
          <a:chOff x="0" y="0"/>
          <a:chExt cx="0" cy="0"/>
        </a:xfrm>
      </p:grpSpPr>
      <p:sp>
        <p:nvSpPr>
          <p:cNvPr id="9229" name="Text Box 13">
            <a:extLst>
              <a:ext uri="{FF2B5EF4-FFF2-40B4-BE49-F238E27FC236}">
                <a16:creationId xmlns:a16="http://schemas.microsoft.com/office/drawing/2014/main" id="{02BC75F4-9084-A543-F70E-1232B1FF759E}"/>
              </a:ext>
            </a:extLst>
          </p:cNvPr>
          <p:cNvSpPr txBox="1">
            <a:spLocks noChangeArrowheads="1"/>
          </p:cNvSpPr>
          <p:nvPr/>
        </p:nvSpPr>
        <p:spPr bwMode="auto">
          <a:xfrm>
            <a:off x="306388" y="557213"/>
            <a:ext cx="6981825" cy="400050"/>
          </a:xfrm>
          <a:prstGeom prst="rect">
            <a:avLst/>
          </a:prstGeom>
          <a:noFill/>
          <a:ln w="9525">
            <a:noFill/>
            <a:miter lim="800000"/>
            <a:headEnd/>
            <a:tailEnd/>
          </a:ln>
          <a:effectLst/>
        </p:spPr>
        <p:txBody>
          <a:bodyPr>
            <a:spAutoFit/>
          </a:bodyPr>
          <a:lstStyle/>
          <a:p>
            <a:pPr>
              <a:spcBef>
                <a:spcPct val="50000"/>
              </a:spcBef>
              <a:defRPr/>
            </a:pPr>
            <a:r>
              <a:rPr lang="pt-PT" sz="2000" b="1" dirty="0">
                <a:solidFill>
                  <a:srgbClr val="C00000"/>
                </a:solidFill>
                <a:effectLst>
                  <a:outerShdw blurRad="38100" dist="38100" dir="2700000" algn="tl">
                    <a:srgbClr val="C0C0C0"/>
                  </a:outerShdw>
                </a:effectLst>
                <a:latin typeface="Arial"/>
                <a:cs typeface="Arial"/>
              </a:rPr>
              <a:t>■</a:t>
            </a:r>
            <a:r>
              <a:rPr lang="pt-PT" sz="2000" b="1" dirty="0">
                <a:effectLst>
                  <a:outerShdw blurRad="38100" dist="38100" dir="2700000" algn="tl">
                    <a:srgbClr val="C0C0C0"/>
                  </a:outerShdw>
                </a:effectLst>
                <a:latin typeface="Arial"/>
                <a:cs typeface="Arial"/>
              </a:rPr>
              <a:t> </a:t>
            </a:r>
            <a:r>
              <a:rPr lang="en-US" sz="2000" b="1" dirty="0">
                <a:effectLst>
                  <a:outerShdw blurRad="38100" dist="38100" dir="2700000" algn="tl">
                    <a:srgbClr val="C0C0C0"/>
                  </a:outerShdw>
                </a:effectLst>
                <a:latin typeface="Arial"/>
                <a:cs typeface="Arial"/>
              </a:rPr>
              <a:t>5. Dataset Contextualization</a:t>
            </a:r>
            <a:endParaRPr lang="pt-PT" sz="2000" b="1" dirty="0">
              <a:effectLst>
                <a:outerShdw blurRad="38100" dist="38100" dir="2700000" algn="tl">
                  <a:srgbClr val="C0C0C0"/>
                </a:outerShdw>
              </a:effectLst>
              <a:latin typeface="Arial" charset="0"/>
            </a:endParaRPr>
          </a:p>
        </p:txBody>
      </p:sp>
      <p:sp>
        <p:nvSpPr>
          <p:cNvPr id="10247" name="Line 15">
            <a:extLst>
              <a:ext uri="{FF2B5EF4-FFF2-40B4-BE49-F238E27FC236}">
                <a16:creationId xmlns:a16="http://schemas.microsoft.com/office/drawing/2014/main" id="{3CEE1542-B6E5-4CDA-2BCF-828B3454E08D}"/>
              </a:ext>
            </a:extLst>
          </p:cNvPr>
          <p:cNvSpPr>
            <a:spLocks noChangeShapeType="1"/>
          </p:cNvSpPr>
          <p:nvPr/>
        </p:nvSpPr>
        <p:spPr bwMode="auto">
          <a:xfrm>
            <a:off x="250825" y="0"/>
            <a:ext cx="0" cy="765175"/>
          </a:xfrm>
          <a:prstGeom prst="line">
            <a:avLst/>
          </a:prstGeom>
          <a:noFill/>
          <a:ln w="25400">
            <a:solidFill>
              <a:schemeClr val="tx1"/>
            </a:solidFill>
            <a:round/>
            <a:headEnd/>
            <a:tailEnd/>
          </a:ln>
        </p:spPr>
        <p:txBody>
          <a:bodyPr/>
          <a:lstStyle/>
          <a:p>
            <a:endParaRPr lang="pt-PT"/>
          </a:p>
        </p:txBody>
      </p:sp>
      <p:sp>
        <p:nvSpPr>
          <p:cNvPr id="9237" name="Text Box 21">
            <a:extLst>
              <a:ext uri="{FF2B5EF4-FFF2-40B4-BE49-F238E27FC236}">
                <a16:creationId xmlns:a16="http://schemas.microsoft.com/office/drawing/2014/main" id="{E8128F5E-347E-1940-B418-0EC62A603E31}"/>
              </a:ext>
            </a:extLst>
          </p:cNvPr>
          <p:cNvSpPr txBox="1">
            <a:spLocks noChangeArrowheads="1"/>
          </p:cNvSpPr>
          <p:nvPr/>
        </p:nvSpPr>
        <p:spPr bwMode="auto">
          <a:xfrm>
            <a:off x="260350" y="44450"/>
            <a:ext cx="6981825" cy="304800"/>
          </a:xfrm>
          <a:prstGeom prst="rect">
            <a:avLst/>
          </a:prstGeom>
          <a:noFill/>
          <a:ln w="9525">
            <a:noFill/>
            <a:miter lim="800000"/>
            <a:headEnd/>
            <a:tailEnd/>
          </a:ln>
          <a:effectLst/>
        </p:spPr>
        <p:txBody>
          <a:bodyPr>
            <a:spAutoFit/>
          </a:bodyPr>
          <a:lstStyle/>
          <a:p>
            <a:pPr>
              <a:spcBef>
                <a:spcPct val="50000"/>
              </a:spcBef>
              <a:defRPr/>
            </a:pPr>
            <a:endParaRPr lang="pt-PT" sz="1400" b="1" dirty="0">
              <a:solidFill>
                <a:srgbClr val="FF3300"/>
              </a:solidFill>
              <a:effectLst>
                <a:outerShdw blurRad="38100" dist="38100" dir="2700000" algn="tl">
                  <a:srgbClr val="C0C0C0"/>
                </a:outerShdw>
              </a:effectLst>
              <a:latin typeface="Arial" charset="0"/>
            </a:endParaRPr>
          </a:p>
        </p:txBody>
      </p:sp>
      <p:pic>
        <p:nvPicPr>
          <p:cNvPr id="18" name="Imagem 17">
            <a:extLst>
              <a:ext uri="{FF2B5EF4-FFF2-40B4-BE49-F238E27FC236}">
                <a16:creationId xmlns:a16="http://schemas.microsoft.com/office/drawing/2014/main" id="{FC6995C9-98B2-9539-0FA9-7ED7AD65B5FF}"/>
              </a:ext>
            </a:extLst>
          </p:cNvPr>
          <p:cNvPicPr>
            <a:picLocks noChangeAspect="1"/>
          </p:cNvPicPr>
          <p:nvPr/>
        </p:nvPicPr>
        <p:blipFill>
          <a:blip r:embed="rId3"/>
          <a:stretch>
            <a:fillRect/>
          </a:stretch>
        </p:blipFill>
        <p:spPr>
          <a:xfrm>
            <a:off x="101225" y="904241"/>
            <a:ext cx="9014192" cy="266482"/>
          </a:xfrm>
          <a:prstGeom prst="rect">
            <a:avLst/>
          </a:prstGeom>
        </p:spPr>
      </p:pic>
      <p:sp>
        <p:nvSpPr>
          <p:cNvPr id="21" name="Text Box 10">
            <a:extLst>
              <a:ext uri="{FF2B5EF4-FFF2-40B4-BE49-F238E27FC236}">
                <a16:creationId xmlns:a16="http://schemas.microsoft.com/office/drawing/2014/main" id="{04FC85A0-4B29-8A0A-A440-84D8AAFB27AD}"/>
              </a:ext>
            </a:extLst>
          </p:cNvPr>
          <p:cNvSpPr txBox="1">
            <a:spLocks noChangeArrowheads="1"/>
          </p:cNvSpPr>
          <p:nvPr/>
        </p:nvSpPr>
        <p:spPr bwMode="auto">
          <a:xfrm>
            <a:off x="8288338" y="6296025"/>
            <a:ext cx="827087" cy="366713"/>
          </a:xfrm>
          <a:prstGeom prst="rect">
            <a:avLst/>
          </a:prstGeom>
          <a:noFill/>
          <a:ln w="9525">
            <a:noFill/>
            <a:miter lim="800000"/>
            <a:headEnd/>
            <a:tailEnd/>
          </a:ln>
        </p:spPr>
        <p:txBody>
          <a:bodyPr>
            <a:spAutoFit/>
          </a:bodyPr>
          <a:lstStyle/>
          <a:p>
            <a:pPr>
              <a:spcBef>
                <a:spcPct val="50000"/>
              </a:spcBef>
            </a:pPr>
            <a:endParaRPr lang="pt-PT"/>
          </a:p>
        </p:txBody>
      </p:sp>
      <p:sp>
        <p:nvSpPr>
          <p:cNvPr id="22" name="Rectangle 11">
            <a:extLst>
              <a:ext uri="{FF2B5EF4-FFF2-40B4-BE49-F238E27FC236}">
                <a16:creationId xmlns:a16="http://schemas.microsoft.com/office/drawing/2014/main" id="{F43E1ECA-2DCF-5BEF-4028-5A42947F0494}"/>
              </a:ext>
            </a:extLst>
          </p:cNvPr>
          <p:cNvSpPr>
            <a:spLocks noChangeArrowheads="1"/>
          </p:cNvSpPr>
          <p:nvPr/>
        </p:nvSpPr>
        <p:spPr bwMode="auto">
          <a:xfrm>
            <a:off x="8327571" y="6496091"/>
            <a:ext cx="936625" cy="260350"/>
          </a:xfrm>
          <a:prstGeom prst="rect">
            <a:avLst/>
          </a:prstGeom>
          <a:noFill/>
          <a:ln w="9525">
            <a:noFill/>
            <a:miter lim="800000"/>
            <a:headEnd/>
            <a:tailEnd/>
          </a:ln>
        </p:spPr>
        <p:txBody>
          <a:bodyPr anchor="ctr"/>
          <a:lstStyle/>
          <a:p>
            <a:pPr algn="ctr"/>
            <a:r>
              <a:rPr lang="pt-PT" sz="1000" dirty="0"/>
              <a:t>- </a:t>
            </a:r>
            <a:fld id="{1234D2FF-8FB9-47A1-B8C9-42A5F500BA2F}" type="slidenum">
              <a:rPr lang="pt-PT" sz="1000"/>
              <a:pPr algn="ctr"/>
              <a:t>41</a:t>
            </a:fld>
            <a:r>
              <a:rPr lang="pt-PT" sz="1000" dirty="0"/>
              <a:t> -</a:t>
            </a:r>
          </a:p>
        </p:txBody>
      </p:sp>
      <p:pic>
        <p:nvPicPr>
          <p:cNvPr id="23" name="Imagem 22">
            <a:extLst>
              <a:ext uri="{FF2B5EF4-FFF2-40B4-BE49-F238E27FC236}">
                <a16:creationId xmlns:a16="http://schemas.microsoft.com/office/drawing/2014/main" id="{3FD08BED-0095-5298-BDE3-F68E21F800C2}"/>
              </a:ext>
            </a:extLst>
          </p:cNvPr>
          <p:cNvPicPr>
            <a:picLocks noChangeAspect="1"/>
          </p:cNvPicPr>
          <p:nvPr/>
        </p:nvPicPr>
        <p:blipFill>
          <a:blip r:embed="rId4"/>
          <a:stretch>
            <a:fillRect/>
          </a:stretch>
        </p:blipFill>
        <p:spPr>
          <a:xfrm>
            <a:off x="0" y="6320212"/>
            <a:ext cx="9144000" cy="253252"/>
          </a:xfrm>
          <a:prstGeom prst="rect">
            <a:avLst/>
          </a:prstGeom>
        </p:spPr>
      </p:pic>
      <p:pic>
        <p:nvPicPr>
          <p:cNvPr id="25" name="Imagem 24">
            <a:extLst>
              <a:ext uri="{FF2B5EF4-FFF2-40B4-BE49-F238E27FC236}">
                <a16:creationId xmlns:a16="http://schemas.microsoft.com/office/drawing/2014/main" id="{04253CE9-6530-C589-52A3-8DFBD1AEEBE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8125" y="6488336"/>
            <a:ext cx="545959" cy="199802"/>
          </a:xfrm>
          <a:prstGeom prst="rect">
            <a:avLst/>
          </a:prstGeom>
        </p:spPr>
      </p:pic>
      <p:sp>
        <p:nvSpPr>
          <p:cNvPr id="26" name="Rectângulo 19">
            <a:extLst>
              <a:ext uri="{FF2B5EF4-FFF2-40B4-BE49-F238E27FC236}">
                <a16:creationId xmlns:a16="http://schemas.microsoft.com/office/drawing/2014/main" id="{498E4506-8DC4-A71D-00FD-7C2D4D7D4876}"/>
              </a:ext>
            </a:extLst>
          </p:cNvPr>
          <p:cNvSpPr/>
          <p:nvPr/>
        </p:nvSpPr>
        <p:spPr>
          <a:xfrm>
            <a:off x="5645150" y="561740"/>
            <a:ext cx="3505200" cy="261610"/>
          </a:xfrm>
          <a:prstGeom prst="rect">
            <a:avLst/>
          </a:prstGeom>
        </p:spPr>
        <p:txBody>
          <a:bodyPr wrap="square">
            <a:spAutoFit/>
          </a:bodyPr>
          <a:lstStyle/>
          <a:p>
            <a:pPr algn="r"/>
            <a:r>
              <a:rPr lang="pt-PT" sz="1100" b="1" cap="all" dirty="0" err="1">
                <a:highlight>
                  <a:srgbClr val="FFFF00"/>
                </a:highlight>
              </a:rPr>
              <a:t>Graduation</a:t>
            </a:r>
            <a:r>
              <a:rPr lang="pt-PT" sz="1100" b="1" cap="all" dirty="0">
                <a:highlight>
                  <a:srgbClr val="FFFF00"/>
                </a:highlight>
              </a:rPr>
              <a:t> in </a:t>
            </a:r>
            <a:r>
              <a:rPr lang="pt-PT" sz="1100" b="1" cap="all" dirty="0" err="1">
                <a:highlight>
                  <a:srgbClr val="FFFF00"/>
                </a:highlight>
              </a:rPr>
              <a:t>Informatics</a:t>
            </a:r>
            <a:r>
              <a:rPr lang="pt-PT" sz="1100" b="1" cap="all" dirty="0">
                <a:highlight>
                  <a:srgbClr val="FFFF00"/>
                </a:highlight>
              </a:rPr>
              <a:t> </a:t>
            </a:r>
            <a:r>
              <a:rPr lang="pt-PT" sz="1100" b="1" cap="all" dirty="0" err="1">
                <a:highlight>
                  <a:srgbClr val="FFFF00"/>
                </a:highlight>
              </a:rPr>
              <a:t>engineering</a:t>
            </a:r>
            <a:endParaRPr lang="pt-PT" sz="1100" dirty="0">
              <a:highlight>
                <a:srgbClr val="FFFF00"/>
              </a:highlight>
            </a:endParaRPr>
          </a:p>
        </p:txBody>
      </p:sp>
      <p:pic>
        <p:nvPicPr>
          <p:cNvPr id="27" name="Imagem 26">
            <a:extLst>
              <a:ext uri="{FF2B5EF4-FFF2-40B4-BE49-F238E27FC236}">
                <a16:creationId xmlns:a16="http://schemas.microsoft.com/office/drawing/2014/main" id="{0F8FA548-DCE5-F6AA-ECB8-7712C8F9282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575316" y="9186"/>
            <a:ext cx="2575034" cy="639880"/>
          </a:xfrm>
          <a:prstGeom prst="rect">
            <a:avLst/>
          </a:prstGeom>
        </p:spPr>
      </p:pic>
      <p:sp>
        <p:nvSpPr>
          <p:cNvPr id="7" name="TextBox 6">
            <a:extLst>
              <a:ext uri="{FF2B5EF4-FFF2-40B4-BE49-F238E27FC236}">
                <a16:creationId xmlns:a16="http://schemas.microsoft.com/office/drawing/2014/main" id="{CE2920E3-0A7F-DA11-AA4B-06AB65F5F7E2}"/>
              </a:ext>
            </a:extLst>
          </p:cNvPr>
          <p:cNvSpPr txBox="1"/>
          <p:nvPr/>
        </p:nvSpPr>
        <p:spPr>
          <a:xfrm>
            <a:off x="334907" y="1170723"/>
            <a:ext cx="3779893" cy="5016758"/>
          </a:xfrm>
          <a:prstGeom prst="rect">
            <a:avLst/>
          </a:prstGeom>
          <a:noFill/>
        </p:spPr>
        <p:txBody>
          <a:bodyPr wrap="square" rtlCol="0">
            <a:spAutoFit/>
          </a:bodyPr>
          <a:lstStyle/>
          <a:p>
            <a:pPr algn="just"/>
            <a:r>
              <a:rPr lang="en-US" sz="1600" dirty="0">
                <a:latin typeface="Calibri (Body)"/>
                <a:cs typeface="Arial" panose="020B0604020202020204" pitchFamily="34" charset="0"/>
              </a:rPr>
              <a:t>The </a:t>
            </a:r>
            <a:r>
              <a:rPr lang="en-US" sz="1600" dirty="0" err="1">
                <a:latin typeface="Calibri (Body)"/>
                <a:cs typeface="Arial" panose="020B0604020202020204" pitchFamily="34" charset="0"/>
              </a:rPr>
              <a:t>FlameVisionClassifier</a:t>
            </a:r>
            <a:r>
              <a:rPr lang="en-US" sz="1600" dirty="0">
                <a:latin typeface="Calibri (Body)"/>
                <a:cs typeface="Arial" panose="020B0604020202020204" pitchFamily="34" charset="0"/>
              </a:rPr>
              <a:t> uses EfficientNet-B0 with transfer learning and a custom classification head for binary fire detection.</a:t>
            </a:r>
          </a:p>
          <a:p>
            <a:pPr algn="just"/>
            <a:endParaRPr lang="en-US" sz="1600" dirty="0">
              <a:latin typeface="Calibri (Body)"/>
              <a:cs typeface="Arial" panose="020B0604020202020204" pitchFamily="34" charset="0"/>
            </a:endParaRPr>
          </a:p>
          <a:p>
            <a:pPr algn="just"/>
            <a:r>
              <a:rPr lang="en-US" sz="1600" dirty="0">
                <a:latin typeface="Calibri (Body)"/>
                <a:cs typeface="Arial" panose="020B0604020202020204" pitchFamily="34" charset="0"/>
              </a:rPr>
              <a:t>Architecture:</a:t>
            </a:r>
          </a:p>
          <a:p>
            <a:pPr marL="285750" indent="-285750" algn="just">
              <a:buFont typeface="Arial" panose="020B0604020202020204" pitchFamily="34" charset="0"/>
              <a:buChar char="•"/>
            </a:pPr>
            <a:r>
              <a:rPr lang="en-US" sz="1600" b="1" dirty="0">
                <a:latin typeface="Calibri (Body)"/>
                <a:cs typeface="Arial" panose="020B0604020202020204" pitchFamily="34" charset="0"/>
              </a:rPr>
              <a:t>Base</a:t>
            </a:r>
            <a:r>
              <a:rPr lang="en-US" sz="1600" dirty="0">
                <a:latin typeface="Calibri (Body)"/>
                <a:cs typeface="Arial" panose="020B0604020202020204" pitchFamily="34" charset="0"/>
              </a:rPr>
              <a:t> </a:t>
            </a:r>
            <a:r>
              <a:rPr lang="en-US" sz="1600" b="1" dirty="0">
                <a:latin typeface="Calibri (Body)"/>
                <a:cs typeface="Arial" panose="020B0604020202020204" pitchFamily="34" charset="0"/>
              </a:rPr>
              <a:t>Model</a:t>
            </a:r>
            <a:r>
              <a:rPr lang="en-US" sz="1600" dirty="0">
                <a:latin typeface="Calibri (Body)"/>
                <a:cs typeface="Arial" panose="020B0604020202020204" pitchFamily="34" charset="0"/>
              </a:rPr>
              <a:t>: EfficientNet-B0 (ImageNet pre-trained)</a:t>
            </a:r>
          </a:p>
          <a:p>
            <a:pPr marL="285750" indent="-285750" algn="just">
              <a:buFont typeface="Arial" panose="020B0604020202020204" pitchFamily="34" charset="0"/>
              <a:buChar char="•"/>
            </a:pPr>
            <a:r>
              <a:rPr lang="en-US" sz="1600" b="1" dirty="0">
                <a:latin typeface="Calibri (Body)"/>
                <a:cs typeface="Arial" panose="020B0604020202020204" pitchFamily="34" charset="0"/>
              </a:rPr>
              <a:t>Frozen</a:t>
            </a:r>
            <a:r>
              <a:rPr lang="en-US" sz="1600" dirty="0">
                <a:latin typeface="Calibri (Body)"/>
                <a:cs typeface="Arial" panose="020B0604020202020204" pitchFamily="34" charset="0"/>
              </a:rPr>
              <a:t> </a:t>
            </a:r>
            <a:r>
              <a:rPr lang="en-US" sz="1600" b="1" dirty="0">
                <a:latin typeface="Calibri (Body)"/>
                <a:cs typeface="Arial" panose="020B0604020202020204" pitchFamily="34" charset="0"/>
              </a:rPr>
              <a:t>Backbone</a:t>
            </a:r>
            <a:r>
              <a:rPr lang="en-US" sz="1600" dirty="0">
                <a:latin typeface="Calibri (Body)"/>
                <a:cs typeface="Arial" panose="020B0604020202020204" pitchFamily="34" charset="0"/>
              </a:rPr>
              <a:t>: Preserves learned features</a:t>
            </a:r>
          </a:p>
          <a:p>
            <a:pPr marL="285750" indent="-285750" algn="just">
              <a:buFont typeface="Arial" panose="020B0604020202020204" pitchFamily="34" charset="0"/>
              <a:buChar char="•"/>
            </a:pPr>
            <a:r>
              <a:rPr lang="en-US" sz="1600" b="1" dirty="0">
                <a:latin typeface="Calibri (Body)"/>
                <a:cs typeface="Arial" panose="020B0604020202020204" pitchFamily="34" charset="0"/>
              </a:rPr>
              <a:t>Custom</a:t>
            </a:r>
            <a:r>
              <a:rPr lang="en-US" sz="1600" dirty="0">
                <a:latin typeface="Calibri (Body)"/>
                <a:cs typeface="Arial" panose="020B0604020202020204" pitchFamily="34" charset="0"/>
              </a:rPr>
              <a:t> </a:t>
            </a:r>
            <a:r>
              <a:rPr lang="en-US" sz="1600" b="1" dirty="0">
                <a:latin typeface="Calibri (Body)"/>
                <a:cs typeface="Arial" panose="020B0604020202020204" pitchFamily="34" charset="0"/>
              </a:rPr>
              <a:t>Head</a:t>
            </a:r>
            <a:r>
              <a:rPr lang="en-US" sz="1600" dirty="0">
                <a:latin typeface="Calibri (Body)"/>
                <a:cs typeface="Arial" panose="020B0604020202020204" pitchFamily="34" charset="0"/>
              </a:rPr>
              <a:t>: 1280 → 128 → 2 (fire/no-fire)</a:t>
            </a:r>
          </a:p>
          <a:p>
            <a:pPr marL="285750" indent="-285750" algn="just">
              <a:buFont typeface="Arial" panose="020B0604020202020204" pitchFamily="34" charset="0"/>
              <a:buChar char="•"/>
            </a:pPr>
            <a:r>
              <a:rPr lang="en-US" sz="1600" b="1" dirty="0">
                <a:latin typeface="Calibri (Body)"/>
                <a:cs typeface="Arial" panose="020B0604020202020204" pitchFamily="34" charset="0"/>
              </a:rPr>
              <a:t>Regularization</a:t>
            </a:r>
            <a:r>
              <a:rPr lang="en-US" sz="1600" dirty="0">
                <a:latin typeface="Calibri (Body)"/>
                <a:cs typeface="Arial" panose="020B0604020202020204" pitchFamily="34" charset="0"/>
              </a:rPr>
              <a:t>: Dropout (0.4, 0.3)</a:t>
            </a:r>
          </a:p>
          <a:p>
            <a:pPr marL="285750" indent="-285750" algn="just">
              <a:buFont typeface="Arial" panose="020B0604020202020204" pitchFamily="34" charset="0"/>
              <a:buChar char="•"/>
            </a:pPr>
            <a:r>
              <a:rPr lang="en-US" sz="1600" b="1" dirty="0">
                <a:latin typeface="Calibri (Body)"/>
                <a:cs typeface="Arial" panose="020B0604020202020204" pitchFamily="34" charset="0"/>
              </a:rPr>
              <a:t>Output</a:t>
            </a:r>
            <a:r>
              <a:rPr lang="en-US" sz="1600" dirty="0">
                <a:latin typeface="Calibri (Body)"/>
                <a:cs typeface="Arial" panose="020B0604020202020204" pitchFamily="34" charset="0"/>
              </a:rPr>
              <a:t>: Binary classification logits</a:t>
            </a:r>
          </a:p>
          <a:p>
            <a:pPr algn="just"/>
            <a:endParaRPr lang="en-US" sz="1600" dirty="0">
              <a:latin typeface="Calibri (Body)"/>
              <a:cs typeface="Arial" panose="020B0604020202020204" pitchFamily="34" charset="0"/>
            </a:endParaRPr>
          </a:p>
          <a:p>
            <a:pPr algn="just"/>
            <a:r>
              <a:rPr lang="en-US" sz="1600" dirty="0">
                <a:latin typeface="Calibri (Body)"/>
                <a:cs typeface="Arial" panose="020B0604020202020204" pitchFamily="34" charset="0"/>
              </a:rPr>
              <a:t>Features:</a:t>
            </a:r>
          </a:p>
          <a:p>
            <a:pPr marL="285750" indent="-285750" algn="just">
              <a:buFont typeface="Arial" panose="020B0604020202020204" pitchFamily="34" charset="0"/>
              <a:buChar char="•"/>
            </a:pPr>
            <a:r>
              <a:rPr lang="en-US" sz="1600" dirty="0">
                <a:latin typeface="Calibri (Body)"/>
                <a:cs typeface="Arial" panose="020B0604020202020204" pitchFamily="34" charset="0"/>
              </a:rPr>
              <a:t>Efficient with minimal computational overhead</a:t>
            </a:r>
          </a:p>
          <a:p>
            <a:pPr marL="285750" indent="-285750" algn="just">
              <a:buFont typeface="Arial" panose="020B0604020202020204" pitchFamily="34" charset="0"/>
              <a:buChar char="•"/>
            </a:pPr>
            <a:r>
              <a:rPr lang="en-US" sz="1600" dirty="0">
                <a:latin typeface="Calibri (Body)"/>
                <a:cs typeface="Arial" panose="020B0604020202020204" pitchFamily="34" charset="0"/>
              </a:rPr>
              <a:t>Transfer learning reduces training time</a:t>
            </a:r>
          </a:p>
          <a:p>
            <a:pPr marL="285750" indent="-285750" algn="just">
              <a:buFont typeface="Arial" panose="020B0604020202020204" pitchFamily="34" charset="0"/>
              <a:buChar char="•"/>
            </a:pPr>
            <a:r>
              <a:rPr lang="en-US" sz="1600" dirty="0">
                <a:latin typeface="Calibri (Body)"/>
                <a:cs typeface="Arial" panose="020B0604020202020204" pitchFamily="34" charset="0"/>
              </a:rPr>
              <a:t>Modular design for production deployment</a:t>
            </a:r>
          </a:p>
        </p:txBody>
      </p:sp>
      <p:sp>
        <p:nvSpPr>
          <p:cNvPr id="2" name="Subtítulo 2">
            <a:extLst>
              <a:ext uri="{FF2B5EF4-FFF2-40B4-BE49-F238E27FC236}">
                <a16:creationId xmlns:a16="http://schemas.microsoft.com/office/drawing/2014/main" id="{86ECBB4C-0CBD-B8F5-B0EF-1403A1FE80DF}"/>
              </a:ext>
            </a:extLst>
          </p:cNvPr>
          <p:cNvSpPr txBox="1">
            <a:spLocks/>
          </p:cNvSpPr>
          <p:nvPr/>
        </p:nvSpPr>
        <p:spPr>
          <a:xfrm>
            <a:off x="836017" y="6524516"/>
            <a:ext cx="7698382" cy="162409"/>
          </a:xfrm>
          <a:prstGeom prst="rect">
            <a:avLst/>
          </a:prstGeom>
        </p:spPr>
        <p:txBody>
          <a:bodyPr vert="horz" lIns="68580" tIns="34290" rIns="68580" bIns="3429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pt-PT" sz="900" dirty="0">
                <a:latin typeface="Arial" charset="0"/>
                <a:ea typeface="Arial" charset="0"/>
                <a:cs typeface="Arial" charset="0"/>
              </a:rPr>
              <a:t>@Diogo Monteiro - 32428, Gonçalo Teixeira - 31396 | </a:t>
            </a:r>
            <a:r>
              <a:rPr lang="pt-PT" sz="900" b="1" dirty="0">
                <a:solidFill>
                  <a:srgbClr val="C00000"/>
                </a:solidFill>
                <a:latin typeface="Arial" charset="0"/>
                <a:ea typeface="Arial" charset="0"/>
                <a:cs typeface="Arial" charset="0"/>
              </a:rPr>
              <a:t>Unidade Curricular: Projeto III </a:t>
            </a:r>
            <a:r>
              <a:rPr lang="pt-PT" sz="900" dirty="0">
                <a:latin typeface="Arial" charset="0"/>
                <a:ea typeface="Arial" charset="0"/>
                <a:cs typeface="Arial" charset="0"/>
              </a:rPr>
              <a:t>– Ano Letivo 2024/2025 – </a:t>
            </a:r>
            <a:r>
              <a:rPr lang="pt-PT" sz="900" b="1" dirty="0">
                <a:latin typeface="Arial" charset="0"/>
                <a:ea typeface="Arial" charset="0"/>
                <a:cs typeface="Arial" charset="0"/>
              </a:rPr>
              <a:t>MCZ03</a:t>
            </a:r>
          </a:p>
        </p:txBody>
      </p:sp>
      <p:pic>
        <p:nvPicPr>
          <p:cNvPr id="6" name="Picture 5" descr="A screen shot of a computer program&#10;&#10;AI-generated content may be incorrect.">
            <a:extLst>
              <a:ext uri="{FF2B5EF4-FFF2-40B4-BE49-F238E27FC236}">
                <a16:creationId xmlns:a16="http://schemas.microsoft.com/office/drawing/2014/main" id="{21EC996A-8EF0-9A43-E456-39600077C6FE}"/>
              </a:ext>
            </a:extLst>
          </p:cNvPr>
          <p:cNvPicPr>
            <a:picLocks noChangeAspect="1"/>
          </p:cNvPicPr>
          <p:nvPr/>
        </p:nvPicPr>
        <p:blipFill>
          <a:blip r:embed="rId7"/>
          <a:stretch>
            <a:fillRect/>
          </a:stretch>
        </p:blipFill>
        <p:spPr>
          <a:xfrm>
            <a:off x="4348482" y="1851046"/>
            <a:ext cx="4566918" cy="3265591"/>
          </a:xfrm>
          <a:prstGeom prst="rect">
            <a:avLst/>
          </a:prstGeom>
        </p:spPr>
      </p:pic>
    </p:spTree>
    <p:extLst>
      <p:ext uri="{BB962C8B-B14F-4D97-AF65-F5344CB8AC3E}">
        <p14:creationId xmlns:p14="http://schemas.microsoft.com/office/powerpoint/2010/main" val="19213385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C9877-36A0-8D9D-162C-503932C43CBA}"/>
            </a:ext>
          </a:extLst>
        </p:cNvPr>
        <p:cNvGrpSpPr/>
        <p:nvPr/>
      </p:nvGrpSpPr>
      <p:grpSpPr>
        <a:xfrm>
          <a:off x="0" y="0"/>
          <a:ext cx="0" cy="0"/>
          <a:chOff x="0" y="0"/>
          <a:chExt cx="0" cy="0"/>
        </a:xfrm>
      </p:grpSpPr>
      <p:sp>
        <p:nvSpPr>
          <p:cNvPr id="9229" name="Text Box 13">
            <a:extLst>
              <a:ext uri="{FF2B5EF4-FFF2-40B4-BE49-F238E27FC236}">
                <a16:creationId xmlns:a16="http://schemas.microsoft.com/office/drawing/2014/main" id="{7B351C2E-B1D3-80E6-0CD2-98751289E43C}"/>
              </a:ext>
            </a:extLst>
          </p:cNvPr>
          <p:cNvSpPr txBox="1">
            <a:spLocks noChangeArrowheads="1"/>
          </p:cNvSpPr>
          <p:nvPr/>
        </p:nvSpPr>
        <p:spPr bwMode="auto">
          <a:xfrm>
            <a:off x="306388" y="557213"/>
            <a:ext cx="6981825" cy="400050"/>
          </a:xfrm>
          <a:prstGeom prst="rect">
            <a:avLst/>
          </a:prstGeom>
          <a:noFill/>
          <a:ln w="9525">
            <a:noFill/>
            <a:miter lim="800000"/>
            <a:headEnd/>
            <a:tailEnd/>
          </a:ln>
          <a:effectLst/>
        </p:spPr>
        <p:txBody>
          <a:bodyPr>
            <a:spAutoFit/>
          </a:bodyPr>
          <a:lstStyle/>
          <a:p>
            <a:pPr>
              <a:spcBef>
                <a:spcPct val="50000"/>
              </a:spcBef>
              <a:defRPr/>
            </a:pPr>
            <a:r>
              <a:rPr lang="pt-PT" sz="2000" b="1" dirty="0">
                <a:solidFill>
                  <a:srgbClr val="C00000"/>
                </a:solidFill>
                <a:effectLst>
                  <a:outerShdw blurRad="38100" dist="38100" dir="2700000" algn="tl">
                    <a:srgbClr val="C0C0C0"/>
                  </a:outerShdw>
                </a:effectLst>
                <a:latin typeface="Arial"/>
                <a:cs typeface="Arial"/>
              </a:rPr>
              <a:t>■</a:t>
            </a:r>
            <a:r>
              <a:rPr lang="pt-PT" sz="2000" b="1" dirty="0">
                <a:effectLst>
                  <a:outerShdw blurRad="38100" dist="38100" dir="2700000" algn="tl">
                    <a:srgbClr val="C0C0C0"/>
                  </a:outerShdw>
                </a:effectLst>
                <a:latin typeface="Arial"/>
                <a:cs typeface="Arial"/>
              </a:rPr>
              <a:t> </a:t>
            </a:r>
            <a:r>
              <a:rPr lang="en-US" sz="2000" b="1" dirty="0">
                <a:effectLst>
                  <a:outerShdw blurRad="38100" dist="38100" dir="2700000" algn="tl">
                    <a:srgbClr val="C0C0C0"/>
                  </a:outerShdw>
                </a:effectLst>
                <a:latin typeface="Arial"/>
                <a:cs typeface="Arial"/>
              </a:rPr>
              <a:t>6. Training Results</a:t>
            </a:r>
            <a:endParaRPr lang="pt-PT" sz="2000" b="1" dirty="0">
              <a:effectLst>
                <a:outerShdw blurRad="38100" dist="38100" dir="2700000" algn="tl">
                  <a:srgbClr val="C0C0C0"/>
                </a:outerShdw>
              </a:effectLst>
              <a:latin typeface="Arial" charset="0"/>
            </a:endParaRPr>
          </a:p>
        </p:txBody>
      </p:sp>
      <p:sp>
        <p:nvSpPr>
          <p:cNvPr id="10247" name="Line 15">
            <a:extLst>
              <a:ext uri="{FF2B5EF4-FFF2-40B4-BE49-F238E27FC236}">
                <a16:creationId xmlns:a16="http://schemas.microsoft.com/office/drawing/2014/main" id="{0A82038E-B800-1BF8-33B7-5252872B1F4B}"/>
              </a:ext>
            </a:extLst>
          </p:cNvPr>
          <p:cNvSpPr>
            <a:spLocks noChangeShapeType="1"/>
          </p:cNvSpPr>
          <p:nvPr/>
        </p:nvSpPr>
        <p:spPr bwMode="auto">
          <a:xfrm>
            <a:off x="250825" y="0"/>
            <a:ext cx="0" cy="765175"/>
          </a:xfrm>
          <a:prstGeom prst="line">
            <a:avLst/>
          </a:prstGeom>
          <a:noFill/>
          <a:ln w="25400">
            <a:solidFill>
              <a:schemeClr val="tx1"/>
            </a:solidFill>
            <a:round/>
            <a:headEnd/>
            <a:tailEnd/>
          </a:ln>
        </p:spPr>
        <p:txBody>
          <a:bodyPr/>
          <a:lstStyle/>
          <a:p>
            <a:endParaRPr lang="pt-PT"/>
          </a:p>
        </p:txBody>
      </p:sp>
      <p:sp>
        <p:nvSpPr>
          <p:cNvPr id="9237" name="Text Box 21">
            <a:extLst>
              <a:ext uri="{FF2B5EF4-FFF2-40B4-BE49-F238E27FC236}">
                <a16:creationId xmlns:a16="http://schemas.microsoft.com/office/drawing/2014/main" id="{241E6858-74F2-554D-A41A-909E71F7C0B5}"/>
              </a:ext>
            </a:extLst>
          </p:cNvPr>
          <p:cNvSpPr txBox="1">
            <a:spLocks noChangeArrowheads="1"/>
          </p:cNvSpPr>
          <p:nvPr/>
        </p:nvSpPr>
        <p:spPr bwMode="auto">
          <a:xfrm>
            <a:off x="260350" y="44450"/>
            <a:ext cx="6981825" cy="304800"/>
          </a:xfrm>
          <a:prstGeom prst="rect">
            <a:avLst/>
          </a:prstGeom>
          <a:noFill/>
          <a:ln w="9525">
            <a:noFill/>
            <a:miter lim="800000"/>
            <a:headEnd/>
            <a:tailEnd/>
          </a:ln>
          <a:effectLst/>
        </p:spPr>
        <p:txBody>
          <a:bodyPr>
            <a:spAutoFit/>
          </a:bodyPr>
          <a:lstStyle/>
          <a:p>
            <a:pPr>
              <a:spcBef>
                <a:spcPct val="50000"/>
              </a:spcBef>
              <a:defRPr/>
            </a:pPr>
            <a:endParaRPr lang="pt-PT" sz="1400" b="1" dirty="0">
              <a:solidFill>
                <a:srgbClr val="FF3300"/>
              </a:solidFill>
              <a:effectLst>
                <a:outerShdw blurRad="38100" dist="38100" dir="2700000" algn="tl">
                  <a:srgbClr val="C0C0C0"/>
                </a:outerShdw>
              </a:effectLst>
              <a:latin typeface="Arial" charset="0"/>
            </a:endParaRPr>
          </a:p>
        </p:txBody>
      </p:sp>
      <p:pic>
        <p:nvPicPr>
          <p:cNvPr id="18" name="Imagem 17">
            <a:extLst>
              <a:ext uri="{FF2B5EF4-FFF2-40B4-BE49-F238E27FC236}">
                <a16:creationId xmlns:a16="http://schemas.microsoft.com/office/drawing/2014/main" id="{18078C07-FBED-1E90-6D9C-3C704CB82B64}"/>
              </a:ext>
            </a:extLst>
          </p:cNvPr>
          <p:cNvPicPr>
            <a:picLocks noChangeAspect="1"/>
          </p:cNvPicPr>
          <p:nvPr/>
        </p:nvPicPr>
        <p:blipFill>
          <a:blip r:embed="rId3"/>
          <a:stretch>
            <a:fillRect/>
          </a:stretch>
        </p:blipFill>
        <p:spPr>
          <a:xfrm>
            <a:off x="101225" y="904241"/>
            <a:ext cx="9014192" cy="266482"/>
          </a:xfrm>
          <a:prstGeom prst="rect">
            <a:avLst/>
          </a:prstGeom>
        </p:spPr>
      </p:pic>
      <p:sp>
        <p:nvSpPr>
          <p:cNvPr id="21" name="Text Box 10">
            <a:extLst>
              <a:ext uri="{FF2B5EF4-FFF2-40B4-BE49-F238E27FC236}">
                <a16:creationId xmlns:a16="http://schemas.microsoft.com/office/drawing/2014/main" id="{FFBBA372-584B-D6A3-8CFC-EC30D3ACE2E3}"/>
              </a:ext>
            </a:extLst>
          </p:cNvPr>
          <p:cNvSpPr txBox="1">
            <a:spLocks noChangeArrowheads="1"/>
          </p:cNvSpPr>
          <p:nvPr/>
        </p:nvSpPr>
        <p:spPr bwMode="auto">
          <a:xfrm>
            <a:off x="8288338" y="6296025"/>
            <a:ext cx="827087" cy="366713"/>
          </a:xfrm>
          <a:prstGeom prst="rect">
            <a:avLst/>
          </a:prstGeom>
          <a:noFill/>
          <a:ln w="9525">
            <a:noFill/>
            <a:miter lim="800000"/>
            <a:headEnd/>
            <a:tailEnd/>
          </a:ln>
        </p:spPr>
        <p:txBody>
          <a:bodyPr>
            <a:spAutoFit/>
          </a:bodyPr>
          <a:lstStyle/>
          <a:p>
            <a:pPr>
              <a:spcBef>
                <a:spcPct val="50000"/>
              </a:spcBef>
            </a:pPr>
            <a:endParaRPr lang="pt-PT"/>
          </a:p>
        </p:txBody>
      </p:sp>
      <p:sp>
        <p:nvSpPr>
          <p:cNvPr id="22" name="Rectangle 11">
            <a:extLst>
              <a:ext uri="{FF2B5EF4-FFF2-40B4-BE49-F238E27FC236}">
                <a16:creationId xmlns:a16="http://schemas.microsoft.com/office/drawing/2014/main" id="{661EFB57-DE34-A6B5-7644-EBA9E78742CC}"/>
              </a:ext>
            </a:extLst>
          </p:cNvPr>
          <p:cNvSpPr>
            <a:spLocks noChangeArrowheads="1"/>
          </p:cNvSpPr>
          <p:nvPr/>
        </p:nvSpPr>
        <p:spPr bwMode="auto">
          <a:xfrm>
            <a:off x="8327571" y="6496091"/>
            <a:ext cx="936625" cy="260350"/>
          </a:xfrm>
          <a:prstGeom prst="rect">
            <a:avLst/>
          </a:prstGeom>
          <a:noFill/>
          <a:ln w="9525">
            <a:noFill/>
            <a:miter lim="800000"/>
            <a:headEnd/>
            <a:tailEnd/>
          </a:ln>
        </p:spPr>
        <p:txBody>
          <a:bodyPr anchor="ctr"/>
          <a:lstStyle/>
          <a:p>
            <a:pPr algn="ctr"/>
            <a:r>
              <a:rPr lang="pt-PT" sz="1000" dirty="0"/>
              <a:t>- </a:t>
            </a:r>
            <a:fld id="{1234D2FF-8FB9-47A1-B8C9-42A5F500BA2F}" type="slidenum">
              <a:rPr lang="pt-PT" sz="1000"/>
              <a:pPr algn="ctr"/>
              <a:t>42</a:t>
            </a:fld>
            <a:r>
              <a:rPr lang="pt-PT" sz="1000" dirty="0"/>
              <a:t> -</a:t>
            </a:r>
          </a:p>
        </p:txBody>
      </p:sp>
      <p:pic>
        <p:nvPicPr>
          <p:cNvPr id="23" name="Imagem 22">
            <a:extLst>
              <a:ext uri="{FF2B5EF4-FFF2-40B4-BE49-F238E27FC236}">
                <a16:creationId xmlns:a16="http://schemas.microsoft.com/office/drawing/2014/main" id="{EDBCAD91-7556-7D19-2FD9-462FBA30FAE1}"/>
              </a:ext>
            </a:extLst>
          </p:cNvPr>
          <p:cNvPicPr>
            <a:picLocks noChangeAspect="1"/>
          </p:cNvPicPr>
          <p:nvPr/>
        </p:nvPicPr>
        <p:blipFill>
          <a:blip r:embed="rId4"/>
          <a:stretch>
            <a:fillRect/>
          </a:stretch>
        </p:blipFill>
        <p:spPr>
          <a:xfrm>
            <a:off x="0" y="6320212"/>
            <a:ext cx="9144000" cy="253252"/>
          </a:xfrm>
          <a:prstGeom prst="rect">
            <a:avLst/>
          </a:prstGeom>
        </p:spPr>
      </p:pic>
      <p:pic>
        <p:nvPicPr>
          <p:cNvPr id="25" name="Imagem 24">
            <a:extLst>
              <a:ext uri="{FF2B5EF4-FFF2-40B4-BE49-F238E27FC236}">
                <a16:creationId xmlns:a16="http://schemas.microsoft.com/office/drawing/2014/main" id="{12A7F916-2EF0-76C2-6909-073340B2451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8125" y="6488336"/>
            <a:ext cx="545959" cy="199802"/>
          </a:xfrm>
          <a:prstGeom prst="rect">
            <a:avLst/>
          </a:prstGeom>
        </p:spPr>
      </p:pic>
      <p:sp>
        <p:nvSpPr>
          <p:cNvPr id="26" name="Rectângulo 19">
            <a:extLst>
              <a:ext uri="{FF2B5EF4-FFF2-40B4-BE49-F238E27FC236}">
                <a16:creationId xmlns:a16="http://schemas.microsoft.com/office/drawing/2014/main" id="{42E188DA-BFE4-4718-59CE-2C3CDFD70B80}"/>
              </a:ext>
            </a:extLst>
          </p:cNvPr>
          <p:cNvSpPr/>
          <p:nvPr/>
        </p:nvSpPr>
        <p:spPr>
          <a:xfrm>
            <a:off x="5645150" y="561740"/>
            <a:ext cx="3505200" cy="261610"/>
          </a:xfrm>
          <a:prstGeom prst="rect">
            <a:avLst/>
          </a:prstGeom>
        </p:spPr>
        <p:txBody>
          <a:bodyPr wrap="square">
            <a:spAutoFit/>
          </a:bodyPr>
          <a:lstStyle/>
          <a:p>
            <a:pPr algn="r"/>
            <a:r>
              <a:rPr lang="pt-PT" sz="1100" b="1" cap="all" dirty="0" err="1">
                <a:highlight>
                  <a:srgbClr val="FFFF00"/>
                </a:highlight>
              </a:rPr>
              <a:t>Graduation</a:t>
            </a:r>
            <a:r>
              <a:rPr lang="pt-PT" sz="1100" b="1" cap="all" dirty="0">
                <a:highlight>
                  <a:srgbClr val="FFFF00"/>
                </a:highlight>
              </a:rPr>
              <a:t> in </a:t>
            </a:r>
            <a:r>
              <a:rPr lang="pt-PT" sz="1100" b="1" cap="all" dirty="0" err="1">
                <a:highlight>
                  <a:srgbClr val="FFFF00"/>
                </a:highlight>
              </a:rPr>
              <a:t>Informatics</a:t>
            </a:r>
            <a:r>
              <a:rPr lang="pt-PT" sz="1100" b="1" cap="all" dirty="0">
                <a:highlight>
                  <a:srgbClr val="FFFF00"/>
                </a:highlight>
              </a:rPr>
              <a:t> </a:t>
            </a:r>
            <a:r>
              <a:rPr lang="pt-PT" sz="1100" b="1" cap="all" dirty="0" err="1">
                <a:highlight>
                  <a:srgbClr val="FFFF00"/>
                </a:highlight>
              </a:rPr>
              <a:t>engineering</a:t>
            </a:r>
            <a:endParaRPr lang="pt-PT" sz="1100" dirty="0">
              <a:highlight>
                <a:srgbClr val="FFFF00"/>
              </a:highlight>
            </a:endParaRPr>
          </a:p>
        </p:txBody>
      </p:sp>
      <p:pic>
        <p:nvPicPr>
          <p:cNvPr id="27" name="Imagem 26">
            <a:extLst>
              <a:ext uri="{FF2B5EF4-FFF2-40B4-BE49-F238E27FC236}">
                <a16:creationId xmlns:a16="http://schemas.microsoft.com/office/drawing/2014/main" id="{051B52B2-9322-567A-ED7F-9B0EC579B0A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575316" y="9186"/>
            <a:ext cx="2575034" cy="639880"/>
          </a:xfrm>
          <a:prstGeom prst="rect">
            <a:avLst/>
          </a:prstGeom>
        </p:spPr>
      </p:pic>
      <p:sp>
        <p:nvSpPr>
          <p:cNvPr id="7" name="TextBox 6">
            <a:extLst>
              <a:ext uri="{FF2B5EF4-FFF2-40B4-BE49-F238E27FC236}">
                <a16:creationId xmlns:a16="http://schemas.microsoft.com/office/drawing/2014/main" id="{A7D07400-B413-53EB-8BED-D49E461337FC}"/>
              </a:ext>
            </a:extLst>
          </p:cNvPr>
          <p:cNvSpPr txBox="1"/>
          <p:nvPr/>
        </p:nvSpPr>
        <p:spPr>
          <a:xfrm>
            <a:off x="334907" y="1170723"/>
            <a:ext cx="5684893" cy="2800767"/>
          </a:xfrm>
          <a:prstGeom prst="rect">
            <a:avLst/>
          </a:prstGeom>
          <a:noFill/>
        </p:spPr>
        <p:txBody>
          <a:bodyPr wrap="square" rtlCol="0">
            <a:spAutoFit/>
          </a:bodyPr>
          <a:lstStyle/>
          <a:p>
            <a:pPr algn="just"/>
            <a:r>
              <a:rPr lang="en-US" sz="1600" dirty="0">
                <a:latin typeface="Calibri (Body)"/>
                <a:cs typeface="Arial" panose="020B0604020202020204" pitchFamily="34" charset="0"/>
              </a:rPr>
              <a:t>Training Configuration:</a:t>
            </a:r>
          </a:p>
          <a:p>
            <a:pPr marL="285750" indent="-285750" algn="just">
              <a:buFont typeface="Arial" panose="020B0604020202020204" pitchFamily="34" charset="0"/>
              <a:buChar char="•"/>
            </a:pPr>
            <a:r>
              <a:rPr lang="en-US" sz="1600" dirty="0">
                <a:latin typeface="Calibri (Body)"/>
                <a:cs typeface="Arial" panose="020B0604020202020204" pitchFamily="34" charset="0"/>
              </a:rPr>
              <a:t>Dataset: 6,800 training | 900 validation | 900 test images</a:t>
            </a:r>
          </a:p>
          <a:p>
            <a:pPr marL="285750" indent="-285750" algn="just">
              <a:buFont typeface="Arial" panose="020B0604020202020204" pitchFamily="34" charset="0"/>
              <a:buChar char="•"/>
            </a:pPr>
            <a:r>
              <a:rPr lang="en-US" sz="1600" dirty="0">
                <a:latin typeface="Calibri (Body)"/>
                <a:cs typeface="Arial" panose="020B0604020202020204" pitchFamily="34" charset="0"/>
              </a:rPr>
              <a:t>Classes: fire / no-fire (binary classification)</a:t>
            </a:r>
          </a:p>
          <a:p>
            <a:pPr marL="285750" indent="-285750" algn="just">
              <a:buFont typeface="Arial" panose="020B0604020202020204" pitchFamily="34" charset="0"/>
              <a:buChar char="•"/>
            </a:pPr>
            <a:r>
              <a:rPr lang="en-US" sz="1600" dirty="0">
                <a:latin typeface="Calibri (Body)"/>
                <a:cs typeface="Arial" panose="020B0604020202020204" pitchFamily="34" charset="0"/>
              </a:rPr>
              <a:t>Training Strategy: 10 batches per epoch (demonstration run)</a:t>
            </a:r>
          </a:p>
          <a:p>
            <a:pPr marL="285750" indent="-285750" algn="just">
              <a:buFont typeface="Arial" panose="020B0604020202020204" pitchFamily="34" charset="0"/>
              <a:buChar char="•"/>
            </a:pPr>
            <a:r>
              <a:rPr lang="en-US" sz="1600" dirty="0">
                <a:latin typeface="Calibri (Body)"/>
                <a:cs typeface="Arial" panose="020B0604020202020204" pitchFamily="34" charset="0"/>
              </a:rPr>
              <a:t>Optimizer: Adam (learning rate: 1e-3)</a:t>
            </a:r>
          </a:p>
          <a:p>
            <a:pPr marL="285750" indent="-285750" algn="just">
              <a:buFont typeface="Arial" panose="020B0604020202020204" pitchFamily="34" charset="0"/>
              <a:buChar char="•"/>
            </a:pPr>
            <a:r>
              <a:rPr lang="en-US" sz="1600" dirty="0">
                <a:latin typeface="Calibri (Body)"/>
                <a:cs typeface="Arial" panose="020B0604020202020204" pitchFamily="34" charset="0"/>
              </a:rPr>
              <a:t>Loss Function: Cross-Entropy Loss</a:t>
            </a:r>
          </a:p>
          <a:p>
            <a:pPr algn="just"/>
            <a:endParaRPr lang="en-US" sz="1600" dirty="0">
              <a:latin typeface="Calibri (Body)"/>
              <a:cs typeface="Arial" panose="020B0604020202020204" pitchFamily="34" charset="0"/>
            </a:endParaRPr>
          </a:p>
          <a:p>
            <a:pPr algn="just"/>
            <a:r>
              <a:rPr lang="en-US" sz="1600" dirty="0">
                <a:latin typeface="Calibri (Body)"/>
                <a:cs typeface="Arial" panose="020B0604020202020204" pitchFamily="34" charset="0"/>
              </a:rPr>
              <a:t>Performance:</a:t>
            </a:r>
          </a:p>
          <a:p>
            <a:pPr marL="285750" indent="-285750" algn="just">
              <a:buFont typeface="Arial" panose="020B0604020202020204" pitchFamily="34" charset="0"/>
              <a:buChar char="•"/>
            </a:pPr>
            <a:r>
              <a:rPr lang="en-US" sz="1600" dirty="0">
                <a:latin typeface="Calibri (Body)"/>
                <a:cs typeface="Arial" panose="020B0604020202020204" pitchFamily="34" charset="0"/>
              </a:rPr>
              <a:t>Validation Accuracy: 99.89%</a:t>
            </a:r>
          </a:p>
          <a:p>
            <a:pPr marL="285750" indent="-285750" algn="just">
              <a:buFont typeface="Arial" panose="020B0604020202020204" pitchFamily="34" charset="0"/>
              <a:buChar char="•"/>
            </a:pPr>
            <a:r>
              <a:rPr lang="en-US" sz="1600" dirty="0">
                <a:latin typeface="Calibri (Body)"/>
                <a:cs typeface="Arial" panose="020B0604020202020204" pitchFamily="34" charset="0"/>
              </a:rPr>
              <a:t>Model Status: Successfully trained and saved</a:t>
            </a:r>
          </a:p>
          <a:p>
            <a:pPr marL="285750" indent="-285750" algn="just">
              <a:buFont typeface="Arial" panose="020B0604020202020204" pitchFamily="34" charset="0"/>
              <a:buChar char="•"/>
            </a:pPr>
            <a:r>
              <a:rPr lang="en-US" sz="1600" dirty="0">
                <a:latin typeface="Calibri (Body)"/>
                <a:cs typeface="Arial" panose="020B0604020202020204" pitchFamily="34" charset="0"/>
              </a:rPr>
              <a:t>Deployment: Ready for </a:t>
            </a:r>
            <a:r>
              <a:rPr lang="en-US" sz="1600" dirty="0" err="1">
                <a:latin typeface="Calibri (Body)"/>
                <a:cs typeface="Arial" panose="020B0604020202020204" pitchFamily="34" charset="0"/>
              </a:rPr>
              <a:t>FastAPI</a:t>
            </a:r>
            <a:r>
              <a:rPr lang="en-US" sz="1600" dirty="0">
                <a:latin typeface="Calibri (Body)"/>
                <a:cs typeface="Arial" panose="020B0604020202020204" pitchFamily="34" charset="0"/>
              </a:rPr>
              <a:t> backend integration</a:t>
            </a:r>
          </a:p>
        </p:txBody>
      </p:sp>
      <p:sp>
        <p:nvSpPr>
          <p:cNvPr id="2" name="Subtítulo 2">
            <a:extLst>
              <a:ext uri="{FF2B5EF4-FFF2-40B4-BE49-F238E27FC236}">
                <a16:creationId xmlns:a16="http://schemas.microsoft.com/office/drawing/2014/main" id="{31A1E69E-C40E-5D11-E4FB-CD2C73ABABFC}"/>
              </a:ext>
            </a:extLst>
          </p:cNvPr>
          <p:cNvSpPr txBox="1">
            <a:spLocks/>
          </p:cNvSpPr>
          <p:nvPr/>
        </p:nvSpPr>
        <p:spPr>
          <a:xfrm>
            <a:off x="836017" y="6524516"/>
            <a:ext cx="7698382" cy="162409"/>
          </a:xfrm>
          <a:prstGeom prst="rect">
            <a:avLst/>
          </a:prstGeom>
        </p:spPr>
        <p:txBody>
          <a:bodyPr vert="horz" lIns="68580" tIns="34290" rIns="68580" bIns="3429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pt-PT" sz="900" dirty="0">
                <a:latin typeface="Arial" charset="0"/>
                <a:ea typeface="Arial" charset="0"/>
                <a:cs typeface="Arial" charset="0"/>
              </a:rPr>
              <a:t>@Diogo Monteiro - 32428, Gonçalo Teixeira - 31396 | </a:t>
            </a:r>
            <a:r>
              <a:rPr lang="pt-PT" sz="900" b="1" dirty="0">
                <a:solidFill>
                  <a:srgbClr val="C00000"/>
                </a:solidFill>
                <a:latin typeface="Arial" charset="0"/>
                <a:ea typeface="Arial" charset="0"/>
                <a:cs typeface="Arial" charset="0"/>
              </a:rPr>
              <a:t>Unidade Curricular: Projeto III </a:t>
            </a:r>
            <a:r>
              <a:rPr lang="pt-PT" sz="900" dirty="0">
                <a:latin typeface="Arial" charset="0"/>
                <a:ea typeface="Arial" charset="0"/>
                <a:cs typeface="Arial" charset="0"/>
              </a:rPr>
              <a:t>– Ano Letivo 2024/2025 – </a:t>
            </a:r>
            <a:r>
              <a:rPr lang="pt-PT" sz="900" b="1" dirty="0">
                <a:latin typeface="Arial" charset="0"/>
                <a:ea typeface="Arial" charset="0"/>
                <a:cs typeface="Arial" charset="0"/>
              </a:rPr>
              <a:t>MCZ03</a:t>
            </a:r>
          </a:p>
        </p:txBody>
      </p:sp>
      <p:pic>
        <p:nvPicPr>
          <p:cNvPr id="4" name="Picture 3">
            <a:extLst>
              <a:ext uri="{FF2B5EF4-FFF2-40B4-BE49-F238E27FC236}">
                <a16:creationId xmlns:a16="http://schemas.microsoft.com/office/drawing/2014/main" id="{5B26B831-A385-FC65-8A8B-90AEFAF45328}"/>
              </a:ext>
            </a:extLst>
          </p:cNvPr>
          <p:cNvPicPr>
            <a:picLocks noChangeAspect="1"/>
          </p:cNvPicPr>
          <p:nvPr/>
        </p:nvPicPr>
        <p:blipFill>
          <a:blip r:embed="rId7"/>
          <a:stretch>
            <a:fillRect/>
          </a:stretch>
        </p:blipFill>
        <p:spPr>
          <a:xfrm>
            <a:off x="6096000" y="1210442"/>
            <a:ext cx="2848373" cy="304843"/>
          </a:xfrm>
          <a:prstGeom prst="rect">
            <a:avLst/>
          </a:prstGeom>
        </p:spPr>
      </p:pic>
      <p:pic>
        <p:nvPicPr>
          <p:cNvPr id="8" name="Picture 7" descr="A screen shot of a computer&#10;&#10;AI-generated content may be incorrect.">
            <a:extLst>
              <a:ext uri="{FF2B5EF4-FFF2-40B4-BE49-F238E27FC236}">
                <a16:creationId xmlns:a16="http://schemas.microsoft.com/office/drawing/2014/main" id="{38E692C9-39C0-B9F8-3F5D-0AB289DE1FB2}"/>
              </a:ext>
            </a:extLst>
          </p:cNvPr>
          <p:cNvPicPr>
            <a:picLocks noChangeAspect="1"/>
          </p:cNvPicPr>
          <p:nvPr/>
        </p:nvPicPr>
        <p:blipFill>
          <a:blip r:embed="rId8"/>
          <a:stretch>
            <a:fillRect/>
          </a:stretch>
        </p:blipFill>
        <p:spPr>
          <a:xfrm>
            <a:off x="6347776" y="1569966"/>
            <a:ext cx="2439664" cy="4783798"/>
          </a:xfrm>
          <a:prstGeom prst="rect">
            <a:avLst/>
          </a:prstGeom>
        </p:spPr>
      </p:pic>
    </p:spTree>
    <p:extLst>
      <p:ext uri="{BB962C8B-B14F-4D97-AF65-F5344CB8AC3E}">
        <p14:creationId xmlns:p14="http://schemas.microsoft.com/office/powerpoint/2010/main" val="27220811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70A2B-7FED-D3C4-543A-0A67A703C123}"/>
            </a:ext>
          </a:extLst>
        </p:cNvPr>
        <p:cNvGrpSpPr/>
        <p:nvPr/>
      </p:nvGrpSpPr>
      <p:grpSpPr>
        <a:xfrm>
          <a:off x="0" y="0"/>
          <a:ext cx="0" cy="0"/>
          <a:chOff x="0" y="0"/>
          <a:chExt cx="0" cy="0"/>
        </a:xfrm>
      </p:grpSpPr>
      <p:sp>
        <p:nvSpPr>
          <p:cNvPr id="9229" name="Text Box 13">
            <a:extLst>
              <a:ext uri="{FF2B5EF4-FFF2-40B4-BE49-F238E27FC236}">
                <a16:creationId xmlns:a16="http://schemas.microsoft.com/office/drawing/2014/main" id="{878871B8-955E-739D-D4FE-771724ED1867}"/>
              </a:ext>
            </a:extLst>
          </p:cNvPr>
          <p:cNvSpPr txBox="1">
            <a:spLocks noChangeArrowheads="1"/>
          </p:cNvSpPr>
          <p:nvPr/>
        </p:nvSpPr>
        <p:spPr bwMode="auto">
          <a:xfrm>
            <a:off x="306388" y="545068"/>
            <a:ext cx="6981825" cy="369332"/>
          </a:xfrm>
          <a:prstGeom prst="rect">
            <a:avLst/>
          </a:prstGeom>
          <a:noFill/>
          <a:ln w="9525">
            <a:noFill/>
            <a:miter lim="800000"/>
            <a:headEnd/>
            <a:tailEnd/>
          </a:ln>
          <a:effectLst/>
        </p:spPr>
        <p:txBody>
          <a:bodyPr>
            <a:spAutoFit/>
          </a:bodyPr>
          <a:lstStyle/>
          <a:p>
            <a:pPr>
              <a:spcBef>
                <a:spcPct val="50000"/>
              </a:spcBef>
              <a:defRPr/>
            </a:pPr>
            <a:r>
              <a:rPr lang="pt-PT" b="1" dirty="0">
                <a:solidFill>
                  <a:srgbClr val="C00000"/>
                </a:solidFill>
                <a:effectLst>
                  <a:outerShdw blurRad="38100" dist="38100" dir="2700000" algn="tl">
                    <a:srgbClr val="C0C0C0"/>
                  </a:outerShdw>
                </a:effectLst>
                <a:latin typeface="Arial"/>
                <a:cs typeface="Arial"/>
              </a:rPr>
              <a:t>■</a:t>
            </a:r>
            <a:r>
              <a:rPr lang="pt-PT" b="1" dirty="0">
                <a:effectLst>
                  <a:outerShdw blurRad="38100" dist="38100" dir="2700000" algn="tl">
                    <a:srgbClr val="C0C0C0"/>
                  </a:outerShdw>
                </a:effectLst>
                <a:latin typeface="Arial"/>
                <a:cs typeface="Arial"/>
              </a:rPr>
              <a:t> 7. </a:t>
            </a:r>
            <a:r>
              <a:rPr lang="pt-PT" b="1" dirty="0" err="1">
                <a:effectLst>
                  <a:outerShdw blurRad="38100" dist="38100" dir="2700000" algn="tl">
                    <a:srgbClr val="C0C0C0"/>
                  </a:outerShdw>
                </a:effectLst>
                <a:latin typeface="Arial"/>
                <a:cs typeface="Arial"/>
              </a:rPr>
              <a:t>Conclusion</a:t>
            </a:r>
            <a:r>
              <a:rPr lang="pt-PT" b="1" dirty="0">
                <a:effectLst>
                  <a:outerShdw blurRad="38100" dist="38100" dir="2700000" algn="tl">
                    <a:srgbClr val="C0C0C0"/>
                  </a:outerShdw>
                </a:effectLst>
                <a:latin typeface="Arial"/>
                <a:cs typeface="Arial"/>
              </a:rPr>
              <a:t> </a:t>
            </a:r>
            <a:r>
              <a:rPr lang="pt-PT" b="1" dirty="0" err="1">
                <a:effectLst>
                  <a:outerShdw blurRad="38100" dist="38100" dir="2700000" algn="tl">
                    <a:srgbClr val="C0C0C0"/>
                  </a:outerShdw>
                </a:effectLst>
                <a:latin typeface="Arial"/>
                <a:cs typeface="Arial"/>
              </a:rPr>
              <a:t>and</a:t>
            </a:r>
            <a:r>
              <a:rPr lang="pt-PT" b="1" dirty="0">
                <a:effectLst>
                  <a:outerShdw blurRad="38100" dist="38100" dir="2700000" algn="tl">
                    <a:srgbClr val="C0C0C0"/>
                  </a:outerShdw>
                </a:effectLst>
                <a:latin typeface="Arial"/>
                <a:cs typeface="Arial"/>
              </a:rPr>
              <a:t> Future </a:t>
            </a:r>
            <a:r>
              <a:rPr lang="pt-PT" b="1" dirty="0" err="1">
                <a:effectLst>
                  <a:outerShdw blurRad="38100" dist="38100" dir="2700000" algn="tl">
                    <a:srgbClr val="C0C0C0"/>
                  </a:outerShdw>
                </a:effectLst>
                <a:latin typeface="Arial"/>
                <a:cs typeface="Arial"/>
              </a:rPr>
              <a:t>Work</a:t>
            </a:r>
            <a:endParaRPr lang="pt-PT" b="1" dirty="0">
              <a:effectLst>
                <a:outerShdw blurRad="38100" dist="38100" dir="2700000" algn="tl">
                  <a:srgbClr val="C0C0C0"/>
                </a:outerShdw>
              </a:effectLst>
              <a:latin typeface="Arial" charset="0"/>
            </a:endParaRPr>
          </a:p>
        </p:txBody>
      </p:sp>
      <p:sp>
        <p:nvSpPr>
          <p:cNvPr id="10247" name="Line 15">
            <a:extLst>
              <a:ext uri="{FF2B5EF4-FFF2-40B4-BE49-F238E27FC236}">
                <a16:creationId xmlns:a16="http://schemas.microsoft.com/office/drawing/2014/main" id="{7F68EBD5-A21B-7439-FF47-DB3BD979CF34}"/>
              </a:ext>
            </a:extLst>
          </p:cNvPr>
          <p:cNvSpPr>
            <a:spLocks noChangeShapeType="1"/>
          </p:cNvSpPr>
          <p:nvPr/>
        </p:nvSpPr>
        <p:spPr bwMode="auto">
          <a:xfrm>
            <a:off x="250825" y="0"/>
            <a:ext cx="0" cy="765175"/>
          </a:xfrm>
          <a:prstGeom prst="line">
            <a:avLst/>
          </a:prstGeom>
          <a:noFill/>
          <a:ln w="25400">
            <a:solidFill>
              <a:schemeClr val="tx1"/>
            </a:solidFill>
            <a:round/>
            <a:headEnd/>
            <a:tailEnd/>
          </a:ln>
        </p:spPr>
        <p:txBody>
          <a:bodyPr/>
          <a:lstStyle/>
          <a:p>
            <a:endParaRPr lang="pt-PT"/>
          </a:p>
        </p:txBody>
      </p:sp>
      <p:sp>
        <p:nvSpPr>
          <p:cNvPr id="9237" name="Text Box 21">
            <a:extLst>
              <a:ext uri="{FF2B5EF4-FFF2-40B4-BE49-F238E27FC236}">
                <a16:creationId xmlns:a16="http://schemas.microsoft.com/office/drawing/2014/main" id="{BBE1141D-5C4E-AD7A-D3F5-6BA7AA9BE3D2}"/>
              </a:ext>
            </a:extLst>
          </p:cNvPr>
          <p:cNvSpPr txBox="1">
            <a:spLocks noChangeArrowheads="1"/>
          </p:cNvSpPr>
          <p:nvPr/>
        </p:nvSpPr>
        <p:spPr bwMode="auto">
          <a:xfrm>
            <a:off x="260350" y="44450"/>
            <a:ext cx="6981825" cy="304800"/>
          </a:xfrm>
          <a:prstGeom prst="rect">
            <a:avLst/>
          </a:prstGeom>
          <a:noFill/>
          <a:ln w="9525">
            <a:noFill/>
            <a:miter lim="800000"/>
            <a:headEnd/>
            <a:tailEnd/>
          </a:ln>
          <a:effectLst/>
        </p:spPr>
        <p:txBody>
          <a:bodyPr>
            <a:spAutoFit/>
          </a:bodyPr>
          <a:lstStyle/>
          <a:p>
            <a:pPr>
              <a:spcBef>
                <a:spcPct val="50000"/>
              </a:spcBef>
              <a:defRPr/>
            </a:pPr>
            <a:endParaRPr lang="pt-PT" sz="1400" b="1" dirty="0">
              <a:solidFill>
                <a:srgbClr val="FF3300"/>
              </a:solidFill>
              <a:effectLst>
                <a:outerShdw blurRad="38100" dist="38100" dir="2700000" algn="tl">
                  <a:srgbClr val="C0C0C0"/>
                </a:outerShdw>
              </a:effectLst>
              <a:latin typeface="Arial" charset="0"/>
            </a:endParaRPr>
          </a:p>
        </p:txBody>
      </p:sp>
      <p:sp>
        <p:nvSpPr>
          <p:cNvPr id="12" name="CaixaDeTexto 11">
            <a:extLst>
              <a:ext uri="{FF2B5EF4-FFF2-40B4-BE49-F238E27FC236}">
                <a16:creationId xmlns:a16="http://schemas.microsoft.com/office/drawing/2014/main" id="{652DB372-6DEA-37A8-CF5E-9DF8CBB120CD}"/>
              </a:ext>
            </a:extLst>
          </p:cNvPr>
          <p:cNvSpPr txBox="1"/>
          <p:nvPr/>
        </p:nvSpPr>
        <p:spPr>
          <a:xfrm>
            <a:off x="419100" y="1087714"/>
            <a:ext cx="8305800" cy="5047536"/>
          </a:xfrm>
          <a:prstGeom prst="rect">
            <a:avLst/>
          </a:prstGeom>
          <a:noFill/>
          <a:ln>
            <a:noFill/>
          </a:ln>
        </p:spPr>
        <p:txBody>
          <a:bodyPr wrap="square" rtlCol="0">
            <a:spAutoFit/>
          </a:bodyPr>
          <a:lstStyle/>
          <a:p>
            <a:r>
              <a:rPr lang="en-US" i="1" dirty="0">
                <a:solidFill>
                  <a:srgbClr val="FFC000"/>
                </a:solidFill>
                <a:latin typeface="Arial"/>
                <a:cs typeface="Arial"/>
              </a:rPr>
              <a:t>■</a:t>
            </a:r>
            <a:r>
              <a:rPr lang="pt-PT" dirty="0"/>
              <a:t> </a:t>
            </a:r>
            <a:r>
              <a:rPr lang="en-US" sz="1600" dirty="0"/>
              <a:t>In this checkpoint, we successfully developed and trained a fire detection classifier achieving 99.89% validation accuracy on the FlameVision dataset. The implementation demonstrates the viability of transfer learning with EfficientNet-B0 for aerial wildfire detection.</a:t>
            </a:r>
          </a:p>
          <a:p>
            <a:endParaRPr lang="en-US" sz="1600" dirty="0"/>
          </a:p>
          <a:p>
            <a:r>
              <a:rPr lang="en-US" sz="1600" dirty="0"/>
              <a:t>Future Work:</a:t>
            </a:r>
          </a:p>
          <a:p>
            <a:endParaRPr lang="en-US" sz="1600" dirty="0"/>
          </a:p>
          <a:p>
            <a:pPr marL="285750" indent="-285750">
              <a:buFont typeface="Arial" panose="020B0604020202020204" pitchFamily="34" charset="0"/>
              <a:buChar char="•"/>
            </a:pPr>
            <a:r>
              <a:rPr lang="en-US" sz="1600" dirty="0"/>
              <a:t>Model Optimization: Fine-tune hyperparameters and explore advanced architectures for improved robustness.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Backend Integration: Implement </a:t>
            </a:r>
            <a:r>
              <a:rPr lang="en-US" sz="1600" dirty="0" err="1"/>
              <a:t>FastAPI</a:t>
            </a:r>
            <a:r>
              <a:rPr lang="en-US" sz="1600" dirty="0"/>
              <a:t> endpoints for real-time inference and integrate with PostgreSQL database for image cataloging.</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Frontend Development: Build React interface for image upload, classification display, and metadata management.</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Platform Validation: Deploy complete web platform and validate end-to-end fire detection workflow.</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Extended Evaluation: Test model performance on additional aerial imagery datasets and environmental conditions.</a:t>
            </a:r>
            <a:endParaRPr lang="pt-PT" dirty="0"/>
          </a:p>
        </p:txBody>
      </p:sp>
      <p:pic>
        <p:nvPicPr>
          <p:cNvPr id="15" name="Imagem 14">
            <a:extLst>
              <a:ext uri="{FF2B5EF4-FFF2-40B4-BE49-F238E27FC236}">
                <a16:creationId xmlns:a16="http://schemas.microsoft.com/office/drawing/2014/main" id="{DE489BA8-FC76-AE5A-5FBC-B41161FD59C7}"/>
              </a:ext>
            </a:extLst>
          </p:cNvPr>
          <p:cNvPicPr>
            <a:picLocks noChangeAspect="1"/>
          </p:cNvPicPr>
          <p:nvPr/>
        </p:nvPicPr>
        <p:blipFill>
          <a:blip r:embed="rId3"/>
          <a:stretch>
            <a:fillRect/>
          </a:stretch>
        </p:blipFill>
        <p:spPr>
          <a:xfrm>
            <a:off x="101225" y="904241"/>
            <a:ext cx="9014192" cy="266482"/>
          </a:xfrm>
          <a:prstGeom prst="rect">
            <a:avLst/>
          </a:prstGeom>
        </p:spPr>
      </p:pic>
      <p:sp>
        <p:nvSpPr>
          <p:cNvPr id="18" name="Text Box 10">
            <a:extLst>
              <a:ext uri="{FF2B5EF4-FFF2-40B4-BE49-F238E27FC236}">
                <a16:creationId xmlns:a16="http://schemas.microsoft.com/office/drawing/2014/main" id="{900B3D23-59A8-5F15-27C9-92763F1330F1}"/>
              </a:ext>
            </a:extLst>
          </p:cNvPr>
          <p:cNvSpPr txBox="1">
            <a:spLocks noChangeArrowheads="1"/>
          </p:cNvSpPr>
          <p:nvPr/>
        </p:nvSpPr>
        <p:spPr bwMode="auto">
          <a:xfrm>
            <a:off x="8288338" y="6296025"/>
            <a:ext cx="827087" cy="366713"/>
          </a:xfrm>
          <a:prstGeom prst="rect">
            <a:avLst/>
          </a:prstGeom>
          <a:noFill/>
          <a:ln w="9525">
            <a:noFill/>
            <a:miter lim="800000"/>
            <a:headEnd/>
            <a:tailEnd/>
          </a:ln>
        </p:spPr>
        <p:txBody>
          <a:bodyPr>
            <a:spAutoFit/>
          </a:bodyPr>
          <a:lstStyle/>
          <a:p>
            <a:pPr>
              <a:spcBef>
                <a:spcPct val="50000"/>
              </a:spcBef>
            </a:pPr>
            <a:endParaRPr lang="pt-PT"/>
          </a:p>
        </p:txBody>
      </p:sp>
      <p:sp>
        <p:nvSpPr>
          <p:cNvPr id="19" name="Rectangle 11">
            <a:extLst>
              <a:ext uri="{FF2B5EF4-FFF2-40B4-BE49-F238E27FC236}">
                <a16:creationId xmlns:a16="http://schemas.microsoft.com/office/drawing/2014/main" id="{677C8F6B-D966-94C2-78B9-D32A639699E0}"/>
              </a:ext>
            </a:extLst>
          </p:cNvPr>
          <p:cNvSpPr>
            <a:spLocks noChangeArrowheads="1"/>
          </p:cNvSpPr>
          <p:nvPr/>
        </p:nvSpPr>
        <p:spPr bwMode="auto">
          <a:xfrm>
            <a:off x="8327571" y="6496091"/>
            <a:ext cx="936625" cy="260350"/>
          </a:xfrm>
          <a:prstGeom prst="rect">
            <a:avLst/>
          </a:prstGeom>
          <a:noFill/>
          <a:ln w="9525">
            <a:noFill/>
            <a:miter lim="800000"/>
            <a:headEnd/>
            <a:tailEnd/>
          </a:ln>
        </p:spPr>
        <p:txBody>
          <a:bodyPr anchor="ctr"/>
          <a:lstStyle/>
          <a:p>
            <a:pPr algn="ctr"/>
            <a:r>
              <a:rPr lang="pt-PT" sz="1000" dirty="0"/>
              <a:t>- </a:t>
            </a:r>
            <a:fld id="{1234D2FF-8FB9-47A1-B8C9-42A5F500BA2F}" type="slidenum">
              <a:rPr lang="pt-PT" sz="1000"/>
              <a:pPr algn="ctr"/>
              <a:t>43</a:t>
            </a:fld>
            <a:r>
              <a:rPr lang="pt-PT" sz="1000" dirty="0"/>
              <a:t> -</a:t>
            </a:r>
          </a:p>
        </p:txBody>
      </p:sp>
      <p:pic>
        <p:nvPicPr>
          <p:cNvPr id="20" name="Imagem 19">
            <a:extLst>
              <a:ext uri="{FF2B5EF4-FFF2-40B4-BE49-F238E27FC236}">
                <a16:creationId xmlns:a16="http://schemas.microsoft.com/office/drawing/2014/main" id="{1B91CD35-42AF-62A5-7FD2-2AEC4E3BF1CA}"/>
              </a:ext>
            </a:extLst>
          </p:cNvPr>
          <p:cNvPicPr>
            <a:picLocks noChangeAspect="1"/>
          </p:cNvPicPr>
          <p:nvPr/>
        </p:nvPicPr>
        <p:blipFill>
          <a:blip r:embed="rId4"/>
          <a:stretch>
            <a:fillRect/>
          </a:stretch>
        </p:blipFill>
        <p:spPr>
          <a:xfrm>
            <a:off x="0" y="6320212"/>
            <a:ext cx="9144000" cy="253252"/>
          </a:xfrm>
          <a:prstGeom prst="rect">
            <a:avLst/>
          </a:prstGeom>
        </p:spPr>
      </p:pic>
      <p:pic>
        <p:nvPicPr>
          <p:cNvPr id="22" name="Imagem 21">
            <a:extLst>
              <a:ext uri="{FF2B5EF4-FFF2-40B4-BE49-F238E27FC236}">
                <a16:creationId xmlns:a16="http://schemas.microsoft.com/office/drawing/2014/main" id="{18CA57EF-4F2C-BD36-B486-AC8307F7E0F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8125" y="6488336"/>
            <a:ext cx="545959" cy="199802"/>
          </a:xfrm>
          <a:prstGeom prst="rect">
            <a:avLst/>
          </a:prstGeom>
        </p:spPr>
      </p:pic>
      <p:sp>
        <p:nvSpPr>
          <p:cNvPr id="23" name="Rectângulo 19">
            <a:extLst>
              <a:ext uri="{FF2B5EF4-FFF2-40B4-BE49-F238E27FC236}">
                <a16:creationId xmlns:a16="http://schemas.microsoft.com/office/drawing/2014/main" id="{9EE5BCCD-5E4B-3EBC-46A8-9F033BC9B194}"/>
              </a:ext>
            </a:extLst>
          </p:cNvPr>
          <p:cNvSpPr/>
          <p:nvPr/>
        </p:nvSpPr>
        <p:spPr>
          <a:xfrm>
            <a:off x="5535613" y="553019"/>
            <a:ext cx="3505200" cy="261610"/>
          </a:xfrm>
          <a:prstGeom prst="rect">
            <a:avLst/>
          </a:prstGeom>
        </p:spPr>
        <p:txBody>
          <a:bodyPr wrap="square">
            <a:spAutoFit/>
          </a:bodyPr>
          <a:lstStyle/>
          <a:p>
            <a:pPr algn="r"/>
            <a:r>
              <a:rPr lang="pt-PT" sz="1100" b="1" cap="all" dirty="0" err="1">
                <a:highlight>
                  <a:srgbClr val="FFFF00"/>
                </a:highlight>
              </a:rPr>
              <a:t>Graduation</a:t>
            </a:r>
            <a:r>
              <a:rPr lang="pt-PT" sz="1100" b="1" cap="all" dirty="0">
                <a:highlight>
                  <a:srgbClr val="FFFF00"/>
                </a:highlight>
              </a:rPr>
              <a:t> in </a:t>
            </a:r>
            <a:r>
              <a:rPr lang="pt-PT" sz="1100" b="1" cap="all" dirty="0" err="1">
                <a:highlight>
                  <a:srgbClr val="FFFF00"/>
                </a:highlight>
              </a:rPr>
              <a:t>Informatics</a:t>
            </a:r>
            <a:r>
              <a:rPr lang="pt-PT" sz="1100" b="1" cap="all" dirty="0">
                <a:highlight>
                  <a:srgbClr val="FFFF00"/>
                </a:highlight>
              </a:rPr>
              <a:t> </a:t>
            </a:r>
            <a:r>
              <a:rPr lang="pt-PT" sz="1100" b="1" cap="all" dirty="0" err="1">
                <a:highlight>
                  <a:srgbClr val="FFFF00"/>
                </a:highlight>
              </a:rPr>
              <a:t>engineering</a:t>
            </a:r>
            <a:endParaRPr lang="pt-PT" sz="1100" dirty="0">
              <a:highlight>
                <a:srgbClr val="FFFF00"/>
              </a:highlight>
            </a:endParaRPr>
          </a:p>
        </p:txBody>
      </p:sp>
      <p:pic>
        <p:nvPicPr>
          <p:cNvPr id="24" name="Imagem 23">
            <a:extLst>
              <a:ext uri="{FF2B5EF4-FFF2-40B4-BE49-F238E27FC236}">
                <a16:creationId xmlns:a16="http://schemas.microsoft.com/office/drawing/2014/main" id="{1E0952E2-E7FE-F4AE-FE2F-C01FD13C076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575316" y="9186"/>
            <a:ext cx="2575034" cy="639880"/>
          </a:xfrm>
          <a:prstGeom prst="rect">
            <a:avLst/>
          </a:prstGeom>
        </p:spPr>
      </p:pic>
      <p:sp>
        <p:nvSpPr>
          <p:cNvPr id="2" name="Subtítulo 2">
            <a:extLst>
              <a:ext uri="{FF2B5EF4-FFF2-40B4-BE49-F238E27FC236}">
                <a16:creationId xmlns:a16="http://schemas.microsoft.com/office/drawing/2014/main" id="{93A5A463-1410-9804-B837-00707E54CE62}"/>
              </a:ext>
            </a:extLst>
          </p:cNvPr>
          <p:cNvSpPr txBox="1">
            <a:spLocks/>
          </p:cNvSpPr>
          <p:nvPr/>
        </p:nvSpPr>
        <p:spPr>
          <a:xfrm>
            <a:off x="836017" y="6524516"/>
            <a:ext cx="7698382" cy="162409"/>
          </a:xfrm>
          <a:prstGeom prst="rect">
            <a:avLst/>
          </a:prstGeom>
        </p:spPr>
        <p:txBody>
          <a:bodyPr vert="horz" lIns="68580" tIns="34290" rIns="68580" bIns="3429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pt-PT" sz="900" dirty="0">
                <a:latin typeface="Arial" charset="0"/>
                <a:ea typeface="Arial" charset="0"/>
                <a:cs typeface="Arial" charset="0"/>
              </a:rPr>
              <a:t>@Diogo Monteiro - 32428, Gonçalo Teixeira - 31396 | </a:t>
            </a:r>
            <a:r>
              <a:rPr lang="pt-PT" sz="900" b="1" dirty="0">
                <a:solidFill>
                  <a:srgbClr val="C00000"/>
                </a:solidFill>
                <a:latin typeface="Arial" charset="0"/>
                <a:ea typeface="Arial" charset="0"/>
                <a:cs typeface="Arial" charset="0"/>
              </a:rPr>
              <a:t>Unidade Curricular: Projeto III </a:t>
            </a:r>
            <a:r>
              <a:rPr lang="pt-PT" sz="900" dirty="0">
                <a:latin typeface="Arial" charset="0"/>
                <a:ea typeface="Arial" charset="0"/>
                <a:cs typeface="Arial" charset="0"/>
              </a:rPr>
              <a:t>– Ano Letivo 2024/2025 – </a:t>
            </a:r>
            <a:r>
              <a:rPr lang="pt-PT" sz="900" b="1" dirty="0">
                <a:latin typeface="Arial" charset="0"/>
                <a:ea typeface="Arial" charset="0"/>
                <a:cs typeface="Arial" charset="0"/>
              </a:rPr>
              <a:t>MCZ03</a:t>
            </a:r>
          </a:p>
        </p:txBody>
      </p:sp>
    </p:spTree>
    <p:extLst>
      <p:ext uri="{BB962C8B-B14F-4D97-AF65-F5344CB8AC3E}">
        <p14:creationId xmlns:p14="http://schemas.microsoft.com/office/powerpoint/2010/main" val="2468281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8667A-BAE2-25E6-FD00-BD88ABB1EF7C}"/>
            </a:ext>
          </a:extLst>
        </p:cNvPr>
        <p:cNvGrpSpPr/>
        <p:nvPr/>
      </p:nvGrpSpPr>
      <p:grpSpPr>
        <a:xfrm>
          <a:off x="0" y="0"/>
          <a:ext cx="0" cy="0"/>
          <a:chOff x="0" y="0"/>
          <a:chExt cx="0" cy="0"/>
        </a:xfrm>
      </p:grpSpPr>
      <p:sp>
        <p:nvSpPr>
          <p:cNvPr id="9229" name="Text Box 13">
            <a:extLst>
              <a:ext uri="{FF2B5EF4-FFF2-40B4-BE49-F238E27FC236}">
                <a16:creationId xmlns:a16="http://schemas.microsoft.com/office/drawing/2014/main" id="{D80E1439-80BA-3100-904A-CDB4684994D1}"/>
              </a:ext>
            </a:extLst>
          </p:cNvPr>
          <p:cNvSpPr txBox="1">
            <a:spLocks noChangeArrowheads="1"/>
          </p:cNvSpPr>
          <p:nvPr/>
        </p:nvSpPr>
        <p:spPr bwMode="auto">
          <a:xfrm>
            <a:off x="306388" y="557213"/>
            <a:ext cx="6981825" cy="400110"/>
          </a:xfrm>
          <a:prstGeom prst="rect">
            <a:avLst/>
          </a:prstGeom>
          <a:noFill/>
          <a:ln w="9525">
            <a:noFill/>
            <a:miter lim="800000"/>
            <a:headEnd/>
            <a:tailEnd/>
          </a:ln>
          <a:effectLst/>
        </p:spPr>
        <p:txBody>
          <a:bodyPr>
            <a:spAutoFit/>
          </a:bodyPr>
          <a:lstStyle/>
          <a:p>
            <a:pPr>
              <a:spcBef>
                <a:spcPct val="50000"/>
              </a:spcBef>
              <a:defRPr/>
            </a:pPr>
            <a:r>
              <a:rPr lang="pt-PT" sz="2000" b="1" dirty="0">
                <a:solidFill>
                  <a:srgbClr val="C00000"/>
                </a:solidFill>
                <a:effectLst>
                  <a:outerShdw blurRad="38100" dist="38100" dir="2700000" algn="tl">
                    <a:srgbClr val="C0C0C0"/>
                  </a:outerShdw>
                </a:effectLst>
                <a:latin typeface="Arial"/>
                <a:cs typeface="Arial"/>
              </a:rPr>
              <a:t>■</a:t>
            </a:r>
            <a:r>
              <a:rPr lang="pt-PT" sz="2000" b="1" dirty="0">
                <a:effectLst>
                  <a:outerShdw blurRad="38100" dist="38100" dir="2700000" algn="tl">
                    <a:srgbClr val="C0C0C0"/>
                  </a:outerShdw>
                </a:effectLst>
                <a:latin typeface="Arial"/>
                <a:cs typeface="Arial"/>
              </a:rPr>
              <a:t> </a:t>
            </a:r>
            <a:r>
              <a:rPr lang="en-US" sz="2000" b="1" dirty="0">
                <a:effectLst>
                  <a:outerShdw blurRad="38100" dist="38100" dir="2700000" algn="tl">
                    <a:srgbClr val="C0C0C0"/>
                  </a:outerShdw>
                </a:effectLst>
                <a:latin typeface="Arial" pitchFamily="34" charset="0"/>
                <a:cs typeface="Arial" pitchFamily="34" charset="0"/>
              </a:rPr>
              <a:t>8</a:t>
            </a:r>
            <a:r>
              <a:rPr lang="en-US" sz="2000" b="1" dirty="0">
                <a:latin typeface="Arial" pitchFamily="34" charset="0"/>
                <a:cs typeface="Arial" pitchFamily="34" charset="0"/>
              </a:rPr>
              <a:t>. Bibliography and Web References </a:t>
            </a:r>
          </a:p>
        </p:txBody>
      </p:sp>
      <p:sp>
        <p:nvSpPr>
          <p:cNvPr id="10247" name="Line 15">
            <a:extLst>
              <a:ext uri="{FF2B5EF4-FFF2-40B4-BE49-F238E27FC236}">
                <a16:creationId xmlns:a16="http://schemas.microsoft.com/office/drawing/2014/main" id="{29C3116A-2B94-1D9B-30C5-527667FB56A4}"/>
              </a:ext>
            </a:extLst>
          </p:cNvPr>
          <p:cNvSpPr>
            <a:spLocks noChangeShapeType="1"/>
          </p:cNvSpPr>
          <p:nvPr/>
        </p:nvSpPr>
        <p:spPr bwMode="auto">
          <a:xfrm>
            <a:off x="250825" y="0"/>
            <a:ext cx="0" cy="765175"/>
          </a:xfrm>
          <a:prstGeom prst="line">
            <a:avLst/>
          </a:prstGeom>
          <a:noFill/>
          <a:ln w="25400">
            <a:solidFill>
              <a:schemeClr val="tx1"/>
            </a:solidFill>
            <a:round/>
            <a:headEnd/>
            <a:tailEnd/>
          </a:ln>
        </p:spPr>
        <p:txBody>
          <a:bodyPr/>
          <a:lstStyle/>
          <a:p>
            <a:endParaRPr lang="pt-PT"/>
          </a:p>
        </p:txBody>
      </p:sp>
      <p:sp>
        <p:nvSpPr>
          <p:cNvPr id="9237" name="Text Box 21">
            <a:extLst>
              <a:ext uri="{FF2B5EF4-FFF2-40B4-BE49-F238E27FC236}">
                <a16:creationId xmlns:a16="http://schemas.microsoft.com/office/drawing/2014/main" id="{DB0D79BB-580E-A548-4175-1BFCBBE14C27}"/>
              </a:ext>
            </a:extLst>
          </p:cNvPr>
          <p:cNvSpPr txBox="1">
            <a:spLocks noChangeArrowheads="1"/>
          </p:cNvSpPr>
          <p:nvPr/>
        </p:nvSpPr>
        <p:spPr bwMode="auto">
          <a:xfrm>
            <a:off x="260350" y="44450"/>
            <a:ext cx="6981825" cy="304800"/>
          </a:xfrm>
          <a:prstGeom prst="rect">
            <a:avLst/>
          </a:prstGeom>
          <a:noFill/>
          <a:ln w="9525">
            <a:noFill/>
            <a:miter lim="800000"/>
            <a:headEnd/>
            <a:tailEnd/>
          </a:ln>
          <a:effectLst/>
        </p:spPr>
        <p:txBody>
          <a:bodyPr>
            <a:spAutoFit/>
          </a:bodyPr>
          <a:lstStyle/>
          <a:p>
            <a:pPr>
              <a:spcBef>
                <a:spcPct val="50000"/>
              </a:spcBef>
              <a:defRPr/>
            </a:pPr>
            <a:endParaRPr lang="pt-PT" sz="1400" b="1" dirty="0">
              <a:solidFill>
                <a:srgbClr val="FF3300"/>
              </a:solidFill>
              <a:effectLst>
                <a:outerShdw blurRad="38100" dist="38100" dir="2700000" algn="tl">
                  <a:srgbClr val="C0C0C0"/>
                </a:outerShdw>
              </a:effectLst>
              <a:latin typeface="Arial" charset="0"/>
            </a:endParaRPr>
          </a:p>
        </p:txBody>
      </p:sp>
      <p:sp>
        <p:nvSpPr>
          <p:cNvPr id="18" name="Content Placeholder 2">
            <a:extLst>
              <a:ext uri="{FF2B5EF4-FFF2-40B4-BE49-F238E27FC236}">
                <a16:creationId xmlns:a16="http://schemas.microsoft.com/office/drawing/2014/main" id="{69400482-72EB-C2E1-2AD2-A81FE876D6CC}"/>
              </a:ext>
            </a:extLst>
          </p:cNvPr>
          <p:cNvSpPr txBox="1">
            <a:spLocks/>
          </p:cNvSpPr>
          <p:nvPr/>
        </p:nvSpPr>
        <p:spPr>
          <a:xfrm>
            <a:off x="152400" y="1066800"/>
            <a:ext cx="8839200" cy="5257800"/>
          </a:xfrm>
          <a:prstGeom prst="rect">
            <a:avLst/>
          </a:prstGeom>
        </p:spPr>
        <p:txBody>
          <a:bodyPr vert="horz" lIns="91440" tIns="45720" rIns="91440" bIns="45720" rtlCol="0">
            <a:normAutofit/>
          </a:bodyPr>
          <a:lstStyle/>
          <a:p>
            <a:pPr>
              <a:lnSpc>
                <a:spcPct val="200000"/>
              </a:lnSpc>
              <a:spcBef>
                <a:spcPct val="20000"/>
              </a:spcBef>
              <a:defRPr/>
            </a:pPr>
            <a:r>
              <a:rPr lang="en-US" sz="1600" dirty="0">
                <a:solidFill>
                  <a:srgbClr val="FFC000"/>
                </a:solidFill>
                <a:cs typeface="Arial" panose="020B0604020202020204" pitchFamily="34" charset="0"/>
              </a:rPr>
              <a:t>■ </a:t>
            </a:r>
            <a:r>
              <a:rPr lang="pt-PT" dirty="0"/>
              <a:t>FlameVision Dataset: </a:t>
            </a:r>
            <a:r>
              <a:rPr lang="pt-PT" dirty="0">
                <a:hlinkClick r:id="rId3"/>
              </a:rPr>
              <a:t>https://data.mendeley.com/datasets/fgvscdjsmt/4</a:t>
            </a:r>
            <a:br>
              <a:rPr lang="en-US" sz="1600" dirty="0">
                <a:cs typeface="Arial" panose="020B0604020202020204" pitchFamily="34" charset="0"/>
              </a:rPr>
            </a:br>
            <a:r>
              <a:rPr lang="en-US" sz="1600" dirty="0">
                <a:solidFill>
                  <a:srgbClr val="FFC000"/>
                </a:solidFill>
                <a:cs typeface="Arial" panose="020B0604020202020204" pitchFamily="34" charset="0"/>
              </a:rPr>
              <a:t>■ </a:t>
            </a:r>
            <a:r>
              <a:rPr lang="en-US" dirty="0" err="1"/>
              <a:t>PyTorch</a:t>
            </a:r>
            <a:r>
              <a:rPr lang="en-US" dirty="0"/>
              <a:t> Documentation and Transfer Learning:</a:t>
            </a:r>
            <a:r>
              <a:rPr lang="en-US" sz="1600" dirty="0">
                <a:cs typeface="Arial" panose="020B0604020202020204" pitchFamily="34" charset="0"/>
              </a:rPr>
              <a:t> </a:t>
            </a:r>
            <a:r>
              <a:rPr lang="pt-PT" dirty="0">
                <a:hlinkClick r:id="rId4"/>
              </a:rPr>
              <a:t>https://pytorch.org/</a:t>
            </a:r>
            <a:endParaRPr lang="pt-PT" dirty="0"/>
          </a:p>
          <a:p>
            <a:pPr>
              <a:lnSpc>
                <a:spcPct val="200000"/>
              </a:lnSpc>
              <a:spcBef>
                <a:spcPct val="20000"/>
              </a:spcBef>
              <a:defRPr/>
            </a:pPr>
            <a:r>
              <a:rPr lang="en-US" sz="1600" dirty="0">
                <a:solidFill>
                  <a:srgbClr val="FFC000"/>
                </a:solidFill>
                <a:cs typeface="Arial" panose="020B0604020202020204" pitchFamily="34" charset="0"/>
              </a:rPr>
              <a:t>■ </a:t>
            </a:r>
            <a:r>
              <a:rPr lang="pt-PT" dirty="0"/>
              <a:t>EfficientNet Research and Implementation: </a:t>
            </a:r>
            <a:r>
              <a:rPr lang="pt-PT" dirty="0">
                <a:hlinkClick r:id="rId5"/>
              </a:rPr>
              <a:t>https://github.com/lukemelas/EfficientNet-PyTorch</a:t>
            </a:r>
            <a:endParaRPr lang="pt-PT" dirty="0"/>
          </a:p>
          <a:p>
            <a:pPr>
              <a:lnSpc>
                <a:spcPct val="200000"/>
              </a:lnSpc>
              <a:spcBef>
                <a:spcPct val="20000"/>
              </a:spcBef>
              <a:defRPr/>
            </a:pPr>
            <a:br>
              <a:rPr lang="pt-PT" sz="1600" dirty="0"/>
            </a:br>
            <a:endParaRPr kumimoji="0" lang="en-US" sz="2000" b="0" i="1"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pic>
        <p:nvPicPr>
          <p:cNvPr id="15" name="Imagem 14">
            <a:extLst>
              <a:ext uri="{FF2B5EF4-FFF2-40B4-BE49-F238E27FC236}">
                <a16:creationId xmlns:a16="http://schemas.microsoft.com/office/drawing/2014/main" id="{F9C5E3FB-11FE-90DA-DB3C-15678B9599A5}"/>
              </a:ext>
            </a:extLst>
          </p:cNvPr>
          <p:cNvPicPr>
            <a:picLocks noChangeAspect="1"/>
          </p:cNvPicPr>
          <p:nvPr/>
        </p:nvPicPr>
        <p:blipFill>
          <a:blip r:embed="rId6"/>
          <a:stretch>
            <a:fillRect/>
          </a:stretch>
        </p:blipFill>
        <p:spPr>
          <a:xfrm>
            <a:off x="101225" y="904241"/>
            <a:ext cx="9014192" cy="266482"/>
          </a:xfrm>
          <a:prstGeom prst="rect">
            <a:avLst/>
          </a:prstGeom>
        </p:spPr>
      </p:pic>
      <p:sp>
        <p:nvSpPr>
          <p:cNvPr id="22" name="Text Box 10">
            <a:extLst>
              <a:ext uri="{FF2B5EF4-FFF2-40B4-BE49-F238E27FC236}">
                <a16:creationId xmlns:a16="http://schemas.microsoft.com/office/drawing/2014/main" id="{71D645A9-BDF6-384E-A756-64BF3F869607}"/>
              </a:ext>
            </a:extLst>
          </p:cNvPr>
          <p:cNvSpPr txBox="1">
            <a:spLocks noChangeArrowheads="1"/>
          </p:cNvSpPr>
          <p:nvPr/>
        </p:nvSpPr>
        <p:spPr bwMode="auto">
          <a:xfrm>
            <a:off x="8288338" y="6296025"/>
            <a:ext cx="827087" cy="366713"/>
          </a:xfrm>
          <a:prstGeom prst="rect">
            <a:avLst/>
          </a:prstGeom>
          <a:noFill/>
          <a:ln w="9525">
            <a:noFill/>
            <a:miter lim="800000"/>
            <a:headEnd/>
            <a:tailEnd/>
          </a:ln>
        </p:spPr>
        <p:txBody>
          <a:bodyPr>
            <a:spAutoFit/>
          </a:bodyPr>
          <a:lstStyle/>
          <a:p>
            <a:pPr>
              <a:spcBef>
                <a:spcPct val="50000"/>
              </a:spcBef>
            </a:pPr>
            <a:endParaRPr lang="pt-PT"/>
          </a:p>
        </p:txBody>
      </p:sp>
      <p:sp>
        <p:nvSpPr>
          <p:cNvPr id="23" name="Rectangle 11">
            <a:extLst>
              <a:ext uri="{FF2B5EF4-FFF2-40B4-BE49-F238E27FC236}">
                <a16:creationId xmlns:a16="http://schemas.microsoft.com/office/drawing/2014/main" id="{8779B004-DB6C-4FED-7D93-11555DB044F0}"/>
              </a:ext>
            </a:extLst>
          </p:cNvPr>
          <p:cNvSpPr>
            <a:spLocks noChangeArrowheads="1"/>
          </p:cNvSpPr>
          <p:nvPr/>
        </p:nvSpPr>
        <p:spPr bwMode="auto">
          <a:xfrm>
            <a:off x="8327571" y="6496091"/>
            <a:ext cx="936625" cy="260350"/>
          </a:xfrm>
          <a:prstGeom prst="rect">
            <a:avLst/>
          </a:prstGeom>
          <a:noFill/>
          <a:ln w="9525">
            <a:noFill/>
            <a:miter lim="800000"/>
            <a:headEnd/>
            <a:tailEnd/>
          </a:ln>
        </p:spPr>
        <p:txBody>
          <a:bodyPr anchor="ctr"/>
          <a:lstStyle/>
          <a:p>
            <a:pPr algn="ctr"/>
            <a:r>
              <a:rPr lang="pt-PT" sz="1000" dirty="0"/>
              <a:t>- </a:t>
            </a:r>
            <a:fld id="{1234D2FF-8FB9-47A1-B8C9-42A5F500BA2F}" type="slidenum">
              <a:rPr lang="pt-PT" sz="1000"/>
              <a:pPr algn="ctr"/>
              <a:t>44</a:t>
            </a:fld>
            <a:r>
              <a:rPr lang="pt-PT" sz="1000" dirty="0"/>
              <a:t> -</a:t>
            </a:r>
          </a:p>
        </p:txBody>
      </p:sp>
      <p:pic>
        <p:nvPicPr>
          <p:cNvPr id="24" name="Imagem 23">
            <a:extLst>
              <a:ext uri="{FF2B5EF4-FFF2-40B4-BE49-F238E27FC236}">
                <a16:creationId xmlns:a16="http://schemas.microsoft.com/office/drawing/2014/main" id="{3EC63886-0328-33AA-10C8-ED49ED08E257}"/>
              </a:ext>
            </a:extLst>
          </p:cNvPr>
          <p:cNvPicPr>
            <a:picLocks noChangeAspect="1"/>
          </p:cNvPicPr>
          <p:nvPr/>
        </p:nvPicPr>
        <p:blipFill>
          <a:blip r:embed="rId7"/>
          <a:stretch>
            <a:fillRect/>
          </a:stretch>
        </p:blipFill>
        <p:spPr>
          <a:xfrm>
            <a:off x="0" y="6320212"/>
            <a:ext cx="9144000" cy="253252"/>
          </a:xfrm>
          <a:prstGeom prst="rect">
            <a:avLst/>
          </a:prstGeom>
        </p:spPr>
      </p:pic>
      <p:pic>
        <p:nvPicPr>
          <p:cNvPr id="26" name="Imagem 25">
            <a:extLst>
              <a:ext uri="{FF2B5EF4-FFF2-40B4-BE49-F238E27FC236}">
                <a16:creationId xmlns:a16="http://schemas.microsoft.com/office/drawing/2014/main" id="{F98ABE98-B9A4-E93C-2C88-1897F959D88F}"/>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38125" y="6488336"/>
            <a:ext cx="545959" cy="199802"/>
          </a:xfrm>
          <a:prstGeom prst="rect">
            <a:avLst/>
          </a:prstGeom>
        </p:spPr>
      </p:pic>
      <p:sp>
        <p:nvSpPr>
          <p:cNvPr id="27" name="Rectângulo 19">
            <a:extLst>
              <a:ext uri="{FF2B5EF4-FFF2-40B4-BE49-F238E27FC236}">
                <a16:creationId xmlns:a16="http://schemas.microsoft.com/office/drawing/2014/main" id="{CA425A9E-1D3B-C6A6-6940-022F46B62B3B}"/>
              </a:ext>
            </a:extLst>
          </p:cNvPr>
          <p:cNvSpPr/>
          <p:nvPr/>
        </p:nvSpPr>
        <p:spPr>
          <a:xfrm>
            <a:off x="5535613" y="553019"/>
            <a:ext cx="3505200" cy="261610"/>
          </a:xfrm>
          <a:prstGeom prst="rect">
            <a:avLst/>
          </a:prstGeom>
        </p:spPr>
        <p:txBody>
          <a:bodyPr wrap="square">
            <a:spAutoFit/>
          </a:bodyPr>
          <a:lstStyle/>
          <a:p>
            <a:pPr algn="r"/>
            <a:r>
              <a:rPr lang="pt-PT" sz="1100" b="1" cap="all" dirty="0" err="1">
                <a:highlight>
                  <a:srgbClr val="FFFF00"/>
                </a:highlight>
              </a:rPr>
              <a:t>Graduation</a:t>
            </a:r>
            <a:r>
              <a:rPr lang="pt-PT" sz="1100" b="1" cap="all" dirty="0">
                <a:highlight>
                  <a:srgbClr val="FFFF00"/>
                </a:highlight>
              </a:rPr>
              <a:t> in </a:t>
            </a:r>
            <a:r>
              <a:rPr lang="pt-PT" sz="1100" b="1" cap="all" dirty="0" err="1">
                <a:highlight>
                  <a:srgbClr val="FFFF00"/>
                </a:highlight>
              </a:rPr>
              <a:t>Informatics</a:t>
            </a:r>
            <a:r>
              <a:rPr lang="pt-PT" sz="1100" b="1" cap="all" dirty="0">
                <a:highlight>
                  <a:srgbClr val="FFFF00"/>
                </a:highlight>
              </a:rPr>
              <a:t> </a:t>
            </a:r>
            <a:r>
              <a:rPr lang="pt-PT" sz="1100" b="1" cap="all" dirty="0" err="1">
                <a:highlight>
                  <a:srgbClr val="FFFF00"/>
                </a:highlight>
              </a:rPr>
              <a:t>engineering</a:t>
            </a:r>
            <a:endParaRPr lang="pt-PT" sz="1100" dirty="0">
              <a:highlight>
                <a:srgbClr val="FFFF00"/>
              </a:highlight>
            </a:endParaRPr>
          </a:p>
        </p:txBody>
      </p:sp>
      <p:pic>
        <p:nvPicPr>
          <p:cNvPr id="28" name="Imagem 27">
            <a:extLst>
              <a:ext uri="{FF2B5EF4-FFF2-40B4-BE49-F238E27FC236}">
                <a16:creationId xmlns:a16="http://schemas.microsoft.com/office/drawing/2014/main" id="{738F987A-4D40-EEBC-6374-DDD93558F9D9}"/>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575316" y="9186"/>
            <a:ext cx="2575034" cy="639880"/>
          </a:xfrm>
          <a:prstGeom prst="rect">
            <a:avLst/>
          </a:prstGeom>
        </p:spPr>
      </p:pic>
      <p:sp>
        <p:nvSpPr>
          <p:cNvPr id="2" name="Subtítulo 2">
            <a:extLst>
              <a:ext uri="{FF2B5EF4-FFF2-40B4-BE49-F238E27FC236}">
                <a16:creationId xmlns:a16="http://schemas.microsoft.com/office/drawing/2014/main" id="{A2FA400F-460E-017F-EFE0-16CEB9700DA0}"/>
              </a:ext>
            </a:extLst>
          </p:cNvPr>
          <p:cNvSpPr txBox="1">
            <a:spLocks/>
          </p:cNvSpPr>
          <p:nvPr/>
        </p:nvSpPr>
        <p:spPr>
          <a:xfrm>
            <a:off x="836017" y="6524516"/>
            <a:ext cx="7698382" cy="162409"/>
          </a:xfrm>
          <a:prstGeom prst="rect">
            <a:avLst/>
          </a:prstGeom>
        </p:spPr>
        <p:txBody>
          <a:bodyPr vert="horz" lIns="68580" tIns="34290" rIns="68580" bIns="3429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pt-PT" sz="900" dirty="0">
                <a:latin typeface="Arial" charset="0"/>
                <a:ea typeface="Arial" charset="0"/>
                <a:cs typeface="Arial" charset="0"/>
              </a:rPr>
              <a:t>@Diogo Monteiro - 32428, Gonçalo Teixeira - 31396 | </a:t>
            </a:r>
            <a:r>
              <a:rPr lang="pt-PT" sz="900" b="1" dirty="0">
                <a:solidFill>
                  <a:srgbClr val="C00000"/>
                </a:solidFill>
                <a:latin typeface="Arial" charset="0"/>
                <a:ea typeface="Arial" charset="0"/>
                <a:cs typeface="Arial" charset="0"/>
              </a:rPr>
              <a:t>Unidade Curricular: Projeto III </a:t>
            </a:r>
            <a:r>
              <a:rPr lang="pt-PT" sz="900" dirty="0">
                <a:latin typeface="Arial" charset="0"/>
                <a:ea typeface="Arial" charset="0"/>
                <a:cs typeface="Arial" charset="0"/>
              </a:rPr>
              <a:t>– Ano Letivo 2024/2025 – </a:t>
            </a:r>
            <a:r>
              <a:rPr lang="pt-PT" sz="900" b="1" dirty="0">
                <a:latin typeface="Arial" charset="0"/>
                <a:ea typeface="Arial" charset="0"/>
                <a:cs typeface="Arial" charset="0"/>
              </a:rPr>
              <a:t>MCZ03</a:t>
            </a:r>
          </a:p>
        </p:txBody>
      </p:sp>
    </p:spTree>
    <p:extLst>
      <p:ext uri="{BB962C8B-B14F-4D97-AF65-F5344CB8AC3E}">
        <p14:creationId xmlns:p14="http://schemas.microsoft.com/office/powerpoint/2010/main" val="41434066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9BFEF-CFDE-9F60-3832-D1A3A44ACBA6}"/>
            </a:ext>
          </a:extLst>
        </p:cNvPr>
        <p:cNvGrpSpPr/>
        <p:nvPr/>
      </p:nvGrpSpPr>
      <p:grpSpPr>
        <a:xfrm>
          <a:off x="0" y="0"/>
          <a:ext cx="0" cy="0"/>
          <a:chOff x="0" y="0"/>
          <a:chExt cx="0" cy="0"/>
        </a:xfrm>
      </p:grpSpPr>
      <p:pic>
        <p:nvPicPr>
          <p:cNvPr id="2" name="Imagem 1">
            <a:extLst>
              <a:ext uri="{FF2B5EF4-FFF2-40B4-BE49-F238E27FC236}">
                <a16:creationId xmlns:a16="http://schemas.microsoft.com/office/drawing/2014/main" id="{6D34B6CF-D70D-0A61-BBFA-416C87A313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Subtítulo 2">
            <a:extLst>
              <a:ext uri="{FF2B5EF4-FFF2-40B4-BE49-F238E27FC236}">
                <a16:creationId xmlns:a16="http://schemas.microsoft.com/office/drawing/2014/main" id="{149B329F-565F-E4F5-5FC8-D391F7E4E275}"/>
              </a:ext>
            </a:extLst>
          </p:cNvPr>
          <p:cNvSpPr>
            <a:spLocks noGrp="1"/>
          </p:cNvSpPr>
          <p:nvPr>
            <p:ph type="subTitle" idx="1"/>
          </p:nvPr>
        </p:nvSpPr>
        <p:spPr>
          <a:xfrm>
            <a:off x="2000250" y="5867400"/>
            <a:ext cx="5143500" cy="489738"/>
          </a:xfrm>
        </p:spPr>
        <p:txBody>
          <a:bodyPr>
            <a:normAutofit/>
          </a:bodyPr>
          <a:lstStyle/>
          <a:p>
            <a:r>
              <a:rPr lang="pt-PT" sz="1500" dirty="0" err="1">
                <a:solidFill>
                  <a:schemeClr val="bg1"/>
                </a:solidFill>
                <a:latin typeface="Arial" charset="0"/>
                <a:ea typeface="Arial" charset="0"/>
                <a:cs typeface="Arial" charset="0"/>
              </a:rPr>
              <a:t>www.ipvc.pt</a:t>
            </a:r>
            <a:endParaRPr lang="pt-PT" sz="1500" dirty="0">
              <a:solidFill>
                <a:schemeClr val="bg1"/>
              </a:solidFill>
              <a:latin typeface="Arial" charset="0"/>
              <a:ea typeface="Arial" charset="0"/>
              <a:cs typeface="Arial" charset="0"/>
            </a:endParaRPr>
          </a:p>
        </p:txBody>
      </p:sp>
      <p:pic>
        <p:nvPicPr>
          <p:cNvPr id="4" name="Imagem 3">
            <a:extLst>
              <a:ext uri="{FF2B5EF4-FFF2-40B4-BE49-F238E27FC236}">
                <a16:creationId xmlns:a16="http://schemas.microsoft.com/office/drawing/2014/main" id="{B8536BA9-E1EC-007D-1056-5172CFE489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47606" y="3276600"/>
            <a:ext cx="4048787" cy="1006100"/>
          </a:xfrm>
          <a:prstGeom prst="rect">
            <a:avLst/>
          </a:prstGeom>
        </p:spPr>
      </p:pic>
    </p:spTree>
    <p:extLst>
      <p:ext uri="{BB962C8B-B14F-4D97-AF65-F5344CB8AC3E}">
        <p14:creationId xmlns:p14="http://schemas.microsoft.com/office/powerpoint/2010/main" val="3061783005"/>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4428</TotalTime>
  <Words>4218</Words>
  <Application>Microsoft Office PowerPoint</Application>
  <PresentationFormat>On-screen Show (4:3)</PresentationFormat>
  <Paragraphs>569</Paragraphs>
  <Slides>45</Slides>
  <Notes>39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45</vt:i4>
      </vt:variant>
    </vt:vector>
  </HeadingPairs>
  <TitlesOfParts>
    <vt:vector size="50" baseType="lpstr">
      <vt:lpstr>Arial</vt:lpstr>
      <vt:lpstr>Calibri</vt:lpstr>
      <vt:lpstr>Calibri (Body)</vt:lpstr>
      <vt:lpstr>Wingdings</vt:lpstr>
      <vt:lpstr>Tema do Office</vt:lpstr>
      <vt:lpstr>Projeto MCZ03</vt:lpstr>
      <vt:lpstr>Ponto Controlo 0</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Ponto Controlo 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Ponto Controlo 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Ponto Controlo 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Diapositivo 1</dc:title>
  <dc:creator>Jorge Ribeiro</dc:creator>
  <cp:lastModifiedBy>Diogo Monteiro</cp:lastModifiedBy>
  <cp:revision>273</cp:revision>
  <cp:lastPrinted>2020-09-27T18:04:57Z</cp:lastPrinted>
  <dcterms:created xsi:type="dcterms:W3CDTF">2011-05-31T09:21:51Z</dcterms:created>
  <dcterms:modified xsi:type="dcterms:W3CDTF">2025-12-19T23:59:23Z</dcterms:modified>
</cp:coreProperties>
</file>